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embeddedFontLst>
    <p:embeddedFont>
      <p:font typeface="Lora Medium" pitchFamily="2" charset="77"/>
      <p:regular r:id="rId23"/>
      <p:italic r:id="rId24"/>
    </p:embeddedFont>
    <p:embeddedFont>
      <p:font typeface="Lora SemiBold" pitchFamily="2" charset="77"/>
      <p:regular r:id="rId25"/>
      <p:bold r:id="rId26"/>
      <p:italic r:id="rId27"/>
      <p:boldItalic r:id="rId28"/>
    </p:embeddedFont>
    <p:embeddedFont>
      <p:font typeface="OpenAI Sans" panose="020B0004030202060203" pitchFamily="34" charset="77"/>
      <p:regular r:id="rId29"/>
      <p:bold r:id="rId30"/>
      <p:italic r:id="rId31"/>
      <p:boldItalic r:id="rId32"/>
    </p:embeddedFont>
    <p:embeddedFont>
      <p:font typeface="Roboto" panose="02000000000000000000" pitchFamily="2" charset="0"/>
      <p:regular r:id="rId33"/>
      <p:bold r:id="rId34"/>
      <p:italic r:id="rId35"/>
      <p:boldItalic r:id="rId36"/>
    </p:embeddedFont>
    <p:embeddedFont>
      <p:font typeface="Roboto Medium" panose="02000000000000000000" pitchFamily="2" charset="0"/>
      <p:regular r:id="rId37"/>
      <p: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Top-two satisfaction</c:v>
          </c:tx>
          <c:spPr>
            <a:solidFill>
              <a:srgbClr val="355CC9"/>
            </a:solidFill>
          </c:spPr>
          <c:invertIfNegative val="1"/>
          <c:dLbls>
            <c:dLbl>
              <c:idx val="0"/>
              <c:tx>
                <c:rich>
                  <a:bodyPr/>
                  <a:lstStyle/>
                  <a:p>
                    <a:r>
                      <a:rPr lang="en-US" sz="2025">
                        <a:latin typeface="Roboto"/>
                        <a:ea typeface="Roboto"/>
                        <a:cs typeface="Roboto"/>
                      </a:rPr>
                      <a:t>36%</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2F3-EE4D-A915-A361B92DCDBC}"/>
                </c:ext>
              </c:extLst>
            </c:dLbl>
            <c:dLbl>
              <c:idx val="1"/>
              <c:tx>
                <c:rich>
                  <a:bodyPr/>
                  <a:lstStyle/>
                  <a:p>
                    <a:r>
                      <a:rPr lang="en-US" sz="2025">
                        <a:latin typeface="Roboto"/>
                        <a:ea typeface="Roboto"/>
                        <a:cs typeface="Roboto"/>
                      </a:rPr>
                      <a:t>46%</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2F3-EE4D-A915-A361B92DCDBC}"/>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Data'!$A$2:$A$3</c:f>
              <c:strCache>
                <c:ptCount val="2"/>
                <c:pt idx="0">
                  <c:v>Resolution speed</c:v>
                </c:pt>
                <c:pt idx="1">
                  <c:v>Staff knowledge</c:v>
                </c:pt>
              </c:strCache>
            </c:strRef>
          </c:cat>
          <c:val>
            <c:numRef>
              <c:f>'Chart Data'!$B$2:$B$3</c:f>
              <c:numCache>
                <c:formatCode>0%</c:formatCode>
                <c:ptCount val="2"/>
                <c:pt idx="0">
                  <c:v>0.36</c:v>
                </c:pt>
                <c:pt idx="1">
                  <c:v>0.46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2F3-EE4D-A915-A361B92DCDBC}"/>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650">
                <a:solidFill>
                  <a:srgbClr val="66666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0.6"/>
          <c:min val="0"/>
        </c:scaling>
        <c:delete val="0"/>
        <c:axPos val="b"/>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Roboto"/>
                <a:ea typeface="Roboto"/>
                <a:cs typeface="Roboto"/>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Annual net cash (NZD)</c:v>
          </c:tx>
          <c:spPr>
            <a:solidFill>
              <a:srgbClr val="355CC9"/>
            </a:solidFill>
          </c:spPr>
          <c:invertIfNegative val="0"/>
          <c:dLbls>
            <c:dLbl>
              <c:idx val="0"/>
              <c:tx>
                <c:rich>
                  <a:bodyPr/>
                  <a:lstStyle/>
                  <a:p>
                    <a:r>
                      <a:rPr lang="en-US" sz="1500">
                        <a:latin typeface="Roboto"/>
                        <a:ea typeface="Roboto"/>
                        <a:cs typeface="Roboto"/>
                      </a:rPr>
                      <a:t>−$12,000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701-8D46-A9B8-9FA7A7835041}"/>
                </c:ext>
              </c:extLst>
            </c:dLbl>
            <c:dLbl>
              <c:idx val="1"/>
              <c:tx>
                <c:rich>
                  <a:bodyPr/>
                  <a:lstStyle/>
                  <a:p>
                    <a:r>
                      <a:rPr lang="en-US" sz="1500">
                        <a:latin typeface="Roboto"/>
                        <a:ea typeface="Roboto"/>
                        <a:cs typeface="Roboto"/>
                      </a:rPr>
                      <a:t>−$1,750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701-8D46-A9B8-9FA7A7835041}"/>
                </c:ext>
              </c:extLst>
            </c:dLbl>
            <c:dLbl>
              <c:idx val="2"/>
              <c:tx>
                <c:rich>
                  <a:bodyPr/>
                  <a:lstStyle/>
                  <a:p>
                    <a:r>
                      <a:rPr lang="en-US" sz="1500">
                        <a:latin typeface="Roboto"/>
                        <a:ea typeface="Roboto"/>
                        <a:cs typeface="Roboto"/>
                      </a:rPr>
                      <a:t>+$96,000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701-8D46-A9B8-9FA7A7835041}"/>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Data'!$A$2:$A$4</c:f>
              <c:strCache>
                <c:ptCount val="3"/>
                <c:pt idx="0">
                  <c:v>Downside</c:v>
                </c:pt>
                <c:pt idx="1">
                  <c:v>Base</c:v>
                </c:pt>
                <c:pt idx="2">
                  <c:v>Upside</c:v>
                </c:pt>
              </c:strCache>
            </c:strRef>
          </c:cat>
          <c:val>
            <c:numRef>
              <c:f>'Chart Data'!$B$2:$B$4</c:f>
              <c:numCache>
                <c:formatCode>\$#,##0;\-\$#,##0</c:formatCode>
                <c:ptCount val="3"/>
                <c:pt idx="0">
                  <c:v>-12000</c:v>
                </c:pt>
                <c:pt idx="1">
                  <c:v>-1750</c:v>
                </c:pt>
                <c:pt idx="2">
                  <c:v>96000</c:v>
                </c:pt>
              </c:numCache>
            </c:numRef>
          </c:val>
          <c:extLst>
            <c:ext xmlns:c16="http://schemas.microsoft.com/office/drawing/2014/chart" uri="{C3380CC4-5D6E-409C-BE32-E72D297353CC}">
              <c16:uniqueId val="{00000003-5701-8D46-A9B8-9FA7A7835041}"/>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00">
                <a:solidFill>
                  <a:srgbClr val="66666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120000"/>
          <c:min val="-30000"/>
        </c:scaling>
        <c:delete val="0"/>
        <c:axPos val="l"/>
        <c:numFmt formatCode="\$#,##0;\-\$#,##0"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Roboto"/>
                <a:ea typeface="Roboto"/>
                <a:cs typeface="Roboto"/>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01 — 20 seconds</a:t>
            </a:r>
          </a:p>
          <a:p>
            <a:r>
              <a:rPr dirty="0"/>
              <a:t>Hello, I’m Ryan Li. I propose a six-week diagnosis of Spark’s residential </a:t>
            </a:r>
            <a:r>
              <a:rPr dirty="0" err="1"/>
              <a:t>fibre</a:t>
            </a:r>
            <a:r>
              <a:rPr dirty="0"/>
              <a:t> faults, to identify the cause and decide whether further investment is worthwhile.</a:t>
            </a:r>
          </a:p>
          <a:p>
            <a:endParaRPr dirty="0"/>
          </a:p>
          <a:p>
            <a:r>
              <a:rPr dirty="0"/>
              <a:t>EVIDENCE AND QUALIFICATIONS</a:t>
            </a:r>
          </a:p>
          <a:p>
            <a:r>
              <a:rPr dirty="0"/>
              <a:t>The diagnostic outputs will test the proposed causes and compare affordable options, including a smaller change using existing tools. The value of this information has not been </a:t>
            </a:r>
            <a:r>
              <a:rPr dirty="0" err="1"/>
              <a:t>monetised</a:t>
            </a:r>
            <a:r>
              <a:rPr dirty="0"/>
              <a:t>. Approval depends on the sponsor judging the outputs useful enough to justify their cost. The subsequent NZ$117,162 is uncommitted budget, not an achieved saving.</a:t>
            </a:r>
          </a:p>
          <a:p>
            <a:r>
              <a:rPr dirty="0"/>
              <a:t>核心请求是购买六周内可核验的诊断产出：服务基线、带成本的方案比较和下一步投资建议。NZ$36,846 </a:t>
            </a:r>
            <a:r>
              <a:rPr dirty="0" err="1"/>
              <a:t>不含</a:t>
            </a:r>
            <a:r>
              <a:rPr dirty="0"/>
              <a:t> </a:t>
            </a:r>
            <a:r>
              <a:rPr dirty="0" err="1"/>
              <a:t>GST，是诊断阶段上限。诊断信息的价值尚未货币化，是否值得购买取决于赞助人判断；不能把后续未承诺预算称为已实现节约</a:t>
            </a:r>
            <a:r>
              <a:rPr dirty="0"/>
              <a:t>。</a:t>
            </a:r>
          </a:p>
          <a:p>
            <a:endParaRPr dirty="0"/>
          </a:p>
          <a:p>
            <a:r>
              <a:rPr dirty="0"/>
              <a:t>SOURCES</a:t>
            </a:r>
          </a:p>
          <a:p>
            <a:r>
              <a:rPr dirty="0"/>
              <a:t>Author proposal, planning assumption or reconstructed process. Not an observed Spark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02 — 20 seconds</a:t>
            </a:r>
          </a:p>
          <a:p>
            <a:r>
              <a:rPr dirty="0"/>
              <a:t>Spark’s broadband connections fell while customer interaction scores improved. These mixed signals justify checking service performance, but do not show that fault handling caused customer losses.</a:t>
            </a:r>
          </a:p>
          <a:p>
            <a:endParaRPr dirty="0"/>
          </a:p>
          <a:p>
            <a:r>
              <a:rPr dirty="0"/>
              <a:t>EVIDENCE AND QUALIFICATIONS</a:t>
            </a:r>
          </a:p>
          <a:p>
            <a:endParaRPr dirty="0"/>
          </a:p>
          <a:p>
            <a:r>
              <a:rPr dirty="0"/>
              <a:t>用混合的业务背景保持客观。596m </a:t>
            </a:r>
            <a:r>
              <a:rPr dirty="0" err="1"/>
              <a:t>和</a:t>
            </a:r>
            <a:r>
              <a:rPr dirty="0"/>
              <a:t> −4.8% </a:t>
            </a:r>
            <a:r>
              <a:rPr dirty="0" err="1"/>
              <a:t>是整体</a:t>
            </a:r>
            <a:r>
              <a:rPr dirty="0"/>
              <a:t> broadband；+42 </a:t>
            </a:r>
            <a:r>
              <a:rPr dirty="0" err="1"/>
              <a:t>是</a:t>
            </a:r>
            <a:r>
              <a:rPr dirty="0"/>
              <a:t> Consumer/SME interaction </a:t>
            </a:r>
            <a:r>
              <a:rPr dirty="0" err="1"/>
              <a:t>NPS，不能说成</a:t>
            </a:r>
            <a:r>
              <a:rPr dirty="0"/>
              <a:t> 42% </a:t>
            </a:r>
            <a:r>
              <a:rPr dirty="0" err="1"/>
              <a:t>满意度，也不能认定客户流失由故障处理导致</a:t>
            </a:r>
            <a:r>
              <a:rPr dirty="0"/>
              <a:t>。</a:t>
            </a:r>
          </a:p>
          <a:p>
            <a:endParaRPr dirty="0"/>
          </a:p>
          <a:p>
            <a:r>
              <a:rPr dirty="0"/>
              <a:t>SOURCES</a:t>
            </a:r>
          </a:p>
          <a:p>
            <a:r>
              <a:rPr dirty="0"/>
              <a:t>Spark New Zealand Limited. (2026b). Spark New Zealand FY26 results summary.</a:t>
            </a:r>
          </a:p>
          <a:p>
            <a:r>
              <a:rPr dirty="0"/>
              <a:t>https://</a:t>
            </a:r>
            <a:r>
              <a:rPr dirty="0" err="1"/>
              <a:t>investors.sparknz.co.nz</a:t>
            </a:r>
            <a:r>
              <a:rPr dirty="0"/>
              <a:t>/</a:t>
            </a:r>
            <a:r>
              <a:rPr dirty="0" err="1"/>
              <a:t>FormBuilder</a:t>
            </a:r>
            <a:r>
              <a:rPr dirty="0"/>
              <a:t>/_Resource/_module/gXbeer80tkeL4nEaF-kwFA/doc/H2FY26_Results_Presentation.pdf</a:t>
            </a:r>
          </a:p>
          <a:p>
            <a:endParaRPr dirty="0"/>
          </a:p>
          <a:p>
            <a:r>
              <a:rPr dirty="0"/>
              <a:t>Spark New Zealand Limited. (2026a, August 20). Spark annual report FY26.</a:t>
            </a:r>
          </a:p>
          <a:p>
            <a:r>
              <a:rPr dirty="0"/>
              <a:t>https://</a:t>
            </a:r>
            <a:r>
              <a:rPr dirty="0" err="1"/>
              <a:t>investors.sparknz.co.nz</a:t>
            </a:r>
            <a:r>
              <a:rPr dirty="0"/>
              <a:t>/</a:t>
            </a:r>
            <a:r>
              <a:rPr dirty="0" err="1"/>
              <a:t>FormBuilder</a:t>
            </a:r>
            <a:r>
              <a:rPr dirty="0"/>
              <a:t>/_Resource/_module/gXbeer80tkeL4nEaF-kwFA/doc/FY26_Annual_Report.pdf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03 — 20 seconds</a:t>
            </a:r>
          </a:p>
          <a:p>
            <a:r>
              <a:rPr dirty="0"/>
              <a:t>These survey results combine mobile and broadband customers. They highlight concerns about issue handling, but do not measure residential </a:t>
            </a:r>
            <a:r>
              <a:rPr dirty="0" err="1"/>
              <a:t>fibre</a:t>
            </a:r>
            <a:r>
              <a:rPr dirty="0"/>
              <a:t> restoration or establish its causes.</a:t>
            </a:r>
          </a:p>
          <a:p>
            <a:endParaRPr dirty="0"/>
          </a:p>
          <a:p>
            <a:r>
              <a:rPr dirty="0"/>
              <a:t>EVIDENCE AND QUALIFICATIONS</a:t>
            </a:r>
          </a:p>
          <a:p>
            <a:endParaRPr dirty="0"/>
          </a:p>
          <a:p>
            <a:r>
              <a:rPr dirty="0"/>
              <a:t>36% </a:t>
            </a:r>
            <a:r>
              <a:rPr dirty="0" err="1"/>
              <a:t>和</a:t>
            </a:r>
            <a:r>
              <a:rPr dirty="0"/>
              <a:t> 46% </a:t>
            </a:r>
            <a:r>
              <a:rPr dirty="0" err="1"/>
              <a:t>都是对问题处理的满意度，各题</a:t>
            </a:r>
            <a:r>
              <a:rPr dirty="0"/>
              <a:t> Spark </a:t>
            </a:r>
            <a:r>
              <a:rPr dirty="0" err="1"/>
              <a:t>样本均为</a:t>
            </a:r>
            <a:r>
              <a:rPr dirty="0"/>
              <a:t> n=795，混合 mobile/</a:t>
            </a:r>
            <a:r>
              <a:rPr dirty="0" err="1"/>
              <a:t>broadband。它们不能代替内部光纤流程基线，不能与较早不同样本的数据直接比较</a:t>
            </a:r>
            <a:r>
              <a:rPr dirty="0"/>
              <a:t>。</a:t>
            </a:r>
          </a:p>
          <a:p>
            <a:endParaRPr dirty="0"/>
          </a:p>
          <a:p>
            <a:r>
              <a:rPr dirty="0"/>
              <a:t>SOURCES</a:t>
            </a:r>
          </a:p>
          <a:p>
            <a:r>
              <a:rPr dirty="0"/>
              <a:t>Commerce Commission. (2026b). Customer service and billing rankings – June 2026.</a:t>
            </a:r>
          </a:p>
          <a:p>
            <a:r>
              <a:rPr dirty="0"/>
              <a:t>https://</a:t>
            </a:r>
            <a:r>
              <a:rPr dirty="0" err="1"/>
              <a:t>www.comcom.govt.nz</a:t>
            </a:r>
            <a:r>
              <a:rPr dirty="0"/>
              <a:t>/assets/Uploads/Customer-Service-and-Billing-Rankings-June-2026.pdf</a:t>
            </a:r>
          </a:p>
          <a:p>
            <a:endParaRPr dirty="0"/>
          </a:p>
          <a:p>
            <a:r>
              <a:rPr dirty="0"/>
              <a:t>Commerce Commission. (2026a, August 18). Consumer satisfaction metrics: Methodology &amp; guide – June 2026.</a:t>
            </a:r>
          </a:p>
          <a:p>
            <a:r>
              <a:rPr dirty="0"/>
              <a:t>https://</a:t>
            </a:r>
            <a:r>
              <a:rPr dirty="0" err="1"/>
              <a:t>www.comcom.govt.nz</a:t>
            </a:r>
            <a:r>
              <a:rPr dirty="0"/>
              <a:t>/assets/Uploads/Consumer-Satisfaction-Metrics-Methodology-Guide-June-2026.pdf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04 — 20 seconds</a:t>
            </a:r>
          </a:p>
          <a:p>
            <a:r>
              <a:rPr dirty="0"/>
              <a:t>The scope follows residential </a:t>
            </a:r>
            <a:r>
              <a:rPr dirty="0" err="1"/>
              <a:t>fibre</a:t>
            </a:r>
            <a:r>
              <a:rPr dirty="0"/>
              <a:t> faults from first contact to stable recovery, within one region and one principal partner. Spark must first agree how recovery is measured.</a:t>
            </a:r>
          </a:p>
          <a:p>
            <a:endParaRPr dirty="0"/>
          </a:p>
          <a:p>
            <a:r>
              <a:rPr dirty="0"/>
              <a:t>EVIDENCE AND QUALIFICATIONS</a:t>
            </a:r>
          </a:p>
          <a:p>
            <a:endParaRPr dirty="0"/>
          </a:p>
          <a:p>
            <a:r>
              <a:rPr dirty="0" err="1"/>
              <a:t>边界为住宅光纤故障首次联系至稳定恢复。单一区域、单一主要技术合作方都尚待客户选择，不能写成已选</a:t>
            </a:r>
            <a:r>
              <a:rPr dirty="0"/>
              <a:t> Chorus </a:t>
            </a:r>
            <a:r>
              <a:rPr dirty="0" err="1"/>
              <a:t>或</a:t>
            </a:r>
            <a:r>
              <a:rPr dirty="0"/>
              <a:t> </a:t>
            </a:r>
            <a:r>
              <a:rPr dirty="0" err="1"/>
              <a:t>Nokia。恢复定义必须同时用于试点与对照</a:t>
            </a:r>
            <a:r>
              <a:rPr dirty="0"/>
              <a:t>。</a:t>
            </a:r>
          </a:p>
          <a:p>
            <a:endParaRPr dirty="0"/>
          </a:p>
          <a:p>
            <a:r>
              <a:rPr dirty="0"/>
              <a:t>SOURCES</a:t>
            </a:r>
          </a:p>
          <a:p>
            <a:r>
              <a:rPr dirty="0"/>
              <a:t>Author proposal, planning assumption or reconstructed process. Not an observed Spark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05 — 20 seconds</a:t>
            </a:r>
          </a:p>
          <a:p>
            <a:r>
              <a:rPr dirty="0"/>
              <a:t>The referral reaches a partner, but the waiting period needs investigation. Case records must show who owns the case, when acceptance occurs and whether escalation works.</a:t>
            </a:r>
          </a:p>
          <a:p>
            <a:endParaRPr dirty="0"/>
          </a:p>
          <a:p>
            <a:r>
              <a:rPr dirty="0"/>
              <a:t>EVIDENCE AND QUALIFICATIONS</a:t>
            </a:r>
          </a:p>
          <a:p>
            <a:endParaRPr dirty="0"/>
          </a:p>
          <a:p>
            <a:r>
              <a:rPr dirty="0" err="1"/>
              <a:t>展示现有</a:t>
            </a:r>
            <a:r>
              <a:rPr dirty="0"/>
              <a:t> Signavio AS-IS </a:t>
            </a:r>
            <a:r>
              <a:rPr dirty="0" err="1"/>
              <a:t>交接局部。它是作者重建、等待验证的模型，并不能证明</a:t>
            </a:r>
            <a:r>
              <a:rPr dirty="0"/>
              <a:t> Spark </a:t>
            </a:r>
            <a:r>
              <a:rPr dirty="0" err="1"/>
              <a:t>真的没有责任人或接收机制。观察重点是两个事件之间的等待与责任</a:t>
            </a:r>
            <a:r>
              <a:rPr dirty="0"/>
              <a:t>。</a:t>
            </a:r>
          </a:p>
          <a:p>
            <a:endParaRPr dirty="0"/>
          </a:p>
          <a:p>
            <a:r>
              <a:rPr dirty="0"/>
              <a:t>SOURCES</a:t>
            </a:r>
          </a:p>
          <a:p>
            <a:r>
              <a:rPr dirty="0"/>
              <a:t>SAP. (n.d.). Modeling with the editor. Managing Business Processes with SAP </a:t>
            </a:r>
            <a:r>
              <a:rPr dirty="0" err="1"/>
              <a:t>Signavio</a:t>
            </a:r>
            <a:r>
              <a:rPr dirty="0"/>
              <a:t> Solutions, Unit 4, Lesson 3.</a:t>
            </a:r>
          </a:p>
          <a:p>
            <a:r>
              <a:rPr dirty="0"/>
              <a:t>https://</a:t>
            </a:r>
            <a:r>
              <a:rPr dirty="0" err="1"/>
              <a:t>learning.sap.com</a:t>
            </a:r>
            <a:r>
              <a:rPr dirty="0"/>
              <a:t>/courses/managing-business-processes-with-sap-</a:t>
            </a:r>
            <a:r>
              <a:rPr dirty="0" err="1"/>
              <a:t>signavio</a:t>
            </a:r>
            <a:r>
              <a:rPr dirty="0"/>
              <a:t>-solutions/the-editor-quick-n-easy-modeling_fd121490-31f9-4229-a10a-8a3a68972fa3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06 — 20 seconds</a:t>
            </a:r>
          </a:p>
          <a:p>
            <a:r>
              <a:rPr dirty="0"/>
              <a:t>I would test all four explanations before selecting a response. Customer journey mapping links them to customer effort. Evidence may support a small change or stopping.</a:t>
            </a:r>
          </a:p>
          <a:p>
            <a:endParaRPr dirty="0"/>
          </a:p>
          <a:p>
            <a:r>
              <a:rPr dirty="0"/>
              <a:t>EVIDENCE AND QUALIFICATIONS</a:t>
            </a:r>
          </a:p>
          <a:p>
            <a:r>
              <a:rPr dirty="0"/>
              <a:t>A stage-based MECE issue tree structures H1 context reconstruction, H2 diagnosis or routing, H3 handoff ownership and H4 communication. Customer journey mapping follows Rosenbaum et al. (2017). Candidate links are H2 to P6 routing, H3 to P1 ownership and H4 to P3 communication. H1 first requires locating the missing context. P2 is considered where responsibilities work but missing or delayed partner status creates avoidable work. P4 combines only necessary evidenced measures. P5 structural change needs separate authority. These are competing explanations, not confirmed causes.</a:t>
            </a:r>
          </a:p>
          <a:p>
            <a:r>
              <a:rPr dirty="0"/>
              <a:t>H3 不是已确认根因。H1 </a:t>
            </a:r>
            <a:r>
              <a:rPr dirty="0" err="1"/>
              <a:t>不与</a:t>
            </a:r>
            <a:r>
              <a:rPr dirty="0"/>
              <a:t> P2 固定对应；先定位缺失的上下文。P2 </a:t>
            </a:r>
            <a:r>
              <a:rPr dirty="0" err="1"/>
              <a:t>适用于责任已清楚、但合作方状态缺失或延迟造成额外工作的情形。用阶段式</a:t>
            </a:r>
            <a:r>
              <a:rPr dirty="0"/>
              <a:t> MECE issue tree </a:t>
            </a:r>
            <a:r>
              <a:rPr dirty="0" err="1"/>
              <a:t>与</a:t>
            </a:r>
            <a:r>
              <a:rPr dirty="0"/>
              <a:t> customer journey mapping 组织分析。P4 只组合有证据必要的措施，P5 </a:t>
            </a:r>
            <a:r>
              <a:rPr dirty="0" err="1"/>
              <a:t>需要独立授权</a:t>
            </a:r>
            <a:r>
              <a:rPr dirty="0"/>
              <a:t>。</a:t>
            </a:r>
          </a:p>
          <a:p>
            <a:endParaRPr dirty="0"/>
          </a:p>
          <a:p>
            <a:r>
              <a:rPr dirty="0"/>
              <a:t>SOURCES</a:t>
            </a:r>
          </a:p>
          <a:p>
            <a:r>
              <a:rPr dirty="0"/>
              <a:t>Rosenbaum, M. S., Otalora, M. L., &amp; Ramírez, G. C. (2017). How to create a realistic customer journey map. Business Horizons, 60(1), 143–150.</a:t>
            </a:r>
          </a:p>
          <a:p>
            <a:r>
              <a:rPr dirty="0"/>
              <a:t>https://</a:t>
            </a:r>
            <a:r>
              <a:rPr dirty="0" err="1"/>
              <a:t>doi.org</a:t>
            </a:r>
            <a:r>
              <a:rPr dirty="0"/>
              <a:t>/10.1016/j.bushor.2016.09.010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07 — 20 seconds</a:t>
            </a:r>
          </a:p>
          <a:p>
            <a:r>
              <a:rPr dirty="0"/>
              <a:t>If evidence supports ownership delays, target fifteen percent lower median restoration time, without worsening the ninetieth percentile. Compare similar cases and retain unresolved outcomes.</a:t>
            </a:r>
          </a:p>
          <a:p>
            <a:endParaRPr dirty="0"/>
          </a:p>
          <a:p>
            <a:r>
              <a:rPr dirty="0"/>
              <a:t>EVIDENCE AND QUALIFICATIONS</a:t>
            </a:r>
          </a:p>
          <a:p>
            <a:r>
              <a:rPr dirty="0"/>
              <a:t>K1: elapsed hours from the earliest recorded fault or contact to stable restoration, reported as median and P90. Report unknown onset and incomplete episodes separately. Stable restoration requires a successful technical retest plus customer confirmation where obtainable; the service owner agrees this rule in week 2. K2: recontacts per eligible episode, with a 15% reduction conditional on H4. K3: correctly routed first-time episodes divided by episodes with reviewed routing and cause; report unknown classifications. The conditional H2 target is +10 percentage points. K4: elapsed hours from referral sent to explicit acceptance by a named receiving owner, reporting median/P90 and missing or pending acceptance. Set its numerical target at G1 with the baseline and partner, and test whether reduced acceptance delay mediates K1 improvement. Use a concurrent comparable queue or feasible staggered rollout, adjusting for case mix and seasonality. Retain unreachable, unresolved and reopened cases. Insufficient follow-up supports feasibility conclusions only. Proposed timely-update target: 90% if H4 is supported. Investigate a rise in seven-day reopenings above 2 percentage points.</a:t>
            </a:r>
          </a:p>
          <a:p>
            <a:r>
              <a:rPr dirty="0" err="1"/>
              <a:t>主要口述目标为：若责任交接原因得到支持，恢复时长中位数相对可比队列缩短</a:t>
            </a:r>
            <a:r>
              <a:rPr dirty="0"/>
              <a:t> 15%，</a:t>
            </a:r>
            <a:r>
              <a:rPr dirty="0" err="1"/>
              <a:t>同时</a:t>
            </a:r>
            <a:r>
              <a:rPr dirty="0"/>
              <a:t> P90 不恶化。P90 </a:t>
            </a:r>
            <a:r>
              <a:rPr dirty="0" err="1"/>
              <a:t>指第</a:t>
            </a:r>
            <a:r>
              <a:rPr dirty="0"/>
              <a:t> 90 </a:t>
            </a:r>
            <a:r>
              <a:rPr dirty="0" err="1"/>
              <a:t>百分位，不等于所有最长等待。重复联系减少</a:t>
            </a:r>
            <a:r>
              <a:rPr dirty="0"/>
              <a:t> 15% </a:t>
            </a:r>
            <a:r>
              <a:rPr dirty="0" err="1"/>
              <a:t>依赖</a:t>
            </a:r>
            <a:r>
              <a:rPr dirty="0"/>
              <a:t> H4；首次正确分流提升 10 </a:t>
            </a:r>
            <a:r>
              <a:rPr dirty="0" err="1"/>
              <a:t>个百分点依赖</a:t>
            </a:r>
            <a:r>
              <a:rPr dirty="0"/>
              <a:t> H2。接受时长从发出 referral </a:t>
            </a:r>
            <a:r>
              <a:rPr dirty="0" err="1"/>
              <a:t>到具名接收人明确接受，数值目标待</a:t>
            </a:r>
            <a:r>
              <a:rPr dirty="0"/>
              <a:t> G1 </a:t>
            </a:r>
            <a:r>
              <a:rPr dirty="0" err="1"/>
              <a:t>同意。完整操作定义在英文备查说明及</a:t>
            </a:r>
            <a:r>
              <a:rPr dirty="0"/>
              <a:t> PPT </a:t>
            </a:r>
            <a:r>
              <a:rPr dirty="0" err="1"/>
              <a:t>备注；不能以关闭工单代替真正恢复</a:t>
            </a:r>
            <a:r>
              <a:rPr dirty="0"/>
              <a:t>。</a:t>
            </a:r>
          </a:p>
          <a:p>
            <a:endParaRPr dirty="0"/>
          </a:p>
          <a:p>
            <a:r>
              <a:rPr dirty="0"/>
              <a:t>SOURCES</a:t>
            </a:r>
          </a:p>
          <a:p>
            <a:r>
              <a:rPr dirty="0"/>
              <a:t>Author proposal, planning assumption or reconstructed process. Not an observed Spark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08 — 20 seconds</a:t>
            </a:r>
          </a:p>
          <a:p>
            <a:r>
              <a:rPr dirty="0"/>
              <a:t>By week six, we aim to deliver a baseline, evidence and costed options. The sponsor can then approve an affordable design, change scope or stop.</a:t>
            </a:r>
          </a:p>
          <a:p>
            <a:endParaRPr dirty="0"/>
          </a:p>
          <a:p>
            <a:r>
              <a:rPr dirty="0"/>
              <a:t>EVIDENCE AND QUALIFICATIONS</a:t>
            </a:r>
          </a:p>
          <a:p>
            <a:r>
              <a:rPr dirty="0"/>
              <a:t>Diagnosis uses deidentified episodes from the latest 8–12 weeks, including completed and unresolved cases. Deliverables are D1 scope, eligible episodes, access owners and approved data request; D2 event dictionary, extraction and approved common restoration rule; D3 walkthroughs, staff interviews and evidence for and against H1–H4; D4 comparison of P1–P6, sample feasibility and revised costs. G1 approves a supported mechanism and affordable design, changes the candidate/scope, or stops. Ryan presents evidence; Rae checks value, Francis strategic fit and Xuan adoption. Discovery does not itself provide a powered causal estimate. Determine pilot sample size using baseline variation and clustering.</a:t>
            </a:r>
          </a:p>
          <a:p>
            <a:r>
              <a:rPr dirty="0"/>
              <a:t>第六周交付明确的决定依据：服务定义与基线、支持和反对各原因的证据、P1–P6 比较、样本可行性和修订成本。G1 </a:t>
            </a:r>
            <a:r>
              <a:rPr dirty="0" err="1"/>
              <a:t>选择有证据且可负担的设计、调整范围或停止。诊断用近期</a:t>
            </a:r>
            <a:r>
              <a:rPr dirty="0"/>
              <a:t> 8–12 </a:t>
            </a:r>
            <a:r>
              <a:rPr dirty="0" err="1"/>
              <a:t>周去标识记录，包含已完成与未完成案例；不保证六周诊断就能得到有统计检验效力的因果结果</a:t>
            </a:r>
            <a:r>
              <a:rPr dirty="0"/>
              <a:t>。</a:t>
            </a:r>
          </a:p>
          <a:p>
            <a:endParaRPr dirty="0"/>
          </a:p>
          <a:p>
            <a:r>
              <a:rPr dirty="0"/>
              <a:t>SOURCES</a:t>
            </a:r>
          </a:p>
          <a:p>
            <a:r>
              <a:rPr dirty="0"/>
              <a:t>Author proposal, planning assumption or reconstructed process. Not an observed Spark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09 — 20 seconds</a:t>
            </a:r>
          </a:p>
          <a:p>
            <a:r>
              <a:rPr dirty="0"/>
              <a:t>If ownership contributes to delays, named acceptance and escalation could reduce waiting. A pilot must test service benefits and any extra staff effort.</a:t>
            </a:r>
          </a:p>
          <a:p>
            <a:endParaRPr dirty="0"/>
          </a:p>
          <a:p>
            <a:r>
              <a:rPr dirty="0"/>
              <a:t>EVIDENCE AND QUALIFICATIONS</a:t>
            </a:r>
          </a:p>
          <a:p>
            <a:endParaRPr dirty="0"/>
          </a:p>
          <a:p>
            <a:r>
              <a:rPr dirty="0"/>
              <a:t>P1 的待验证价值链是：明确接收与升级，让等待案例有清楚责任；预期减少等待和追问，进而加快恢复、减少客户重复联系并释放一线时间。图中保留拒绝、逾期和未知结果。这个机制须经诊断和后续可比试点验证，不能说成已经实现的效果；timer </a:t>
            </a:r>
            <a:r>
              <a:rPr dirty="0" err="1"/>
              <a:t>仍是符号占位</a:t>
            </a:r>
            <a:r>
              <a:rPr dirty="0"/>
              <a:t>。</a:t>
            </a:r>
          </a:p>
          <a:p>
            <a:endParaRPr dirty="0"/>
          </a:p>
          <a:p>
            <a:r>
              <a:rPr dirty="0"/>
              <a:t>SOURCES</a:t>
            </a:r>
          </a:p>
          <a:p>
            <a:r>
              <a:rPr dirty="0"/>
              <a:t>SAP. (n.d.). Modeling with the editor. Managing Business Processes with SAP </a:t>
            </a:r>
            <a:r>
              <a:rPr dirty="0" err="1"/>
              <a:t>Signavio</a:t>
            </a:r>
            <a:r>
              <a:rPr dirty="0"/>
              <a:t> Solutions, Unit 4, Lesson 3.</a:t>
            </a:r>
          </a:p>
          <a:p>
            <a:r>
              <a:rPr dirty="0"/>
              <a:t>https://</a:t>
            </a:r>
            <a:r>
              <a:rPr dirty="0" err="1"/>
              <a:t>learning.sap.com</a:t>
            </a:r>
            <a:r>
              <a:rPr dirty="0"/>
              <a:t>/courses/managing-business-processes-with-sap-</a:t>
            </a:r>
            <a:r>
              <a:rPr dirty="0" err="1"/>
              <a:t>signavio</a:t>
            </a:r>
            <a:r>
              <a:rPr dirty="0"/>
              <a:t>-solutions/the-editor-quick-n-easy-modeling_fd121490-31f9-4229-a10a-8a3a68972fa3</a:t>
            </a:r>
          </a:p>
          <a:p>
            <a:endParaRPr dirty="0"/>
          </a:p>
          <a:p>
            <a:r>
              <a:rPr dirty="0"/>
              <a:t>SAP. (n.d.). Performing simulations. Managing Business Processes with SAP </a:t>
            </a:r>
            <a:r>
              <a:rPr dirty="0" err="1"/>
              <a:t>Signavio</a:t>
            </a:r>
            <a:r>
              <a:rPr dirty="0"/>
              <a:t> Solutions, Unit 4, Lesson 7.</a:t>
            </a:r>
          </a:p>
          <a:p>
            <a:r>
              <a:rPr dirty="0"/>
              <a:t>https://</a:t>
            </a:r>
            <a:r>
              <a:rPr dirty="0" err="1"/>
              <a:t>learning.sap.com</a:t>
            </a:r>
            <a:r>
              <a:rPr dirty="0"/>
              <a:t>/courses/managing-business-processes-with-sap-</a:t>
            </a:r>
            <a:r>
              <a:rPr dirty="0" err="1"/>
              <a:t>signavio</a:t>
            </a:r>
            <a:r>
              <a:rPr dirty="0"/>
              <a:t>-solutions/basic-simulation_fbe67690-eb99-4861-9773-2b05c0144e79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10 — 20 seconds</a:t>
            </a:r>
          </a:p>
          <a:p>
            <a:r>
              <a:rPr dirty="0"/>
              <a:t>I have prepared </a:t>
            </a:r>
            <a:r>
              <a:rPr dirty="0" err="1"/>
              <a:t>Signavio</a:t>
            </a:r>
            <a:r>
              <a:rPr dirty="0"/>
              <a:t> models. The other tools could support dependencies, measurement, forms and testing, subject to Spark’s systems, access and a justified need.</a:t>
            </a:r>
          </a:p>
          <a:p>
            <a:endParaRPr dirty="0"/>
          </a:p>
          <a:p>
            <a:r>
              <a:rPr dirty="0"/>
              <a:t>EVIDENCE AND QUALIFICATIONS</a:t>
            </a:r>
          </a:p>
          <a:p>
            <a:r>
              <a:rPr dirty="0"/>
              <a:t>The </a:t>
            </a:r>
            <a:r>
              <a:rPr dirty="0" err="1"/>
              <a:t>Signavio</a:t>
            </a:r>
            <a:r>
              <a:rPr dirty="0"/>
              <a:t> AS-IS and conditional P1 models exist. The other applications remain proposals, not evidence of deployed Spark systems. SAP Learning provides capability descriptions. A production choice requires </a:t>
            </a:r>
            <a:r>
              <a:rPr dirty="0" err="1"/>
              <a:t>authorised</a:t>
            </a:r>
            <a:r>
              <a:rPr dirty="0"/>
              <a:t> access, a confirmed technology fit and justified cost; a manual or existing-tool option remains valid.</a:t>
            </a:r>
          </a:p>
          <a:p>
            <a:r>
              <a:rPr dirty="0" err="1"/>
              <a:t>覆盖</a:t>
            </a:r>
            <a:r>
              <a:rPr dirty="0"/>
              <a:t> A2-D1 </a:t>
            </a:r>
            <a:r>
              <a:rPr dirty="0" err="1"/>
              <a:t>第</a:t>
            </a:r>
            <a:r>
              <a:rPr dirty="0"/>
              <a:t> 14 </a:t>
            </a:r>
            <a:r>
              <a:rPr dirty="0" err="1"/>
              <a:t>章，但不暗示</a:t>
            </a:r>
            <a:r>
              <a:rPr dirty="0"/>
              <a:t> Spark </a:t>
            </a:r>
            <a:r>
              <a:rPr dirty="0" err="1"/>
              <a:t>已采用全部</a:t>
            </a:r>
            <a:r>
              <a:rPr dirty="0"/>
              <a:t> SAP </a:t>
            </a:r>
            <a:r>
              <a:rPr dirty="0" err="1"/>
              <a:t>产品。已经完成的是</a:t>
            </a:r>
            <a:r>
              <a:rPr dirty="0"/>
              <a:t> Signavio </a:t>
            </a:r>
            <a:r>
              <a:rPr dirty="0" err="1"/>
              <a:t>流程图；其余是基于学习内容提出的条件性应用，现有工具或人工方案仍可更合适</a:t>
            </a:r>
            <a:r>
              <a:rPr dirty="0"/>
              <a:t>。</a:t>
            </a:r>
          </a:p>
          <a:p>
            <a:endParaRPr dirty="0"/>
          </a:p>
          <a:p>
            <a:r>
              <a:rPr dirty="0"/>
              <a:t>SOURCES</a:t>
            </a:r>
          </a:p>
          <a:p>
            <a:r>
              <a:rPr dirty="0"/>
              <a:t>SAP. (n.d.). Modeling with the editor. Managing Business Processes with SAP </a:t>
            </a:r>
            <a:r>
              <a:rPr dirty="0" err="1"/>
              <a:t>Signavio</a:t>
            </a:r>
            <a:r>
              <a:rPr dirty="0"/>
              <a:t> Solutions, Unit 4, Lesson 3.</a:t>
            </a:r>
          </a:p>
          <a:p>
            <a:r>
              <a:rPr dirty="0"/>
              <a:t>https://</a:t>
            </a:r>
            <a:r>
              <a:rPr dirty="0" err="1"/>
              <a:t>learning.sap.com</a:t>
            </a:r>
            <a:r>
              <a:rPr dirty="0"/>
              <a:t>/courses/managing-business-processes-with-sap-</a:t>
            </a:r>
            <a:r>
              <a:rPr dirty="0" err="1"/>
              <a:t>signavio</a:t>
            </a:r>
            <a:r>
              <a:rPr dirty="0"/>
              <a:t>-solutions/the-editor-quick-n-easy-modeling_fd121490-31f9-4229-a10a-8a3a68972fa3</a:t>
            </a:r>
          </a:p>
          <a:p>
            <a:endParaRPr dirty="0"/>
          </a:p>
          <a:p>
            <a:r>
              <a:rPr dirty="0"/>
              <a:t>SAP. (n.d.). Performing simulations. Managing Business Processes with SAP </a:t>
            </a:r>
            <a:r>
              <a:rPr dirty="0" err="1"/>
              <a:t>Signavio</a:t>
            </a:r>
            <a:r>
              <a:rPr dirty="0"/>
              <a:t> Solutions, Unit 4, Lesson 7.</a:t>
            </a:r>
          </a:p>
          <a:p>
            <a:r>
              <a:rPr dirty="0"/>
              <a:t>https://</a:t>
            </a:r>
            <a:r>
              <a:rPr dirty="0" err="1"/>
              <a:t>learning.sap.com</a:t>
            </a:r>
            <a:r>
              <a:rPr dirty="0"/>
              <a:t>/courses/managing-business-processes-with-sap-</a:t>
            </a:r>
            <a:r>
              <a:rPr dirty="0" err="1"/>
              <a:t>signavio</a:t>
            </a:r>
            <a:r>
              <a:rPr dirty="0"/>
              <a:t>-solutions/basic-simulation_fbe67690-eb99-4861-9773-2b05c0144e79</a:t>
            </a:r>
          </a:p>
          <a:p>
            <a:endParaRPr dirty="0"/>
          </a:p>
          <a:p>
            <a:r>
              <a:rPr dirty="0"/>
              <a:t>SAP. (n.d.). Defining SAP </a:t>
            </a:r>
            <a:r>
              <a:rPr dirty="0" err="1"/>
              <a:t>LeanIX</a:t>
            </a:r>
            <a:r>
              <a:rPr dirty="0"/>
              <a:t> fact sheets and modeling relations and dependencies. Learning to Use SAP </a:t>
            </a:r>
            <a:r>
              <a:rPr dirty="0" err="1"/>
              <a:t>LeanIX</a:t>
            </a:r>
            <a:r>
              <a:rPr dirty="0"/>
              <a:t> for Successful Enterprise Architecture, Unit 2, Lesson 2.</a:t>
            </a:r>
          </a:p>
          <a:p>
            <a:r>
              <a:rPr dirty="0"/>
              <a:t>https://</a:t>
            </a:r>
            <a:r>
              <a:rPr dirty="0" err="1"/>
              <a:t>learning.sap.com</a:t>
            </a:r>
            <a:r>
              <a:rPr dirty="0"/>
              <a:t>/courses/learning-to-use-sap-leanix-for-successful-enterprise-architecture/defining-sap-leanix-fact-sheets-and-modeling-relations-and-dependencies_ce548272-cbab-4d1d-b94b-77d5c13c3935</a:t>
            </a:r>
          </a:p>
          <a:p>
            <a:endParaRPr dirty="0"/>
          </a:p>
          <a:p>
            <a:r>
              <a:rPr dirty="0"/>
              <a:t>SAP. (n.d.). Configuring charts. Designing Stories in SAP Analytics Cloud, Unit 3, Lesson 2.</a:t>
            </a:r>
          </a:p>
          <a:p>
            <a:r>
              <a:rPr dirty="0"/>
              <a:t>https://</a:t>
            </a:r>
            <a:r>
              <a:rPr dirty="0" err="1"/>
              <a:t>learning.sap.com</a:t>
            </a:r>
            <a:r>
              <a:rPr dirty="0"/>
              <a:t>/courses/designing-stories-in-sap-analytics-cloud/configuring-charts_ca6acc40-01e5-4f3b-8d7f-1ce8747a628c</a:t>
            </a:r>
          </a:p>
          <a:p>
            <a:endParaRPr dirty="0"/>
          </a:p>
          <a:p>
            <a:r>
              <a:rPr dirty="0"/>
              <a:t>SAP. (n.d.). Digitalizing user interactions with forms. Developing with SAP Build Process Automation, Unit 3, Lesson 3.</a:t>
            </a:r>
          </a:p>
          <a:p>
            <a:r>
              <a:rPr dirty="0"/>
              <a:t>https://</a:t>
            </a:r>
            <a:r>
              <a:rPr dirty="0" err="1"/>
              <a:t>learning.sap.com</a:t>
            </a:r>
            <a:r>
              <a:rPr dirty="0"/>
              <a:t>/courses/developing-with-sap-build-process-automation/digitalizing-user-interactions-with-forms_d0e78947-8cff-45f0-9b85-d82c1ed0394e</a:t>
            </a:r>
          </a:p>
          <a:p>
            <a:endParaRPr dirty="0"/>
          </a:p>
          <a:p>
            <a:r>
              <a:rPr dirty="0"/>
              <a:t>SAP. (n.d.). Encapsulating the APIs of remote systems using actions projects. Developing with SAP Build Process Automation, Unit 5, Lesson 2.</a:t>
            </a:r>
          </a:p>
          <a:p>
            <a:r>
              <a:rPr dirty="0"/>
              <a:t>https://</a:t>
            </a:r>
            <a:r>
              <a:rPr dirty="0" err="1"/>
              <a:t>learning.sap.com</a:t>
            </a:r>
            <a:r>
              <a:rPr dirty="0"/>
              <a:t>/courses/developing-with-sap-build-process-automation/encapsulating-the-apis-of-remote-systems-using-actions-projects_d102638b-94d7-4c2e-9547-bb344e9aa9de</a:t>
            </a:r>
          </a:p>
          <a:p>
            <a:endParaRPr dirty="0"/>
          </a:p>
          <a:p>
            <a:r>
              <a:rPr dirty="0"/>
              <a:t>SAP. (n.d.). Setting-up the project and teams. Implementing with SAP Cloud ALM, Unit 2, Lesson 1.</a:t>
            </a:r>
          </a:p>
          <a:p>
            <a:r>
              <a:rPr dirty="0"/>
              <a:t>https://</a:t>
            </a:r>
            <a:r>
              <a:rPr dirty="0" err="1"/>
              <a:t>learning.sap.com</a:t>
            </a:r>
            <a:r>
              <a:rPr dirty="0"/>
              <a:t>/courses/implementing-with-sap-cloud-</a:t>
            </a:r>
            <a:r>
              <a:rPr dirty="0" err="1"/>
              <a:t>alm</a:t>
            </a:r>
            <a:r>
              <a:rPr dirty="0"/>
              <a:t>/setting-up-the-project-and-teams_eee6ae76-7b22-4393-844d-be56ec4fe45a</a:t>
            </a:r>
          </a:p>
          <a:p>
            <a:endParaRPr dirty="0"/>
          </a:p>
          <a:p>
            <a:r>
              <a:rPr dirty="0"/>
              <a:t>SAP. (n.d.). Planning and executing testing. Implementing with SAP Cloud ALM, Unit 7, Lesson 1.</a:t>
            </a:r>
          </a:p>
          <a:p>
            <a:r>
              <a:rPr dirty="0"/>
              <a:t>https://</a:t>
            </a:r>
            <a:r>
              <a:rPr dirty="0" err="1"/>
              <a:t>learning.sap.com</a:t>
            </a:r>
            <a:r>
              <a:rPr dirty="0"/>
              <a:t>/courses/implementing-with-sap-cloud-</a:t>
            </a:r>
            <a:r>
              <a:rPr dirty="0" err="1"/>
              <a:t>alm</a:t>
            </a:r>
            <a:r>
              <a:rPr dirty="0"/>
              <a:t>/planning-and-executing-testing_ef46a49b-9885-4aaa-841d-5ac9c80a3681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11 — 20 seconds</a:t>
            </a:r>
          </a:p>
          <a:p>
            <a:r>
              <a:rPr dirty="0"/>
              <a:t>The full plan spans twenty-four delivery weeks, with approvals between phases. During the proposed year-end pause, customer service continues and already enrolled cases remain under observation.</a:t>
            </a:r>
          </a:p>
          <a:p>
            <a:endParaRPr dirty="0"/>
          </a:p>
          <a:p>
            <a:r>
              <a:rPr dirty="0"/>
              <a:t>EVIDENCE AND QUALIFICATIONS</a:t>
            </a:r>
          </a:p>
          <a:p>
            <a:endParaRPr dirty="0"/>
          </a:p>
          <a:p>
            <a:r>
              <a:rPr dirty="0"/>
              <a:t>五个阶段分别是诊断、设计、试点、评价、移交。24 </a:t>
            </a:r>
            <a:r>
              <a:rPr dirty="0" err="1"/>
              <a:t>个交付周加</a:t>
            </a:r>
            <a:r>
              <a:rPr dirty="0"/>
              <a:t> 3 </a:t>
            </a:r>
            <a:r>
              <a:rPr dirty="0" err="1"/>
              <a:t>周暂停，共</a:t>
            </a:r>
            <a:r>
              <a:rPr dirty="0"/>
              <a:t> 27 </a:t>
            </a:r>
            <a:r>
              <a:rPr dirty="0" err="1"/>
              <a:t>个日历周；暂停的是新实验入组和常规项目交付，不是客户故障服务或已入组案例跟进</a:t>
            </a:r>
            <a:r>
              <a:rPr dirty="0"/>
              <a:t>。</a:t>
            </a:r>
          </a:p>
          <a:p>
            <a:endParaRPr dirty="0"/>
          </a:p>
          <a:p>
            <a:r>
              <a:rPr dirty="0"/>
              <a:t>SOURCES</a:t>
            </a:r>
          </a:p>
          <a:p>
            <a:r>
              <a:rPr dirty="0"/>
              <a:t>Author proposal, planning assumption or reconstructed process. Not an observed Spark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12 — 20 seconds</a:t>
            </a:r>
          </a:p>
          <a:p>
            <a:r>
              <a:rPr dirty="0"/>
              <a:t>I lead operations, with financial, strategic and </a:t>
            </a:r>
            <a:r>
              <a:rPr dirty="0" err="1"/>
              <a:t>organisational</a:t>
            </a:r>
            <a:r>
              <a:rPr dirty="0"/>
              <a:t> support from the team. These are proposed consulting roles. Spark keeps authority over live changes and service decisions.</a:t>
            </a:r>
          </a:p>
          <a:p>
            <a:endParaRPr dirty="0"/>
          </a:p>
          <a:p>
            <a:r>
              <a:rPr dirty="0"/>
              <a:t>EVIDENCE AND QUALIFICATIONS</a:t>
            </a:r>
          </a:p>
          <a:p>
            <a:endParaRPr dirty="0"/>
          </a:p>
          <a:p>
            <a:r>
              <a:rPr dirty="0" err="1"/>
              <a:t>沿用提案团队角色，明确</a:t>
            </a:r>
            <a:r>
              <a:rPr dirty="0"/>
              <a:t> </a:t>
            </a:r>
            <a:r>
              <a:rPr dirty="0" err="1"/>
              <a:t>hypothetical，不编造真实咨询履历或</a:t>
            </a:r>
            <a:r>
              <a:rPr dirty="0"/>
              <a:t> Spark </a:t>
            </a:r>
            <a:r>
              <a:rPr dirty="0" err="1"/>
              <a:t>任职。角色覆盖完整</a:t>
            </a:r>
            <a:r>
              <a:rPr dirty="0"/>
              <a:t> business case </a:t>
            </a:r>
            <a:r>
              <a:rPr dirty="0" err="1"/>
              <a:t>并不表示需要汇总四位组员各自的</a:t>
            </a:r>
            <a:r>
              <a:rPr dirty="0"/>
              <a:t> A2-D1 </a:t>
            </a:r>
            <a:r>
              <a:rPr dirty="0" err="1"/>
              <a:t>题目</a:t>
            </a:r>
            <a:r>
              <a:rPr dirty="0"/>
              <a:t>。</a:t>
            </a:r>
          </a:p>
          <a:p>
            <a:endParaRPr dirty="0"/>
          </a:p>
          <a:p>
            <a:r>
              <a:rPr dirty="0"/>
              <a:t>SOURCES</a:t>
            </a:r>
          </a:p>
          <a:p>
            <a:r>
              <a:rPr dirty="0"/>
              <a:t>Author proposal, planning assumption or reconstructed process. Not an observed Spark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13 — 20 seconds</a:t>
            </a:r>
          </a:p>
          <a:p>
            <a:r>
              <a:rPr dirty="0"/>
              <a:t>Diagnosis needs one hundred and sixty client hours, plus agreed owners and access. Staff time has an opportunity cost, separate from the consulting cash commitment.</a:t>
            </a:r>
          </a:p>
          <a:p>
            <a:endParaRPr dirty="0"/>
          </a:p>
          <a:p>
            <a:r>
              <a:rPr dirty="0"/>
              <a:t>EVIDENCE AND QUALIFICATIONS</a:t>
            </a:r>
          </a:p>
          <a:p>
            <a:r>
              <a:rPr dirty="0"/>
              <a:t>The initial diagnosis requires 160 client hours (A2-D1 D1–D4) alongside 208 consultant hours. At an assumed NZ$80/hour, diagnostic client opportunity cost is NZ$12,800. The conditional full engagement assumes 540 client hours, or NZ$43,200 at that same rate; the 160 diagnostic hours are included in, not additional to, the 540. Neither opportunity cost is added as a second cash outflow. Agree access, decision owners and workshop participation at initiation.</a:t>
            </a:r>
          </a:p>
          <a:p>
            <a:r>
              <a:rPr dirty="0" err="1"/>
              <a:t>当前诊断审批同时需要</a:t>
            </a:r>
            <a:r>
              <a:rPr dirty="0"/>
              <a:t> 160 </a:t>
            </a:r>
            <a:r>
              <a:rPr dirty="0" err="1"/>
              <a:t>客户小时，按</a:t>
            </a:r>
            <a:r>
              <a:rPr dirty="0"/>
              <a:t> $80/h </a:t>
            </a:r>
            <a:r>
              <a:rPr dirty="0" err="1"/>
              <a:t>的规划单价计</a:t>
            </a:r>
            <a:r>
              <a:rPr dirty="0"/>
              <a:t> $12,800 </a:t>
            </a:r>
            <a:r>
              <a:rPr dirty="0" err="1"/>
              <a:t>机会成本；它不属于咨询现金费用。完整项目</a:t>
            </a:r>
            <a:r>
              <a:rPr dirty="0"/>
              <a:t> 540 </a:t>
            </a:r>
            <a:r>
              <a:rPr dirty="0" err="1"/>
              <a:t>小时</a:t>
            </a:r>
            <a:r>
              <a:rPr dirty="0"/>
              <a:t>／$43,200 </a:t>
            </a:r>
            <a:r>
              <a:rPr dirty="0" err="1"/>
              <a:t>包含这</a:t>
            </a:r>
            <a:r>
              <a:rPr dirty="0"/>
              <a:t> 160 </a:t>
            </a:r>
            <a:r>
              <a:rPr dirty="0" err="1"/>
              <a:t>小时，不能再次叠加。客户须提供赞助人、服务负责人、数据与一线人员访问、合作方联络及财务核对</a:t>
            </a:r>
            <a:r>
              <a:rPr dirty="0"/>
              <a:t>。</a:t>
            </a:r>
          </a:p>
          <a:p>
            <a:endParaRPr dirty="0"/>
          </a:p>
          <a:p>
            <a:r>
              <a:rPr dirty="0"/>
              <a:t>SOURCES</a:t>
            </a:r>
          </a:p>
          <a:p>
            <a:r>
              <a:rPr dirty="0"/>
              <a:t>Mills, A. (2025, August 26). Guest lecture Andrew Mills INFOSYS 704 [Video]. University of Auckland.</a:t>
            </a:r>
          </a:p>
          <a:p>
            <a:r>
              <a:rPr dirty="0"/>
              <a:t>https://</a:t>
            </a:r>
            <a:r>
              <a:rPr dirty="0" err="1"/>
              <a:t>auckland.au.panopto.com</a:t>
            </a:r>
            <a:r>
              <a:rPr dirty="0"/>
              <a:t>/Panopto/Pages/</a:t>
            </a:r>
            <a:r>
              <a:rPr dirty="0" err="1"/>
              <a:t>Viewer.aspx?id</a:t>
            </a:r>
            <a:r>
              <a:rPr dirty="0"/>
              <a:t>=b95c7f4e-914b-486b-bc74-b4b200627d8a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14 — 20 seconds</a:t>
            </a:r>
          </a:p>
          <a:p>
            <a:r>
              <a:rPr dirty="0"/>
              <a:t>Before launch, staff </a:t>
            </a:r>
            <a:r>
              <a:rPr dirty="0" err="1"/>
              <a:t>practise</a:t>
            </a:r>
            <a:r>
              <a:rPr dirty="0"/>
              <a:t> exceptions, confirm partner responsibilities and test rollback. Early reviews check service and workload. At handover, Spark takes ownership of the operating guide.</a:t>
            </a:r>
          </a:p>
          <a:p>
            <a:endParaRPr dirty="0"/>
          </a:p>
          <a:p>
            <a:r>
              <a:rPr dirty="0"/>
              <a:t>EVIDENCE AND QUALIFICATIONS</a:t>
            </a:r>
          </a:p>
          <a:p>
            <a:endParaRPr dirty="0"/>
          </a:p>
          <a:p>
            <a:r>
              <a:rPr dirty="0"/>
              <a:t>实施采用有限试点与独立扩展审批。确保所有试点员工通过实操检查，严重服务或隐私事件暂停变更并恢复原程序，移交时客户必须能独立处理异常。</a:t>
            </a:r>
          </a:p>
          <a:p>
            <a:endParaRPr dirty="0"/>
          </a:p>
          <a:p>
            <a:r>
              <a:rPr dirty="0"/>
              <a:t>SOURCES</a:t>
            </a:r>
          </a:p>
          <a:p>
            <a:r>
              <a:rPr dirty="0"/>
              <a:t>Mills, A. (2025, August 26). Guest lecture Andrew Mills INFOSYS 704 [Video]. University of Auckland.</a:t>
            </a:r>
          </a:p>
          <a:p>
            <a:r>
              <a:rPr dirty="0"/>
              <a:t>https://</a:t>
            </a:r>
            <a:r>
              <a:rPr dirty="0" err="1"/>
              <a:t>auckland.au.panopto.com</a:t>
            </a:r>
            <a:r>
              <a:rPr dirty="0"/>
              <a:t>/Panopto/Pages/</a:t>
            </a:r>
            <a:r>
              <a:rPr dirty="0" err="1"/>
              <a:t>Viewer.aspx?id</a:t>
            </a:r>
            <a:r>
              <a:rPr dirty="0"/>
              <a:t>=b95c7f4e-914b-486b-bc74-b4b200627d8a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15 — 20 seconds</a:t>
            </a:r>
          </a:p>
          <a:p>
            <a:r>
              <a:rPr dirty="0"/>
              <a:t>Each risk has an owner and a response. Measure total handling time, because extra administration could erase savings. Serious service or privacy incidents suspend the affected change.</a:t>
            </a:r>
          </a:p>
          <a:p>
            <a:endParaRPr dirty="0"/>
          </a:p>
          <a:p>
            <a:r>
              <a:rPr dirty="0"/>
              <a:t>EVIDENCE AND QUALIFICATIONS</a:t>
            </a:r>
          </a:p>
          <a:p>
            <a:r>
              <a:rPr dirty="0"/>
              <a:t>R1 wrong cause: Ryan, with no G1 approval without supporting episode evidence. R2 incomplete records: client analyst and Ryan; below 90% reconstruction, repair measurement or narrow scope. R3 partner access/accountability: client partner liaison; agree responsibilities and minimum access before G2, otherwise narrow to an </a:t>
            </a:r>
            <a:r>
              <a:rPr dirty="0" err="1"/>
              <a:t>authorised</a:t>
            </a:r>
            <a:r>
              <a:rPr dirty="0"/>
              <a:t> option or stop. R4 administrative burden/workarounds: Xuan and client team leader; measure total handling time and simplify when work shifts rather than falls. R5 service interruption/incorrect messages: client service owner; sandbox tests, limited rollout and rollback drill, with affected change suspended after a serious incident. R6 data exposure: client security lead; </a:t>
            </a:r>
            <a:r>
              <a:rPr dirty="0" err="1"/>
              <a:t>minimise</a:t>
            </a:r>
            <a:r>
              <a:rPr dirty="0"/>
              <a:t> fields, approve access and retention, reject unapproved transfers before G2. R7 insufficient value: Rae and sponsor; revalidate volumes, net minutes and cash conversion, then narrow or stop if value is insufficient. R8 seasonal/partner delay: Ryan and partner liaison; confirm pause and comparable observation windows, </a:t>
            </a:r>
            <a:r>
              <a:rPr dirty="0" err="1"/>
              <a:t>rebaseline</a:t>
            </a:r>
            <a:r>
              <a:rPr dirty="0"/>
              <a:t> without hiding lost sample coverage. Review red risks weekly and before each gate. These are planning judgements, not measured probabilities.</a:t>
            </a:r>
          </a:p>
          <a:p>
            <a:r>
              <a:rPr dirty="0" err="1"/>
              <a:t>为风险补上负责人及触发后的行动。新增行政负担由</a:t>
            </a:r>
            <a:r>
              <a:rPr dirty="0"/>
              <a:t> Xuan </a:t>
            </a:r>
            <a:r>
              <a:rPr dirty="0" err="1"/>
              <a:t>与客户</a:t>
            </a:r>
            <a:r>
              <a:rPr dirty="0"/>
              <a:t> team leader 检查，必须测量总处理时间，才能支持财务模型的净节省分钟数。服务负责人处理恢复与暂停变更，安全负责人拒绝未经批准的数据转移；Rae </a:t>
            </a:r>
            <a:r>
              <a:rPr dirty="0" err="1"/>
              <a:t>与赞助人重新检查价值。不是所有风险都自动停止，有的触发测量修复、简化或重新排期；完整八项见英文备查</a:t>
            </a:r>
            <a:r>
              <a:rPr dirty="0"/>
              <a:t>。</a:t>
            </a:r>
          </a:p>
          <a:p>
            <a:endParaRPr dirty="0"/>
          </a:p>
          <a:p>
            <a:r>
              <a:rPr dirty="0"/>
              <a:t>SOURCES</a:t>
            </a:r>
          </a:p>
          <a:p>
            <a:r>
              <a:rPr dirty="0"/>
              <a:t>Scott, J. E., &amp; Vessey, I. (2002). Managing risks in enterprise systems implementations. Communications of the ACM, 45(4), 74–81.</a:t>
            </a:r>
          </a:p>
          <a:p>
            <a:r>
              <a:rPr dirty="0"/>
              <a:t>https://</a:t>
            </a:r>
            <a:r>
              <a:rPr dirty="0" err="1"/>
              <a:t>doi.org</a:t>
            </a:r>
            <a:r>
              <a:rPr dirty="0"/>
              <a:t>/10.1145/505248.505249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16 — 20 seconds</a:t>
            </a:r>
          </a:p>
          <a:p>
            <a:r>
              <a:rPr dirty="0"/>
              <a:t>The base scenario has a cash shortfall. Only the upside pays back, under stronger assumptions. These estimates support further investigation, not approval of the full investment.</a:t>
            </a:r>
          </a:p>
          <a:p>
            <a:endParaRPr dirty="0"/>
          </a:p>
          <a:p>
            <a:r>
              <a:rPr dirty="0"/>
              <a:t>EVIDENCE AND QUALIFICATIONS</a:t>
            </a:r>
          </a:p>
          <a:p>
            <a:r>
              <a:rPr dirty="0"/>
              <a:t>All scenarios are author assumptions for annual operation after handover, not Spark forecasts. Annual net cash = eligible episodes × net minutes saved ÷ 60 × hourly cost × cash </a:t>
            </a:r>
            <a:r>
              <a:rPr dirty="0" err="1"/>
              <a:t>realisation</a:t>
            </a:r>
            <a:r>
              <a:rPr dirty="0"/>
              <a:t> − recurring </a:t>
            </a:r>
            <a:r>
              <a:rPr dirty="0" err="1"/>
              <a:t>Opex</a:t>
            </a:r>
            <a:r>
              <a:rPr dirty="0"/>
              <a:t>. Downside: 6,000 episodes, 2 minutes, NZ$55/hour, 0% cash </a:t>
            </a:r>
            <a:r>
              <a:rPr dirty="0" err="1"/>
              <a:t>realisation</a:t>
            </a:r>
            <a:r>
              <a:rPr dirty="0"/>
              <a:t> and NZ$12,000 </a:t>
            </a:r>
            <a:r>
              <a:rPr dirty="0" err="1"/>
              <a:t>Opex</a:t>
            </a:r>
            <a:r>
              <a:rPr dirty="0"/>
              <a:t> = −NZ$12,000. Base: 12,000 episodes, 5 minutes, NZ$65/hour, 25% and NZ$18,000 </a:t>
            </a:r>
            <a:r>
              <a:rPr dirty="0" err="1"/>
              <a:t>Opex</a:t>
            </a:r>
            <a:r>
              <a:rPr dirty="0"/>
              <a:t> = −NZ$1,750. Upside: 24,000 episodes, 8 minutes, NZ$75/hour, 50% and NZ$24,000 </a:t>
            </a:r>
            <a:r>
              <a:rPr dirty="0" err="1"/>
              <a:t>Opex</a:t>
            </a:r>
            <a:r>
              <a:rPr dirty="0"/>
              <a:t> = +NZ$96,000. A small regional pilot cannot establish these annual footprints. Finance must validate eligible volume, net handling time after added administration, and whether released capacity genuinely becomes cash. Base capacity is 1,000 hours worth NZ$65,000; NZ$16,250 cash </a:t>
            </a:r>
            <a:r>
              <a:rPr dirty="0" err="1"/>
              <a:t>realisation</a:t>
            </a:r>
            <a:r>
              <a:rPr dirty="0"/>
              <a:t> is a subset, not an additional benefit. Three-year net cash subtracts the full NZ$154,008 ceiling once: downside −NZ$190,008; base −NZ$159,258; upside +NZ$133,992. Undiscounted, with no inflation or ramp-up. Only the upside pays back, at 154,008 / 96,000 = 1.60 years after handover. Incremental steady-state EBITDA equals annual net cash only under the expense/cash timing assumptions. Base three-year net cash remains negative under 0%, 5% and 10% annual episode-volume growth (−159,258; −156,780; −154,221). Higher fault volume is workload growth, not revenue growth. The value of diagnostic information has not been </a:t>
            </a:r>
            <a:r>
              <a:rPr dirty="0" err="1"/>
              <a:t>monetised</a:t>
            </a:r>
            <a:r>
              <a:rPr dirty="0"/>
              <a:t>, and uncommitted later-phase funding is not an achieved saving.</a:t>
            </a:r>
          </a:p>
          <a:p>
            <a:r>
              <a:rPr dirty="0"/>
              <a:t>三个情景全部是移交后的年度运营假设。下行：6,000 案例、2 </a:t>
            </a:r>
            <a:r>
              <a:rPr dirty="0" err="1"/>
              <a:t>分钟</a:t>
            </a:r>
            <a:r>
              <a:rPr dirty="0"/>
              <a:t>、$55/h、0% </a:t>
            </a:r>
            <a:r>
              <a:rPr dirty="0" err="1"/>
              <a:t>现金实现</a:t>
            </a:r>
            <a:r>
              <a:rPr dirty="0"/>
              <a:t>、$12,000 </a:t>
            </a:r>
            <a:r>
              <a:rPr dirty="0" err="1"/>
              <a:t>Opex，净现金</a:t>
            </a:r>
            <a:r>
              <a:rPr dirty="0"/>
              <a:t> −$12,000；基础：12,000、5、$65、25%、$18,000，净现金 −$1,750；上行：24,000、8、$75、50%、$24,000，净现金 +$96,000。小型区域试点不能证明这些年度规模。基础节省 1,000 </a:t>
            </a:r>
            <a:r>
              <a:rPr dirty="0" err="1"/>
              <a:t>小时</a:t>
            </a:r>
            <a:r>
              <a:rPr dirty="0"/>
              <a:t>，$65,000 capacity </a:t>
            </a:r>
            <a:r>
              <a:rPr dirty="0" err="1"/>
              <a:t>中只有</a:t>
            </a:r>
            <a:r>
              <a:rPr dirty="0"/>
              <a:t> $16,250 </a:t>
            </a:r>
            <a:r>
              <a:rPr dirty="0" err="1"/>
              <a:t>假设转成现金，不能把两者加总。三年基础净现金</a:t>
            </a:r>
            <a:r>
              <a:rPr dirty="0"/>
              <a:t> −$159,258；上行才有 1.60 </a:t>
            </a:r>
            <a:r>
              <a:rPr dirty="0" err="1"/>
              <a:t>年移交后回本，均未折现且未计爬坡</a:t>
            </a:r>
            <a:r>
              <a:rPr dirty="0"/>
              <a:t>。</a:t>
            </a:r>
          </a:p>
          <a:p>
            <a:endParaRPr dirty="0"/>
          </a:p>
          <a:p>
            <a:r>
              <a:rPr dirty="0"/>
              <a:t>SOURCES</a:t>
            </a:r>
          </a:p>
          <a:p>
            <a:r>
              <a:rPr dirty="0"/>
              <a:t>Author proposal, planning assumption or reconstructed process. Not an observed Spark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17 — 20 seconds</a:t>
            </a:r>
          </a:p>
          <a:p>
            <a:r>
              <a:rPr dirty="0"/>
              <a:t>The diagnosis ceiling is thirty-six thousand, eight hundred and forty-six dollars, excluding GST. Later phases need separate approval. Unused reserve is not billed.</a:t>
            </a:r>
          </a:p>
          <a:p>
            <a:endParaRPr dirty="0"/>
          </a:p>
          <a:p>
            <a:r>
              <a:rPr dirty="0"/>
              <a:t>EVIDENCE AND QUALIFICATIONS</a:t>
            </a:r>
          </a:p>
          <a:p>
            <a:r>
              <a:rPr dirty="0"/>
              <a:t>Diagnosis fees: 96 engagement-manager hours × NZ$160 plus 112 other consultant hours × NZ$140 = NZ$31,040. Add NZ$1,000 allowance and 15% reserve (NZ$4,806) for NZ$36,846. Full engagement: NZ$121,920 fees + NZ$12,000 allowance + NZ$20,088 reserve = NZ$154,008. Treat cash provisionally as </a:t>
            </a:r>
            <a:r>
              <a:rPr dirty="0" err="1"/>
              <a:t>Opex</a:t>
            </a:r>
            <a:r>
              <a:rPr dirty="0"/>
              <a:t>; planned Capex is zero, subject to Finance review for any later development. National rollout and major integrations require a separate scope.</a:t>
            </a:r>
          </a:p>
          <a:p>
            <a:r>
              <a:rPr dirty="0" err="1"/>
              <a:t>审批请求包含</a:t>
            </a:r>
            <a:r>
              <a:rPr dirty="0"/>
              <a:t> NZ$36,846 </a:t>
            </a:r>
            <a:r>
              <a:rPr dirty="0" err="1"/>
              <a:t>现金上限和</a:t>
            </a:r>
            <a:r>
              <a:rPr dirty="0"/>
              <a:t> 160 </a:t>
            </a:r>
            <a:r>
              <a:rPr dirty="0" err="1"/>
              <a:t>客户小时。诊断咨询投入为</a:t>
            </a:r>
            <a:r>
              <a:rPr dirty="0"/>
              <a:t> 208 </a:t>
            </a:r>
            <a:r>
              <a:rPr dirty="0" err="1"/>
              <a:t>小时</a:t>
            </a:r>
            <a:r>
              <a:rPr dirty="0"/>
              <a:t>：$31,040 fees + $1,000 allowance + $4,806 </a:t>
            </a:r>
            <a:r>
              <a:rPr dirty="0" err="1"/>
              <a:t>reserve。完整条件上限</a:t>
            </a:r>
            <a:r>
              <a:rPr dirty="0"/>
              <a:t> $154,008；余款 $117,162 </a:t>
            </a:r>
            <a:r>
              <a:rPr dirty="0" err="1"/>
              <a:t>尚未承诺，不能称为已实现节约。后续阶段按证据重估，月度按获批实际工作计费，未用</a:t>
            </a:r>
            <a:r>
              <a:rPr dirty="0"/>
              <a:t> reserve </a:t>
            </a:r>
            <a:r>
              <a:rPr dirty="0" err="1"/>
              <a:t>不收取</a:t>
            </a:r>
            <a:r>
              <a:rPr dirty="0"/>
              <a:t>。</a:t>
            </a:r>
          </a:p>
          <a:p>
            <a:endParaRPr dirty="0"/>
          </a:p>
          <a:p>
            <a:r>
              <a:rPr dirty="0"/>
              <a:t>SOURCES</a:t>
            </a:r>
          </a:p>
          <a:p>
            <a:r>
              <a:rPr dirty="0"/>
              <a:t>Mills, A. (2025, August 26). Guest lecture Andrew Mills INFOSYS 704 [Video]. University of Auckland.</a:t>
            </a:r>
          </a:p>
          <a:p>
            <a:r>
              <a:rPr dirty="0"/>
              <a:t>https://</a:t>
            </a:r>
            <a:r>
              <a:rPr dirty="0" err="1"/>
              <a:t>auckland.au.panopto.com</a:t>
            </a:r>
            <a:r>
              <a:rPr dirty="0"/>
              <a:t>/Panopto/Pages/</a:t>
            </a:r>
            <a:r>
              <a:rPr dirty="0" err="1"/>
              <a:t>Viewer.aspx?id</a:t>
            </a:r>
            <a:r>
              <a:rPr dirty="0"/>
              <a:t>=b95c7f4e-914b-486b-bc74-b4b200627d8a</a:t>
            </a:r>
          </a:p>
          <a:p>
            <a:endParaRPr dirty="0"/>
          </a:p>
          <a:p>
            <a:r>
              <a:rPr dirty="0" err="1"/>
              <a:t>Prodigi</a:t>
            </a:r>
            <a:r>
              <a:rPr dirty="0"/>
              <a:t> Technology Services Limited. (n.d.). All our pricing, no meetings required. Retrieved September 15, 2026.</a:t>
            </a:r>
          </a:p>
          <a:p>
            <a:r>
              <a:rPr dirty="0"/>
              <a:t>https://</a:t>
            </a:r>
            <a:r>
              <a:rPr dirty="0" err="1"/>
              <a:t>prodigi.nz</a:t>
            </a:r>
            <a:r>
              <a:rPr dirty="0"/>
              <a:t>/pricing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18 — 20 seconds</a:t>
            </a:r>
          </a:p>
          <a:p>
            <a:r>
              <a:rPr dirty="0"/>
              <a:t>Public reports support the context; research informs the method. Targets and costs remain assumptions. The sponsor must judge whether the diagnostic outputs justify their cost.</a:t>
            </a:r>
          </a:p>
          <a:p>
            <a:endParaRPr dirty="0"/>
          </a:p>
          <a:p>
            <a:r>
              <a:rPr dirty="0"/>
              <a:t>EVIDENCE AND QUALIFICATIONS</a:t>
            </a:r>
          </a:p>
          <a:p>
            <a:endParaRPr dirty="0"/>
          </a:p>
          <a:p>
            <a:r>
              <a:rPr dirty="0" err="1"/>
              <a:t>画面逐项显示八项来源的作者、年份、题名及定位信息，明确</a:t>
            </a:r>
            <a:r>
              <a:rPr dirty="0"/>
              <a:t> 2026a/b </a:t>
            </a:r>
            <a:r>
              <a:rPr dirty="0" err="1"/>
              <a:t>对应，补回</a:t>
            </a:r>
            <a:r>
              <a:rPr dirty="0"/>
              <a:t> Rosenbaum </a:t>
            </a:r>
            <a:r>
              <a:rPr dirty="0" err="1"/>
              <a:t>方法来源。完整链接还保留在英文讲稿和</a:t>
            </a:r>
            <a:r>
              <a:rPr dirty="0"/>
              <a:t> PPT </a:t>
            </a:r>
            <a:r>
              <a:rPr dirty="0" err="1"/>
              <a:t>备注。口述借此回到当前审批判断：诊断信息价值尚未货币化，赞助人应先判断这些具体产出是否值得其成本。自己的未发表</a:t>
            </a:r>
            <a:r>
              <a:rPr dirty="0"/>
              <a:t> A1/A2-D1 </a:t>
            </a:r>
            <a:r>
              <a:rPr dirty="0" err="1"/>
              <a:t>不列作外部参考文献</a:t>
            </a:r>
            <a:r>
              <a:rPr dirty="0"/>
              <a:t>。</a:t>
            </a:r>
          </a:p>
          <a:p>
            <a:endParaRPr dirty="0"/>
          </a:p>
          <a:p>
            <a:r>
              <a:rPr dirty="0"/>
              <a:t>SOURCES</a:t>
            </a:r>
          </a:p>
          <a:p>
            <a:r>
              <a:rPr dirty="0"/>
              <a:t>Commerce Commission. (2026a, August 18). Consumer satisfaction metrics: Methodology &amp; guide – June 2026.</a:t>
            </a:r>
          </a:p>
          <a:p>
            <a:r>
              <a:rPr dirty="0"/>
              <a:t>https://</a:t>
            </a:r>
            <a:r>
              <a:rPr dirty="0" err="1"/>
              <a:t>www.comcom.govt.nz</a:t>
            </a:r>
            <a:r>
              <a:rPr dirty="0"/>
              <a:t>/assets/Uploads/Consumer-Satisfaction-Metrics-Methodology-Guide-June-2026.pdf</a:t>
            </a:r>
          </a:p>
          <a:p>
            <a:endParaRPr dirty="0"/>
          </a:p>
          <a:p>
            <a:r>
              <a:rPr dirty="0"/>
              <a:t>Commerce Commission. (2026b). Customer service and billing rankings – June 2026.</a:t>
            </a:r>
          </a:p>
          <a:p>
            <a:r>
              <a:rPr dirty="0"/>
              <a:t>https://</a:t>
            </a:r>
            <a:r>
              <a:rPr dirty="0" err="1"/>
              <a:t>www.comcom.govt.nz</a:t>
            </a:r>
            <a:r>
              <a:rPr dirty="0"/>
              <a:t>/assets/Uploads/Customer-Service-and-Billing-Rankings-June-2026.pdf</a:t>
            </a:r>
          </a:p>
          <a:p>
            <a:endParaRPr dirty="0"/>
          </a:p>
          <a:p>
            <a:r>
              <a:rPr dirty="0"/>
              <a:t>Spark New Zealand Limited. (2026a, August 20). Spark annual report FY26.</a:t>
            </a:r>
          </a:p>
          <a:p>
            <a:r>
              <a:rPr dirty="0"/>
              <a:t>https://</a:t>
            </a:r>
            <a:r>
              <a:rPr dirty="0" err="1"/>
              <a:t>investors.sparknz.co.nz</a:t>
            </a:r>
            <a:r>
              <a:rPr dirty="0"/>
              <a:t>/</a:t>
            </a:r>
            <a:r>
              <a:rPr dirty="0" err="1"/>
              <a:t>FormBuilder</a:t>
            </a:r>
            <a:r>
              <a:rPr dirty="0"/>
              <a:t>/_Resource/_module/gXbeer80tkeL4nEaF-kwFA/doc/FY26_Annual_Report.pdf</a:t>
            </a:r>
          </a:p>
          <a:p>
            <a:endParaRPr dirty="0"/>
          </a:p>
          <a:p>
            <a:r>
              <a:rPr dirty="0"/>
              <a:t>Spark New Zealand Limited. (2026b). Spark New Zealand FY26 results summary.</a:t>
            </a:r>
          </a:p>
          <a:p>
            <a:r>
              <a:rPr dirty="0"/>
              <a:t>https://</a:t>
            </a:r>
            <a:r>
              <a:rPr dirty="0" err="1"/>
              <a:t>investors.sparknz.co.nz</a:t>
            </a:r>
            <a:r>
              <a:rPr dirty="0"/>
              <a:t>/</a:t>
            </a:r>
            <a:r>
              <a:rPr dirty="0" err="1"/>
              <a:t>FormBuilder</a:t>
            </a:r>
            <a:r>
              <a:rPr dirty="0"/>
              <a:t>/_Resource/_module/gXbeer80tkeL4nEaF-kwFA/doc/H2FY26_Results_Presentation.pdf</a:t>
            </a:r>
          </a:p>
          <a:p>
            <a:endParaRPr dirty="0"/>
          </a:p>
          <a:p>
            <a:r>
              <a:rPr dirty="0"/>
              <a:t>Rosenbaum, M. S., Otalora, M. L., &amp; Ramírez, G. C. (2017). How to create a realistic customer journey map. Business Horizons, 60(1), 143–150.</a:t>
            </a:r>
          </a:p>
          <a:p>
            <a:r>
              <a:rPr dirty="0"/>
              <a:t>https://</a:t>
            </a:r>
            <a:r>
              <a:rPr dirty="0" err="1"/>
              <a:t>doi.org</a:t>
            </a:r>
            <a:r>
              <a:rPr dirty="0"/>
              <a:t>/10.1016/j.bushor.2016.09.010</a:t>
            </a:r>
          </a:p>
          <a:p>
            <a:endParaRPr dirty="0"/>
          </a:p>
          <a:p>
            <a:r>
              <a:rPr dirty="0"/>
              <a:t>Mills, A. (2025, August 26). Guest lecture Andrew Mills INFOSYS 704 [Video]. University of Auckland.</a:t>
            </a:r>
          </a:p>
          <a:p>
            <a:r>
              <a:rPr dirty="0"/>
              <a:t>https://</a:t>
            </a:r>
            <a:r>
              <a:rPr dirty="0" err="1"/>
              <a:t>auckland.au.panopto.com</a:t>
            </a:r>
            <a:r>
              <a:rPr dirty="0"/>
              <a:t>/Panopto/Pages/</a:t>
            </a:r>
            <a:r>
              <a:rPr dirty="0" err="1"/>
              <a:t>Viewer.aspx?id</a:t>
            </a:r>
            <a:r>
              <a:rPr dirty="0"/>
              <a:t>=b95c7f4e-914b-486b-bc74-b4b200627d8a</a:t>
            </a:r>
          </a:p>
          <a:p>
            <a:endParaRPr dirty="0"/>
          </a:p>
          <a:p>
            <a:r>
              <a:rPr dirty="0"/>
              <a:t>Scott, J. E., &amp; Vessey, I. (2002). Managing risks in enterprise systems implementations. Communications of the ACM, 45(4), 74–81.</a:t>
            </a:r>
          </a:p>
          <a:p>
            <a:r>
              <a:rPr dirty="0"/>
              <a:t>https://</a:t>
            </a:r>
            <a:r>
              <a:rPr dirty="0" err="1"/>
              <a:t>doi.org</a:t>
            </a:r>
            <a:r>
              <a:rPr dirty="0"/>
              <a:t>/10.1145/505248.505249</a:t>
            </a:r>
          </a:p>
          <a:p>
            <a:endParaRPr dirty="0"/>
          </a:p>
          <a:p>
            <a:r>
              <a:rPr dirty="0" err="1"/>
              <a:t>Prodigi</a:t>
            </a:r>
            <a:r>
              <a:rPr dirty="0"/>
              <a:t> Technology Services Limited. (n.d.). All our pricing, no meetings required. Retrieved September 15, 2026.</a:t>
            </a:r>
          </a:p>
          <a:p>
            <a:r>
              <a:rPr dirty="0"/>
              <a:t>https://</a:t>
            </a:r>
            <a:r>
              <a:rPr dirty="0" err="1"/>
              <a:t>prodigi.nz</a:t>
            </a:r>
            <a:r>
              <a:rPr dirty="0"/>
              <a:t>/pricing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19 — 20 seconds</a:t>
            </a:r>
          </a:p>
          <a:p>
            <a:r>
              <a:rPr dirty="0"/>
              <a:t>These SAP courses explain the proposed capabilities. They do not establish Spark’s current systems or </a:t>
            </a:r>
            <a:r>
              <a:rPr dirty="0" err="1"/>
              <a:t>licence</a:t>
            </a:r>
            <a:r>
              <a:rPr dirty="0"/>
              <a:t> costs. We would first check whether existing tools are sufficient.</a:t>
            </a:r>
          </a:p>
          <a:p>
            <a:endParaRPr dirty="0"/>
          </a:p>
          <a:p>
            <a:r>
              <a:rPr dirty="0"/>
              <a:t>EVIDENCE AND QUALIFICATIONS</a:t>
            </a:r>
          </a:p>
          <a:p>
            <a:endParaRPr dirty="0"/>
          </a:p>
          <a:p>
            <a:r>
              <a:rPr dirty="0" err="1"/>
              <a:t>画面显示五个完整课程名称、八个课次及各自标题，按</a:t>
            </a:r>
            <a:r>
              <a:rPr dirty="0"/>
              <a:t> SAP Learning </a:t>
            </a:r>
            <a:r>
              <a:rPr dirty="0" err="1"/>
              <a:t>课程与单元可定位原文，完整链接列在英文讲稿。课程支持工具能力，不代表</a:t>
            </a:r>
            <a:r>
              <a:rPr dirty="0"/>
              <a:t> Spark </a:t>
            </a:r>
            <a:r>
              <a:rPr dirty="0" err="1"/>
              <a:t>已部署这些产品。口述强调可以选择更小的现有工具改动，并在</a:t>
            </a:r>
            <a:r>
              <a:rPr dirty="0"/>
              <a:t> G1 </a:t>
            </a:r>
            <a:r>
              <a:rPr dirty="0" err="1"/>
              <a:t>用修订范围和价格决定后续投入</a:t>
            </a:r>
            <a:r>
              <a:rPr dirty="0"/>
              <a:t>。</a:t>
            </a:r>
          </a:p>
          <a:p>
            <a:endParaRPr dirty="0"/>
          </a:p>
          <a:p>
            <a:r>
              <a:rPr dirty="0"/>
              <a:t>SOURCES</a:t>
            </a:r>
          </a:p>
          <a:p>
            <a:r>
              <a:rPr dirty="0"/>
              <a:t>SAP. (n.d.). Modeling with the editor. Managing Business Processes with SAP </a:t>
            </a:r>
            <a:r>
              <a:rPr dirty="0" err="1"/>
              <a:t>Signavio</a:t>
            </a:r>
            <a:r>
              <a:rPr dirty="0"/>
              <a:t> Solutions, Unit 4, Lesson 3.</a:t>
            </a:r>
          </a:p>
          <a:p>
            <a:r>
              <a:rPr dirty="0"/>
              <a:t>https://</a:t>
            </a:r>
            <a:r>
              <a:rPr dirty="0" err="1"/>
              <a:t>learning.sap.com</a:t>
            </a:r>
            <a:r>
              <a:rPr dirty="0"/>
              <a:t>/courses/managing-business-processes-with-sap-</a:t>
            </a:r>
            <a:r>
              <a:rPr dirty="0" err="1"/>
              <a:t>signavio</a:t>
            </a:r>
            <a:r>
              <a:rPr dirty="0"/>
              <a:t>-solutions/the-editor-quick-n-easy-modeling_fd121490-31f9-4229-a10a-8a3a68972fa3</a:t>
            </a:r>
          </a:p>
          <a:p>
            <a:endParaRPr dirty="0"/>
          </a:p>
          <a:p>
            <a:r>
              <a:rPr dirty="0"/>
              <a:t>SAP. (n.d.). Performing simulations. Managing Business Processes with SAP </a:t>
            </a:r>
            <a:r>
              <a:rPr dirty="0" err="1"/>
              <a:t>Signavio</a:t>
            </a:r>
            <a:r>
              <a:rPr dirty="0"/>
              <a:t> Solutions, Unit 4, Lesson 7.</a:t>
            </a:r>
          </a:p>
          <a:p>
            <a:r>
              <a:rPr dirty="0"/>
              <a:t>https://</a:t>
            </a:r>
            <a:r>
              <a:rPr dirty="0" err="1"/>
              <a:t>learning.sap.com</a:t>
            </a:r>
            <a:r>
              <a:rPr dirty="0"/>
              <a:t>/courses/managing-business-processes-with-sap-</a:t>
            </a:r>
            <a:r>
              <a:rPr dirty="0" err="1"/>
              <a:t>signavio</a:t>
            </a:r>
            <a:r>
              <a:rPr dirty="0"/>
              <a:t>-solutions/basic-simulation_fbe67690-eb99-4861-9773-2b05c0144e79</a:t>
            </a:r>
          </a:p>
          <a:p>
            <a:endParaRPr dirty="0"/>
          </a:p>
          <a:p>
            <a:r>
              <a:rPr dirty="0"/>
              <a:t>SAP. (n.d.). Defining SAP </a:t>
            </a:r>
            <a:r>
              <a:rPr dirty="0" err="1"/>
              <a:t>LeanIX</a:t>
            </a:r>
            <a:r>
              <a:rPr dirty="0"/>
              <a:t> fact sheets and modeling relations and dependencies. Learning to Use SAP </a:t>
            </a:r>
            <a:r>
              <a:rPr dirty="0" err="1"/>
              <a:t>LeanIX</a:t>
            </a:r>
            <a:r>
              <a:rPr dirty="0"/>
              <a:t> for Successful Enterprise Architecture, Unit 2, Lesson 2.</a:t>
            </a:r>
          </a:p>
          <a:p>
            <a:r>
              <a:rPr dirty="0"/>
              <a:t>https://</a:t>
            </a:r>
            <a:r>
              <a:rPr dirty="0" err="1"/>
              <a:t>learning.sap.com</a:t>
            </a:r>
            <a:r>
              <a:rPr dirty="0"/>
              <a:t>/courses/learning-to-use-sap-leanix-for-successful-enterprise-architecture/defining-sap-leanix-fact-sheets-and-modeling-relations-and-dependencies_ce548272-cbab-4d1d-b94b-77d5c13c3935</a:t>
            </a:r>
          </a:p>
          <a:p>
            <a:endParaRPr dirty="0"/>
          </a:p>
          <a:p>
            <a:r>
              <a:rPr dirty="0"/>
              <a:t>SAP. (n.d.). Configuring charts. Designing Stories in SAP Analytics Cloud, Unit 3, Lesson 2.</a:t>
            </a:r>
          </a:p>
          <a:p>
            <a:r>
              <a:rPr dirty="0"/>
              <a:t>https://</a:t>
            </a:r>
            <a:r>
              <a:rPr dirty="0" err="1"/>
              <a:t>learning.sap.com</a:t>
            </a:r>
            <a:r>
              <a:rPr dirty="0"/>
              <a:t>/courses/designing-stories-in-sap-analytics-cloud/configuring-charts_ca6acc40-01e5-4f3b-8d7f-1ce8747a628c</a:t>
            </a:r>
          </a:p>
          <a:p>
            <a:endParaRPr dirty="0"/>
          </a:p>
          <a:p>
            <a:r>
              <a:rPr dirty="0"/>
              <a:t>SAP. (n.d.). Digitalizing user interactions with forms. Developing with SAP Build Process Automation, Unit 3, Lesson 3.</a:t>
            </a:r>
          </a:p>
          <a:p>
            <a:r>
              <a:rPr dirty="0"/>
              <a:t>https://</a:t>
            </a:r>
            <a:r>
              <a:rPr dirty="0" err="1"/>
              <a:t>learning.sap.com</a:t>
            </a:r>
            <a:r>
              <a:rPr dirty="0"/>
              <a:t>/courses/developing-with-sap-build-process-automation/digitalizing-user-interactions-with-forms_d0e78947-8cff-45f0-9b85-d82c1ed0394e</a:t>
            </a:r>
          </a:p>
          <a:p>
            <a:endParaRPr dirty="0"/>
          </a:p>
          <a:p>
            <a:r>
              <a:rPr dirty="0"/>
              <a:t>SAP. (n.d.). Encapsulating the APIs of remote systems using actions projects. Developing with SAP Build Process Automation, Unit 5, Lesson 2.</a:t>
            </a:r>
          </a:p>
          <a:p>
            <a:r>
              <a:rPr dirty="0"/>
              <a:t>https://</a:t>
            </a:r>
            <a:r>
              <a:rPr dirty="0" err="1"/>
              <a:t>learning.sap.com</a:t>
            </a:r>
            <a:r>
              <a:rPr dirty="0"/>
              <a:t>/courses/developing-with-sap-build-process-automation/encapsulating-the-apis-of-remote-systems-using-actions-projects_d102638b-94d7-4c2e-9547-bb344e9aa9de</a:t>
            </a:r>
          </a:p>
          <a:p>
            <a:endParaRPr dirty="0"/>
          </a:p>
          <a:p>
            <a:r>
              <a:rPr dirty="0"/>
              <a:t>SAP. (n.d.). Setting-up the project and teams. Implementing with SAP Cloud ALM, Unit 2, Lesson 1.</a:t>
            </a:r>
          </a:p>
          <a:p>
            <a:r>
              <a:rPr dirty="0"/>
              <a:t>https://</a:t>
            </a:r>
            <a:r>
              <a:rPr dirty="0" err="1"/>
              <a:t>learning.sap.com</a:t>
            </a:r>
            <a:r>
              <a:rPr dirty="0"/>
              <a:t>/courses/implementing-with-sap-cloud-</a:t>
            </a:r>
            <a:r>
              <a:rPr dirty="0" err="1"/>
              <a:t>alm</a:t>
            </a:r>
            <a:r>
              <a:rPr dirty="0"/>
              <a:t>/setting-up-the-project-and-teams_eee6ae76-7b22-4393-844d-be56ec4fe45a</a:t>
            </a:r>
          </a:p>
          <a:p>
            <a:endParaRPr dirty="0"/>
          </a:p>
          <a:p>
            <a:r>
              <a:rPr dirty="0"/>
              <a:t>SAP. (n.d.). Planning and executing testing. Implementing with SAP Cloud ALM, Unit 7, Lesson 1.</a:t>
            </a:r>
          </a:p>
          <a:p>
            <a:r>
              <a:rPr dirty="0"/>
              <a:t>https://</a:t>
            </a:r>
            <a:r>
              <a:rPr dirty="0" err="1"/>
              <a:t>learning.sap.com</a:t>
            </a:r>
            <a:r>
              <a:rPr dirty="0"/>
              <a:t>/courses/implementing-with-sap-cloud-</a:t>
            </a:r>
            <a:r>
              <a:rPr dirty="0" err="1"/>
              <a:t>alm</a:t>
            </a:r>
            <a:r>
              <a:rPr dirty="0"/>
              <a:t>/planning-and-executing-testing_ef46a49b-9885-4aaa-841d-5ac9c80a3681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SPOKEN SCRIPT — 20 — 20 seconds</a:t>
            </a:r>
          </a:p>
          <a:p>
            <a:r>
              <a:rPr dirty="0"/>
              <a:t>I recommend approving the six-week diagnosis, with client owners, time and data access agreed. At week six, Spark can proceed, change scope or stop. Thank you.</a:t>
            </a:r>
          </a:p>
          <a:p>
            <a:endParaRPr dirty="0"/>
          </a:p>
          <a:p>
            <a:r>
              <a:rPr dirty="0"/>
              <a:t>EVIDENCE AND QUALIFICATIONS</a:t>
            </a:r>
          </a:p>
          <a:p>
            <a:endParaRPr dirty="0"/>
          </a:p>
          <a:p>
            <a:r>
              <a:rPr dirty="0" err="1"/>
              <a:t>最后请求批准诊断现金上限及</a:t>
            </a:r>
            <a:r>
              <a:rPr dirty="0"/>
              <a:t> 160 客户小时，前提是负责人、合作方参与和数据访问得到同意。9 </a:t>
            </a:r>
            <a:r>
              <a:rPr dirty="0" err="1"/>
              <a:t>月</a:t>
            </a:r>
            <a:r>
              <a:rPr dirty="0"/>
              <a:t> 28 </a:t>
            </a:r>
            <a:r>
              <a:rPr dirty="0" err="1"/>
              <a:t>日是拟议启动日，并非既定客户承诺。第六周交付证据、修订范围与价格，客户可以停止；本次不批准整项</a:t>
            </a:r>
            <a:r>
              <a:rPr dirty="0"/>
              <a:t> $154,008 </a:t>
            </a:r>
            <a:r>
              <a:rPr dirty="0" err="1"/>
              <a:t>投资</a:t>
            </a:r>
            <a:r>
              <a:rPr dirty="0"/>
              <a:t>。</a:t>
            </a:r>
          </a:p>
          <a:p>
            <a:endParaRPr dirty="0"/>
          </a:p>
          <a:p>
            <a:r>
              <a:rPr dirty="0"/>
              <a:t>SOURCES</a:t>
            </a:r>
          </a:p>
          <a:p>
            <a:r>
              <a:rPr dirty="0"/>
              <a:t>Author proposal, planning assumption or reconstructed process. Not an observed Spark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buNone/>
              <a:defRPr sz="6000" b="1" i="0">
                <a:latin typeface="Lora SemiBold"/>
                <a:ea typeface="Lora SemiBold"/>
                <a:cs typeface="Lora SemiBold"/>
              </a:defRPr>
            </a:lvl1pPr>
          </a:lstStyle>
          <a:p>
            <a:r>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idx="3"/>
          </p:nvPr>
        </p:nvSpPr>
        <p:spPr>
          <a:xfrm>
            <a:off x="393699" y="6279294"/>
            <a:ext cx="8129411"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idx="3"/>
          </p:nvPr>
        </p:nvSpPr>
        <p:spPr>
          <a:xfrm>
            <a:off x="393700" y="6279294"/>
            <a:ext cx="8705144"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294"/>
            <a:ext cx="7493000"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699" y="6279294"/>
            <a:ext cx="8466647"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idx="3"/>
          </p:nvPr>
        </p:nvSpPr>
        <p:spPr>
          <a:xfrm>
            <a:off x="393699" y="6279294"/>
            <a:ext cx="7361767"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idx="3"/>
          </p:nvPr>
        </p:nvSpPr>
        <p:spPr>
          <a:xfrm>
            <a:off x="393700" y="6279294"/>
            <a:ext cx="7587544"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a:normAutofit/>
          </a:bodyPr>
          <a:lstStyle/>
          <a:p>
            <a:pPr lvl="0">
              <a:buNone/>
            </a:pPr>
            <a:r>
              <a:t>Click to edit Master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idx="3"/>
          </p:nvPr>
        </p:nvSpPr>
        <p:spPr>
          <a:xfrm>
            <a:off x="393700" y="6279294"/>
            <a:ext cx="7531100"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520"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809B0-D483-45C1-B580-B57BB5CC520A}"/>
              </a:ext>
            </a:extLst>
          </p:cNvPr>
          <p:cNvSpPr>
            <a:spLocks noGrp="1"/>
          </p:cNvSpPr>
          <p:nvPr>
            <p:ph type="ctrTitle"/>
          </p:nvPr>
        </p:nvSpPr>
        <p:spPr>
          <a:xfrm>
            <a:off x="609600" y="1381125"/>
            <a:ext cx="10763250" cy="1857375"/>
          </a:xfrm>
        </p:spPr>
        <p:txBody>
          <a:bodyPr wrap="square" lIns="0" tIns="0" rIns="0" bIns="0" anchor="t">
            <a:noAutofit/>
          </a:bodyPr>
          <a:lstStyle/>
          <a:p>
            <a:pPr algn="l">
              <a:defRPr sz="4500" b="0">
                <a:solidFill>
                  <a:srgbClr val="355CC9"/>
                </a:solidFill>
                <a:latin typeface="Lora Medium"/>
                <a:ea typeface="Lora Medium"/>
                <a:cs typeface="Lora Medium"/>
              </a:defRPr>
            </a:pPr>
            <a:r>
              <a:rPr sz="4500" b="0">
                <a:solidFill>
                  <a:srgbClr val="355CC9"/>
                </a:solidFill>
                <a:latin typeface="Lora Medium"/>
                <a:ea typeface="Lora Medium"/>
                <a:cs typeface="Lora Medium"/>
              </a:rPr>
              <a:t>Spark NZ</a:t>
            </a:r>
          </a:p>
          <a:p>
            <a:pPr algn="l">
              <a:defRPr sz="4500" b="0">
                <a:solidFill>
                  <a:srgbClr val="355CC9"/>
                </a:solidFill>
                <a:latin typeface="Lora Medium"/>
                <a:ea typeface="Lora Medium"/>
                <a:cs typeface="Lora Medium"/>
              </a:defRPr>
            </a:pPr>
            <a:r>
              <a:rPr sz="4500" b="0">
                <a:solidFill>
                  <a:srgbClr val="355CC9"/>
                </a:solidFill>
                <a:latin typeface="Lora Medium"/>
                <a:ea typeface="Lora Medium"/>
                <a:cs typeface="Lora Medium"/>
              </a:rPr>
              <a:t>Residential fibre fault resolution</a:t>
            </a:r>
          </a:p>
        </p:txBody>
      </p:sp>
      <p:sp>
        <p:nvSpPr>
          <p:cNvPr id="5" name="Subtitle 4">
            <a:extLst>
              <a:ext uri="{FF2B5EF4-FFF2-40B4-BE49-F238E27FC236}">
                <a16:creationId xmlns:a16="http://schemas.microsoft.com/office/drawing/2014/main" id="{7DD11E6E-01C0-D6E4-28D7-D7F6B94AF61C}"/>
              </a:ext>
            </a:extLst>
          </p:cNvPr>
          <p:cNvSpPr>
            <a:spLocks noGrp="1"/>
          </p:cNvSpPr>
          <p:nvPr>
            <p:ph type="subTitle" idx="1"/>
          </p:nvPr>
        </p:nvSpPr>
        <p:spPr>
          <a:xfrm>
            <a:off x="609600" y="5095875"/>
            <a:ext cx="7810500" cy="1143000"/>
          </a:xfrm>
          <a:prstGeom prst="rect">
            <a:avLst/>
          </a:prstGeom>
          <a:noFill/>
        </p:spPr>
        <p:txBody>
          <a:bodyPr wrap="square" lIns="0" tIns="0" rIns="0" bIns="0" anchor="t">
            <a:noAutofit/>
          </a:bodyPr>
          <a:lstStyle/>
          <a:p>
            <a:pPr algn="l">
              <a:lnSpc>
                <a:spcPct val="120000"/>
              </a:lnSpc>
              <a:buNone/>
              <a:defRPr sz="1950" b="0">
                <a:solidFill>
                  <a:srgbClr val="59657A"/>
                </a:solidFill>
                <a:latin typeface="Roboto"/>
                <a:ea typeface="Roboto"/>
                <a:cs typeface="Roboto"/>
              </a:defRPr>
            </a:pPr>
            <a:r>
              <a:rPr sz="1950" b="0">
                <a:solidFill>
                  <a:srgbClr val="59657A"/>
                </a:solidFill>
                <a:latin typeface="Roboto"/>
                <a:ea typeface="Roboto"/>
                <a:cs typeface="Roboto"/>
              </a:rPr>
              <a:t>Decision requested: NZ$36,846 excluding GST</a:t>
            </a:r>
          </a:p>
          <a:p>
            <a:pPr algn="l">
              <a:lnSpc>
                <a:spcPct val="120000"/>
              </a:lnSpc>
              <a:buNone/>
              <a:defRPr sz="1950" b="0">
                <a:solidFill>
                  <a:srgbClr val="59657A"/>
                </a:solidFill>
                <a:latin typeface="Roboto"/>
                <a:ea typeface="Roboto"/>
                <a:cs typeface="Roboto"/>
              </a:defRPr>
            </a:pPr>
            <a:r>
              <a:rPr sz="1950" b="0">
                <a:solidFill>
                  <a:srgbClr val="59657A"/>
                </a:solidFill>
                <a:latin typeface="Roboto"/>
                <a:ea typeface="Roboto"/>
                <a:cs typeface="Roboto"/>
              </a:rPr>
              <a:t>Ryan Li · ali409 · INFOSYS 704 A2-D2</a:t>
            </a:r>
          </a:p>
        </p:txBody>
      </p:sp>
      <p:sp>
        <p:nvSpPr>
          <p:cNvPr id="6" name="Subtitle 4">
            <a:extLst>
              <a:ext uri="{FF2B5EF4-FFF2-40B4-BE49-F238E27FC236}">
                <a16:creationId xmlns:a16="http://schemas.microsoft.com/office/drawing/2014/main" id="{C66AB198-0518-67DE-AB81-D65264FDA20F}"/>
              </a:ext>
            </a:extLst>
          </p:cNvPr>
          <p:cNvSpPr>
            <a:spLocks noGrp="1"/>
          </p:cNvSpPr>
          <p:nvPr/>
        </p:nvSpPr>
        <p:spPr>
          <a:xfrm>
            <a:off x="609600" y="4429125"/>
            <a:ext cx="8096250" cy="476250"/>
          </a:xfrm>
          <a:prstGeom prst="rect">
            <a:avLst/>
          </a:prstGeom>
          <a:noFill/>
        </p:spPr>
        <p:txBody>
          <a:bodyPr vert="horz" wrap="square" lIns="0" tIns="0" rIns="0" bIns="0" anchor="t">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lgn="l">
              <a:defRPr sz="2700" b="1">
                <a:solidFill>
                  <a:srgbClr val="355CC9"/>
                </a:solidFill>
                <a:latin typeface="Roboto"/>
                <a:ea typeface="Roboto"/>
                <a:cs typeface="Roboto"/>
              </a:defRPr>
            </a:pPr>
            <a:r>
              <a:rPr sz="2700" b="1">
                <a:solidFill>
                  <a:srgbClr val="355CC9"/>
                </a:solidFill>
                <a:latin typeface="Roboto"/>
                <a:ea typeface="Roboto"/>
                <a:cs typeface="Roboto"/>
              </a:rPr>
              <a:t>Six-week diagnosis for an investment decision</a:t>
            </a:r>
          </a:p>
        </p:txBody>
      </p:sp>
      <p:sp>
        <p:nvSpPr>
          <p:cNvPr id="10" name="Subtitle 4">
            <a:extLst>
              <a:ext uri="{FF2B5EF4-FFF2-40B4-BE49-F238E27FC236}">
                <a16:creationId xmlns:a16="http://schemas.microsoft.com/office/drawing/2014/main" id="{CC2E0538-5645-7BC8-CF3A-FDF31FD97820}"/>
              </a:ext>
            </a:extLst>
          </p:cNvPr>
          <p:cNvSpPr>
            <a:spLocks noGrp="1"/>
          </p:cNvSpPr>
          <p:nvPr/>
        </p:nvSpPr>
        <p:spPr>
          <a:xfrm>
            <a:off x="609600" y="561975"/>
            <a:ext cx="10477500" cy="361950"/>
          </a:xfrm>
          <a:prstGeom prst="rect">
            <a:avLst/>
          </a:prstGeom>
        </p:spPr>
        <p:txBody>
          <a:bodyPr vert="horz" wrap="square" lIns="0" tIns="0" rIns="0" bIns="0" anchor="t">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Spark NZ · Individual operational business case</a:t>
            </a:r>
          </a:p>
        </p:txBody>
      </p:sp>
      <p:sp>
        <p:nvSpPr>
          <p:cNvPr id="7" name="Straight Connector 6">
            <a:extLst>
              <a:ext uri="{FF2B5EF4-FFF2-40B4-BE49-F238E27FC236}">
                <a16:creationId xmlns:a16="http://schemas.microsoft.com/office/drawing/2014/main" id="{AADBC8B5-0870-4FBF-9B4C-74C018DA895A}"/>
              </a:ext>
            </a:extLst>
          </p:cNvPr>
          <p:cNvSpPr>
            <a:spLocks noGrp="1"/>
          </p:cNvSpPr>
          <p:nvPr/>
        </p:nv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1" name="Text">
            <a:extLst>
              <a:ext uri="{FF2B5EF4-FFF2-40B4-BE49-F238E27FC236}">
                <a16:creationId xmlns:a16="http://schemas.microsoft.com/office/drawing/2014/main" id="{B8765D0F-2271-4A20-AD8A-8B347A7715ED}"/>
              </a:ext>
            </a:extLst>
          </p:cNvPr>
          <p:cNvSpPr>
            <a:spLocks noGrp="1"/>
          </p:cNvSpPr>
          <p:nvPr/>
        </p:nvSpPr>
        <p:spPr>
          <a:xfrm>
            <a:off x="609600" y="6457950"/>
            <a:ext cx="8096250" cy="190500"/>
          </a:xfrm>
          <a:prstGeom prst="rect">
            <a:avLst/>
          </a:prstGeom>
          <a:noFill/>
          <a:ln w="0">
            <a:noFill/>
          </a:ln>
        </p:spPr>
        <p:txBody>
          <a:bodyPr wrap="square" lIns="0" tIns="0" rIns="0" bIns="0" anchor="t">
            <a:noAutofit/>
          </a:bodyPr>
          <a:lstStyle/>
          <a:p>
            <a:pPr algn="l">
              <a:defRPr sz="1125" b="0">
                <a:solidFill>
                  <a:srgbClr val="59657A"/>
                </a:solidFill>
                <a:latin typeface="Roboto"/>
                <a:ea typeface="Roboto"/>
                <a:cs typeface="Roboto"/>
              </a:defRPr>
            </a:pPr>
            <a:r>
              <a:rPr sz="1125" b="0">
                <a:solidFill>
                  <a:srgbClr val="59657A"/>
                </a:solidFill>
                <a:latin typeface="Roboto"/>
                <a:ea typeface="Roboto"/>
                <a:cs typeface="Roboto"/>
              </a:rPr>
              <a:t>Proposed engagement · September 2026</a:t>
            </a:r>
          </a:p>
        </p:txBody>
      </p:sp>
    </p:spTree>
    <p:extLst>
      <p:ext uri="{BB962C8B-B14F-4D97-AF65-F5344CB8AC3E}">
        <p14:creationId xmlns:p14="http://schemas.microsoft.com/office/powerpoint/2010/main" val="1212842940"/>
      </p:ext>
    </p:extLst>
  </p:cSld>
  <p:clrMapOvr>
    <a:masterClrMapping/>
  </p:clrMapOvr>
  <p:transition advClick="0" advTm="20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a:spLocks noGrp="1"/>
          </p:cNvSpPr>
          <p:nvPr>
            <p:ph idx="1"/>
          </p:nvPr>
        </p:nvSpPr>
        <p:spPr>
          <a:xfrm>
            <a:off x="609600" y="2828925"/>
            <a:ext cx="6191250" cy="714375"/>
          </a:xfrm>
          <a:prstGeom prst="rect">
            <a:avLst/>
          </a:prstGeom>
        </p:spPr>
        <p:txBody>
          <a:bodyPr spcFirstLastPara="1" vert="horz" wrap="square" lIns="0" tIns="0" rIns="0" bIns="0" anchor="t">
            <a:noAutofit/>
          </a:bodyPr>
          <a:lstStyle/>
          <a:p>
            <a:pPr marL="0" indent="0" algn="l">
              <a:lnSpc>
                <a:spcPct val="114000"/>
              </a:lnSpc>
              <a:spcBef>
                <a:spcPts val="0"/>
              </a:spcBef>
              <a:spcAft>
                <a:spcPts val="800"/>
              </a:spcAft>
              <a:buNone/>
              <a:defRPr sz="2325" b="0">
                <a:solidFill>
                  <a:srgbClr val="1C2432"/>
                </a:solidFill>
                <a:latin typeface="Roboto"/>
                <a:ea typeface="Roboto"/>
                <a:cs typeface="Roboto"/>
              </a:defRPr>
            </a:pPr>
            <a:r>
              <a:rPr sz="2325" b="0">
                <a:solidFill>
                  <a:srgbClr val="1C2432"/>
                </a:solidFill>
                <a:latin typeface="Roboto"/>
                <a:ea typeface="Roboto"/>
                <a:cs typeface="Roboto"/>
              </a:rPr>
              <a:t>FY26 broadband revenue</a:t>
            </a: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E2598689-54C9-18A7-3A19-ED76AA08988F}" type="slidenum">
              <a:rPr sz="1050" b="0">
                <a:solidFill>
                  <a:srgbClr val="59657A"/>
                </a:solidFill>
                <a:latin typeface="Roboto"/>
                <a:ea typeface="Roboto"/>
                <a:cs typeface="Roboto"/>
              </a:rPr>
              <a:t>2</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Spark’s service context</a:t>
            </a:r>
          </a:p>
        </p:txBody>
      </p:sp>
      <p:sp>
        <p:nvSpPr>
          <p:cNvPr id="2" name="ConciseSupport_2_1">
            <a:extLst>
              <a:ext uri="{FF2B5EF4-FFF2-40B4-BE49-F238E27FC236}">
                <a16:creationId xmlns:a16="http://schemas.microsoft.com/office/drawing/2014/main" id="{CEE0E889-5AC7-4572-89FC-B9E5A41A7016}"/>
              </a:ext>
            </a:extLst>
          </p:cNvPr>
          <p:cNvSpPr>
            <a:spLocks noGrp="1"/>
          </p:cNvSpPr>
          <p:nvPr/>
        </p:nvSpPr>
        <p:spPr>
          <a:xfrm>
            <a:off x="7334250" y="1762125"/>
            <a:ext cx="3952875" cy="2952750"/>
          </a:xfrm>
          <a:prstGeom prst="rect">
            <a:avLst/>
          </a:prstGeom>
          <a:noFill/>
          <a:ln w="0">
            <a:noFill/>
          </a:ln>
        </p:spPr>
        <p:txBody>
          <a:bodyPr wrap="square" lIns="0" tIns="0" rIns="0" bIns="0" anchor="t">
            <a:noAutofit/>
          </a:bodyPr>
          <a:lstStyle/>
          <a:p>
            <a:pPr algn="l">
              <a:defRPr sz="2175" b="0">
                <a:solidFill>
                  <a:srgbClr val="355CC9"/>
                </a:solidFill>
                <a:latin typeface="Roboto"/>
                <a:ea typeface="Roboto"/>
                <a:cs typeface="Roboto"/>
              </a:defRPr>
            </a:pPr>
            <a:r>
              <a:rPr sz="2175" b="0">
                <a:solidFill>
                  <a:srgbClr val="355CC9"/>
                </a:solidFill>
                <a:latin typeface="Roboto"/>
                <a:ea typeface="Roboto"/>
                <a:cs typeface="Roboto"/>
              </a:rPr>
              <a:t>−4.8%</a:t>
            </a:r>
          </a:p>
          <a:p>
            <a:pPr algn="l">
              <a:defRPr sz="2175" b="0">
                <a:solidFill>
                  <a:srgbClr val="355CC9"/>
                </a:solidFill>
                <a:latin typeface="Roboto"/>
                <a:ea typeface="Roboto"/>
                <a:cs typeface="Roboto"/>
              </a:defRPr>
            </a:pPr>
            <a:r>
              <a:rPr sz="2175" b="0">
                <a:solidFill>
                  <a:srgbClr val="355CC9"/>
                </a:solidFill>
                <a:latin typeface="Roboto"/>
                <a:ea typeface="Roboto"/>
                <a:cs typeface="Roboto"/>
              </a:rPr>
              <a:t>Broadband connections</a:t>
            </a:r>
          </a:p>
          <a:p>
            <a:endParaRPr sz="2175" b="0">
              <a:solidFill>
                <a:srgbClr val="355CC9"/>
              </a:solidFill>
              <a:latin typeface="Roboto"/>
              <a:ea typeface="Roboto"/>
              <a:cs typeface="Roboto"/>
            </a:endParaRPr>
          </a:p>
          <a:p>
            <a:pPr algn="l">
              <a:defRPr sz="2175" b="0">
                <a:solidFill>
                  <a:srgbClr val="355CC9"/>
                </a:solidFill>
                <a:latin typeface="Roboto"/>
                <a:ea typeface="Roboto"/>
                <a:cs typeface="Roboto"/>
              </a:defRPr>
            </a:pPr>
            <a:r>
              <a:rPr sz="2175" b="0">
                <a:solidFill>
                  <a:srgbClr val="355CC9"/>
                </a:solidFill>
                <a:latin typeface="Roboto"/>
                <a:ea typeface="Roboto"/>
                <a:cs typeface="Roboto"/>
              </a:rPr>
              <a:t>+42 interaction NPS</a:t>
            </a:r>
          </a:p>
          <a:p>
            <a:pPr algn="l">
              <a:defRPr sz="2175" b="0">
                <a:solidFill>
                  <a:srgbClr val="355CC9"/>
                </a:solidFill>
                <a:latin typeface="Roboto"/>
                <a:ea typeface="Roboto"/>
                <a:cs typeface="Roboto"/>
              </a:defRPr>
            </a:pPr>
            <a:r>
              <a:rPr sz="2175" b="0">
                <a:solidFill>
                  <a:srgbClr val="355CC9"/>
                </a:solidFill>
                <a:latin typeface="Roboto"/>
                <a:ea typeface="Roboto"/>
                <a:cs typeface="Roboto"/>
              </a:rPr>
              <a:t>Consumer and SME</a:t>
            </a:r>
          </a:p>
          <a:p>
            <a:pPr algn="l">
              <a:defRPr sz="2175" b="0">
                <a:solidFill>
                  <a:srgbClr val="355CC9"/>
                </a:solidFill>
                <a:latin typeface="Roboto"/>
                <a:ea typeface="Roboto"/>
                <a:cs typeface="Roboto"/>
              </a:defRPr>
            </a:pPr>
            <a:r>
              <a:rPr sz="2175" b="0">
                <a:solidFill>
                  <a:srgbClr val="355CC9"/>
                </a:solidFill>
                <a:latin typeface="Roboto"/>
                <a:ea typeface="Roboto"/>
                <a:cs typeface="Roboto"/>
              </a:rPr>
              <a:t>Up 2 points year on year</a:t>
            </a:r>
          </a:p>
        </p:txBody>
      </p:sp>
      <p:sp>
        <p:nvSpPr>
          <p:cNvPr id="3" name="Google Shape;534;p58">
            <a:extLst>
              <a:ext uri="{FF2B5EF4-FFF2-40B4-BE49-F238E27FC236}">
                <a16:creationId xmlns:a16="http://schemas.microsoft.com/office/drawing/2014/main" id="{FD46BF2A-8122-2E0A-E8CC-886653CF64DA}"/>
              </a:ext>
            </a:extLst>
          </p:cNvPr>
          <p:cNvSpPr>
            <a:spLocks noGrp="1"/>
          </p:cNvSpPr>
          <p:nvPr/>
        </p:nvSpPr>
        <p:spPr>
          <a:xfrm>
            <a:off x="609600" y="1733550"/>
            <a:ext cx="6191250" cy="914400"/>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lnSpc>
                <a:spcPct val="114000"/>
              </a:lnSpc>
              <a:spcBef>
                <a:spcPts val="0"/>
              </a:spcBef>
              <a:spcAft>
                <a:spcPts val="800"/>
              </a:spcAft>
              <a:buNone/>
              <a:defRPr sz="5850" b="1">
                <a:solidFill>
                  <a:srgbClr val="355CC9"/>
                </a:solidFill>
                <a:latin typeface="Roboto"/>
                <a:ea typeface="Roboto"/>
                <a:cs typeface="Roboto"/>
              </a:defRPr>
            </a:pPr>
            <a:r>
              <a:rPr sz="5850" b="1">
                <a:solidFill>
                  <a:srgbClr val="355CC9"/>
                </a:solidFill>
                <a:latin typeface="Roboto"/>
                <a:ea typeface="Roboto"/>
                <a:cs typeface="Roboto"/>
              </a:rPr>
              <a:t>NZ$596m</a:t>
            </a:r>
          </a:p>
        </p:txBody>
      </p:sp>
      <p:sp>
        <p:nvSpPr>
          <p:cNvPr id="535" name="Evidence qualification">
            <a:extLst>
              <a:ext uri="{FF2B5EF4-FFF2-40B4-BE49-F238E27FC236}">
                <a16:creationId xmlns:a16="http://schemas.microsoft.com/office/drawing/2014/main" id="{282E2305-1B8E-4AD8-9D7E-F1745551E6C7}"/>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Total broadband figures are not a residential fibre fault baseline.</a:t>
            </a:r>
          </a:p>
        </p:txBody>
      </p:sp>
      <p:sp>
        <p:nvSpPr>
          <p:cNvPr id="536" name="Source citation">
            <a:extLst>
              <a:ext uri="{FF2B5EF4-FFF2-40B4-BE49-F238E27FC236}">
                <a16:creationId xmlns:a16="http://schemas.microsoft.com/office/drawing/2014/main" id="{40085A5D-1710-4578-802E-750B690DD740}"/>
              </a:ext>
            </a:extLst>
          </p:cNvPr>
          <p:cNvSpPr>
            <a:spLocks noGrp="1"/>
          </p:cNvSpPr>
          <p:nvPr/>
        </p:nvSpPr>
        <p:spPr>
          <a:xfrm>
            <a:off x="609600" y="6172200"/>
            <a:ext cx="8239125" cy="314325"/>
          </a:xfrm>
          <a:prstGeom prst="rect">
            <a:avLst/>
          </a:prstGeom>
          <a:noFill/>
          <a:ln w="0">
            <a:noFill/>
          </a:ln>
        </p:spPr>
        <p:txBody>
          <a:bodyPr wrap="square" lIns="0" tIns="0" rIns="0" bIns="0" anchor="t">
            <a:noAutofit/>
          </a:bodyPr>
          <a:lstStyle/>
          <a:p>
            <a:pPr algn="l">
              <a:defRPr sz="975" b="0">
                <a:solidFill>
                  <a:srgbClr val="59657A"/>
                </a:solidFill>
                <a:latin typeface="Roboto"/>
                <a:ea typeface="Roboto"/>
                <a:cs typeface="Roboto"/>
              </a:defRPr>
            </a:pPr>
            <a:r>
              <a:rPr sz="975" b="0">
                <a:solidFill>
                  <a:srgbClr val="59657A"/>
                </a:solidFill>
                <a:latin typeface="Roboto"/>
                <a:ea typeface="Roboto"/>
                <a:cs typeface="Roboto"/>
              </a:rPr>
              <a:t>Spark New Zealand, 2026b, p. 16; Spark New Zealand, 2026a, p. 21</a:t>
            </a:r>
          </a:p>
        </p:txBody>
      </p:sp>
      <p:sp>
        <p:nvSpPr>
          <p:cNvPr id="537" name="DetailV2_2_1">
            <a:extLst>
              <a:ext uri="{FF2B5EF4-FFF2-40B4-BE49-F238E27FC236}">
                <a16:creationId xmlns:a16="http://schemas.microsoft.com/office/drawing/2014/main" id="{1BE922F0-518F-4787-AD63-0306BD9B8789}"/>
              </a:ext>
            </a:extLst>
          </p:cNvPr>
          <p:cNvSpPr>
            <a:spLocks noGrp="1"/>
          </p:cNvSpPr>
          <p:nvPr/>
        </p:nvSpPr>
        <p:spPr>
          <a:xfrm>
            <a:off x="609600" y="3829050"/>
            <a:ext cx="6191250" cy="304800"/>
          </a:xfrm>
          <a:prstGeom prst="rect">
            <a:avLst/>
          </a:prstGeom>
          <a:noFill/>
          <a:ln w="0">
            <a:noFill/>
          </a:ln>
        </p:spPr>
        <p:txBody>
          <a:bodyPr wrap="square" lIns="0" tIns="0" rIns="0" bIns="0" anchor="t">
            <a:noAutofit/>
          </a:bodyPr>
          <a:lstStyle/>
          <a:p>
            <a:pPr algn="l">
              <a:defRPr sz="1725" b="1">
                <a:solidFill>
                  <a:srgbClr val="355CC9"/>
                </a:solidFill>
                <a:latin typeface="Roboto"/>
                <a:ea typeface="Roboto"/>
                <a:cs typeface="Roboto"/>
              </a:defRPr>
            </a:pPr>
            <a:r>
              <a:rPr sz="1725" b="1">
                <a:solidFill>
                  <a:srgbClr val="355CC9"/>
                </a:solidFill>
                <a:latin typeface="Roboto"/>
                <a:ea typeface="Roboto"/>
                <a:cs typeface="Roboto"/>
              </a:rPr>
              <a:t>Operational focus</a:t>
            </a:r>
          </a:p>
        </p:txBody>
      </p:sp>
      <p:sp>
        <p:nvSpPr>
          <p:cNvPr id="538" name="DetailV2_2_2">
            <a:extLst>
              <a:ext uri="{FF2B5EF4-FFF2-40B4-BE49-F238E27FC236}">
                <a16:creationId xmlns:a16="http://schemas.microsoft.com/office/drawing/2014/main" id="{2DD9AECF-3F8C-4491-8400-AA63C3341518}"/>
              </a:ext>
            </a:extLst>
          </p:cNvPr>
          <p:cNvSpPr>
            <a:spLocks noGrp="1"/>
          </p:cNvSpPr>
          <p:nvPr/>
        </p:nvSpPr>
        <p:spPr>
          <a:xfrm>
            <a:off x="609600" y="4210050"/>
            <a:ext cx="6191250" cy="762000"/>
          </a:xfrm>
          <a:prstGeom prst="rect">
            <a:avLst/>
          </a:prstGeom>
          <a:noFill/>
          <a:ln w="0">
            <a:noFill/>
          </a:ln>
        </p:spPr>
        <p:txBody>
          <a:bodyPr wrap="square" lIns="0" tIns="0" rIns="0" bIns="0" anchor="t">
            <a:noAutofit/>
          </a:bodyPr>
          <a:lstStyle/>
          <a:p>
            <a:pPr algn="l">
              <a:defRPr sz="1950" b="0">
                <a:solidFill>
                  <a:srgbClr val="1C2432"/>
                </a:solidFill>
                <a:latin typeface="Roboto"/>
                <a:ea typeface="Roboto"/>
                <a:cs typeface="Roboto"/>
              </a:defRPr>
            </a:pPr>
            <a:r>
              <a:rPr sz="1950" b="0">
                <a:solidFill>
                  <a:srgbClr val="1C2432"/>
                </a:solidFill>
                <a:latin typeface="Roboto"/>
                <a:ea typeface="Roboto"/>
                <a:cs typeface="Roboto"/>
              </a:rPr>
              <a:t>Locate avoidable waiting and repeat work</a:t>
            </a:r>
          </a:p>
          <a:p>
            <a:pPr algn="l">
              <a:defRPr sz="1950" b="0">
                <a:solidFill>
                  <a:srgbClr val="1C2432"/>
                </a:solidFill>
                <a:latin typeface="Roboto"/>
                <a:ea typeface="Roboto"/>
                <a:cs typeface="Roboto"/>
              </a:defRPr>
            </a:pPr>
            <a:r>
              <a:rPr sz="1950" b="0">
                <a:solidFill>
                  <a:srgbClr val="1C2432"/>
                </a:solidFill>
                <a:latin typeface="Roboto"/>
                <a:ea typeface="Roboto"/>
                <a:cs typeface="Roboto"/>
              </a:rPr>
              <a:t>in residential fibre fault handling.</a:t>
            </a:r>
          </a:p>
        </p:txBody>
      </p:sp>
    </p:spTree>
    <p:extLst>
      <p:ext uri="{BB962C8B-B14F-4D97-AF65-F5344CB8AC3E}">
        <p14:creationId xmlns:p14="http://schemas.microsoft.com/office/powerpoint/2010/main" val="1033230453"/>
      </p:ext>
    </p:extLst>
  </p:cSld>
  <p:clrMapOvr>
    <a:masterClrMapping/>
  </p:clrMapOvr>
  <p:transition advClick="0" advTm="2000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95E36811-4D7D-1AF4-2047-7797FCF55465}"/>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202359C0-8A7A-196E-DD58-8E6569619F09}" type="slidenum">
              <a:rPr sz="1050" b="0">
                <a:solidFill>
                  <a:srgbClr val="59657A"/>
                </a:solidFill>
                <a:latin typeface="Roboto"/>
                <a:ea typeface="Roboto"/>
                <a:cs typeface="Roboto"/>
              </a:rPr>
              <a:t>3</a:t>
            </a:fld>
            <a:endParaRPr/>
          </a:p>
        </p:txBody>
      </p:sp>
      <p:sp>
        <p:nvSpPr>
          <p:cNvPr id="533" name="Google Shape;533;p58">
            <a:extLst>
              <a:ext uri="{FF2B5EF4-FFF2-40B4-BE49-F238E27FC236}">
                <a16:creationId xmlns:a16="http://schemas.microsoft.com/office/drawing/2014/main" id="{0619161C-354F-15D6-9579-085F52D7C5B2}"/>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Customer feedback warrants investigation</a:t>
            </a:r>
            <a:endParaRPr>
              <a:solidFill>
                <a:schemeClr val="accent1"/>
              </a:solidFill>
            </a:endParaRPr>
          </a:p>
        </p:txBody>
      </p:sp>
      <p:sp>
        <p:nvSpPr>
          <p:cNvPr id="19" name="Content Placeholder 2">
            <a:extLst>
              <a:ext uri="{FF2B5EF4-FFF2-40B4-BE49-F238E27FC236}">
                <a16:creationId xmlns:a16="http://schemas.microsoft.com/office/drawing/2014/main" id="{A1ADE962-9ED7-3644-FA2A-7A64E19E9545}"/>
              </a:ext>
            </a:extLst>
          </p:cNvPr>
          <p:cNvSpPr>
            <a:spLocks noGrp="1"/>
          </p:cNvSpPr>
          <p:nvPr/>
        </p:nvSpPr>
        <p:spPr>
          <a:xfrm>
            <a:off x="6258427" y="4971337"/>
            <a:ext cx="5539873" cy="990600"/>
          </a:xfrm>
          <a:prstGeom prst="rect">
            <a:avLst/>
          </a:prstGeom>
        </p:spPr>
        <p:txBody>
          <a:bodyPr lIns="0" tIns="0" rIns="0" bIns="0">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534" name="Text">
            <a:extLst>
              <a:ext uri="{FF2B5EF4-FFF2-40B4-BE49-F238E27FC236}">
                <a16:creationId xmlns:a16="http://schemas.microsoft.com/office/drawing/2014/main" id="{0EA46CC8-54F6-453B-8943-07FD7EB980DA}"/>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Satisfaction with issue handling</a:t>
            </a:r>
          </a:p>
        </p:txBody>
      </p:sp>
      <p:graphicFrame>
        <p:nvGraphicFramePr>
          <p:cNvPr id="543" name="Chart"/>
          <p:cNvGraphicFramePr/>
          <p:nvPr/>
        </p:nvGraphicFramePr>
        <p:xfrm>
          <a:off x="609600" y="2047875"/>
          <a:ext cx="657225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536" name="Text">
            <a:extLst>
              <a:ext uri="{FF2B5EF4-FFF2-40B4-BE49-F238E27FC236}">
                <a16:creationId xmlns:a16="http://schemas.microsoft.com/office/drawing/2014/main" id="{308426C7-AD6F-4EE9-8948-A9555BA8AA30}"/>
              </a:ext>
            </a:extLst>
          </p:cNvPr>
          <p:cNvSpPr>
            <a:spLocks noGrp="1"/>
          </p:cNvSpPr>
          <p:nvPr/>
        </p:nvSpPr>
        <p:spPr>
          <a:xfrm>
            <a:off x="7810500" y="2238375"/>
            <a:ext cx="3476625" cy="2000250"/>
          </a:xfrm>
          <a:prstGeom prst="rect">
            <a:avLst/>
          </a:prstGeom>
          <a:noFill/>
          <a:ln w="0">
            <a:noFill/>
          </a:ln>
        </p:spPr>
        <p:txBody>
          <a:bodyPr wrap="square" lIns="0" tIns="0" rIns="0" bIns="0" anchor="t">
            <a:noAutofit/>
          </a:bodyPr>
          <a:lstStyle/>
          <a:p>
            <a:pPr algn="l">
              <a:defRPr sz="2250" b="0">
                <a:solidFill>
                  <a:srgbClr val="1C2432"/>
                </a:solidFill>
                <a:latin typeface="Roboto"/>
                <a:ea typeface="Roboto"/>
                <a:cs typeface="Roboto"/>
              </a:defRPr>
            </a:pPr>
            <a:r>
              <a:rPr sz="2250" b="0">
                <a:solidFill>
                  <a:srgbClr val="1C2432"/>
                </a:solidFill>
                <a:latin typeface="Roboto"/>
                <a:ea typeface="Roboto"/>
                <a:cs typeface="Roboto"/>
              </a:rPr>
              <a:t>Mobile + Broadband</a:t>
            </a:r>
          </a:p>
          <a:p>
            <a:pPr algn="l">
              <a:defRPr sz="2250" b="0">
                <a:solidFill>
                  <a:srgbClr val="1C2432"/>
                </a:solidFill>
                <a:latin typeface="Roboto"/>
                <a:ea typeface="Roboto"/>
                <a:cs typeface="Roboto"/>
              </a:defRPr>
            </a:pPr>
            <a:r>
              <a:rPr sz="2250" b="0">
                <a:solidFill>
                  <a:srgbClr val="1C2432"/>
                </a:solidFill>
                <a:latin typeface="Roboto"/>
                <a:ea typeface="Roboto"/>
                <a:cs typeface="Roboto"/>
              </a:rPr>
              <a:t>Spark sample: n = 795</a:t>
            </a:r>
          </a:p>
          <a:p>
            <a:pPr algn="l">
              <a:defRPr sz="2250" b="0">
                <a:solidFill>
                  <a:srgbClr val="1C2432"/>
                </a:solidFill>
                <a:latin typeface="Roboto"/>
                <a:ea typeface="Roboto"/>
                <a:cs typeface="Roboto"/>
              </a:defRPr>
            </a:pPr>
            <a:r>
              <a:rPr sz="2250" b="0">
                <a:solidFill>
                  <a:srgbClr val="1C2432"/>
                </a:solidFill>
                <a:latin typeface="Roboto"/>
                <a:ea typeface="Roboto"/>
                <a:cs typeface="Roboto"/>
              </a:rPr>
              <a:t>July 2025 to June 2026</a:t>
            </a:r>
          </a:p>
        </p:txBody>
      </p:sp>
      <p:sp>
        <p:nvSpPr>
          <p:cNvPr id="537" name="Evidence qualification">
            <a:extLst>
              <a:ext uri="{FF2B5EF4-FFF2-40B4-BE49-F238E27FC236}">
                <a16:creationId xmlns:a16="http://schemas.microsoft.com/office/drawing/2014/main" id="{5483911A-2015-4A20-8055-220FBE22BAA2}"/>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Top-two responses (4 or 5 out of 5). Customer perceptions, not restoration rates.</a:t>
            </a:r>
          </a:p>
        </p:txBody>
      </p:sp>
      <p:sp>
        <p:nvSpPr>
          <p:cNvPr id="538" name="Source citation">
            <a:extLst>
              <a:ext uri="{FF2B5EF4-FFF2-40B4-BE49-F238E27FC236}">
                <a16:creationId xmlns:a16="http://schemas.microsoft.com/office/drawing/2014/main" id="{4A72B78A-B4BD-4D5B-A366-11404756CA7B}"/>
              </a:ext>
            </a:extLst>
          </p:cNvPr>
          <p:cNvSpPr>
            <a:spLocks noGrp="1"/>
          </p:cNvSpPr>
          <p:nvPr/>
        </p:nvSpPr>
        <p:spPr>
          <a:xfrm>
            <a:off x="609600" y="6172200"/>
            <a:ext cx="8239125" cy="314325"/>
          </a:xfrm>
          <a:prstGeom prst="rect">
            <a:avLst/>
          </a:prstGeom>
          <a:noFill/>
          <a:ln w="0">
            <a:noFill/>
          </a:ln>
        </p:spPr>
        <p:txBody>
          <a:bodyPr wrap="square" lIns="0" tIns="0" rIns="0" bIns="0" anchor="t">
            <a:noAutofit/>
          </a:bodyPr>
          <a:lstStyle/>
          <a:p>
            <a:pPr algn="l">
              <a:defRPr sz="975" b="0">
                <a:solidFill>
                  <a:srgbClr val="59657A"/>
                </a:solidFill>
                <a:latin typeface="Roboto"/>
                <a:ea typeface="Roboto"/>
                <a:cs typeface="Roboto"/>
              </a:defRPr>
            </a:pPr>
            <a:r>
              <a:rPr sz="975" b="0">
                <a:solidFill>
                  <a:srgbClr val="59657A"/>
                </a:solidFill>
                <a:latin typeface="Roboto"/>
                <a:ea typeface="Roboto"/>
                <a:cs typeface="Roboto"/>
              </a:rPr>
              <a:t>Commerce Commission, 2026b, p. 1; Commerce Commission, 2026a, pp. 2, 4</a:t>
            </a:r>
          </a:p>
        </p:txBody>
      </p:sp>
    </p:spTree>
    <p:extLst>
      <p:ext uri="{BB962C8B-B14F-4D97-AF65-F5344CB8AC3E}">
        <p14:creationId xmlns:p14="http://schemas.microsoft.com/office/powerpoint/2010/main" val="1914021646"/>
      </p:ext>
    </p:extLst>
  </p:cSld>
  <p:clrMapOvr>
    <a:masterClrMapping/>
  </p:clrMapOvr>
  <p:transition advClick="0" advTm="2000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a:spLocks noGrp="1"/>
          </p:cNvSpPr>
          <p:nvPr>
            <p:ph idx="1"/>
          </p:nvPr>
        </p:nvSpPr>
        <p:spPr>
          <a:xfrm>
            <a:off x="609600" y="2257425"/>
            <a:ext cx="6572250" cy="2686050"/>
          </a:xfrm>
          <a:prstGeom prst="rect">
            <a:avLst/>
          </a:prstGeom>
        </p:spPr>
        <p:txBody>
          <a:bodyPr spcFirstLastPara="1" vert="horz" wrap="square" lIns="0" tIns="0" rIns="0" bIns="0" anchor="t">
            <a:noAutofit/>
          </a:bodyPr>
          <a:lstStyle/>
          <a:p>
            <a:pPr marL="0" indent="0" algn="l">
              <a:lnSpc>
                <a:spcPct val="114000"/>
              </a:lnSpc>
              <a:spcBef>
                <a:spcPts val="0"/>
              </a:spcBef>
              <a:spcAft>
                <a:spcPts val="800"/>
              </a:spcAft>
              <a:buNone/>
              <a:defRPr sz="2325" b="0">
                <a:solidFill>
                  <a:srgbClr val="1C2432"/>
                </a:solidFill>
                <a:latin typeface="Roboto"/>
                <a:ea typeface="Roboto"/>
                <a:cs typeface="Roboto"/>
              </a:defRPr>
            </a:pPr>
            <a:r>
              <a:rPr sz="2325" b="0">
                <a:solidFill>
                  <a:srgbClr val="1C2432"/>
                </a:solidFill>
                <a:latin typeface="Roboto"/>
                <a:ea typeface="Roboto"/>
                <a:cs typeface="Roboto"/>
              </a:rPr>
              <a:t>Start</a:t>
            </a:r>
          </a:p>
          <a:p>
            <a:pPr marL="0" indent="0" algn="l">
              <a:lnSpc>
                <a:spcPct val="114000"/>
              </a:lnSpc>
              <a:spcBef>
                <a:spcPts val="0"/>
              </a:spcBef>
              <a:spcAft>
                <a:spcPts val="800"/>
              </a:spcAft>
              <a:buNone/>
              <a:defRPr sz="2325" b="0">
                <a:solidFill>
                  <a:srgbClr val="1C2432"/>
                </a:solidFill>
                <a:latin typeface="Roboto"/>
                <a:ea typeface="Roboto"/>
                <a:cs typeface="Roboto"/>
              </a:defRPr>
            </a:pPr>
            <a:r>
              <a:rPr sz="2325" b="0">
                <a:solidFill>
                  <a:srgbClr val="1C2432"/>
                </a:solidFill>
                <a:latin typeface="Roboto"/>
                <a:ea typeface="Roboto"/>
                <a:cs typeface="Roboto"/>
              </a:rPr>
              <a:t>Residential fibre fault contact</a:t>
            </a:r>
          </a:p>
          <a:p>
            <a:pPr marL="0" indent="0">
              <a:lnSpc>
                <a:spcPct val="114000"/>
              </a:lnSpc>
              <a:spcBef>
                <a:spcPts val="0"/>
              </a:spcBef>
              <a:spcAft>
                <a:spcPts val="800"/>
              </a:spcAft>
              <a:buNone/>
            </a:pPr>
            <a:endParaRPr sz="2325" b="0">
              <a:solidFill>
                <a:srgbClr val="1C2432"/>
              </a:solidFill>
              <a:latin typeface="Roboto"/>
              <a:ea typeface="Roboto"/>
              <a:cs typeface="Roboto"/>
            </a:endParaRPr>
          </a:p>
          <a:p>
            <a:pPr marL="0" indent="0" algn="l">
              <a:lnSpc>
                <a:spcPct val="114000"/>
              </a:lnSpc>
              <a:spcBef>
                <a:spcPts val="0"/>
              </a:spcBef>
              <a:spcAft>
                <a:spcPts val="800"/>
              </a:spcAft>
              <a:buNone/>
              <a:defRPr sz="2325" b="0">
                <a:solidFill>
                  <a:srgbClr val="1C2432"/>
                </a:solidFill>
                <a:latin typeface="Roboto"/>
                <a:ea typeface="Roboto"/>
                <a:cs typeface="Roboto"/>
              </a:defRPr>
            </a:pPr>
            <a:r>
              <a:rPr sz="2325" b="0">
                <a:solidFill>
                  <a:srgbClr val="1C2432"/>
                </a:solidFill>
                <a:latin typeface="Roboto"/>
                <a:ea typeface="Roboto"/>
                <a:cs typeface="Roboto"/>
              </a:rPr>
              <a:t>Finish</a:t>
            </a:r>
          </a:p>
          <a:p>
            <a:pPr marL="0" indent="0" algn="l">
              <a:lnSpc>
                <a:spcPct val="114000"/>
              </a:lnSpc>
              <a:spcBef>
                <a:spcPts val="0"/>
              </a:spcBef>
              <a:spcAft>
                <a:spcPts val="800"/>
              </a:spcAft>
              <a:buNone/>
              <a:defRPr sz="2325" b="0">
                <a:solidFill>
                  <a:srgbClr val="1C2432"/>
                </a:solidFill>
                <a:latin typeface="Roboto"/>
                <a:ea typeface="Roboto"/>
                <a:cs typeface="Roboto"/>
              </a:defRPr>
            </a:pPr>
            <a:r>
              <a:rPr sz="2325" b="0">
                <a:solidFill>
                  <a:srgbClr val="1C2432"/>
                </a:solidFill>
                <a:latin typeface="Roboto"/>
                <a:ea typeface="Roboto"/>
                <a:cs typeface="Roboto"/>
              </a:rPr>
              <a:t>Verified stable restoration</a:t>
            </a: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EFD6AB9A-5F9E-5F59-51AB-3C8734130965}" type="slidenum">
              <a:rPr sz="1050" b="0">
                <a:solidFill>
                  <a:srgbClr val="59657A"/>
                </a:solidFill>
                <a:latin typeface="Roboto"/>
                <a:ea typeface="Roboto"/>
                <a:cs typeface="Roboto"/>
              </a:rPr>
              <a:t>4</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A bounded operational problem</a:t>
            </a:r>
          </a:p>
        </p:txBody>
      </p:sp>
      <p:sp>
        <p:nvSpPr>
          <p:cNvPr id="2" name="ConciseSupport_4_2">
            <a:extLst>
              <a:ext uri="{FF2B5EF4-FFF2-40B4-BE49-F238E27FC236}">
                <a16:creationId xmlns:a16="http://schemas.microsoft.com/office/drawing/2014/main" id="{AE271FDE-9800-4AA2-B10D-701A743C71DA}"/>
              </a:ext>
            </a:extLst>
          </p:cNvPr>
          <p:cNvSpPr>
            <a:spLocks noGrp="1"/>
          </p:cNvSpPr>
          <p:nvPr/>
        </p:nvSpPr>
        <p:spPr>
          <a:xfrm>
            <a:off x="7734300" y="2238375"/>
            <a:ext cx="3714750" cy="2667000"/>
          </a:xfrm>
          <a:prstGeom prst="rect">
            <a:avLst/>
          </a:prstGeom>
          <a:noFill/>
          <a:ln w="0">
            <a:noFill/>
          </a:ln>
        </p:spPr>
        <p:txBody>
          <a:bodyPr wrap="square" lIns="0" tIns="0" rIns="0" bIns="0" anchor="t">
            <a:noAutofit/>
          </a:bodyPr>
          <a:lstStyle/>
          <a:p>
            <a:pPr algn="l">
              <a:defRPr sz="1950" b="0">
                <a:solidFill>
                  <a:srgbClr val="355CC9"/>
                </a:solidFill>
                <a:latin typeface="Roboto"/>
                <a:ea typeface="Roboto"/>
                <a:cs typeface="Roboto"/>
              </a:defRPr>
            </a:pPr>
            <a:r>
              <a:rPr sz="1950" b="0">
                <a:solidFill>
                  <a:srgbClr val="355CC9"/>
                </a:solidFill>
                <a:latin typeface="Roboto"/>
                <a:ea typeface="Roboto"/>
                <a:cs typeface="Roboto"/>
              </a:rPr>
              <a:t>Outside scope</a:t>
            </a:r>
          </a:p>
          <a:p>
            <a:pPr algn="l">
              <a:defRPr sz="1950" b="0">
                <a:solidFill>
                  <a:srgbClr val="355CC9"/>
                </a:solidFill>
                <a:latin typeface="Roboto"/>
                <a:ea typeface="Roboto"/>
                <a:cs typeface="Roboto"/>
              </a:defRPr>
            </a:pPr>
            <a:r>
              <a:rPr sz="1950" b="0">
                <a:solidFill>
                  <a:srgbClr val="355CC9"/>
                </a:solidFill>
                <a:latin typeface="Roboto"/>
                <a:ea typeface="Roboto"/>
                <a:cs typeface="Roboto"/>
              </a:rPr>
              <a:t>Billing, installations, plan changes,</a:t>
            </a:r>
          </a:p>
          <a:p>
            <a:pPr algn="l">
              <a:defRPr sz="1950" b="0">
                <a:solidFill>
                  <a:srgbClr val="355CC9"/>
                </a:solidFill>
                <a:latin typeface="Roboto"/>
                <a:ea typeface="Roboto"/>
                <a:cs typeface="Roboto"/>
              </a:defRPr>
            </a:pPr>
            <a:r>
              <a:rPr sz="1950" b="0">
                <a:solidFill>
                  <a:srgbClr val="355CC9"/>
                </a:solidFill>
                <a:latin typeface="Roboto"/>
                <a:ea typeface="Roboto"/>
                <a:cs typeface="Roboto"/>
              </a:rPr>
              <a:t>mobile, wireless broadband</a:t>
            </a:r>
          </a:p>
          <a:p>
            <a:pPr algn="l">
              <a:defRPr sz="1950" b="0">
                <a:solidFill>
                  <a:srgbClr val="355CC9"/>
                </a:solidFill>
                <a:latin typeface="Roboto"/>
                <a:ea typeface="Roboto"/>
                <a:cs typeface="Roboto"/>
              </a:defRPr>
            </a:pPr>
            <a:r>
              <a:rPr sz="1950" b="0">
                <a:solidFill>
                  <a:srgbClr val="355CC9"/>
                </a:solidFill>
                <a:latin typeface="Roboto"/>
                <a:ea typeface="Roboto"/>
                <a:cs typeface="Roboto"/>
              </a:rPr>
              <a:t>and enterprise services.</a:t>
            </a:r>
          </a:p>
          <a:p>
            <a:endParaRPr sz="1950" b="0">
              <a:solidFill>
                <a:srgbClr val="355CC9"/>
              </a:solidFill>
              <a:latin typeface="Roboto"/>
              <a:ea typeface="Roboto"/>
              <a:cs typeface="Roboto"/>
            </a:endParaRPr>
          </a:p>
          <a:p>
            <a:pPr algn="l">
              <a:defRPr sz="1950" b="0">
                <a:solidFill>
                  <a:srgbClr val="355CC9"/>
                </a:solidFill>
                <a:latin typeface="Roboto"/>
                <a:ea typeface="Roboto"/>
                <a:cs typeface="Roboto"/>
              </a:defRPr>
            </a:pPr>
            <a:r>
              <a:rPr sz="1950" b="0">
                <a:solidFill>
                  <a:srgbClr val="355CC9"/>
                </a:solidFill>
                <a:latin typeface="Roboto"/>
                <a:ea typeface="Roboto"/>
                <a:cs typeface="Roboto"/>
              </a:rPr>
              <a:t>Agree region and partner</a:t>
            </a:r>
          </a:p>
          <a:p>
            <a:pPr algn="l">
              <a:defRPr sz="1950" b="0">
                <a:solidFill>
                  <a:srgbClr val="355CC9"/>
                </a:solidFill>
                <a:latin typeface="Roboto"/>
                <a:ea typeface="Roboto"/>
                <a:cs typeface="Roboto"/>
              </a:defRPr>
            </a:pPr>
            <a:r>
              <a:rPr sz="1950" b="0">
                <a:solidFill>
                  <a:srgbClr val="355CC9"/>
                </a:solidFill>
                <a:latin typeface="Roboto"/>
                <a:ea typeface="Roboto"/>
                <a:cs typeface="Roboto"/>
              </a:rPr>
              <a:t>with Spark at initiation.</a:t>
            </a:r>
          </a:p>
        </p:txBody>
      </p:sp>
      <p:sp>
        <p:nvSpPr>
          <p:cNvPr id="3" name="Google Shape;534;p58">
            <a:extLst>
              <a:ext uri="{FF2B5EF4-FFF2-40B4-BE49-F238E27FC236}">
                <a16:creationId xmlns:a16="http://schemas.microsoft.com/office/drawing/2014/main" id="{FD46BF2A-8122-2E0A-E8CC-886653CF64DA}"/>
              </a:ext>
            </a:extLst>
          </p:cNvPr>
          <p:cNvSpPr>
            <a:spLocks noGrp="1"/>
          </p:cNvSpPr>
          <p:nvPr/>
        </p:nvSpPr>
        <p:spPr>
          <a:xfrm>
            <a:off x="393700" y="1310936"/>
            <a:ext cx="5537200" cy="719318"/>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5" name="Text">
            <a:extLst>
              <a:ext uri="{FF2B5EF4-FFF2-40B4-BE49-F238E27FC236}">
                <a16:creationId xmlns:a16="http://schemas.microsoft.com/office/drawing/2014/main" id="{785CDF6C-508C-41BC-B58B-F96B9ADB3DE0}"/>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One region and one principal partner</a:t>
            </a:r>
          </a:p>
        </p:txBody>
      </p:sp>
      <p:sp>
        <p:nvSpPr>
          <p:cNvPr id="536" name="Evidence qualification">
            <a:extLst>
              <a:ext uri="{FF2B5EF4-FFF2-40B4-BE49-F238E27FC236}">
                <a16:creationId xmlns:a16="http://schemas.microsoft.com/office/drawing/2014/main" id="{EEBE2C3D-9D81-4BD2-9B58-9A2D2D85C505}"/>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Proposed scope. Technical retest plus customer confirmation where obtainable.</a:t>
            </a:r>
          </a:p>
        </p:txBody>
      </p:sp>
      <p:sp>
        <p:nvSpPr>
          <p:cNvPr id="537" name="DetailV2_4_3">
            <a:extLst>
              <a:ext uri="{FF2B5EF4-FFF2-40B4-BE49-F238E27FC236}">
                <a16:creationId xmlns:a16="http://schemas.microsoft.com/office/drawing/2014/main" id="{7746DAD7-CC6F-45E8-B2CA-2086885EB36F}"/>
              </a:ext>
            </a:extLst>
          </p:cNvPr>
          <p:cNvSpPr>
            <a:spLocks noGrp="1"/>
          </p:cNvSpPr>
          <p:nvPr/>
        </p:nvSpPr>
        <p:spPr>
          <a:xfrm>
            <a:off x="609600" y="5048250"/>
            <a:ext cx="8096250" cy="33337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Include unresolved and reopened episodes.</a:t>
            </a:r>
          </a:p>
        </p:txBody>
      </p:sp>
    </p:spTree>
    <p:extLst>
      <p:ext uri="{BB962C8B-B14F-4D97-AF65-F5344CB8AC3E}">
        <p14:creationId xmlns:p14="http://schemas.microsoft.com/office/powerpoint/2010/main" val="275466431"/>
      </p:ext>
    </p:extLst>
  </p:cSld>
  <p:clrMapOvr>
    <a:masterClrMapping/>
  </p:clrMapOvr>
  <p:transition advClick="0" advTm="2000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a:spLocks noGrp="1"/>
          </p:cNvSpPr>
          <p:nvPr>
            <p:ph idx="1"/>
          </p:nvPr>
        </p:nvSpPr>
        <p:spPr>
          <a:xfrm>
            <a:off x="393700" y="2192694"/>
            <a:ext cx="5537200" cy="3801706"/>
          </a:xfrm>
          <a:prstGeom prst="rect">
            <a:avLst/>
          </a:prstGeom>
        </p:spPr>
        <p:txBody>
          <a:bodyPr spcFirstLastPara="1" vert="horz" wrap="square" lIns="0" tIns="0" rIns="0" bIns="0" anchor="t">
            <a:noAutofit/>
          </a:bodyPr>
          <a:lstStyle/>
          <a:p>
            <a:pPr marL="0" indent="0">
              <a:lnSpc>
                <a:spcPct val="114000"/>
              </a:lnSpc>
              <a:spcBef>
                <a:spcPts val="0"/>
              </a:spcBef>
              <a:spcAft>
                <a:spcPts val="800"/>
              </a:spcAft>
              <a:buNone/>
            </a:pPr>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EE5B3003-2C54-13C6-9832-7637201064DE}" type="slidenum">
              <a:rPr sz="1050" b="0">
                <a:solidFill>
                  <a:srgbClr val="59657A"/>
                </a:solidFill>
                <a:latin typeface="Roboto"/>
                <a:ea typeface="Roboto"/>
                <a:cs typeface="Roboto"/>
              </a:rPr>
              <a:t>5</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AS-IS handoff requiring validation</a:t>
            </a:r>
          </a:p>
        </p:txBody>
      </p:sp>
      <p:sp>
        <p:nvSpPr>
          <p:cNvPr id="2" name="Google Shape;534;p58">
            <a:extLst>
              <a:ext uri="{FF2B5EF4-FFF2-40B4-BE49-F238E27FC236}">
                <a16:creationId xmlns:a16="http://schemas.microsoft.com/office/drawing/2014/main" id="{A4A94F3C-B1B2-7289-7098-7C66C8A291D6}"/>
              </a:ext>
            </a:extLst>
          </p:cNvPr>
          <p:cNvSpPr>
            <a:spLocks noGrp="1"/>
          </p:cNvSpPr>
          <p:nvPr/>
        </p:nvSpPr>
        <p:spPr>
          <a:xfrm>
            <a:off x="6265111" y="2192694"/>
            <a:ext cx="5537200" cy="3801706"/>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3" name="Google Shape;534;p58">
            <a:extLst>
              <a:ext uri="{FF2B5EF4-FFF2-40B4-BE49-F238E27FC236}">
                <a16:creationId xmlns:a16="http://schemas.microsoft.com/office/drawing/2014/main" id="{FD46BF2A-8122-2E0A-E8CC-886653CF64DA}"/>
              </a:ext>
            </a:extLst>
          </p:cNvPr>
          <p:cNvSpPr>
            <a:spLocks noGrp="1"/>
          </p:cNvSpPr>
          <p:nvPr/>
        </p:nvSpPr>
        <p:spPr>
          <a:xfrm>
            <a:off x="393700" y="1310936"/>
            <a:ext cx="5537200" cy="719318"/>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5" name="Text">
            <a:extLst>
              <a:ext uri="{FF2B5EF4-FFF2-40B4-BE49-F238E27FC236}">
                <a16:creationId xmlns:a16="http://schemas.microsoft.com/office/drawing/2014/main" id="{5A4D58AD-FF7C-479B-8C40-87B9FC038BDD}"/>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Referral sent</a:t>
            </a:r>
          </a:p>
        </p:txBody>
      </p:sp>
      <p:pic>
        <p:nvPicPr>
          <p:cNvPr id="547" name="Picture 546"/>
          <p:cNvPicPr>
            <a:picLocks noChangeAspect="1"/>
          </p:cNvPicPr>
          <p:nvPr/>
        </p:nvPicPr>
        <p:blipFill>
          <a:blip r:embed="rId3"/>
          <a:stretch/>
        </p:blipFill>
        <p:spPr>
          <a:xfrm>
            <a:off x="514350" y="2053530"/>
            <a:ext cx="8191500" cy="2636639"/>
          </a:xfrm>
          <a:prstGeom prst="rect">
            <a:avLst/>
          </a:prstGeom>
        </p:spPr>
      </p:pic>
      <p:sp>
        <p:nvSpPr>
          <p:cNvPr id="537" name="Text">
            <a:extLst>
              <a:ext uri="{FF2B5EF4-FFF2-40B4-BE49-F238E27FC236}">
                <a16:creationId xmlns:a16="http://schemas.microsoft.com/office/drawing/2014/main" id="{8B7D278A-8CFD-4DED-BDB9-B3CE5EAB5437}"/>
              </a:ext>
            </a:extLst>
          </p:cNvPr>
          <p:cNvSpPr>
            <a:spLocks noGrp="1"/>
          </p:cNvSpPr>
          <p:nvPr/>
        </p:nvSpPr>
        <p:spPr>
          <a:xfrm>
            <a:off x="8953500" y="2057400"/>
            <a:ext cx="2714625" cy="2238375"/>
          </a:xfrm>
          <a:prstGeom prst="rect">
            <a:avLst/>
          </a:prstGeom>
          <a:noFill/>
          <a:ln w="0">
            <a:noFill/>
          </a:ln>
        </p:spPr>
        <p:txBody>
          <a:bodyPr wrap="square" lIns="0" tIns="0" rIns="0" bIns="0" anchor="t">
            <a:noAutofit/>
          </a:bodyPr>
          <a:lstStyle/>
          <a:p>
            <a:pPr algn="l">
              <a:defRPr sz="1875" b="0">
                <a:solidFill>
                  <a:srgbClr val="355CC9"/>
                </a:solidFill>
                <a:latin typeface="Roboto"/>
                <a:ea typeface="Roboto"/>
                <a:cs typeface="Roboto"/>
              </a:defRPr>
            </a:pPr>
            <a:r>
              <a:rPr sz="1875" b="0">
                <a:solidFill>
                  <a:srgbClr val="355CC9"/>
                </a:solidFill>
                <a:latin typeface="Roboto"/>
                <a:ea typeface="Roboto"/>
                <a:cs typeface="Roboto"/>
              </a:rPr>
              <a:t>What happens in between?</a:t>
            </a:r>
          </a:p>
          <a:p>
            <a:endParaRPr sz="1875" b="0">
              <a:solidFill>
                <a:srgbClr val="355CC9"/>
              </a:solidFill>
              <a:latin typeface="Roboto"/>
              <a:ea typeface="Roboto"/>
              <a:cs typeface="Roboto"/>
            </a:endParaRPr>
          </a:p>
          <a:p>
            <a:pPr algn="l">
              <a:defRPr sz="1875" b="0">
                <a:solidFill>
                  <a:srgbClr val="355CC9"/>
                </a:solidFill>
                <a:latin typeface="Roboto"/>
                <a:ea typeface="Roboto"/>
                <a:cs typeface="Roboto"/>
              </a:defRPr>
            </a:pPr>
            <a:r>
              <a:rPr sz="1875" b="0">
                <a:solidFill>
                  <a:srgbClr val="355CC9"/>
                </a:solidFill>
                <a:latin typeface="Roboto"/>
                <a:ea typeface="Roboto"/>
                <a:cs typeface="Roboto"/>
              </a:rPr>
              <a:t>Who owns the waiting case?</a:t>
            </a:r>
          </a:p>
          <a:p>
            <a:pPr algn="l">
              <a:defRPr sz="1875" b="0">
                <a:solidFill>
                  <a:srgbClr val="355CC9"/>
                </a:solidFill>
                <a:latin typeface="Roboto"/>
                <a:ea typeface="Roboto"/>
                <a:cs typeface="Roboto"/>
              </a:defRPr>
            </a:pPr>
            <a:r>
              <a:rPr sz="1875" b="0">
                <a:solidFill>
                  <a:srgbClr val="355CC9"/>
                </a:solidFill>
                <a:latin typeface="Roboto"/>
                <a:ea typeface="Roboto"/>
                <a:cs typeface="Roboto"/>
              </a:rPr>
              <a:t>When does the partner accept?</a:t>
            </a:r>
          </a:p>
          <a:p>
            <a:pPr algn="l">
              <a:defRPr sz="1875" b="0">
                <a:solidFill>
                  <a:srgbClr val="355CC9"/>
                </a:solidFill>
                <a:latin typeface="Roboto"/>
                <a:ea typeface="Roboto"/>
                <a:cs typeface="Roboto"/>
              </a:defRPr>
            </a:pPr>
            <a:r>
              <a:rPr sz="1875" b="0">
                <a:solidFill>
                  <a:srgbClr val="355CC9"/>
                </a:solidFill>
                <a:latin typeface="Roboto"/>
                <a:ea typeface="Roboto"/>
                <a:cs typeface="Roboto"/>
              </a:rPr>
              <a:t>When is escalation needed?</a:t>
            </a:r>
          </a:p>
        </p:txBody>
      </p:sp>
      <p:sp>
        <p:nvSpPr>
          <p:cNvPr id="548" name="DetailV2_5_4">
            <a:extLst>
              <a:ext uri="{FF2B5EF4-FFF2-40B4-BE49-F238E27FC236}">
                <a16:creationId xmlns:a16="http://schemas.microsoft.com/office/drawing/2014/main" id="{BE607231-1A41-4492-98AE-5E93575603E7}"/>
              </a:ext>
            </a:extLst>
          </p:cNvPr>
          <p:cNvSpPr>
            <a:spLocks noGrp="1"/>
          </p:cNvSpPr>
          <p:nvPr/>
        </p:nvSpPr>
        <p:spPr>
          <a:xfrm>
            <a:off x="609600" y="4972050"/>
            <a:ext cx="8096250" cy="52387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Episode checks: referral time, acceptance, owner and escalation.</a:t>
            </a:r>
          </a:p>
        </p:txBody>
      </p:sp>
      <p:sp>
        <p:nvSpPr>
          <p:cNvPr id="539" name="Evidence qualification">
            <a:extLst>
              <a:ext uri="{FF2B5EF4-FFF2-40B4-BE49-F238E27FC236}">
                <a16:creationId xmlns:a16="http://schemas.microsoft.com/office/drawing/2014/main" id="{6E65DBB9-3B4D-44C6-97B8-EA386BCB5A3F}"/>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Author reconstruction in SAP Signavio. Handoff delay remains a hypothesis.</a:t>
            </a:r>
          </a:p>
        </p:txBody>
      </p:sp>
      <p:sp>
        <p:nvSpPr>
          <p:cNvPr id="540" name="Source citation">
            <a:extLst>
              <a:ext uri="{FF2B5EF4-FFF2-40B4-BE49-F238E27FC236}">
                <a16:creationId xmlns:a16="http://schemas.microsoft.com/office/drawing/2014/main" id="{C09C1A95-4042-4F5B-A3CF-4984161F02C4}"/>
              </a:ext>
            </a:extLst>
          </p:cNvPr>
          <p:cNvSpPr>
            <a:spLocks noGrp="1"/>
          </p:cNvSpPr>
          <p:nvPr/>
        </p:nvSpPr>
        <p:spPr>
          <a:xfrm>
            <a:off x="609600" y="6172200"/>
            <a:ext cx="8239125" cy="314325"/>
          </a:xfrm>
          <a:prstGeom prst="rect">
            <a:avLst/>
          </a:prstGeom>
          <a:noFill/>
          <a:ln w="0">
            <a:noFill/>
          </a:ln>
        </p:spPr>
        <p:txBody>
          <a:bodyPr wrap="square" lIns="0" tIns="0" rIns="0" bIns="0" anchor="t">
            <a:noAutofit/>
          </a:bodyPr>
          <a:lstStyle/>
          <a:p>
            <a:pPr algn="l">
              <a:defRPr sz="975" b="0">
                <a:solidFill>
                  <a:srgbClr val="59657A"/>
                </a:solidFill>
                <a:latin typeface="Roboto"/>
                <a:ea typeface="Roboto"/>
                <a:cs typeface="Roboto"/>
              </a:defRPr>
            </a:pPr>
            <a:r>
              <a:rPr sz="975" b="0">
                <a:solidFill>
                  <a:srgbClr val="59657A"/>
                </a:solidFill>
                <a:latin typeface="Roboto"/>
                <a:ea typeface="Roboto"/>
                <a:cs typeface="Roboto"/>
              </a:rPr>
              <a:t>SAP, n.d., Modeling with the Editor</a:t>
            </a:r>
          </a:p>
        </p:txBody>
      </p:sp>
    </p:spTree>
    <p:extLst>
      <p:ext uri="{BB962C8B-B14F-4D97-AF65-F5344CB8AC3E}">
        <p14:creationId xmlns:p14="http://schemas.microsoft.com/office/powerpoint/2010/main" val="1436345199"/>
      </p:ext>
    </p:extLst>
  </p:cSld>
  <p:clrMapOvr>
    <a:masterClrMapping/>
  </p:clrMapOvr>
  <p:transition advClick="0" advTm="2000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8C630A04-5A25-9E0C-9436-126091DB86B3}" type="slidenum">
              <a:rPr sz="1050" b="0">
                <a:solidFill>
                  <a:srgbClr val="59657A"/>
                </a:solidFill>
                <a:latin typeface="Roboto"/>
                <a:ea typeface="Roboto"/>
                <a:cs typeface="Roboto"/>
              </a:rPr>
              <a:t>6</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Competing causes and candidate responses</a:t>
            </a:r>
            <a:endParaRPr>
              <a:solidFill>
                <a:schemeClr val="accent1"/>
              </a:solidFill>
            </a:endParaRPr>
          </a:p>
        </p:txBody>
      </p:sp>
      <p:sp>
        <p:nvSpPr>
          <p:cNvPr id="7" name="Google Shape;534;p58">
            <a:extLst>
              <a:ext uri="{FF2B5EF4-FFF2-40B4-BE49-F238E27FC236}">
                <a16:creationId xmlns:a16="http://schemas.microsoft.com/office/drawing/2014/main" id="{71547039-AB2A-5CA1-49F7-26E9E71601EF}"/>
              </a:ext>
            </a:extLst>
          </p:cNvPr>
          <p:cNvSpPr>
            <a:spLocks noGrp="1"/>
          </p:cNvSpPr>
          <p:nvPr/>
        </p:nvSpPr>
        <p:spPr>
          <a:xfrm>
            <a:off x="393700" y="2774196"/>
            <a:ext cx="3606800" cy="3220203"/>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8" name="Google Shape;534;p58">
            <a:extLst>
              <a:ext uri="{FF2B5EF4-FFF2-40B4-BE49-F238E27FC236}">
                <a16:creationId xmlns:a16="http://schemas.microsoft.com/office/drawing/2014/main" id="{D136FB89-7449-CC90-F061-B6BF578EA25E}"/>
              </a:ext>
            </a:extLst>
          </p:cNvPr>
          <p:cNvSpPr>
            <a:spLocks noGrp="1"/>
          </p:cNvSpPr>
          <p:nvPr/>
        </p:nvSpPr>
        <p:spPr>
          <a:xfrm>
            <a:off x="393700" y="1564835"/>
            <a:ext cx="3606800" cy="1178365"/>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4" name="Text">
            <a:extLst>
              <a:ext uri="{FF2B5EF4-FFF2-40B4-BE49-F238E27FC236}">
                <a16:creationId xmlns:a16="http://schemas.microsoft.com/office/drawing/2014/main" id="{1EE38858-574C-452E-AD90-61287C4564C3}"/>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Evidence determines the intervention</a:t>
            </a:r>
          </a:p>
        </p:txBody>
      </p:sp>
      <p:graphicFrame>
        <p:nvGraphicFramePr>
          <p:cNvPr id="543" name="Table 542"/>
          <p:cNvGraphicFramePr/>
          <p:nvPr/>
        </p:nvGraphicFramePr>
        <p:xfrm>
          <a:off x="609600" y="2019300"/>
          <a:ext cx="10858500" cy="2381250"/>
        </p:xfrm>
        <a:graphic>
          <a:graphicData uri="http://schemas.openxmlformats.org/drawingml/2006/table">
            <a:tbl>
              <a:tblPr firstRow="1"/>
              <a:tblGrid>
                <a:gridCol w="4333875">
                  <a:extLst>
                    <a:ext uri="{9D8B030D-6E8A-4147-A177-3AD203B41FA5}">
                      <a16:colId xmlns:a16="http://schemas.microsoft.com/office/drawing/2014/main" val="20000"/>
                    </a:ext>
                  </a:extLst>
                </a:gridCol>
                <a:gridCol w="6524625">
                  <a:extLst>
                    <a:ext uri="{9D8B030D-6E8A-4147-A177-3AD203B41FA5}">
                      <a16:colId xmlns:a16="http://schemas.microsoft.com/office/drawing/2014/main" val="20001"/>
                    </a:ext>
                  </a:extLst>
                </a:gridCol>
              </a:tblGrid>
              <a:tr h="476250">
                <a:tc>
                  <a:txBody>
                    <a:bodyPr/>
                    <a:lstStyle/>
                    <a:p>
                      <a:r>
                        <a:rPr sz="1875" b="1">
                          <a:solidFill>
                            <a:srgbClr val="355CC9"/>
                          </a:solidFill>
                          <a:latin typeface="Roboto"/>
                          <a:ea typeface="Roboto"/>
                          <a:cs typeface="Roboto"/>
                        </a:rPr>
                        <a:t>Cause to investigate</a:t>
                      </a:r>
                    </a:p>
                  </a:txBody>
                  <a:tcPr marL="114300" marR="114300" marT="76200" marB="76200" anchor="ctr">
                    <a:solidFill>
                      <a:srgbClr val="EAF0FC"/>
                    </a:solidFill>
                  </a:tcPr>
                </a:tc>
                <a:tc>
                  <a:txBody>
                    <a:bodyPr/>
                    <a:lstStyle/>
                    <a:p>
                      <a:r>
                        <a:rPr sz="1875" b="1">
                          <a:solidFill>
                            <a:srgbClr val="355CC9"/>
                          </a:solidFill>
                          <a:latin typeface="Roboto"/>
                          <a:ea typeface="Roboto"/>
                          <a:cs typeface="Roboto"/>
                        </a:rPr>
                        <a:t>Candidate response</a:t>
                      </a:r>
                    </a:p>
                  </a:txBody>
                  <a:tcPr marL="114300" marR="114300" marT="76200" marB="76200" anchor="ctr">
                    <a:solidFill>
                      <a:srgbClr val="EAF0FC"/>
                    </a:solidFill>
                  </a:tcPr>
                </a:tc>
                <a:extLst>
                  <a:ext uri="{0D108BD9-81ED-4DB2-BD59-A6C34878D82A}">
                    <a16:rowId xmlns:a16="http://schemas.microsoft.com/office/drawing/2014/main" val="10000"/>
                  </a:ext>
                </a:extLst>
              </a:tr>
              <a:tr h="476250">
                <a:tc>
                  <a:txBody>
                    <a:bodyPr/>
                    <a:lstStyle/>
                    <a:p>
                      <a:r>
                        <a:rPr sz="1875">
                          <a:solidFill>
                            <a:srgbClr val="1C2432"/>
                          </a:solidFill>
                          <a:latin typeface="Roboto"/>
                          <a:ea typeface="Roboto"/>
                          <a:cs typeface="Roboto"/>
                        </a:rPr>
                        <a:t>Missing case context</a:t>
                      </a:r>
                    </a:p>
                  </a:txBody>
                  <a:tcPr marL="114300" marR="114300" marT="76200" marB="76200" anchor="ctr">
                    <a:solidFill>
                      <a:srgbClr val="F8FBFD"/>
                    </a:solidFill>
                  </a:tcPr>
                </a:tc>
                <a:tc>
                  <a:txBody>
                    <a:bodyPr/>
                    <a:lstStyle/>
                    <a:p>
                      <a:r>
                        <a:rPr sz="1875">
                          <a:solidFill>
                            <a:srgbClr val="1C2432"/>
                          </a:solidFill>
                          <a:latin typeface="Roboto"/>
                          <a:ea typeface="Roboto"/>
                          <a:cs typeface="Roboto"/>
                        </a:rPr>
                        <a:t>Locate the gap before choosing a control</a:t>
                      </a:r>
                    </a:p>
                  </a:txBody>
                  <a:tcPr marL="114300" marR="114300" marT="76200" marB="76200" anchor="ctr">
                    <a:solidFill>
                      <a:srgbClr val="F8FBFD"/>
                    </a:solidFill>
                  </a:tcPr>
                </a:tc>
                <a:extLst>
                  <a:ext uri="{0D108BD9-81ED-4DB2-BD59-A6C34878D82A}">
                    <a16:rowId xmlns:a16="http://schemas.microsoft.com/office/drawing/2014/main" val="10001"/>
                  </a:ext>
                </a:extLst>
              </a:tr>
              <a:tr h="476250">
                <a:tc>
                  <a:txBody>
                    <a:bodyPr/>
                    <a:lstStyle/>
                    <a:p>
                      <a:r>
                        <a:rPr sz="1875">
                          <a:solidFill>
                            <a:srgbClr val="1C2432"/>
                          </a:solidFill>
                          <a:latin typeface="Roboto"/>
                          <a:ea typeface="Roboto"/>
                          <a:cs typeface="Roboto"/>
                        </a:rPr>
                        <a:t>Diagnosis or routing</a:t>
                      </a:r>
                    </a:p>
                  </a:txBody>
                  <a:tcPr marL="114300" marR="114300" marT="76200" marB="76200" anchor="ctr">
                    <a:solidFill>
                      <a:srgbClr val="F8FBFD"/>
                    </a:solidFill>
                  </a:tcPr>
                </a:tc>
                <a:tc>
                  <a:txBody>
                    <a:bodyPr/>
                    <a:lstStyle/>
                    <a:p>
                      <a:r>
                        <a:rPr sz="1875">
                          <a:solidFill>
                            <a:srgbClr val="1C2432"/>
                          </a:solidFill>
                          <a:latin typeface="Roboto"/>
                          <a:ea typeface="Roboto"/>
                          <a:cs typeface="Roboto"/>
                        </a:rPr>
                        <a:t>Improve first diagnosis and routing</a:t>
                      </a:r>
                    </a:p>
                  </a:txBody>
                  <a:tcPr marL="114300" marR="114300" marT="76200" marB="76200" anchor="ctr">
                    <a:solidFill>
                      <a:srgbClr val="F8FBFD"/>
                    </a:solidFill>
                  </a:tcPr>
                </a:tc>
                <a:extLst>
                  <a:ext uri="{0D108BD9-81ED-4DB2-BD59-A6C34878D82A}">
                    <a16:rowId xmlns:a16="http://schemas.microsoft.com/office/drawing/2014/main" val="10002"/>
                  </a:ext>
                </a:extLst>
              </a:tr>
              <a:tr h="476250">
                <a:tc>
                  <a:txBody>
                    <a:bodyPr/>
                    <a:lstStyle/>
                    <a:p>
                      <a:r>
                        <a:rPr sz="1875">
                          <a:solidFill>
                            <a:srgbClr val="1C2432"/>
                          </a:solidFill>
                          <a:latin typeface="Roboto"/>
                          <a:ea typeface="Roboto"/>
                          <a:cs typeface="Roboto"/>
                        </a:rPr>
                        <a:t>Handoff ownership</a:t>
                      </a:r>
                    </a:p>
                  </a:txBody>
                  <a:tcPr marL="114300" marR="114300" marT="76200" marB="76200" anchor="ctr">
                    <a:solidFill>
                      <a:srgbClr val="F8FBFD"/>
                    </a:solidFill>
                  </a:tcPr>
                </a:tc>
                <a:tc>
                  <a:txBody>
                    <a:bodyPr/>
                    <a:lstStyle/>
                    <a:p>
                      <a:r>
                        <a:rPr sz="1875">
                          <a:solidFill>
                            <a:srgbClr val="1C2432"/>
                          </a:solidFill>
                          <a:latin typeface="Roboto"/>
                          <a:ea typeface="Roboto"/>
                          <a:cs typeface="Roboto"/>
                        </a:rPr>
                        <a:t>Named owner and explicit acceptance</a:t>
                      </a:r>
                    </a:p>
                  </a:txBody>
                  <a:tcPr marL="114300" marR="114300" marT="76200" marB="76200" anchor="ctr">
                    <a:solidFill>
                      <a:srgbClr val="F8FBFD"/>
                    </a:solidFill>
                  </a:tcPr>
                </a:tc>
                <a:extLst>
                  <a:ext uri="{0D108BD9-81ED-4DB2-BD59-A6C34878D82A}">
                    <a16:rowId xmlns:a16="http://schemas.microsoft.com/office/drawing/2014/main" val="10003"/>
                  </a:ext>
                </a:extLst>
              </a:tr>
              <a:tr h="476250">
                <a:tc>
                  <a:txBody>
                    <a:bodyPr/>
                    <a:lstStyle/>
                    <a:p>
                      <a:r>
                        <a:rPr sz="1875">
                          <a:solidFill>
                            <a:srgbClr val="1C2432"/>
                          </a:solidFill>
                          <a:latin typeface="Roboto"/>
                          <a:ea typeface="Roboto"/>
                          <a:cs typeface="Roboto"/>
                        </a:rPr>
                        <a:t>Communication</a:t>
                      </a:r>
                    </a:p>
                  </a:txBody>
                  <a:tcPr marL="114300" marR="114300" marT="76200" marB="76200" anchor="ctr">
                    <a:solidFill>
                      <a:srgbClr val="F8FBFD"/>
                    </a:solidFill>
                  </a:tcPr>
                </a:tc>
                <a:tc>
                  <a:txBody>
                    <a:bodyPr/>
                    <a:lstStyle/>
                    <a:p>
                      <a:r>
                        <a:rPr sz="1875">
                          <a:solidFill>
                            <a:srgbClr val="1C2432"/>
                          </a:solidFill>
                          <a:latin typeface="Roboto"/>
                          <a:ea typeface="Roboto"/>
                          <a:cs typeface="Roboto"/>
                        </a:rPr>
                        <a:t>Improve existing customer updates</a:t>
                      </a:r>
                    </a:p>
                  </a:txBody>
                  <a:tcPr marL="114300" marR="114300" marT="76200" marB="76200" anchor="ctr">
                    <a:solidFill>
                      <a:srgbClr val="F8FBFD"/>
                    </a:solidFill>
                  </a:tcPr>
                </a:tc>
                <a:extLst>
                  <a:ext uri="{0D108BD9-81ED-4DB2-BD59-A6C34878D82A}">
                    <a16:rowId xmlns:a16="http://schemas.microsoft.com/office/drawing/2014/main" val="10004"/>
                  </a:ext>
                </a:extLst>
              </a:tr>
            </a:tbl>
          </a:graphicData>
        </a:graphic>
      </p:graphicFrame>
      <p:sp>
        <p:nvSpPr>
          <p:cNvPr id="536" name="Evidence qualification">
            <a:extLst>
              <a:ext uri="{FF2B5EF4-FFF2-40B4-BE49-F238E27FC236}">
                <a16:creationId xmlns:a16="http://schemas.microsoft.com/office/drawing/2014/main" id="{6C98C69A-2EF3-411A-B48A-B78EFD61694C}"/>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P2: integration for evidenced status gaps. P4: minimum combination. P5: separate structural-change approval.</a:t>
            </a:r>
          </a:p>
        </p:txBody>
      </p:sp>
      <p:sp>
        <p:nvSpPr>
          <p:cNvPr id="537" name="Source citation">
            <a:extLst>
              <a:ext uri="{FF2B5EF4-FFF2-40B4-BE49-F238E27FC236}">
                <a16:creationId xmlns:a16="http://schemas.microsoft.com/office/drawing/2014/main" id="{EBC06A26-DB54-4541-A755-833FB93305BD}"/>
              </a:ext>
            </a:extLst>
          </p:cNvPr>
          <p:cNvSpPr>
            <a:spLocks noGrp="1"/>
          </p:cNvSpPr>
          <p:nvPr/>
        </p:nvSpPr>
        <p:spPr>
          <a:xfrm>
            <a:off x="609600" y="6172200"/>
            <a:ext cx="8239125" cy="314325"/>
          </a:xfrm>
          <a:prstGeom prst="rect">
            <a:avLst/>
          </a:prstGeom>
          <a:noFill/>
          <a:ln w="0">
            <a:noFill/>
          </a:ln>
        </p:spPr>
        <p:txBody>
          <a:bodyPr wrap="square" lIns="0" tIns="0" rIns="0" bIns="0" anchor="t">
            <a:noAutofit/>
          </a:bodyPr>
          <a:lstStyle/>
          <a:p>
            <a:pPr algn="l">
              <a:defRPr sz="975" b="0">
                <a:solidFill>
                  <a:srgbClr val="59657A"/>
                </a:solidFill>
                <a:latin typeface="Roboto"/>
                <a:ea typeface="Roboto"/>
                <a:cs typeface="Roboto"/>
              </a:defRPr>
            </a:pPr>
            <a:r>
              <a:rPr sz="975" b="0">
                <a:solidFill>
                  <a:srgbClr val="59657A"/>
                </a:solidFill>
                <a:latin typeface="Roboto"/>
                <a:ea typeface="Roboto"/>
                <a:cs typeface="Roboto"/>
              </a:rPr>
              <a:t>Rosenbaum et al., 2017, pp. 143–150</a:t>
            </a:r>
          </a:p>
        </p:txBody>
      </p:sp>
      <p:sp>
        <p:nvSpPr>
          <p:cNvPr id="544" name="ConciseSupport_6_3">
            <a:extLst>
              <a:ext uri="{FF2B5EF4-FFF2-40B4-BE49-F238E27FC236}">
                <a16:creationId xmlns:a16="http://schemas.microsoft.com/office/drawing/2014/main" id="{A49837D4-1A50-4B2B-BC5B-45B0788D2F7E}"/>
              </a:ext>
            </a:extLst>
          </p:cNvPr>
          <p:cNvSpPr>
            <a:spLocks noGrp="1"/>
          </p:cNvSpPr>
          <p:nvPr/>
        </p:nvSpPr>
        <p:spPr>
          <a:xfrm>
            <a:off x="609600" y="4752975"/>
            <a:ext cx="8096250" cy="61912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Method: MECE issue tree and customer journey mapping</a:t>
            </a:r>
          </a:p>
          <a:p>
            <a:pPr algn="l">
              <a:defRPr sz="1725" b="0">
                <a:solidFill>
                  <a:srgbClr val="59657A"/>
                </a:solidFill>
                <a:latin typeface="Roboto"/>
                <a:ea typeface="Roboto"/>
                <a:cs typeface="Roboto"/>
              </a:defRPr>
            </a:pPr>
            <a:r>
              <a:rPr sz="1725" b="0">
                <a:solidFill>
                  <a:srgbClr val="59657A"/>
                </a:solidFill>
                <a:latin typeface="Roboto"/>
                <a:ea typeface="Roboto"/>
                <a:cs typeface="Roboto"/>
              </a:rPr>
              <a:t>Test competing causes before selecting P1–P6.</a:t>
            </a:r>
          </a:p>
        </p:txBody>
      </p:sp>
    </p:spTree>
    <p:extLst>
      <p:ext uri="{BB962C8B-B14F-4D97-AF65-F5344CB8AC3E}">
        <p14:creationId xmlns:p14="http://schemas.microsoft.com/office/powerpoint/2010/main" val="1164121856"/>
      </p:ext>
    </p:extLst>
  </p:cSld>
  <p:clrMapOvr>
    <a:masterClrMapping/>
  </p:clrMapOvr>
  <p:transition advClick="0" advTm="2000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D3D7D1C8-AE23-AA48-DF65-C742588DBE47}" type="slidenum">
              <a:rPr sz="1050" b="0">
                <a:solidFill>
                  <a:srgbClr val="59657A"/>
                </a:solidFill>
                <a:latin typeface="Roboto"/>
                <a:ea typeface="Roboto"/>
                <a:cs typeface="Roboto"/>
              </a:rPr>
              <a:t>7</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Success means verified service improvement</a:t>
            </a:r>
            <a:endParaRPr>
              <a:solidFill>
                <a:schemeClr val="accent1"/>
              </a:solidFill>
            </a:endParaRPr>
          </a:p>
        </p:txBody>
      </p:sp>
      <p:sp>
        <p:nvSpPr>
          <p:cNvPr id="7" name="Google Shape;534;p58">
            <a:extLst>
              <a:ext uri="{FF2B5EF4-FFF2-40B4-BE49-F238E27FC236}">
                <a16:creationId xmlns:a16="http://schemas.microsoft.com/office/drawing/2014/main" id="{71547039-AB2A-5CA1-49F7-26E9E71601EF}"/>
              </a:ext>
            </a:extLst>
          </p:cNvPr>
          <p:cNvSpPr>
            <a:spLocks noGrp="1"/>
          </p:cNvSpPr>
          <p:nvPr/>
        </p:nvSpPr>
        <p:spPr>
          <a:xfrm>
            <a:off x="393700" y="2774196"/>
            <a:ext cx="3606800" cy="3220203"/>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8" name="Google Shape;534;p58">
            <a:extLst>
              <a:ext uri="{FF2B5EF4-FFF2-40B4-BE49-F238E27FC236}">
                <a16:creationId xmlns:a16="http://schemas.microsoft.com/office/drawing/2014/main" id="{D136FB89-7449-CC90-F061-B6BF578EA25E}"/>
              </a:ext>
            </a:extLst>
          </p:cNvPr>
          <p:cNvSpPr>
            <a:spLocks noGrp="1"/>
          </p:cNvSpPr>
          <p:nvPr/>
        </p:nvSpPr>
        <p:spPr>
          <a:xfrm>
            <a:off x="393700" y="1564835"/>
            <a:ext cx="3606800" cy="1178365"/>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4" name="Text">
            <a:extLst>
              <a:ext uri="{FF2B5EF4-FFF2-40B4-BE49-F238E27FC236}">
                <a16:creationId xmlns:a16="http://schemas.microsoft.com/office/drawing/2014/main" id="{1A4D4E0D-1E04-4D3D-9B0F-C740CBDD133D}"/>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Targets apply only when diagnosis supports the cause</a:t>
            </a:r>
          </a:p>
        </p:txBody>
      </p:sp>
      <p:graphicFrame>
        <p:nvGraphicFramePr>
          <p:cNvPr id="542" name="Table 541"/>
          <p:cNvGraphicFramePr/>
          <p:nvPr/>
        </p:nvGraphicFramePr>
        <p:xfrm>
          <a:off x="609600" y="2019300"/>
          <a:ext cx="10858500" cy="2857500"/>
        </p:xfrm>
        <a:graphic>
          <a:graphicData uri="http://schemas.openxmlformats.org/drawingml/2006/table">
            <a:tbl>
              <a:tblPr firstRow="1"/>
              <a:tblGrid>
                <a:gridCol w="4333875">
                  <a:extLst>
                    <a:ext uri="{9D8B030D-6E8A-4147-A177-3AD203B41FA5}">
                      <a16:colId xmlns:a16="http://schemas.microsoft.com/office/drawing/2014/main" val="20000"/>
                    </a:ext>
                  </a:extLst>
                </a:gridCol>
                <a:gridCol w="6524625">
                  <a:extLst>
                    <a:ext uri="{9D8B030D-6E8A-4147-A177-3AD203B41FA5}">
                      <a16:colId xmlns:a16="http://schemas.microsoft.com/office/drawing/2014/main" val="20001"/>
                    </a:ext>
                  </a:extLst>
                </a:gridCol>
              </a:tblGrid>
              <a:tr h="476250">
                <a:tc>
                  <a:txBody>
                    <a:bodyPr/>
                    <a:lstStyle/>
                    <a:p>
                      <a:r>
                        <a:rPr sz="1725" b="1">
                          <a:solidFill>
                            <a:srgbClr val="355CC9"/>
                          </a:solidFill>
                          <a:latin typeface="Roboto"/>
                          <a:ea typeface="Roboto"/>
                          <a:cs typeface="Roboto"/>
                        </a:rPr>
                        <a:t>Outcome</a:t>
                      </a:r>
                    </a:p>
                  </a:txBody>
                  <a:tcPr marL="114300" marR="114300" marT="76200" marB="76200" anchor="ctr">
                    <a:solidFill>
                      <a:srgbClr val="EAF0FC"/>
                    </a:solidFill>
                  </a:tcPr>
                </a:tc>
                <a:tc>
                  <a:txBody>
                    <a:bodyPr/>
                    <a:lstStyle/>
                    <a:p>
                      <a:r>
                        <a:rPr sz="1725" b="1">
                          <a:solidFill>
                            <a:srgbClr val="355CC9"/>
                          </a:solidFill>
                          <a:latin typeface="Roboto"/>
                          <a:ea typeface="Roboto"/>
                          <a:cs typeface="Roboto"/>
                        </a:rPr>
                        <a:t>Proposed target</a:t>
                      </a:r>
                    </a:p>
                  </a:txBody>
                  <a:tcPr marL="114300" marR="114300" marT="76200" marB="76200" anchor="ctr">
                    <a:solidFill>
                      <a:srgbClr val="EAF0FC"/>
                    </a:solidFill>
                  </a:tcPr>
                </a:tc>
                <a:extLst>
                  <a:ext uri="{0D108BD9-81ED-4DB2-BD59-A6C34878D82A}">
                    <a16:rowId xmlns:a16="http://schemas.microsoft.com/office/drawing/2014/main" val="10000"/>
                  </a:ext>
                </a:extLst>
              </a:tr>
              <a:tr h="476250">
                <a:tc>
                  <a:txBody>
                    <a:bodyPr/>
                    <a:lstStyle/>
                    <a:p>
                      <a:r>
                        <a:rPr sz="1725">
                          <a:solidFill>
                            <a:srgbClr val="1C2432"/>
                          </a:solidFill>
                          <a:latin typeface="Roboto"/>
                          <a:ea typeface="Roboto"/>
                          <a:cs typeface="Roboto"/>
                        </a:rPr>
                        <a:t>Restoration time</a:t>
                      </a:r>
                    </a:p>
                  </a:txBody>
                  <a:tcPr marL="114300" marR="114300" marT="76200" marB="76200" anchor="ctr">
                    <a:solidFill>
                      <a:srgbClr val="F8FBFD"/>
                    </a:solidFill>
                  </a:tcPr>
                </a:tc>
                <a:tc>
                  <a:txBody>
                    <a:bodyPr/>
                    <a:lstStyle/>
                    <a:p>
                      <a:r>
                        <a:rPr sz="1725">
                          <a:solidFill>
                            <a:srgbClr val="1C2432"/>
                          </a:solidFill>
                          <a:latin typeface="Roboto"/>
                          <a:ea typeface="Roboto"/>
                          <a:cs typeface="Roboto"/>
                        </a:rPr>
                        <a:t>15% lower median if ownership is causal</a:t>
                      </a:r>
                    </a:p>
                  </a:txBody>
                  <a:tcPr marL="114300" marR="114300" marT="76200" marB="76200" anchor="ctr">
                    <a:solidFill>
                      <a:srgbClr val="F8FBFD"/>
                    </a:solidFill>
                  </a:tcPr>
                </a:tc>
                <a:extLst>
                  <a:ext uri="{0D108BD9-81ED-4DB2-BD59-A6C34878D82A}">
                    <a16:rowId xmlns:a16="http://schemas.microsoft.com/office/drawing/2014/main" val="10001"/>
                  </a:ext>
                </a:extLst>
              </a:tr>
              <a:tr h="476250">
                <a:tc>
                  <a:txBody>
                    <a:bodyPr/>
                    <a:lstStyle/>
                    <a:p>
                      <a:r>
                        <a:rPr sz="1725">
                          <a:solidFill>
                            <a:srgbClr val="1C2432"/>
                          </a:solidFill>
                          <a:latin typeface="Roboto"/>
                          <a:ea typeface="Roboto"/>
                          <a:cs typeface="Roboto"/>
                        </a:rPr>
                        <a:t>Longer waits</a:t>
                      </a:r>
                    </a:p>
                  </a:txBody>
                  <a:tcPr marL="114300" marR="114300" marT="76200" marB="76200" anchor="ctr">
                    <a:solidFill>
                      <a:srgbClr val="F8FBFD"/>
                    </a:solidFill>
                  </a:tcPr>
                </a:tc>
                <a:tc>
                  <a:txBody>
                    <a:bodyPr/>
                    <a:lstStyle/>
                    <a:p>
                      <a:r>
                        <a:rPr sz="1725">
                          <a:solidFill>
                            <a:srgbClr val="1C2432"/>
                          </a:solidFill>
                          <a:latin typeface="Roboto"/>
                          <a:ea typeface="Roboto"/>
                          <a:cs typeface="Roboto"/>
                        </a:rPr>
                        <a:t>No worsening at the 90th percentile</a:t>
                      </a:r>
                    </a:p>
                  </a:txBody>
                  <a:tcPr marL="114300" marR="114300" marT="76200" marB="76200" anchor="ctr">
                    <a:solidFill>
                      <a:srgbClr val="F8FBFD"/>
                    </a:solidFill>
                  </a:tcPr>
                </a:tc>
                <a:extLst>
                  <a:ext uri="{0D108BD9-81ED-4DB2-BD59-A6C34878D82A}">
                    <a16:rowId xmlns:a16="http://schemas.microsoft.com/office/drawing/2014/main" val="10002"/>
                  </a:ext>
                </a:extLst>
              </a:tr>
              <a:tr h="476250">
                <a:tc>
                  <a:txBody>
                    <a:bodyPr/>
                    <a:lstStyle/>
                    <a:p>
                      <a:r>
                        <a:rPr sz="1725">
                          <a:solidFill>
                            <a:srgbClr val="1C2432"/>
                          </a:solidFill>
                          <a:latin typeface="Roboto"/>
                          <a:ea typeface="Roboto"/>
                          <a:cs typeface="Roboto"/>
                        </a:rPr>
                        <a:t>Recontacts per eligible episode</a:t>
                      </a:r>
                    </a:p>
                  </a:txBody>
                  <a:tcPr marL="114300" marR="114300" marT="76200" marB="76200" anchor="ctr">
                    <a:solidFill>
                      <a:srgbClr val="F8FBFD"/>
                    </a:solidFill>
                  </a:tcPr>
                </a:tc>
                <a:tc>
                  <a:txBody>
                    <a:bodyPr/>
                    <a:lstStyle/>
                    <a:p>
                      <a:r>
                        <a:rPr sz="1725">
                          <a:solidFill>
                            <a:srgbClr val="1C2432"/>
                          </a:solidFill>
                          <a:latin typeface="Roboto"/>
                          <a:ea typeface="Roboto"/>
                          <a:cs typeface="Roboto"/>
                        </a:rPr>
                        <a:t>15% fewer if communication is causal</a:t>
                      </a:r>
                    </a:p>
                  </a:txBody>
                  <a:tcPr marL="114300" marR="114300" marT="76200" marB="76200" anchor="ctr">
                    <a:solidFill>
                      <a:srgbClr val="F8FBFD"/>
                    </a:solidFill>
                  </a:tcPr>
                </a:tc>
                <a:extLst>
                  <a:ext uri="{0D108BD9-81ED-4DB2-BD59-A6C34878D82A}">
                    <a16:rowId xmlns:a16="http://schemas.microsoft.com/office/drawing/2014/main" val="10003"/>
                  </a:ext>
                </a:extLst>
              </a:tr>
              <a:tr h="476250">
                <a:tc>
                  <a:txBody>
                    <a:bodyPr/>
                    <a:lstStyle/>
                    <a:p>
                      <a:r>
                        <a:rPr sz="1725">
                          <a:solidFill>
                            <a:srgbClr val="1C2432"/>
                          </a:solidFill>
                          <a:latin typeface="Roboto"/>
                          <a:ea typeface="Roboto"/>
                          <a:cs typeface="Roboto"/>
                        </a:rPr>
                        <a:t>Correct first routing</a:t>
                      </a:r>
                    </a:p>
                  </a:txBody>
                  <a:tcPr marL="114300" marR="114300" marT="76200" marB="76200" anchor="ctr">
                    <a:solidFill>
                      <a:srgbClr val="F8FBFD"/>
                    </a:solidFill>
                  </a:tcPr>
                </a:tc>
                <a:tc>
                  <a:txBody>
                    <a:bodyPr/>
                    <a:lstStyle/>
                    <a:p>
                      <a:r>
                        <a:rPr sz="1725">
                          <a:solidFill>
                            <a:srgbClr val="1C2432"/>
                          </a:solidFill>
                          <a:latin typeface="Roboto"/>
                          <a:ea typeface="Roboto"/>
                          <a:cs typeface="Roboto"/>
                        </a:rPr>
                        <a:t>+10 percentage points if routing is causal</a:t>
                      </a:r>
                    </a:p>
                  </a:txBody>
                  <a:tcPr marL="114300" marR="114300" marT="76200" marB="76200" anchor="ctr">
                    <a:solidFill>
                      <a:srgbClr val="F8FBFD"/>
                    </a:solidFill>
                  </a:tcPr>
                </a:tc>
                <a:extLst>
                  <a:ext uri="{0D108BD9-81ED-4DB2-BD59-A6C34878D82A}">
                    <a16:rowId xmlns:a16="http://schemas.microsoft.com/office/drawing/2014/main" val="10004"/>
                  </a:ext>
                </a:extLst>
              </a:tr>
              <a:tr h="476250">
                <a:tc>
                  <a:txBody>
                    <a:bodyPr/>
                    <a:lstStyle/>
                    <a:p>
                      <a:r>
                        <a:rPr sz="1725">
                          <a:solidFill>
                            <a:srgbClr val="1C2432"/>
                          </a:solidFill>
                          <a:latin typeface="Roboto"/>
                          <a:ea typeface="Roboto"/>
                          <a:cs typeface="Roboto"/>
                        </a:rPr>
                        <a:t>Partner acceptance time</a:t>
                      </a:r>
                    </a:p>
                  </a:txBody>
                  <a:tcPr marL="114300" marR="114300" marT="76200" marB="76200" anchor="ctr">
                    <a:solidFill>
                      <a:srgbClr val="F8FBFD"/>
                    </a:solidFill>
                  </a:tcPr>
                </a:tc>
                <a:tc>
                  <a:txBody>
                    <a:bodyPr/>
                    <a:lstStyle/>
                    <a:p>
                      <a:r>
                        <a:rPr sz="1725">
                          <a:solidFill>
                            <a:srgbClr val="1C2432"/>
                          </a:solidFill>
                          <a:latin typeface="Roboto"/>
                          <a:ea typeface="Roboto"/>
                          <a:cs typeface="Roboto"/>
                        </a:rPr>
                        <a:t>Agree target with baseline and partner</a:t>
                      </a:r>
                    </a:p>
                  </a:txBody>
                  <a:tcPr marL="114300" marR="114300" marT="76200" marB="76200" anchor="ctr">
                    <a:solidFill>
                      <a:srgbClr val="F8FBFD"/>
                    </a:solidFill>
                  </a:tcPr>
                </a:tc>
                <a:extLst>
                  <a:ext uri="{0D108BD9-81ED-4DB2-BD59-A6C34878D82A}">
                    <a16:rowId xmlns:a16="http://schemas.microsoft.com/office/drawing/2014/main" val="10005"/>
                  </a:ext>
                </a:extLst>
              </a:tr>
            </a:tbl>
          </a:graphicData>
        </a:graphic>
      </p:graphicFrame>
      <p:sp>
        <p:nvSpPr>
          <p:cNvPr id="536" name="Evidence qualification">
            <a:extLst>
              <a:ext uri="{FF2B5EF4-FFF2-40B4-BE49-F238E27FC236}">
                <a16:creationId xmlns:a16="http://schemas.microsoft.com/office/drawing/2014/main" id="{0CED7981-3EA9-47A4-885E-BDA7A3C37555}"/>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Adjusted comparison cohort. Retain unresolved outcomes and monitor seven-day reopenings.</a:t>
            </a:r>
          </a:p>
        </p:txBody>
      </p:sp>
      <p:sp>
        <p:nvSpPr>
          <p:cNvPr id="543" name="ConciseSupport_7_4">
            <a:extLst>
              <a:ext uri="{FF2B5EF4-FFF2-40B4-BE49-F238E27FC236}">
                <a16:creationId xmlns:a16="http://schemas.microsoft.com/office/drawing/2014/main" id="{C73B4409-F2D4-42D5-9283-4F8EC5EA1075}"/>
              </a:ext>
            </a:extLst>
          </p:cNvPr>
          <p:cNvSpPr>
            <a:spLocks noGrp="1"/>
          </p:cNvSpPr>
          <p:nvPr/>
        </p:nvSpPr>
        <p:spPr>
          <a:xfrm>
            <a:off x="609600" y="5048250"/>
            <a:ext cx="8096250" cy="485775"/>
          </a:xfrm>
          <a:prstGeom prst="rect">
            <a:avLst/>
          </a:prstGeom>
          <a:noFill/>
          <a:ln w="0">
            <a:noFill/>
          </a:ln>
        </p:spPr>
        <p:txBody>
          <a:bodyPr wrap="square" lIns="0" tIns="0" rIns="0" bIns="0" anchor="t">
            <a:noAutofit/>
          </a:bodyPr>
          <a:lstStyle/>
          <a:p>
            <a:pPr algn="l">
              <a:defRPr sz="1575" b="0">
                <a:solidFill>
                  <a:srgbClr val="59657A"/>
                </a:solidFill>
                <a:latin typeface="Roboto"/>
                <a:ea typeface="Roboto"/>
                <a:cs typeface="Roboto"/>
              </a:defRPr>
            </a:pPr>
            <a:r>
              <a:rPr sz="1575" b="0">
                <a:solidFill>
                  <a:srgbClr val="59657A"/>
                </a:solidFill>
                <a:latin typeface="Roboto"/>
                <a:ea typeface="Roboto"/>
                <a:cs typeface="Roboto"/>
              </a:rPr>
              <a:t>Stable restoration requires a technical retest</a:t>
            </a:r>
          </a:p>
          <a:p>
            <a:pPr algn="l">
              <a:defRPr sz="1575" b="0">
                <a:solidFill>
                  <a:srgbClr val="59657A"/>
                </a:solidFill>
                <a:latin typeface="Roboto"/>
                <a:ea typeface="Roboto"/>
                <a:cs typeface="Roboto"/>
              </a:defRPr>
            </a:pPr>
            <a:r>
              <a:rPr sz="1575" b="0">
                <a:solidFill>
                  <a:srgbClr val="59657A"/>
                </a:solidFill>
                <a:latin typeface="Roboto"/>
                <a:ea typeface="Roboto"/>
                <a:cs typeface="Roboto"/>
              </a:rPr>
              <a:t>and customer confirmation where obtainable.</a:t>
            </a:r>
          </a:p>
        </p:txBody>
      </p:sp>
    </p:spTree>
    <p:extLst>
      <p:ext uri="{BB962C8B-B14F-4D97-AF65-F5344CB8AC3E}">
        <p14:creationId xmlns:p14="http://schemas.microsoft.com/office/powerpoint/2010/main" val="68009257"/>
      </p:ext>
    </p:extLst>
  </p:cSld>
  <p:clrMapOvr>
    <a:masterClrMapping/>
  </p:clrMapOvr>
  <p:transition advClick="0" advTm="2000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0BCC789E-87DC-C416-5298-C7F6E26A9533}"/>
              </a:ext>
            </a:extLst>
          </p:cNvPr>
          <p:cNvSpPr>
            <a:spLocks noGrp="1"/>
          </p:cNvSpPr>
          <p:nvPr>
            <p:ph idx="1"/>
          </p:nvPr>
        </p:nvSpPr>
        <p:spPr>
          <a:xfrm>
            <a:off x="609600" y="3381375"/>
            <a:ext cx="3257550" cy="1143000"/>
          </a:xfrm>
        </p:spPr>
        <p:txBody>
          <a:bodyPr wrap="square" lIns="0" tIns="0" rIns="0" bIns="0" anchor="t">
            <a:noAutofit/>
          </a:bodyPr>
          <a:lstStyle/>
          <a:p>
            <a:pPr marL="0" indent="0" algn="l">
              <a:lnSpc>
                <a:spcPct val="114000"/>
              </a:lnSpc>
              <a:spcBef>
                <a:spcPts val="0"/>
              </a:spcBef>
              <a:spcAft>
                <a:spcPts val="800"/>
              </a:spcAft>
              <a:buNone/>
              <a:defRPr sz="2250" b="0">
                <a:solidFill>
                  <a:srgbClr val="1C2432"/>
                </a:solidFill>
                <a:latin typeface="Roboto"/>
                <a:ea typeface="Roboto"/>
                <a:cs typeface="Roboto"/>
              </a:defRPr>
            </a:pPr>
            <a:r>
              <a:rPr sz="2250" b="0">
                <a:solidFill>
                  <a:srgbClr val="1C2432"/>
                </a:solidFill>
                <a:latin typeface="Roboto"/>
                <a:ea typeface="Roboto"/>
                <a:cs typeface="Roboto"/>
              </a:rPr>
              <a:t>Agreed scope and</a:t>
            </a:r>
          </a:p>
          <a:p>
            <a:pPr marL="0" indent="0" algn="l">
              <a:lnSpc>
                <a:spcPct val="114000"/>
              </a:lnSpc>
              <a:spcBef>
                <a:spcPts val="0"/>
              </a:spcBef>
              <a:spcAft>
                <a:spcPts val="800"/>
              </a:spcAft>
              <a:buNone/>
              <a:defRPr sz="2250" b="0">
                <a:solidFill>
                  <a:srgbClr val="1C2432"/>
                </a:solidFill>
                <a:latin typeface="Roboto"/>
                <a:ea typeface="Roboto"/>
                <a:cs typeface="Roboto"/>
              </a:defRPr>
            </a:pPr>
            <a:r>
              <a:rPr sz="2250" b="0">
                <a:solidFill>
                  <a:srgbClr val="1C2432"/>
                </a:solidFill>
                <a:latin typeface="Roboto"/>
                <a:ea typeface="Roboto"/>
                <a:cs typeface="Roboto"/>
              </a:rPr>
              <a:t>service definitions</a:t>
            </a:r>
          </a:p>
        </p:txBody>
      </p:sp>
      <p:sp>
        <p:nvSpPr>
          <p:cNvPr id="4" name="Slide Number Placeholder 3">
            <a:extLst>
              <a:ext uri="{FF2B5EF4-FFF2-40B4-BE49-F238E27FC236}">
                <a16:creationId xmlns:a16="http://schemas.microsoft.com/office/drawing/2014/main" id="{6BBF0163-E4B1-61D1-776D-45470B16F0F4}"/>
              </a:ext>
            </a:extLst>
          </p:cNvPr>
          <p:cNvSpPr>
            <a:spLocks noGrp="1"/>
          </p:cNvSpPr>
          <p:nvPr>
            <p:ph type="sldNum" idx="4"/>
          </p:nvPr>
        </p:nvSpPr>
        <p:spPr>
          <a:xfrm>
            <a:off x="8705850" y="6486525"/>
            <a:ext cx="361950" cy="190500"/>
          </a:xfrm>
        </p:spPr>
        <p:txBody>
          <a:bodyPr wrap="square" lIns="0" tIns="0" rIns="0" bIns="0" anchor="t">
            <a:noAutofit/>
          </a:bodyPr>
          <a:lstStyle/>
          <a:p>
            <a:pPr algn="l">
              <a:defRPr sz="1050" b="0">
                <a:solidFill>
                  <a:srgbClr val="59657A"/>
                </a:solidFill>
                <a:latin typeface="Roboto"/>
                <a:ea typeface="Roboto"/>
                <a:cs typeface="Roboto"/>
              </a:defRPr>
            </a:pPr>
            <a:fld id="{BA58DA2A-B818-18A9-29C1-B697728D5BCE}" type="slidenum">
              <a:rPr sz="1050" b="0">
                <a:solidFill>
                  <a:srgbClr val="59657A"/>
                </a:solidFill>
                <a:latin typeface="Roboto"/>
                <a:ea typeface="Roboto"/>
                <a:cs typeface="Roboto"/>
              </a:rPr>
              <a:t>8</a:t>
            </a:fld>
            <a:endParaRPr sz="1100"/>
          </a:p>
        </p:txBody>
      </p:sp>
      <p:sp>
        <p:nvSpPr>
          <p:cNvPr id="11" name="Title 10">
            <a:extLst>
              <a:ext uri="{FF2B5EF4-FFF2-40B4-BE49-F238E27FC236}">
                <a16:creationId xmlns:a16="http://schemas.microsoft.com/office/drawing/2014/main" id="{9759E2FE-9F02-E1B4-EBBC-AA8624ACC339}"/>
              </a:ext>
            </a:extLst>
          </p:cNvPr>
          <p:cNvSpPr>
            <a:spLocks noGrp="1"/>
          </p:cNvSpPr>
          <p:nvPr>
            <p:ph type="title"/>
          </p:nvPr>
        </p:nvSpPr>
        <p:spPr>
          <a:xfrm>
            <a:off x="400050" y="323850"/>
            <a:ext cx="11239500" cy="904875"/>
          </a:xfrm>
        </p:spPr>
        <p:txBody>
          <a:bodyPr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What Spark receives after six weeks</a:t>
            </a:r>
          </a:p>
        </p:txBody>
      </p:sp>
      <p:sp>
        <p:nvSpPr>
          <p:cNvPr id="17" name="Text Placeholder 16">
            <a:extLst>
              <a:ext uri="{FF2B5EF4-FFF2-40B4-BE49-F238E27FC236}">
                <a16:creationId xmlns:a16="http://schemas.microsoft.com/office/drawing/2014/main" id="{986AEEE5-7F7B-65AD-1D88-9157CF0514D8}"/>
              </a:ext>
            </a:extLst>
          </p:cNvPr>
          <p:cNvSpPr>
            <a:spLocks noGrp="1"/>
          </p:cNvSpPr>
          <p:nvPr>
            <p:ph type="body" idx="12"/>
          </p:nvPr>
        </p:nvSpPr>
        <p:spPr>
          <a:xfrm>
            <a:off x="4229100" y="3381375"/>
            <a:ext cx="3257550" cy="1143000"/>
          </a:xfrm>
        </p:spPr>
        <p:txBody>
          <a:bodyPr wrap="square" lIns="0" tIns="0" rIns="0" bIns="0" anchor="t">
            <a:noAutofit/>
          </a:bodyPr>
          <a:lstStyle/>
          <a:p>
            <a:pPr marL="0" marR="0" lvl="0" indent="0" algn="l">
              <a:lnSpc>
                <a:spcPct val="114000"/>
              </a:lnSpc>
              <a:spcBef>
                <a:spcPts val="0"/>
              </a:spcBef>
              <a:spcAft>
                <a:spcPts val="800"/>
              </a:spcAft>
              <a:buClrTx/>
              <a:buSzTx/>
              <a:buNone/>
              <a:defRPr sz="2250" b="0">
                <a:solidFill>
                  <a:srgbClr val="1C2432"/>
                </a:solidFill>
                <a:latin typeface="Roboto"/>
                <a:ea typeface="Roboto"/>
                <a:cs typeface="Roboto"/>
              </a:defRPr>
            </a:pPr>
            <a:r>
              <a:rPr sz="2250" b="0">
                <a:solidFill>
                  <a:srgbClr val="1C2432"/>
                </a:solidFill>
                <a:latin typeface="Roboto"/>
                <a:ea typeface="Roboto"/>
                <a:cs typeface="Roboto"/>
              </a:rPr>
              <a:t>Baseline and evidence</a:t>
            </a:r>
          </a:p>
          <a:p>
            <a:pPr marL="0" marR="0" lvl="0" indent="0" algn="l">
              <a:lnSpc>
                <a:spcPct val="114000"/>
              </a:lnSpc>
              <a:spcBef>
                <a:spcPts val="0"/>
              </a:spcBef>
              <a:spcAft>
                <a:spcPts val="800"/>
              </a:spcAft>
              <a:buClrTx/>
              <a:buSzTx/>
              <a:buNone/>
              <a:defRPr sz="2250" b="0">
                <a:solidFill>
                  <a:srgbClr val="1C2432"/>
                </a:solidFill>
                <a:latin typeface="Roboto"/>
                <a:ea typeface="Roboto"/>
                <a:cs typeface="Roboto"/>
              </a:defRPr>
            </a:pPr>
            <a:r>
              <a:rPr sz="2250" b="0">
                <a:solidFill>
                  <a:srgbClr val="1C2432"/>
                </a:solidFill>
                <a:latin typeface="Roboto"/>
                <a:ea typeface="Roboto"/>
                <a:cs typeface="Roboto"/>
              </a:rPr>
              <a:t>for competing causes</a:t>
            </a:r>
          </a:p>
        </p:txBody>
      </p:sp>
      <p:sp>
        <p:nvSpPr>
          <p:cNvPr id="18" name="Content Placeholder 17">
            <a:extLst>
              <a:ext uri="{FF2B5EF4-FFF2-40B4-BE49-F238E27FC236}">
                <a16:creationId xmlns:a16="http://schemas.microsoft.com/office/drawing/2014/main" id="{B32A8A18-E9FA-02B4-6667-53C019EC43C0}"/>
              </a:ext>
            </a:extLst>
          </p:cNvPr>
          <p:cNvSpPr>
            <a:spLocks noGrp="1"/>
          </p:cNvSpPr>
          <p:nvPr>
            <p:ph idx="13"/>
          </p:nvPr>
        </p:nvSpPr>
        <p:spPr>
          <a:xfrm>
            <a:off x="7848600" y="3381375"/>
            <a:ext cx="3257550" cy="1143000"/>
          </a:xfrm>
        </p:spPr>
        <p:txBody>
          <a:bodyPr wrap="square" lIns="0" tIns="0" rIns="0" bIns="0" anchor="t">
            <a:noAutofit/>
          </a:bodyPr>
          <a:lstStyle/>
          <a:p>
            <a:pPr marL="0" marR="0" lvl="0" indent="0" algn="l">
              <a:lnSpc>
                <a:spcPct val="114000"/>
              </a:lnSpc>
              <a:spcBef>
                <a:spcPts val="0"/>
              </a:spcBef>
              <a:spcAft>
                <a:spcPts val="800"/>
              </a:spcAft>
              <a:buClrTx/>
              <a:buSzTx/>
              <a:buNone/>
              <a:defRPr sz="2250" b="0">
                <a:solidFill>
                  <a:srgbClr val="1C2432"/>
                </a:solidFill>
                <a:latin typeface="Roboto"/>
                <a:ea typeface="Roboto"/>
                <a:cs typeface="Roboto"/>
              </a:defRPr>
            </a:pPr>
            <a:r>
              <a:rPr sz="2250" b="0">
                <a:solidFill>
                  <a:srgbClr val="1C2432"/>
                </a:solidFill>
                <a:latin typeface="Roboto"/>
                <a:ea typeface="Roboto"/>
                <a:cs typeface="Roboto"/>
              </a:rPr>
              <a:t>Costed options and</a:t>
            </a:r>
          </a:p>
          <a:p>
            <a:pPr marL="0" marR="0" lvl="0" indent="0" algn="l">
              <a:lnSpc>
                <a:spcPct val="114000"/>
              </a:lnSpc>
              <a:spcBef>
                <a:spcPts val="0"/>
              </a:spcBef>
              <a:spcAft>
                <a:spcPts val="800"/>
              </a:spcAft>
              <a:buClrTx/>
              <a:buSzTx/>
              <a:buNone/>
              <a:defRPr sz="2250" b="0">
                <a:solidFill>
                  <a:srgbClr val="1C2432"/>
                </a:solidFill>
                <a:latin typeface="Roboto"/>
                <a:ea typeface="Roboto"/>
                <a:cs typeface="Roboto"/>
              </a:defRPr>
            </a:pPr>
            <a:r>
              <a:rPr sz="2250" b="0">
                <a:solidFill>
                  <a:srgbClr val="1C2432"/>
                </a:solidFill>
                <a:latin typeface="Roboto"/>
                <a:ea typeface="Roboto"/>
                <a:cs typeface="Roboto"/>
              </a:rPr>
              <a:t>a funding recommendation</a:t>
            </a:r>
          </a:p>
        </p:txBody>
      </p:sp>
      <p:cxnSp>
        <p:nvCxnSpPr>
          <p:cNvPr id="26" name="Google Shape;2259;p159"/>
          <p:cNvCxnSpPr>
            <a:stCxn id="3" idx="2"/>
          </p:cNvCxnSpPr>
          <p:nvPr/>
        </p:nvCxnSpPr>
        <p:spPr>
          <a:xfrm>
            <a:off x="609600" y="2914650"/>
            <a:ext cx="10858500" cy="9525"/>
          </a:xfrm>
          <a:prstGeom prst="straightConnector1">
            <a:avLst/>
          </a:prstGeom>
          <a:ln w="9525" cap="flat">
            <a:solidFill>
              <a:schemeClr val="accent1"/>
            </a:solidFill>
            <a:prstDash val="solid"/>
            <a:round/>
            <a:headEnd type="none" w="med" len="med"/>
            <a:tailEnd type="none" w="med" len="med"/>
          </a:ln>
        </p:spPr>
      </p:cxnSp>
      <p:sp>
        <p:nvSpPr>
          <p:cNvPr id="3" name="Google Shape;2260;p159">
            <a:extLst>
              <a:ext uri="{FF2B5EF4-FFF2-40B4-BE49-F238E27FC236}">
                <a16:creationId xmlns:a16="http://schemas.microsoft.com/office/drawing/2014/main" id="{39A86B1D-EA5D-3FA6-7D83-8F21D70E330E}"/>
              </a:ext>
            </a:extLst>
          </p:cNvPr>
          <p:cNvSpPr>
            <a:spLocks noGrp="1"/>
          </p:cNvSpPr>
          <p:nvPr/>
        </p:nvSpPr>
        <p:spPr>
          <a:xfrm>
            <a:off x="609600" y="2857500"/>
            <a:ext cx="114300" cy="114300"/>
          </a:xfrm>
          <a:prstGeom prst="ellipse">
            <a:avLst/>
          </a:prstGeom>
          <a:solidFill>
            <a:schemeClr val="accent1"/>
          </a:solidFill>
          <a:ln>
            <a:noFill/>
          </a:ln>
        </p:spPr>
        <p:txBody>
          <a:bodyPr spcFirstLastPara="1" wrap="square" lIns="91425" tIns="91425" rIns="91425" bIns="91425" anchor="ctr">
            <a:noAutofit/>
          </a:bodyPr>
          <a:lstStyle/>
          <a:p>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a:ext uri="{FF2B5EF4-FFF2-40B4-BE49-F238E27FC236}">
                <a16:creationId xmlns:a16="http://schemas.microsoft.com/office/drawing/2014/main" id="{A1013DAF-A2C3-BC42-73D5-9D8AB55DCA94}"/>
              </a:ext>
            </a:extLst>
          </p:cNvPr>
          <p:cNvSpPr>
            <a:spLocks noGrp="1"/>
          </p:cNvSpPr>
          <p:nvPr/>
        </p:nvSpPr>
        <p:spPr>
          <a:xfrm>
            <a:off x="4229100" y="2857500"/>
            <a:ext cx="114300" cy="114300"/>
          </a:xfrm>
          <a:prstGeom prst="ellipse">
            <a:avLst/>
          </a:prstGeom>
          <a:solidFill>
            <a:schemeClr val="accent1"/>
          </a:solidFill>
          <a:ln>
            <a:noFill/>
          </a:ln>
        </p:spPr>
        <p:txBody>
          <a:bodyPr spcFirstLastPara="1" wrap="square" lIns="91425" tIns="91425" rIns="91425" bIns="91425" anchor="ctr">
            <a:noAutofit/>
          </a:bodyPr>
          <a:lstStyle/>
          <a:p>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a:ext uri="{FF2B5EF4-FFF2-40B4-BE49-F238E27FC236}">
                <a16:creationId xmlns:a16="http://schemas.microsoft.com/office/drawing/2014/main" id="{4654A74A-2C40-A8C6-E9F9-43C58A3ADE20}"/>
              </a:ext>
            </a:extLst>
          </p:cNvPr>
          <p:cNvSpPr>
            <a:spLocks noGrp="1"/>
          </p:cNvSpPr>
          <p:nvPr/>
        </p:nvSpPr>
        <p:spPr>
          <a:xfrm>
            <a:off x="7848600" y="2857500"/>
            <a:ext cx="114300" cy="114300"/>
          </a:xfrm>
          <a:prstGeom prst="ellipse">
            <a:avLst/>
          </a:prstGeom>
          <a:solidFill>
            <a:schemeClr val="accent1"/>
          </a:solidFill>
          <a:ln>
            <a:noFill/>
          </a:ln>
        </p:spPr>
        <p:txBody>
          <a:bodyPr spcFirstLastPara="1" wrap="square" lIns="91425" tIns="91425" rIns="91425" bIns="91425" anchor="ctr">
            <a:noAutofit/>
          </a:bodyPr>
          <a:lstStyle/>
          <a:p>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a:ext uri="{FF2B5EF4-FFF2-40B4-BE49-F238E27FC236}">
                <a16:creationId xmlns:a16="http://schemas.microsoft.com/office/drawing/2014/main" id="{76C75857-E8EA-1B37-0464-3C7048D7FBEB}"/>
              </a:ext>
            </a:extLst>
          </p:cNvPr>
          <p:cNvSpPr>
            <a:spLocks noGrp="1"/>
          </p:cNvSpPr>
          <p:nvPr/>
        </p:nvSpPr>
        <p:spPr>
          <a:xfrm>
            <a:off x="609600" y="2305050"/>
            <a:ext cx="3257550" cy="419100"/>
          </a:xfrm>
          <a:prstGeom prst="rect">
            <a:avLst/>
          </a:prstGeom>
        </p:spPr>
        <p:txBody>
          <a:bodyPr vert="horz" wrap="square" lIns="0" tIns="0" rIns="0" bIns="0" anchor="t">
            <a:noAutofit/>
          </a:bodyPr>
          <a:lstStyle>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lnSpc>
                <a:spcPct val="114000"/>
              </a:lnSpc>
              <a:spcBef>
                <a:spcPts val="0"/>
              </a:spcBef>
              <a:spcAft>
                <a:spcPts val="800"/>
              </a:spcAft>
              <a:buNone/>
              <a:defRPr sz="2250" b="1">
                <a:solidFill>
                  <a:srgbClr val="355CC9"/>
                </a:solidFill>
                <a:latin typeface="Roboto"/>
                <a:ea typeface="Roboto"/>
                <a:cs typeface="Roboto"/>
              </a:defRPr>
            </a:pPr>
            <a:r>
              <a:rPr sz="2250" b="1">
                <a:solidFill>
                  <a:srgbClr val="355CC9"/>
                </a:solidFill>
                <a:latin typeface="Roboto"/>
                <a:ea typeface="Roboto"/>
                <a:cs typeface="Roboto"/>
              </a:rPr>
              <a:t>Weeks 1–2</a:t>
            </a:r>
          </a:p>
        </p:txBody>
      </p:sp>
      <p:sp>
        <p:nvSpPr>
          <p:cNvPr id="13" name="Content Placeholder 15">
            <a:extLst>
              <a:ext uri="{FF2B5EF4-FFF2-40B4-BE49-F238E27FC236}">
                <a16:creationId xmlns:a16="http://schemas.microsoft.com/office/drawing/2014/main" id="{76AEECBA-C292-6302-8A8E-7EB14A54E420}"/>
              </a:ext>
            </a:extLst>
          </p:cNvPr>
          <p:cNvSpPr>
            <a:spLocks noGrp="1"/>
          </p:cNvSpPr>
          <p:nvPr/>
        </p:nvSpPr>
        <p:spPr>
          <a:xfrm>
            <a:off x="4229100" y="2305050"/>
            <a:ext cx="3257550" cy="419100"/>
          </a:xfrm>
          <a:prstGeom prst="rect">
            <a:avLst/>
          </a:prstGeom>
        </p:spPr>
        <p:txBody>
          <a:bodyPr vert="horz" wrap="square" lIns="0" tIns="0" rIns="0" bIns="0" anchor="t">
            <a:noAutofit/>
          </a:bodyPr>
          <a:lstStyle>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lnSpc>
                <a:spcPct val="114000"/>
              </a:lnSpc>
              <a:spcBef>
                <a:spcPts val="0"/>
              </a:spcBef>
              <a:spcAft>
                <a:spcPts val="800"/>
              </a:spcAft>
              <a:buNone/>
              <a:defRPr sz="2250" b="1">
                <a:solidFill>
                  <a:srgbClr val="355CC9"/>
                </a:solidFill>
                <a:latin typeface="Roboto"/>
                <a:ea typeface="Roboto"/>
                <a:cs typeface="Roboto"/>
              </a:defRPr>
            </a:pPr>
            <a:r>
              <a:rPr sz="2250" b="1">
                <a:solidFill>
                  <a:srgbClr val="355CC9"/>
                </a:solidFill>
                <a:latin typeface="Roboto"/>
                <a:ea typeface="Roboto"/>
                <a:cs typeface="Roboto"/>
              </a:rPr>
              <a:t>Weeks 2–4</a:t>
            </a:r>
          </a:p>
        </p:txBody>
      </p:sp>
      <p:sp>
        <p:nvSpPr>
          <p:cNvPr id="14" name="Content Placeholder 15">
            <a:extLst>
              <a:ext uri="{FF2B5EF4-FFF2-40B4-BE49-F238E27FC236}">
                <a16:creationId xmlns:a16="http://schemas.microsoft.com/office/drawing/2014/main" id="{95982BB0-2387-9BAA-9F14-F45500C04700}"/>
              </a:ext>
            </a:extLst>
          </p:cNvPr>
          <p:cNvSpPr>
            <a:spLocks noGrp="1"/>
          </p:cNvSpPr>
          <p:nvPr/>
        </p:nvSpPr>
        <p:spPr>
          <a:xfrm>
            <a:off x="7848600" y="2305050"/>
            <a:ext cx="3257550" cy="419100"/>
          </a:xfrm>
          <a:prstGeom prst="rect">
            <a:avLst/>
          </a:prstGeom>
        </p:spPr>
        <p:txBody>
          <a:bodyPr vert="horz" wrap="square" lIns="0" tIns="0" rIns="0" bIns="0" anchor="t">
            <a:noAutofit/>
          </a:bodyPr>
          <a:lstStyle>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lnSpc>
                <a:spcPct val="114000"/>
              </a:lnSpc>
              <a:spcBef>
                <a:spcPts val="0"/>
              </a:spcBef>
              <a:spcAft>
                <a:spcPts val="800"/>
              </a:spcAft>
              <a:buNone/>
              <a:defRPr sz="2250" b="1">
                <a:solidFill>
                  <a:srgbClr val="355CC9"/>
                </a:solidFill>
                <a:latin typeface="Roboto"/>
                <a:ea typeface="Roboto"/>
                <a:cs typeface="Roboto"/>
              </a:defRPr>
            </a:pPr>
            <a:r>
              <a:rPr sz="2250" b="1">
                <a:solidFill>
                  <a:srgbClr val="355CC9"/>
                </a:solidFill>
                <a:latin typeface="Roboto"/>
                <a:ea typeface="Roboto"/>
                <a:cs typeface="Roboto"/>
              </a:rPr>
              <a:t>Weeks 5–6</a:t>
            </a:r>
          </a:p>
        </p:txBody>
      </p:sp>
      <p:sp>
        <p:nvSpPr>
          <p:cNvPr id="19" name="Text">
            <a:extLst>
              <a:ext uri="{FF2B5EF4-FFF2-40B4-BE49-F238E27FC236}">
                <a16:creationId xmlns:a16="http://schemas.microsoft.com/office/drawing/2014/main" id="{594204D1-F2E4-43E0-A8B2-33BFF65D6B87}"/>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Evidence for a revised scope or a decision to stop</a:t>
            </a:r>
          </a:p>
        </p:txBody>
      </p:sp>
      <p:sp>
        <p:nvSpPr>
          <p:cNvPr id="20" name="Evidence qualification">
            <a:extLst>
              <a:ext uri="{FF2B5EF4-FFF2-40B4-BE49-F238E27FC236}">
                <a16:creationId xmlns:a16="http://schemas.microsoft.com/office/drawing/2014/main" id="{F9CEFE5A-38AA-4F02-BE44-498E102D16FB}"/>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G1: supported mechanism and affordable design, or stop. Proposed record-readiness threshold: ≥90%.</a:t>
            </a:r>
          </a:p>
        </p:txBody>
      </p:sp>
      <p:sp>
        <p:nvSpPr>
          <p:cNvPr id="27" name="DetailV2_8_5">
            <a:extLst>
              <a:ext uri="{FF2B5EF4-FFF2-40B4-BE49-F238E27FC236}">
                <a16:creationId xmlns:a16="http://schemas.microsoft.com/office/drawing/2014/main" id="{2C17D9E2-351B-4C14-9C3E-0FB1AF0392BD}"/>
              </a:ext>
            </a:extLst>
          </p:cNvPr>
          <p:cNvSpPr>
            <a:spLocks noGrp="1"/>
          </p:cNvSpPr>
          <p:nvPr/>
        </p:nvSpPr>
        <p:spPr>
          <a:xfrm>
            <a:off x="609600" y="4762500"/>
            <a:ext cx="3257550" cy="466725"/>
          </a:xfrm>
          <a:prstGeom prst="rect">
            <a:avLst/>
          </a:prstGeom>
          <a:noFill/>
          <a:ln w="0">
            <a:noFill/>
          </a:ln>
        </p:spPr>
        <p:txBody>
          <a:bodyPr wrap="square" lIns="0" tIns="0" rIns="0" bIns="0" anchor="t">
            <a:noAutofit/>
          </a:bodyPr>
          <a:lstStyle/>
          <a:p>
            <a:pPr algn="l">
              <a:defRPr sz="1575" b="0">
                <a:solidFill>
                  <a:srgbClr val="59657A"/>
                </a:solidFill>
                <a:latin typeface="Roboto"/>
                <a:ea typeface="Roboto"/>
                <a:cs typeface="Roboto"/>
              </a:defRPr>
            </a:pPr>
            <a:r>
              <a:rPr sz="1575" b="0">
                <a:solidFill>
                  <a:srgbClr val="59657A"/>
                </a:solidFill>
                <a:latin typeface="Roboto"/>
                <a:ea typeface="Roboto"/>
                <a:cs typeface="Roboto"/>
              </a:rPr>
              <a:t>Approved data request</a:t>
            </a:r>
          </a:p>
          <a:p>
            <a:pPr algn="l">
              <a:defRPr sz="1575" b="0">
                <a:solidFill>
                  <a:srgbClr val="59657A"/>
                </a:solidFill>
                <a:latin typeface="Roboto"/>
                <a:ea typeface="Roboto"/>
                <a:cs typeface="Roboto"/>
              </a:defRPr>
            </a:pPr>
            <a:r>
              <a:rPr sz="1575" b="0">
                <a:solidFill>
                  <a:srgbClr val="59657A"/>
                </a:solidFill>
                <a:latin typeface="Roboto"/>
                <a:ea typeface="Roboto"/>
                <a:cs typeface="Roboto"/>
              </a:rPr>
              <a:t>Common restoration rule</a:t>
            </a:r>
          </a:p>
        </p:txBody>
      </p:sp>
      <p:sp>
        <p:nvSpPr>
          <p:cNvPr id="28" name="ConciseSupport_8_5">
            <a:extLst>
              <a:ext uri="{FF2B5EF4-FFF2-40B4-BE49-F238E27FC236}">
                <a16:creationId xmlns:a16="http://schemas.microsoft.com/office/drawing/2014/main" id="{1D6EA161-C072-4638-903C-174B6BECA270}"/>
              </a:ext>
            </a:extLst>
          </p:cNvPr>
          <p:cNvSpPr>
            <a:spLocks noGrp="1"/>
          </p:cNvSpPr>
          <p:nvPr/>
        </p:nvSpPr>
        <p:spPr>
          <a:xfrm>
            <a:off x="4229100" y="4629150"/>
            <a:ext cx="3257550" cy="733425"/>
          </a:xfrm>
          <a:prstGeom prst="rect">
            <a:avLst/>
          </a:prstGeom>
          <a:noFill/>
          <a:ln w="0">
            <a:noFill/>
          </a:ln>
        </p:spPr>
        <p:txBody>
          <a:bodyPr wrap="square" lIns="0" tIns="0" rIns="0" bIns="0" anchor="t">
            <a:noAutofit/>
          </a:bodyPr>
          <a:lstStyle/>
          <a:p>
            <a:pPr algn="l">
              <a:defRPr sz="1500" b="0">
                <a:solidFill>
                  <a:srgbClr val="59657A"/>
                </a:solidFill>
                <a:latin typeface="Roboto"/>
                <a:ea typeface="Roboto"/>
                <a:cs typeface="Roboto"/>
              </a:defRPr>
            </a:pPr>
            <a:r>
              <a:rPr sz="1500" b="0">
                <a:solidFill>
                  <a:srgbClr val="59657A"/>
                </a:solidFill>
                <a:latin typeface="Roboto"/>
                <a:ea typeface="Roboto"/>
                <a:cs typeface="Roboto"/>
              </a:rPr>
              <a:t>Recent 8–12 week sample</a:t>
            </a:r>
          </a:p>
          <a:p>
            <a:pPr algn="l">
              <a:defRPr sz="1500" b="0">
                <a:solidFill>
                  <a:srgbClr val="59657A"/>
                </a:solidFill>
                <a:latin typeface="Roboto"/>
                <a:ea typeface="Roboto"/>
                <a:cs typeface="Roboto"/>
              </a:defRPr>
            </a:pPr>
            <a:r>
              <a:rPr sz="1500" b="0">
                <a:solidFill>
                  <a:srgbClr val="59657A"/>
                </a:solidFill>
                <a:latin typeface="Roboto"/>
                <a:ea typeface="Roboto"/>
                <a:cs typeface="Roboto"/>
              </a:rPr>
              <a:t>Completed and unresolved cases</a:t>
            </a:r>
          </a:p>
          <a:p>
            <a:pPr algn="l">
              <a:defRPr sz="1500" b="0">
                <a:solidFill>
                  <a:srgbClr val="59657A"/>
                </a:solidFill>
                <a:latin typeface="Roboto"/>
                <a:ea typeface="Roboto"/>
                <a:cs typeface="Roboto"/>
              </a:defRPr>
            </a:pPr>
            <a:r>
              <a:rPr sz="1500" b="0">
                <a:solidFill>
                  <a:srgbClr val="59657A"/>
                </a:solidFill>
                <a:latin typeface="Roboto"/>
                <a:ea typeface="Roboto"/>
                <a:cs typeface="Roboto"/>
              </a:rPr>
              <a:t>Case reviews and staff interviews</a:t>
            </a:r>
          </a:p>
        </p:txBody>
      </p:sp>
      <p:sp>
        <p:nvSpPr>
          <p:cNvPr id="29" name="DetailV2_8_7">
            <a:extLst>
              <a:ext uri="{FF2B5EF4-FFF2-40B4-BE49-F238E27FC236}">
                <a16:creationId xmlns:a16="http://schemas.microsoft.com/office/drawing/2014/main" id="{A2007E98-1400-4A03-BBE7-B7A4BA082E0B}"/>
              </a:ext>
            </a:extLst>
          </p:cNvPr>
          <p:cNvSpPr>
            <a:spLocks noGrp="1"/>
          </p:cNvSpPr>
          <p:nvPr/>
        </p:nvSpPr>
        <p:spPr>
          <a:xfrm>
            <a:off x="7848600" y="4762500"/>
            <a:ext cx="3257550" cy="466725"/>
          </a:xfrm>
          <a:prstGeom prst="rect">
            <a:avLst/>
          </a:prstGeom>
          <a:noFill/>
          <a:ln w="0">
            <a:noFill/>
          </a:ln>
        </p:spPr>
        <p:txBody>
          <a:bodyPr wrap="square" lIns="0" tIns="0" rIns="0" bIns="0" anchor="t">
            <a:noAutofit/>
          </a:bodyPr>
          <a:lstStyle/>
          <a:p>
            <a:pPr algn="l">
              <a:defRPr sz="1575" b="0">
                <a:solidFill>
                  <a:srgbClr val="59657A"/>
                </a:solidFill>
                <a:latin typeface="Roboto"/>
                <a:ea typeface="Roboto"/>
                <a:cs typeface="Roboto"/>
              </a:defRPr>
            </a:pPr>
            <a:r>
              <a:rPr sz="1575" b="0">
                <a:solidFill>
                  <a:srgbClr val="59657A"/>
                </a:solidFill>
                <a:latin typeface="Roboto"/>
                <a:ea typeface="Roboto"/>
                <a:cs typeface="Roboto"/>
              </a:rPr>
              <a:t>Revised costs and options</a:t>
            </a:r>
          </a:p>
          <a:p>
            <a:pPr algn="l">
              <a:defRPr sz="1575" b="0">
                <a:solidFill>
                  <a:srgbClr val="59657A"/>
                </a:solidFill>
                <a:latin typeface="Roboto"/>
                <a:ea typeface="Roboto"/>
                <a:cs typeface="Roboto"/>
              </a:defRPr>
            </a:pPr>
            <a:r>
              <a:rPr sz="1575" b="0">
                <a:solidFill>
                  <a:srgbClr val="59657A"/>
                </a:solidFill>
                <a:latin typeface="Roboto"/>
                <a:ea typeface="Roboto"/>
                <a:cs typeface="Roboto"/>
              </a:rPr>
              <a:t>Feasible pilot sample</a:t>
            </a:r>
          </a:p>
        </p:txBody>
      </p:sp>
    </p:spTree>
    <p:extLst>
      <p:ext uri="{BB962C8B-B14F-4D97-AF65-F5344CB8AC3E}">
        <p14:creationId xmlns:p14="http://schemas.microsoft.com/office/powerpoint/2010/main" val="115156367"/>
      </p:ext>
    </p:extLst>
  </p:cSld>
  <p:clrMapOvr>
    <a:masterClrMapping/>
  </p:clrMapOvr>
  <p:transition advClick="0" advTm="2000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a:spLocks noGrp="1"/>
          </p:cNvSpPr>
          <p:nvPr>
            <p:ph idx="1"/>
          </p:nvPr>
        </p:nvSpPr>
        <p:spPr>
          <a:xfrm>
            <a:off x="393700" y="2192694"/>
            <a:ext cx="5537200" cy="3801706"/>
          </a:xfrm>
          <a:prstGeom prst="rect">
            <a:avLst/>
          </a:prstGeom>
        </p:spPr>
        <p:txBody>
          <a:bodyPr spcFirstLastPara="1" vert="horz" wrap="square" lIns="0" tIns="0" rIns="0" bIns="0" anchor="t">
            <a:noAutofit/>
          </a:bodyPr>
          <a:lstStyle/>
          <a:p>
            <a:pPr marL="0" indent="0">
              <a:lnSpc>
                <a:spcPct val="114000"/>
              </a:lnSpc>
              <a:spcBef>
                <a:spcPts val="0"/>
              </a:spcBef>
              <a:spcAft>
                <a:spcPts val="800"/>
              </a:spcAft>
              <a:buNone/>
            </a:pPr>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388657AE-30A1-5A7A-6A7F-315D84436430}" type="slidenum">
              <a:rPr sz="1050" b="0">
                <a:solidFill>
                  <a:srgbClr val="59657A"/>
                </a:solidFill>
                <a:latin typeface="Roboto"/>
                <a:ea typeface="Roboto"/>
                <a:cs typeface="Roboto"/>
              </a:rPr>
              <a:t>9</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Conditional P1 and the intended service benefit</a:t>
            </a:r>
          </a:p>
        </p:txBody>
      </p:sp>
      <p:sp>
        <p:nvSpPr>
          <p:cNvPr id="2" name="Google Shape;534;p58">
            <a:extLst>
              <a:ext uri="{FF2B5EF4-FFF2-40B4-BE49-F238E27FC236}">
                <a16:creationId xmlns:a16="http://schemas.microsoft.com/office/drawing/2014/main" id="{A4A94F3C-B1B2-7289-7098-7C66C8A291D6}"/>
              </a:ext>
            </a:extLst>
          </p:cNvPr>
          <p:cNvSpPr>
            <a:spLocks noGrp="1"/>
          </p:cNvSpPr>
          <p:nvPr/>
        </p:nvSpPr>
        <p:spPr>
          <a:xfrm>
            <a:off x="6265111" y="2192694"/>
            <a:ext cx="5537200" cy="3801706"/>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3" name="Google Shape;534;p58">
            <a:extLst>
              <a:ext uri="{FF2B5EF4-FFF2-40B4-BE49-F238E27FC236}">
                <a16:creationId xmlns:a16="http://schemas.microsoft.com/office/drawing/2014/main" id="{FD46BF2A-8122-2E0A-E8CC-886653CF64DA}"/>
              </a:ext>
            </a:extLst>
          </p:cNvPr>
          <p:cNvSpPr>
            <a:spLocks noGrp="1"/>
          </p:cNvSpPr>
          <p:nvPr/>
        </p:nvSpPr>
        <p:spPr>
          <a:xfrm>
            <a:off x="393700" y="1310936"/>
            <a:ext cx="5537200" cy="719318"/>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5" name="Text">
            <a:extLst>
              <a:ext uri="{FF2B5EF4-FFF2-40B4-BE49-F238E27FC236}">
                <a16:creationId xmlns:a16="http://schemas.microsoft.com/office/drawing/2014/main" id="{99110416-BD9E-486F-9DFB-47A9D21D111D}"/>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Named acceptance if handoff ownership is causal</a:t>
            </a:r>
          </a:p>
        </p:txBody>
      </p:sp>
      <p:pic>
        <p:nvPicPr>
          <p:cNvPr id="547" name="Picture 546"/>
          <p:cNvPicPr>
            <a:picLocks noChangeAspect="1"/>
          </p:cNvPicPr>
          <p:nvPr/>
        </p:nvPicPr>
        <p:blipFill>
          <a:blip r:embed="rId3"/>
          <a:stretch/>
        </p:blipFill>
        <p:spPr>
          <a:xfrm>
            <a:off x="514350" y="2053530"/>
            <a:ext cx="8191500" cy="2636639"/>
          </a:xfrm>
          <a:prstGeom prst="rect">
            <a:avLst/>
          </a:prstGeom>
        </p:spPr>
      </p:pic>
      <p:sp>
        <p:nvSpPr>
          <p:cNvPr id="537" name="Text">
            <a:extLst>
              <a:ext uri="{FF2B5EF4-FFF2-40B4-BE49-F238E27FC236}">
                <a16:creationId xmlns:a16="http://schemas.microsoft.com/office/drawing/2014/main" id="{8A4121FD-1D75-48E3-8132-D6F982F4D0AD}"/>
              </a:ext>
            </a:extLst>
          </p:cNvPr>
          <p:cNvSpPr>
            <a:spLocks noGrp="1"/>
          </p:cNvSpPr>
          <p:nvPr/>
        </p:nvSpPr>
        <p:spPr>
          <a:xfrm>
            <a:off x="8953500" y="2057400"/>
            <a:ext cx="2714625" cy="2238375"/>
          </a:xfrm>
          <a:prstGeom prst="rect">
            <a:avLst/>
          </a:prstGeom>
          <a:noFill/>
          <a:ln w="0">
            <a:noFill/>
          </a:ln>
        </p:spPr>
        <p:txBody>
          <a:bodyPr wrap="square" lIns="0" tIns="0" rIns="0" bIns="0" anchor="t">
            <a:noAutofit/>
          </a:bodyPr>
          <a:lstStyle/>
          <a:p>
            <a:pPr algn="l">
              <a:defRPr sz="1875" b="0">
                <a:solidFill>
                  <a:srgbClr val="355CC9"/>
                </a:solidFill>
                <a:latin typeface="Roboto"/>
                <a:ea typeface="Roboto"/>
                <a:cs typeface="Roboto"/>
              </a:defRPr>
            </a:pPr>
            <a:r>
              <a:rPr sz="1875" b="0">
                <a:solidFill>
                  <a:srgbClr val="355CC9"/>
                </a:solidFill>
                <a:latin typeface="Roboto"/>
                <a:ea typeface="Roboto"/>
                <a:cs typeface="Roboto"/>
              </a:rPr>
              <a:t>Visible responsibility</a:t>
            </a:r>
          </a:p>
          <a:p>
            <a:pPr algn="l">
              <a:defRPr sz="1875" b="0">
                <a:solidFill>
                  <a:srgbClr val="355CC9"/>
                </a:solidFill>
                <a:latin typeface="Roboto"/>
                <a:ea typeface="Roboto"/>
                <a:cs typeface="Roboto"/>
              </a:defRPr>
            </a:pPr>
            <a:r>
              <a:rPr sz="1875" b="0">
                <a:solidFill>
                  <a:srgbClr val="355CC9"/>
                </a:solidFill>
                <a:latin typeface="Roboto"/>
                <a:ea typeface="Roboto"/>
                <a:cs typeface="Roboto"/>
              </a:rPr>
              <a:t>Less waiting and chasing</a:t>
            </a:r>
          </a:p>
          <a:p>
            <a:pPr algn="l">
              <a:defRPr sz="1875" b="0">
                <a:solidFill>
                  <a:srgbClr val="355CC9"/>
                </a:solidFill>
                <a:latin typeface="Roboto"/>
                <a:ea typeface="Roboto"/>
                <a:cs typeface="Roboto"/>
              </a:defRPr>
            </a:pPr>
            <a:r>
              <a:rPr sz="1875" b="0">
                <a:solidFill>
                  <a:srgbClr val="355CC9"/>
                </a:solidFill>
                <a:latin typeface="Roboto"/>
                <a:ea typeface="Roboto"/>
                <a:cs typeface="Roboto"/>
              </a:rPr>
              <a:t>Faster recovery</a:t>
            </a:r>
          </a:p>
          <a:p>
            <a:pPr algn="l">
              <a:defRPr sz="1875" b="0">
                <a:solidFill>
                  <a:srgbClr val="355CC9"/>
                </a:solidFill>
                <a:latin typeface="Roboto"/>
                <a:ea typeface="Roboto"/>
                <a:cs typeface="Roboto"/>
              </a:defRPr>
            </a:pPr>
            <a:r>
              <a:rPr sz="1875" b="0">
                <a:solidFill>
                  <a:srgbClr val="355CC9"/>
                </a:solidFill>
                <a:latin typeface="Roboto"/>
                <a:ea typeface="Roboto"/>
                <a:cs typeface="Roboto"/>
              </a:rPr>
              <a:t>Fewer customer follow-ups</a:t>
            </a:r>
          </a:p>
        </p:txBody>
      </p:sp>
      <p:sp>
        <p:nvSpPr>
          <p:cNvPr id="548" name="DetailV2_9_8">
            <a:extLst>
              <a:ext uri="{FF2B5EF4-FFF2-40B4-BE49-F238E27FC236}">
                <a16:creationId xmlns:a16="http://schemas.microsoft.com/office/drawing/2014/main" id="{FBE8D0C5-9833-4F9C-806F-56A101CF9129}"/>
              </a:ext>
            </a:extLst>
          </p:cNvPr>
          <p:cNvSpPr>
            <a:spLocks noGrp="1"/>
          </p:cNvSpPr>
          <p:nvPr/>
        </p:nvSpPr>
        <p:spPr>
          <a:xfrm>
            <a:off x="609600" y="4972050"/>
            <a:ext cx="8096250" cy="52387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P1 controls: named acceptance, referral clarification and escalation.</a:t>
            </a:r>
          </a:p>
        </p:txBody>
      </p:sp>
      <p:sp>
        <p:nvSpPr>
          <p:cNvPr id="539" name="ConciseSupport_9_6">
            <a:extLst>
              <a:ext uri="{FF2B5EF4-FFF2-40B4-BE49-F238E27FC236}">
                <a16:creationId xmlns:a16="http://schemas.microsoft.com/office/drawing/2014/main" id="{753BD88F-2D77-4A8E-A530-6A519D1B77D7}"/>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Test service benefits and total handling effort. Retain unresolved outcomes.</a:t>
            </a:r>
          </a:p>
          <a:p>
            <a:pPr algn="l">
              <a:defRPr sz="1275" b="0">
                <a:solidFill>
                  <a:srgbClr val="59657A"/>
                </a:solidFill>
                <a:latin typeface="Roboto"/>
                <a:ea typeface="Roboto"/>
                <a:cs typeface="Roboto"/>
              </a:defRPr>
            </a:pPr>
            <a:r>
              <a:rPr sz="1275" b="0">
                <a:solidFill>
                  <a:srgbClr val="59657A"/>
                </a:solidFill>
                <a:latin typeface="Roboto"/>
                <a:ea typeface="Roboto"/>
                <a:cs typeface="Roboto"/>
              </a:rPr>
              <a:t>Any later simulation needs validated time, volume, resource and cost inputs.</a:t>
            </a:r>
          </a:p>
        </p:txBody>
      </p:sp>
      <p:sp>
        <p:nvSpPr>
          <p:cNvPr id="540" name="Source citation">
            <a:extLst>
              <a:ext uri="{FF2B5EF4-FFF2-40B4-BE49-F238E27FC236}">
                <a16:creationId xmlns:a16="http://schemas.microsoft.com/office/drawing/2014/main" id="{90288FAA-ECD8-4E87-9C43-364B0EFC37C7}"/>
              </a:ext>
            </a:extLst>
          </p:cNvPr>
          <p:cNvSpPr>
            <a:spLocks noGrp="1"/>
          </p:cNvSpPr>
          <p:nvPr/>
        </p:nvSpPr>
        <p:spPr>
          <a:xfrm>
            <a:off x="609600" y="6172200"/>
            <a:ext cx="8239125" cy="314325"/>
          </a:xfrm>
          <a:prstGeom prst="rect">
            <a:avLst/>
          </a:prstGeom>
          <a:noFill/>
          <a:ln w="0">
            <a:noFill/>
          </a:ln>
        </p:spPr>
        <p:txBody>
          <a:bodyPr wrap="square" lIns="0" tIns="0" rIns="0" bIns="0" anchor="t">
            <a:noAutofit/>
          </a:bodyPr>
          <a:lstStyle/>
          <a:p>
            <a:pPr algn="l">
              <a:defRPr sz="975" b="0">
                <a:solidFill>
                  <a:srgbClr val="59657A"/>
                </a:solidFill>
                <a:latin typeface="Roboto"/>
                <a:ea typeface="Roboto"/>
                <a:cs typeface="Roboto"/>
              </a:defRPr>
            </a:pPr>
            <a:r>
              <a:rPr sz="975" b="0">
                <a:solidFill>
                  <a:srgbClr val="59657A"/>
                </a:solidFill>
                <a:latin typeface="Roboto"/>
                <a:ea typeface="Roboto"/>
                <a:cs typeface="Roboto"/>
              </a:rPr>
              <a:t>SAP, n.d., Modeling with the Editor; SAP, n.d., Performing Simulations</a:t>
            </a:r>
          </a:p>
        </p:txBody>
      </p:sp>
    </p:spTree>
    <p:extLst>
      <p:ext uri="{BB962C8B-B14F-4D97-AF65-F5344CB8AC3E}">
        <p14:creationId xmlns:p14="http://schemas.microsoft.com/office/powerpoint/2010/main" val="1320509592"/>
      </p:ext>
    </p:extLst>
  </p:cSld>
  <p:clrMapOvr>
    <a:masterClrMapping/>
  </p:clrMapOvr>
  <p:transition advClick="0" advTm="2000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DB7BEEEC-A170-5376-2B6E-CB54687B0CB1}" type="slidenum">
              <a:rPr sz="1050" b="0">
                <a:solidFill>
                  <a:srgbClr val="59657A"/>
                </a:solidFill>
                <a:latin typeface="Roboto"/>
                <a:ea typeface="Roboto"/>
                <a:cs typeface="Roboto"/>
              </a:rPr>
              <a:t>10</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SAP capabilities support specific decisions</a:t>
            </a:r>
            <a:endParaRPr>
              <a:solidFill>
                <a:schemeClr val="accent1"/>
              </a:solidFill>
            </a:endParaRPr>
          </a:p>
        </p:txBody>
      </p:sp>
      <p:sp>
        <p:nvSpPr>
          <p:cNvPr id="7" name="Google Shape;534;p58">
            <a:extLst>
              <a:ext uri="{FF2B5EF4-FFF2-40B4-BE49-F238E27FC236}">
                <a16:creationId xmlns:a16="http://schemas.microsoft.com/office/drawing/2014/main" id="{71547039-AB2A-5CA1-49F7-26E9E71601EF}"/>
              </a:ext>
            </a:extLst>
          </p:cNvPr>
          <p:cNvSpPr>
            <a:spLocks noGrp="1"/>
          </p:cNvSpPr>
          <p:nvPr/>
        </p:nvSpPr>
        <p:spPr>
          <a:xfrm>
            <a:off x="393700" y="2774196"/>
            <a:ext cx="3606800" cy="3220203"/>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8" name="Google Shape;534;p58">
            <a:extLst>
              <a:ext uri="{FF2B5EF4-FFF2-40B4-BE49-F238E27FC236}">
                <a16:creationId xmlns:a16="http://schemas.microsoft.com/office/drawing/2014/main" id="{D136FB89-7449-CC90-F061-B6BF578EA25E}"/>
              </a:ext>
            </a:extLst>
          </p:cNvPr>
          <p:cNvSpPr>
            <a:spLocks noGrp="1"/>
          </p:cNvSpPr>
          <p:nvPr/>
        </p:nvSpPr>
        <p:spPr>
          <a:xfrm>
            <a:off x="393700" y="1564835"/>
            <a:ext cx="3606800" cy="1178365"/>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4" name="Text">
            <a:extLst>
              <a:ext uri="{FF2B5EF4-FFF2-40B4-BE49-F238E27FC236}">
                <a16:creationId xmlns:a16="http://schemas.microsoft.com/office/drawing/2014/main" id="{6FE02671-046A-4F08-AD7E-4633ED22B693}"/>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Tools follow a validated need</a:t>
            </a:r>
          </a:p>
        </p:txBody>
      </p:sp>
      <p:graphicFrame>
        <p:nvGraphicFramePr>
          <p:cNvPr id="543" name="Table 542"/>
          <p:cNvGraphicFramePr/>
          <p:nvPr/>
        </p:nvGraphicFramePr>
        <p:xfrm>
          <a:off x="609600" y="2019300"/>
          <a:ext cx="10858500" cy="2857500"/>
        </p:xfrm>
        <a:graphic>
          <a:graphicData uri="http://schemas.openxmlformats.org/drawingml/2006/table">
            <a:tbl>
              <a:tblPr firstRow="1"/>
              <a:tblGrid>
                <a:gridCol w="2667000">
                  <a:extLst>
                    <a:ext uri="{9D8B030D-6E8A-4147-A177-3AD203B41FA5}">
                      <a16:colId xmlns:a16="http://schemas.microsoft.com/office/drawing/2014/main" val="20000"/>
                    </a:ext>
                  </a:extLst>
                </a:gridCol>
                <a:gridCol w="8191500">
                  <a:extLst>
                    <a:ext uri="{9D8B030D-6E8A-4147-A177-3AD203B41FA5}">
                      <a16:colId xmlns:a16="http://schemas.microsoft.com/office/drawing/2014/main" val="20001"/>
                    </a:ext>
                  </a:extLst>
                </a:gridCol>
              </a:tblGrid>
              <a:tr h="476250">
                <a:tc>
                  <a:txBody>
                    <a:bodyPr/>
                    <a:lstStyle/>
                    <a:p>
                      <a:r>
                        <a:rPr sz="1875" b="1">
                          <a:solidFill>
                            <a:srgbClr val="355CC9"/>
                          </a:solidFill>
                          <a:latin typeface="Roboto"/>
                          <a:ea typeface="Roboto"/>
                          <a:cs typeface="Roboto"/>
                        </a:rPr>
                        <a:t>Learning Journey</a:t>
                      </a:r>
                    </a:p>
                  </a:txBody>
                  <a:tcPr marL="114300" marR="114300" marT="76200" marB="76200" anchor="ctr">
                    <a:solidFill>
                      <a:srgbClr val="EAF0FC"/>
                    </a:solidFill>
                  </a:tcPr>
                </a:tc>
                <a:tc>
                  <a:txBody>
                    <a:bodyPr/>
                    <a:lstStyle/>
                    <a:p>
                      <a:r>
                        <a:rPr sz="1875" b="1">
                          <a:solidFill>
                            <a:srgbClr val="355CC9"/>
                          </a:solidFill>
                          <a:latin typeface="Roboto"/>
                          <a:ea typeface="Roboto"/>
                          <a:cs typeface="Roboto"/>
                        </a:rPr>
                        <a:t>Application in this proposal</a:t>
                      </a:r>
                    </a:p>
                  </a:txBody>
                  <a:tcPr marL="114300" marR="114300" marT="76200" marB="76200" anchor="ctr">
                    <a:solidFill>
                      <a:srgbClr val="EAF0FC"/>
                    </a:solidFill>
                  </a:tcPr>
                </a:tc>
                <a:extLst>
                  <a:ext uri="{0D108BD9-81ED-4DB2-BD59-A6C34878D82A}">
                    <a16:rowId xmlns:a16="http://schemas.microsoft.com/office/drawing/2014/main" val="10000"/>
                  </a:ext>
                </a:extLst>
              </a:tr>
              <a:tr h="476250">
                <a:tc>
                  <a:txBody>
                    <a:bodyPr/>
                    <a:lstStyle/>
                    <a:p>
                      <a:r>
                        <a:rPr sz="1875">
                          <a:solidFill>
                            <a:srgbClr val="1C2432"/>
                          </a:solidFill>
                          <a:latin typeface="Roboto"/>
                          <a:ea typeface="Roboto"/>
                          <a:cs typeface="Roboto"/>
                        </a:rPr>
                        <a:t>Signavio</a:t>
                      </a:r>
                    </a:p>
                  </a:txBody>
                  <a:tcPr marL="114300" marR="114300" marT="76200" marB="76200" anchor="ctr">
                    <a:solidFill>
                      <a:srgbClr val="F8FBFD"/>
                    </a:solidFill>
                  </a:tcPr>
                </a:tc>
                <a:tc>
                  <a:txBody>
                    <a:bodyPr/>
                    <a:lstStyle/>
                    <a:p>
                      <a:r>
                        <a:rPr sz="1875">
                          <a:solidFill>
                            <a:srgbClr val="1C2432"/>
                          </a:solidFill>
                          <a:latin typeface="Roboto"/>
                          <a:ea typeface="Roboto"/>
                          <a:cs typeface="Roboto"/>
                        </a:rPr>
                        <a:t>AS-IS / TO-BE review; later validated simulation</a:t>
                      </a:r>
                    </a:p>
                  </a:txBody>
                  <a:tcPr marL="114300" marR="114300" marT="76200" marB="76200" anchor="ctr">
                    <a:solidFill>
                      <a:srgbClr val="F8FBFD"/>
                    </a:solidFill>
                  </a:tcPr>
                </a:tc>
                <a:extLst>
                  <a:ext uri="{0D108BD9-81ED-4DB2-BD59-A6C34878D82A}">
                    <a16:rowId xmlns:a16="http://schemas.microsoft.com/office/drawing/2014/main" val="10001"/>
                  </a:ext>
                </a:extLst>
              </a:tr>
              <a:tr h="476250">
                <a:tc>
                  <a:txBody>
                    <a:bodyPr/>
                    <a:lstStyle/>
                    <a:p>
                      <a:r>
                        <a:rPr sz="1875">
                          <a:solidFill>
                            <a:srgbClr val="1C2432"/>
                          </a:solidFill>
                          <a:latin typeface="Roboto"/>
                          <a:ea typeface="Roboto"/>
                          <a:cs typeface="Roboto"/>
                        </a:rPr>
                        <a:t>LeanIX</a:t>
                      </a:r>
                    </a:p>
                  </a:txBody>
                  <a:tcPr marL="114300" marR="114300" marT="76200" marB="76200" anchor="ctr">
                    <a:solidFill>
                      <a:srgbClr val="F8FBFD"/>
                    </a:solidFill>
                  </a:tcPr>
                </a:tc>
                <a:tc>
                  <a:txBody>
                    <a:bodyPr/>
                    <a:lstStyle/>
                    <a:p>
                      <a:r>
                        <a:rPr sz="1875">
                          <a:solidFill>
                            <a:srgbClr val="1C2432"/>
                          </a:solidFill>
                          <a:latin typeface="Roboto"/>
                          <a:ea typeface="Roboto"/>
                          <a:cs typeface="Roboto"/>
                        </a:rPr>
                        <a:t>Application and partner dependency inventory</a:t>
                      </a:r>
                    </a:p>
                  </a:txBody>
                  <a:tcPr marL="114300" marR="114300" marT="76200" marB="76200" anchor="ctr">
                    <a:solidFill>
                      <a:srgbClr val="F8FBFD"/>
                    </a:solidFill>
                  </a:tcPr>
                </a:tc>
                <a:extLst>
                  <a:ext uri="{0D108BD9-81ED-4DB2-BD59-A6C34878D82A}">
                    <a16:rowId xmlns:a16="http://schemas.microsoft.com/office/drawing/2014/main" val="10002"/>
                  </a:ext>
                </a:extLst>
              </a:tr>
              <a:tr h="476250">
                <a:tc>
                  <a:txBody>
                    <a:bodyPr/>
                    <a:lstStyle/>
                    <a:p>
                      <a:r>
                        <a:rPr sz="1875">
                          <a:solidFill>
                            <a:srgbClr val="1C2432"/>
                          </a:solidFill>
                          <a:latin typeface="Roboto"/>
                          <a:ea typeface="Roboto"/>
                          <a:cs typeface="Roboto"/>
                        </a:rPr>
                        <a:t>Analytics Cloud</a:t>
                      </a:r>
                    </a:p>
                  </a:txBody>
                  <a:tcPr marL="114300" marR="114300" marT="76200" marB="76200" anchor="ctr">
                    <a:solidFill>
                      <a:srgbClr val="F8FBFD"/>
                    </a:solidFill>
                  </a:tcPr>
                </a:tc>
                <a:tc>
                  <a:txBody>
                    <a:bodyPr/>
                    <a:lstStyle/>
                    <a:p>
                      <a:r>
                        <a:rPr sz="1875">
                          <a:solidFill>
                            <a:srgbClr val="1C2432"/>
                          </a:solidFill>
                          <a:latin typeface="Roboto"/>
                          <a:ea typeface="Roboto"/>
                          <a:cs typeface="Roboto"/>
                        </a:rPr>
                        <a:t>Comparable KPI views, including missing outcomes</a:t>
                      </a:r>
                    </a:p>
                  </a:txBody>
                  <a:tcPr marL="114300" marR="114300" marT="76200" marB="76200" anchor="ctr">
                    <a:solidFill>
                      <a:srgbClr val="F8FBFD"/>
                    </a:solidFill>
                  </a:tcPr>
                </a:tc>
                <a:extLst>
                  <a:ext uri="{0D108BD9-81ED-4DB2-BD59-A6C34878D82A}">
                    <a16:rowId xmlns:a16="http://schemas.microsoft.com/office/drawing/2014/main" val="10003"/>
                  </a:ext>
                </a:extLst>
              </a:tr>
              <a:tr h="476250">
                <a:tc>
                  <a:txBody>
                    <a:bodyPr/>
                    <a:lstStyle/>
                    <a:p>
                      <a:r>
                        <a:rPr sz="1875">
                          <a:solidFill>
                            <a:srgbClr val="1C2432"/>
                          </a:solidFill>
                          <a:latin typeface="Roboto"/>
                          <a:ea typeface="Roboto"/>
                          <a:cs typeface="Roboto"/>
                        </a:rPr>
                        <a:t>Build</a:t>
                      </a:r>
                    </a:p>
                  </a:txBody>
                  <a:tcPr marL="114300" marR="114300" marT="76200" marB="76200" anchor="ctr">
                    <a:solidFill>
                      <a:srgbClr val="F8FBFD"/>
                    </a:solidFill>
                  </a:tcPr>
                </a:tc>
                <a:tc>
                  <a:txBody>
                    <a:bodyPr/>
                    <a:lstStyle/>
                    <a:p>
                      <a:r>
                        <a:rPr sz="1875">
                          <a:solidFill>
                            <a:srgbClr val="1C2432"/>
                          </a:solidFill>
                          <a:latin typeface="Roboto"/>
                          <a:ea typeface="Roboto"/>
                          <a:cs typeface="Roboto"/>
                        </a:rPr>
                        <a:t>Conditional referral forms and authorised actions</a:t>
                      </a:r>
                    </a:p>
                  </a:txBody>
                  <a:tcPr marL="114300" marR="114300" marT="76200" marB="76200" anchor="ctr">
                    <a:solidFill>
                      <a:srgbClr val="F8FBFD"/>
                    </a:solidFill>
                  </a:tcPr>
                </a:tc>
                <a:extLst>
                  <a:ext uri="{0D108BD9-81ED-4DB2-BD59-A6C34878D82A}">
                    <a16:rowId xmlns:a16="http://schemas.microsoft.com/office/drawing/2014/main" val="10004"/>
                  </a:ext>
                </a:extLst>
              </a:tr>
              <a:tr h="476250">
                <a:tc>
                  <a:txBody>
                    <a:bodyPr/>
                    <a:lstStyle/>
                    <a:p>
                      <a:r>
                        <a:rPr sz="1875">
                          <a:solidFill>
                            <a:srgbClr val="1C2432"/>
                          </a:solidFill>
                          <a:latin typeface="Roboto"/>
                          <a:ea typeface="Roboto"/>
                          <a:cs typeface="Roboto"/>
                        </a:rPr>
                        <a:t>Cloud ALM</a:t>
                      </a:r>
                    </a:p>
                  </a:txBody>
                  <a:tcPr marL="114300" marR="114300" marT="76200" marB="76200" anchor="ctr">
                    <a:solidFill>
                      <a:srgbClr val="F8FBFD"/>
                    </a:solidFill>
                  </a:tcPr>
                </a:tc>
                <a:tc>
                  <a:txBody>
                    <a:bodyPr/>
                    <a:lstStyle/>
                    <a:p>
                      <a:r>
                        <a:rPr sz="1875">
                          <a:solidFill>
                            <a:srgbClr val="1C2432"/>
                          </a:solidFill>
                          <a:latin typeface="Roboto"/>
                          <a:ea typeface="Roboto"/>
                          <a:cs typeface="Roboto"/>
                        </a:rPr>
                        <a:t>Project owners, gates, tests and defects</a:t>
                      </a:r>
                    </a:p>
                  </a:txBody>
                  <a:tcPr marL="114300" marR="114300" marT="76200" marB="76200" anchor="ctr">
                    <a:solidFill>
                      <a:srgbClr val="F8FBFD"/>
                    </a:solidFill>
                  </a:tcPr>
                </a:tc>
                <a:extLst>
                  <a:ext uri="{0D108BD9-81ED-4DB2-BD59-A6C34878D82A}">
                    <a16:rowId xmlns:a16="http://schemas.microsoft.com/office/drawing/2014/main" val="10005"/>
                  </a:ext>
                </a:extLst>
              </a:tr>
            </a:tbl>
          </a:graphicData>
        </a:graphic>
      </p:graphicFrame>
      <p:sp>
        <p:nvSpPr>
          <p:cNvPr id="536" name="Evidence qualification">
            <a:extLst>
              <a:ext uri="{FF2B5EF4-FFF2-40B4-BE49-F238E27FC236}">
                <a16:creationId xmlns:a16="http://schemas.microsoft.com/office/drawing/2014/main" id="{0B7FC44A-F113-4A82-A3E4-A7EA95385442}"/>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Signavio models exist. Other uses are proposed and depend on Spark’s technology and justified scope.</a:t>
            </a:r>
          </a:p>
        </p:txBody>
      </p:sp>
      <p:sp>
        <p:nvSpPr>
          <p:cNvPr id="537" name="Source citation">
            <a:extLst>
              <a:ext uri="{FF2B5EF4-FFF2-40B4-BE49-F238E27FC236}">
                <a16:creationId xmlns:a16="http://schemas.microsoft.com/office/drawing/2014/main" id="{99716C5F-6077-40DB-9C3D-1A889A69C784}"/>
              </a:ext>
            </a:extLst>
          </p:cNvPr>
          <p:cNvSpPr>
            <a:spLocks noGrp="1"/>
          </p:cNvSpPr>
          <p:nvPr/>
        </p:nvSpPr>
        <p:spPr>
          <a:xfrm>
            <a:off x="609600" y="6172200"/>
            <a:ext cx="8239125" cy="314325"/>
          </a:xfrm>
          <a:prstGeom prst="rect">
            <a:avLst/>
          </a:prstGeom>
          <a:noFill/>
          <a:ln w="0">
            <a:noFill/>
          </a:ln>
        </p:spPr>
        <p:txBody>
          <a:bodyPr wrap="square" lIns="0" tIns="0" rIns="0" bIns="0" anchor="t">
            <a:noAutofit/>
          </a:bodyPr>
          <a:lstStyle/>
          <a:p>
            <a:pPr algn="l">
              <a:defRPr sz="975" b="0">
                <a:solidFill>
                  <a:srgbClr val="59657A"/>
                </a:solidFill>
                <a:latin typeface="Roboto"/>
                <a:ea typeface="Roboto"/>
                <a:cs typeface="Roboto"/>
              </a:defRPr>
            </a:pPr>
            <a:r>
              <a:rPr sz="975" b="0">
                <a:solidFill>
                  <a:srgbClr val="59657A"/>
                </a:solidFill>
                <a:latin typeface="Roboto"/>
                <a:ea typeface="Roboto"/>
                <a:cs typeface="Roboto"/>
              </a:rPr>
              <a:t>SAP Learning (n.d.). Five courses and eight lessons, listed on slide 19.</a:t>
            </a:r>
          </a:p>
        </p:txBody>
      </p:sp>
      <p:sp>
        <p:nvSpPr>
          <p:cNvPr id="544" name="ConciseSupport_10_7">
            <a:extLst>
              <a:ext uri="{FF2B5EF4-FFF2-40B4-BE49-F238E27FC236}">
                <a16:creationId xmlns:a16="http://schemas.microsoft.com/office/drawing/2014/main" id="{44643E2A-6DEC-495E-B0B0-A6F466A788D6}"/>
              </a:ext>
            </a:extLst>
          </p:cNvPr>
          <p:cNvSpPr>
            <a:spLocks noGrp="1"/>
          </p:cNvSpPr>
          <p:nvPr/>
        </p:nvSpPr>
        <p:spPr>
          <a:xfrm>
            <a:off x="609600" y="5086350"/>
            <a:ext cx="8096250" cy="400050"/>
          </a:xfrm>
          <a:prstGeom prst="rect">
            <a:avLst/>
          </a:prstGeom>
          <a:noFill/>
          <a:ln w="0">
            <a:noFill/>
          </a:ln>
        </p:spPr>
        <p:txBody>
          <a:bodyPr wrap="square" lIns="0" tIns="0" rIns="0" bIns="0" anchor="t">
            <a:noAutofit/>
          </a:bodyPr>
          <a:lstStyle/>
          <a:p>
            <a:pPr algn="l">
              <a:defRPr sz="1650" b="0">
                <a:solidFill>
                  <a:srgbClr val="59657A"/>
                </a:solidFill>
                <a:latin typeface="Roboto"/>
                <a:ea typeface="Roboto"/>
                <a:cs typeface="Roboto"/>
              </a:defRPr>
            </a:pPr>
            <a:r>
              <a:rPr sz="1650" b="0">
                <a:solidFill>
                  <a:srgbClr val="59657A"/>
                </a:solidFill>
                <a:latin typeface="Roboto"/>
                <a:ea typeface="Roboto"/>
                <a:cs typeface="Roboto"/>
              </a:rPr>
              <a:t>Check existing tools, authorised access and full implementation costs.</a:t>
            </a:r>
          </a:p>
        </p:txBody>
      </p:sp>
    </p:spTree>
    <p:extLst>
      <p:ext uri="{BB962C8B-B14F-4D97-AF65-F5344CB8AC3E}">
        <p14:creationId xmlns:p14="http://schemas.microsoft.com/office/powerpoint/2010/main" val="2097043304"/>
      </p:ext>
    </p:extLst>
  </p:cSld>
  <p:clrMapOvr>
    <a:masterClrMapping/>
  </p:clrMapOvr>
  <p:transition advClick="0" advTm="2000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9EE8A1CA-4617-FF10-E8D0-B582B7F48A83}"/>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30394428-F1DC-E5F6-DB0C-7DE31F3D8A23}" type="slidenum">
              <a:rPr sz="1050" b="0">
                <a:solidFill>
                  <a:srgbClr val="59657A"/>
                </a:solidFill>
                <a:latin typeface="Roboto"/>
                <a:ea typeface="Roboto"/>
                <a:cs typeface="Roboto"/>
              </a:rPr>
              <a:t>11</a:t>
            </a:fld>
            <a:endParaRPr/>
          </a:p>
        </p:txBody>
      </p:sp>
      <p:sp>
        <p:nvSpPr>
          <p:cNvPr id="533" name="Google Shape;533;p58">
            <a:extLst>
              <a:ext uri="{FF2B5EF4-FFF2-40B4-BE49-F238E27FC236}">
                <a16:creationId xmlns:a16="http://schemas.microsoft.com/office/drawing/2014/main" id="{68499D35-F61B-DF1C-10A6-EA04E8D00662}"/>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Delivery phases and approval decisions</a:t>
            </a:r>
            <a:endParaRPr>
              <a:solidFill>
                <a:schemeClr val="accent1"/>
              </a:solidFill>
            </a:endParaRPr>
          </a:p>
        </p:txBody>
      </p:sp>
      <p:sp>
        <p:nvSpPr>
          <p:cNvPr id="5" name="Google Shape;955;p80">
            <a:extLst>
              <a:ext uri="{FF2B5EF4-FFF2-40B4-BE49-F238E27FC236}">
                <a16:creationId xmlns:a16="http://schemas.microsoft.com/office/drawing/2014/main" id="{EA32D89C-6778-2FE2-6D40-ABA6EAAD7EC1}"/>
              </a:ext>
            </a:extLst>
          </p:cNvPr>
          <p:cNvSpPr>
            <a:spLocks noGrp="1"/>
          </p:cNvSpPr>
          <p:nvPr/>
        </p:nvSpPr>
        <p:spPr>
          <a:xfrm>
            <a:off x="2705100" y="2333625"/>
            <a:ext cx="2119313" cy="371475"/>
          </a:xfrm>
          <a:prstGeom prst="roundRect">
            <a:avLst>
              <a:gd name="adj" fmla="val 11479"/>
            </a:avLst>
          </a:prstGeom>
          <a:solidFill>
            <a:srgbClr val="355CC9"/>
          </a:solidFill>
          <a:ln>
            <a:noFill/>
          </a:ln>
        </p:spPr>
        <p:txBody>
          <a:bodyPr spcFirstLastPara="1" wrap="square" lIns="9525" tIns="0" rIns="9525" bIns="0" anchor="ctr">
            <a:noAutofit/>
          </a:bodyPr>
          <a:lstStyle/>
          <a:p>
            <a:pPr algn="ctr">
              <a:defRPr sz="1650" b="1">
                <a:solidFill>
                  <a:srgbClr val="FFFFFF"/>
                </a:solidFill>
                <a:latin typeface="Roboto"/>
                <a:ea typeface="Roboto"/>
                <a:cs typeface="Roboto"/>
              </a:defRPr>
            </a:pPr>
            <a:r>
              <a:rPr sz="1650" b="1">
                <a:solidFill>
                  <a:srgbClr val="FFFFFF"/>
                </a:solidFill>
                <a:latin typeface="Roboto"/>
                <a:ea typeface="Roboto"/>
                <a:cs typeface="Roboto"/>
              </a:rPr>
              <a:t>1–6</a:t>
            </a:r>
          </a:p>
        </p:txBody>
      </p:sp>
      <p:sp>
        <p:nvSpPr>
          <p:cNvPr id="6" name="Google Shape;957;p80">
            <a:extLst>
              <a:ext uri="{FF2B5EF4-FFF2-40B4-BE49-F238E27FC236}">
                <a16:creationId xmlns:a16="http://schemas.microsoft.com/office/drawing/2014/main" id="{D5359B3A-662D-9283-F7D8-9D5DCD655B5B}"/>
              </a:ext>
            </a:extLst>
          </p:cNvPr>
          <p:cNvSpPr>
            <a:spLocks noGrp="1"/>
          </p:cNvSpPr>
          <p:nvPr/>
        </p:nvSpPr>
        <p:spPr>
          <a:xfrm>
            <a:off x="4824413" y="2847975"/>
            <a:ext cx="1412875" cy="371475"/>
          </a:xfrm>
          <a:prstGeom prst="roundRect">
            <a:avLst>
              <a:gd name="adj" fmla="val 11479"/>
            </a:avLst>
          </a:prstGeom>
          <a:solidFill>
            <a:srgbClr val="355CC9"/>
          </a:solidFill>
          <a:ln w="12700">
            <a:solidFill>
              <a:schemeClr val="accent1"/>
            </a:solidFill>
          </a:ln>
        </p:spPr>
        <p:txBody>
          <a:bodyPr spcFirstLastPara="1" wrap="square" lIns="9525" tIns="0" rIns="9525" bIns="0" anchor="ctr">
            <a:noAutofit/>
          </a:bodyPr>
          <a:lstStyle/>
          <a:p>
            <a:pPr algn="ctr">
              <a:defRPr sz="1650" b="1">
                <a:solidFill>
                  <a:srgbClr val="FFFFFF"/>
                </a:solidFill>
                <a:latin typeface="Roboto"/>
                <a:ea typeface="Roboto"/>
                <a:cs typeface="Roboto"/>
              </a:defRPr>
            </a:pPr>
            <a:r>
              <a:rPr sz="1650" b="1">
                <a:solidFill>
                  <a:srgbClr val="FFFFFF"/>
                </a:solidFill>
                <a:latin typeface="Roboto"/>
                <a:ea typeface="Roboto"/>
                <a:cs typeface="Roboto"/>
              </a:rPr>
              <a:t>7–10</a:t>
            </a:r>
            <a:endParaRPr sz="1500">
              <a:solidFill>
                <a:schemeClr val="accent1"/>
              </a:solidFill>
              <a:latin typeface="Roboto Medium"/>
              <a:ea typeface="Roboto Medium"/>
              <a:cs typeface="Roboto Medium"/>
            </a:endParaRPr>
          </a:p>
        </p:txBody>
      </p:sp>
      <p:sp>
        <p:nvSpPr>
          <p:cNvPr id="7" name="Google Shape;960;p80">
            <a:extLst>
              <a:ext uri="{FF2B5EF4-FFF2-40B4-BE49-F238E27FC236}">
                <a16:creationId xmlns:a16="http://schemas.microsoft.com/office/drawing/2014/main" id="{2293B6C0-CD6E-C9F0-68F7-73F7B726A1EF}"/>
              </a:ext>
            </a:extLst>
          </p:cNvPr>
          <p:cNvSpPr>
            <a:spLocks noGrp="1"/>
          </p:cNvSpPr>
          <p:nvPr/>
        </p:nvSpPr>
        <p:spPr>
          <a:xfrm>
            <a:off x="6237288" y="3362325"/>
            <a:ext cx="2825750" cy="371475"/>
          </a:xfrm>
          <a:prstGeom prst="roundRect">
            <a:avLst>
              <a:gd name="adj" fmla="val 11479"/>
            </a:avLst>
          </a:prstGeom>
          <a:solidFill>
            <a:srgbClr val="355CC9"/>
          </a:solidFill>
          <a:ln>
            <a:noFill/>
          </a:ln>
        </p:spPr>
        <p:txBody>
          <a:bodyPr spcFirstLastPara="1" wrap="square" lIns="9525" tIns="0" rIns="9525" bIns="0" anchor="ctr">
            <a:noAutofit/>
          </a:bodyPr>
          <a:lstStyle/>
          <a:p>
            <a:pPr algn="ctr">
              <a:defRPr sz="1650" b="1">
                <a:solidFill>
                  <a:srgbClr val="FFFFFF"/>
                </a:solidFill>
                <a:latin typeface="Roboto"/>
                <a:ea typeface="Roboto"/>
                <a:cs typeface="Roboto"/>
              </a:defRPr>
            </a:pPr>
            <a:r>
              <a:rPr sz="1650" b="1">
                <a:solidFill>
                  <a:srgbClr val="FFFFFF"/>
                </a:solidFill>
                <a:latin typeface="Roboto"/>
                <a:ea typeface="Roboto"/>
                <a:cs typeface="Roboto"/>
              </a:rPr>
              <a:t>11–18</a:t>
            </a:r>
          </a:p>
        </p:txBody>
      </p:sp>
      <p:sp>
        <p:nvSpPr>
          <p:cNvPr id="8" name="Google Shape;963;p80">
            <a:extLst>
              <a:ext uri="{FF2B5EF4-FFF2-40B4-BE49-F238E27FC236}">
                <a16:creationId xmlns:a16="http://schemas.microsoft.com/office/drawing/2014/main" id="{0F4F3439-EC29-4518-4A3E-7436F8578035}"/>
              </a:ext>
            </a:extLst>
          </p:cNvPr>
          <p:cNvSpPr>
            <a:spLocks noGrp="1"/>
          </p:cNvSpPr>
          <p:nvPr/>
        </p:nvSpPr>
        <p:spPr>
          <a:xfrm>
            <a:off x="9063038" y="3876675"/>
            <a:ext cx="1412875" cy="371475"/>
          </a:xfrm>
          <a:prstGeom prst="roundRect">
            <a:avLst>
              <a:gd name="adj" fmla="val 11479"/>
            </a:avLst>
          </a:prstGeom>
          <a:solidFill>
            <a:srgbClr val="355CC9"/>
          </a:solidFill>
          <a:ln>
            <a:noFill/>
          </a:ln>
        </p:spPr>
        <p:txBody>
          <a:bodyPr spcFirstLastPara="1" wrap="square" lIns="9525" tIns="0" rIns="9525" bIns="0" anchor="ctr">
            <a:noAutofit/>
          </a:bodyPr>
          <a:lstStyle/>
          <a:p>
            <a:pPr algn="ctr">
              <a:defRPr sz="1650" b="1">
                <a:solidFill>
                  <a:srgbClr val="FFFFFF"/>
                </a:solidFill>
                <a:latin typeface="Roboto"/>
                <a:ea typeface="Roboto"/>
                <a:cs typeface="Roboto"/>
              </a:defRPr>
            </a:pPr>
            <a:r>
              <a:rPr sz="1650" b="1">
                <a:solidFill>
                  <a:srgbClr val="FFFFFF"/>
                </a:solidFill>
                <a:latin typeface="Roboto"/>
                <a:ea typeface="Roboto"/>
                <a:cs typeface="Roboto"/>
              </a:rPr>
              <a:t>19–22</a:t>
            </a:r>
          </a:p>
        </p:txBody>
      </p:sp>
      <p:sp>
        <p:nvSpPr>
          <p:cNvPr id="9" name="Google Shape;966;p80">
            <a:extLst>
              <a:ext uri="{FF2B5EF4-FFF2-40B4-BE49-F238E27FC236}">
                <a16:creationId xmlns:a16="http://schemas.microsoft.com/office/drawing/2014/main" id="{1D07E5FD-0BEC-93D6-2CF5-BC908A51553C}"/>
              </a:ext>
            </a:extLst>
          </p:cNvPr>
          <p:cNvSpPr>
            <a:spLocks noGrp="1"/>
          </p:cNvSpPr>
          <p:nvPr/>
        </p:nvSpPr>
        <p:spPr>
          <a:xfrm>
            <a:off x="10475913" y="4391025"/>
            <a:ext cx="706437" cy="371475"/>
          </a:xfrm>
          <a:prstGeom prst="roundRect">
            <a:avLst>
              <a:gd name="adj" fmla="val 11479"/>
            </a:avLst>
          </a:prstGeom>
          <a:solidFill>
            <a:srgbClr val="355CC9"/>
          </a:solidFill>
          <a:ln>
            <a:noFill/>
          </a:ln>
        </p:spPr>
        <p:txBody>
          <a:bodyPr spcFirstLastPara="1" wrap="square" lIns="9525" tIns="0" rIns="9525" bIns="0" anchor="ctr">
            <a:noAutofit/>
          </a:bodyPr>
          <a:lstStyle/>
          <a:p>
            <a:pPr algn="ctr">
              <a:defRPr sz="1650" b="1">
                <a:solidFill>
                  <a:srgbClr val="FFFFFF"/>
                </a:solidFill>
                <a:latin typeface="Roboto"/>
                <a:ea typeface="Roboto"/>
                <a:cs typeface="Roboto"/>
              </a:defRPr>
            </a:pPr>
            <a:r>
              <a:rPr sz="1650" b="1">
                <a:solidFill>
                  <a:srgbClr val="FFFFFF"/>
                </a:solidFill>
                <a:latin typeface="Roboto"/>
                <a:ea typeface="Roboto"/>
                <a:cs typeface="Roboto"/>
              </a:rPr>
              <a:t>23–24</a:t>
            </a:r>
          </a:p>
        </p:txBody>
      </p:sp>
      <p:sp>
        <p:nvSpPr>
          <p:cNvPr id="534" name="Text">
            <a:extLst>
              <a:ext uri="{FF2B5EF4-FFF2-40B4-BE49-F238E27FC236}">
                <a16:creationId xmlns:a16="http://schemas.microsoft.com/office/drawing/2014/main" id="{9190A9C3-BF05-4268-9DE7-30D525C82EB0}"/>
              </a:ext>
            </a:extLst>
          </p:cNvPr>
          <p:cNvSpPr>
            <a:spLocks noGrp="1"/>
          </p:cNvSpPr>
          <p:nvPr/>
        </p:nvSpPr>
        <p:spPr>
          <a:xfrm>
            <a:off x="609600" y="1362075"/>
            <a:ext cx="10668000" cy="457200"/>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24 delivery weeks across 27 calendar weeks</a:t>
            </a:r>
          </a:p>
        </p:txBody>
      </p:sp>
      <p:sp>
        <p:nvSpPr>
          <p:cNvPr id="535" name="Text">
            <a:extLst>
              <a:ext uri="{FF2B5EF4-FFF2-40B4-BE49-F238E27FC236}">
                <a16:creationId xmlns:a16="http://schemas.microsoft.com/office/drawing/2014/main" id="{A7AFC9E8-C2E7-4048-BD80-68EE31B3AA0F}"/>
              </a:ext>
            </a:extLst>
          </p:cNvPr>
          <p:cNvSpPr>
            <a:spLocks noGrp="1"/>
          </p:cNvSpPr>
          <p:nvPr/>
        </p:nvSpPr>
        <p:spPr>
          <a:xfrm>
            <a:off x="609600" y="2333625"/>
            <a:ext cx="1952625" cy="400050"/>
          </a:xfrm>
          <a:prstGeom prst="rect">
            <a:avLst/>
          </a:prstGeom>
          <a:noFill/>
          <a:ln w="0">
            <a:noFill/>
          </a:ln>
        </p:spPr>
        <p:txBody>
          <a:bodyPr wrap="square" lIns="0" tIns="0" rIns="0" bIns="0" anchor="t">
            <a:noAutofit/>
          </a:bodyPr>
          <a:lstStyle/>
          <a:p>
            <a:pPr algn="l">
              <a:defRPr sz="2025" b="0">
                <a:solidFill>
                  <a:srgbClr val="1C2432"/>
                </a:solidFill>
                <a:latin typeface="Roboto"/>
                <a:ea typeface="Roboto"/>
                <a:cs typeface="Roboto"/>
              </a:defRPr>
            </a:pPr>
            <a:r>
              <a:rPr sz="2025" b="0">
                <a:solidFill>
                  <a:srgbClr val="1C2432"/>
                </a:solidFill>
                <a:latin typeface="Roboto"/>
                <a:ea typeface="Roboto"/>
                <a:cs typeface="Roboto"/>
              </a:rPr>
              <a:t>Diagnosis</a:t>
            </a:r>
          </a:p>
        </p:txBody>
      </p:sp>
      <p:sp>
        <p:nvSpPr>
          <p:cNvPr id="536" name="Text">
            <a:extLst>
              <a:ext uri="{FF2B5EF4-FFF2-40B4-BE49-F238E27FC236}">
                <a16:creationId xmlns:a16="http://schemas.microsoft.com/office/drawing/2014/main" id="{C18A4098-6806-4668-8F57-DFF3457CC893}"/>
              </a:ext>
            </a:extLst>
          </p:cNvPr>
          <p:cNvSpPr>
            <a:spLocks noGrp="1"/>
          </p:cNvSpPr>
          <p:nvPr/>
        </p:nvSpPr>
        <p:spPr>
          <a:xfrm>
            <a:off x="4919663" y="2333625"/>
            <a:ext cx="523875" cy="371475"/>
          </a:xfrm>
          <a:prstGeom prst="rect">
            <a:avLst/>
          </a:prstGeom>
          <a:noFill/>
          <a:ln w="0">
            <a:noFill/>
          </a:ln>
        </p:spPr>
        <p:txBody>
          <a:bodyPr wrap="square" lIns="0" tIns="0" rIns="0" bIns="0" anchor="t">
            <a:noAutofit/>
          </a:bodyPr>
          <a:lstStyle/>
          <a:p>
            <a:pPr algn="l">
              <a:defRPr sz="1575" b="1">
                <a:solidFill>
                  <a:srgbClr val="355CC9"/>
                </a:solidFill>
                <a:latin typeface="Roboto"/>
                <a:ea typeface="Roboto"/>
                <a:cs typeface="Roboto"/>
              </a:defRPr>
            </a:pPr>
            <a:r>
              <a:rPr sz="1575" b="1">
                <a:solidFill>
                  <a:srgbClr val="355CC9"/>
                </a:solidFill>
                <a:latin typeface="Roboto"/>
                <a:ea typeface="Roboto"/>
                <a:cs typeface="Roboto"/>
              </a:rPr>
              <a:t>G1</a:t>
            </a:r>
          </a:p>
        </p:txBody>
      </p:sp>
      <p:sp>
        <p:nvSpPr>
          <p:cNvPr id="537" name="Text">
            <a:extLst>
              <a:ext uri="{FF2B5EF4-FFF2-40B4-BE49-F238E27FC236}">
                <a16:creationId xmlns:a16="http://schemas.microsoft.com/office/drawing/2014/main" id="{A1B483D5-C8E6-49D7-9E57-C85B7EE53470}"/>
              </a:ext>
            </a:extLst>
          </p:cNvPr>
          <p:cNvSpPr>
            <a:spLocks noGrp="1"/>
          </p:cNvSpPr>
          <p:nvPr/>
        </p:nvSpPr>
        <p:spPr>
          <a:xfrm>
            <a:off x="609600" y="2847975"/>
            <a:ext cx="1952625" cy="400050"/>
          </a:xfrm>
          <a:prstGeom prst="rect">
            <a:avLst/>
          </a:prstGeom>
          <a:noFill/>
          <a:ln w="0">
            <a:noFill/>
          </a:ln>
        </p:spPr>
        <p:txBody>
          <a:bodyPr wrap="square" lIns="0" tIns="0" rIns="0" bIns="0" anchor="t">
            <a:noAutofit/>
          </a:bodyPr>
          <a:lstStyle/>
          <a:p>
            <a:pPr algn="l">
              <a:defRPr sz="2025" b="0">
                <a:solidFill>
                  <a:srgbClr val="1C2432"/>
                </a:solidFill>
                <a:latin typeface="Roboto"/>
                <a:ea typeface="Roboto"/>
                <a:cs typeface="Roboto"/>
              </a:defRPr>
            </a:pPr>
            <a:r>
              <a:rPr sz="2025" b="0">
                <a:solidFill>
                  <a:srgbClr val="1C2432"/>
                </a:solidFill>
                <a:latin typeface="Roboto"/>
                <a:ea typeface="Roboto"/>
                <a:cs typeface="Roboto"/>
              </a:rPr>
              <a:t>Design</a:t>
            </a:r>
          </a:p>
        </p:txBody>
      </p:sp>
      <p:sp>
        <p:nvSpPr>
          <p:cNvPr id="538" name="Text">
            <a:extLst>
              <a:ext uri="{FF2B5EF4-FFF2-40B4-BE49-F238E27FC236}">
                <a16:creationId xmlns:a16="http://schemas.microsoft.com/office/drawing/2014/main" id="{A129573F-DFB6-4928-A5BC-4179E1ADC6C3}"/>
              </a:ext>
            </a:extLst>
          </p:cNvPr>
          <p:cNvSpPr>
            <a:spLocks noGrp="1"/>
          </p:cNvSpPr>
          <p:nvPr/>
        </p:nvSpPr>
        <p:spPr>
          <a:xfrm>
            <a:off x="6332538" y="2847975"/>
            <a:ext cx="523875" cy="371475"/>
          </a:xfrm>
          <a:prstGeom prst="rect">
            <a:avLst/>
          </a:prstGeom>
          <a:noFill/>
          <a:ln w="0">
            <a:noFill/>
          </a:ln>
        </p:spPr>
        <p:txBody>
          <a:bodyPr wrap="square" lIns="0" tIns="0" rIns="0" bIns="0" anchor="t">
            <a:noAutofit/>
          </a:bodyPr>
          <a:lstStyle/>
          <a:p>
            <a:pPr algn="l">
              <a:defRPr sz="1575" b="1">
                <a:solidFill>
                  <a:srgbClr val="355CC9"/>
                </a:solidFill>
                <a:latin typeface="Roboto"/>
                <a:ea typeface="Roboto"/>
                <a:cs typeface="Roboto"/>
              </a:defRPr>
            </a:pPr>
            <a:r>
              <a:rPr sz="1575" b="1">
                <a:solidFill>
                  <a:srgbClr val="355CC9"/>
                </a:solidFill>
                <a:latin typeface="Roboto"/>
                <a:ea typeface="Roboto"/>
                <a:cs typeface="Roboto"/>
              </a:rPr>
              <a:t>G2</a:t>
            </a:r>
          </a:p>
        </p:txBody>
      </p:sp>
      <p:sp>
        <p:nvSpPr>
          <p:cNvPr id="539" name="Text">
            <a:extLst>
              <a:ext uri="{FF2B5EF4-FFF2-40B4-BE49-F238E27FC236}">
                <a16:creationId xmlns:a16="http://schemas.microsoft.com/office/drawing/2014/main" id="{EFE1C822-DD7F-45B7-B776-37FBBB675892}"/>
              </a:ext>
            </a:extLst>
          </p:cNvPr>
          <p:cNvSpPr>
            <a:spLocks noGrp="1"/>
          </p:cNvSpPr>
          <p:nvPr/>
        </p:nvSpPr>
        <p:spPr>
          <a:xfrm>
            <a:off x="609600" y="3362325"/>
            <a:ext cx="1952625" cy="400050"/>
          </a:xfrm>
          <a:prstGeom prst="rect">
            <a:avLst/>
          </a:prstGeom>
          <a:noFill/>
          <a:ln w="0">
            <a:noFill/>
          </a:ln>
        </p:spPr>
        <p:txBody>
          <a:bodyPr wrap="square" lIns="0" tIns="0" rIns="0" bIns="0" anchor="t">
            <a:noAutofit/>
          </a:bodyPr>
          <a:lstStyle/>
          <a:p>
            <a:pPr algn="l">
              <a:defRPr sz="2025" b="0">
                <a:solidFill>
                  <a:srgbClr val="1C2432"/>
                </a:solidFill>
                <a:latin typeface="Roboto"/>
                <a:ea typeface="Roboto"/>
                <a:cs typeface="Roboto"/>
              </a:defRPr>
            </a:pPr>
            <a:r>
              <a:rPr sz="2025" b="0">
                <a:solidFill>
                  <a:srgbClr val="1C2432"/>
                </a:solidFill>
                <a:latin typeface="Roboto"/>
                <a:ea typeface="Roboto"/>
                <a:cs typeface="Roboto"/>
              </a:rPr>
              <a:t>Pilot</a:t>
            </a:r>
          </a:p>
        </p:txBody>
      </p:sp>
      <p:sp>
        <p:nvSpPr>
          <p:cNvPr id="540" name="Text">
            <a:extLst>
              <a:ext uri="{FF2B5EF4-FFF2-40B4-BE49-F238E27FC236}">
                <a16:creationId xmlns:a16="http://schemas.microsoft.com/office/drawing/2014/main" id="{78395F37-107E-4E8D-9F6D-436563B19326}"/>
              </a:ext>
            </a:extLst>
          </p:cNvPr>
          <p:cNvSpPr>
            <a:spLocks noGrp="1"/>
          </p:cNvSpPr>
          <p:nvPr/>
        </p:nvSpPr>
        <p:spPr>
          <a:xfrm>
            <a:off x="9158288" y="3362325"/>
            <a:ext cx="523875" cy="371475"/>
          </a:xfrm>
          <a:prstGeom prst="rect">
            <a:avLst/>
          </a:prstGeom>
          <a:noFill/>
          <a:ln w="0">
            <a:noFill/>
          </a:ln>
        </p:spPr>
        <p:txBody>
          <a:bodyPr wrap="square" lIns="0" tIns="0" rIns="0" bIns="0" anchor="t">
            <a:noAutofit/>
          </a:bodyPr>
          <a:lstStyle/>
          <a:p>
            <a:pPr algn="l">
              <a:defRPr sz="1575" b="1">
                <a:solidFill>
                  <a:srgbClr val="355CC9"/>
                </a:solidFill>
                <a:latin typeface="Roboto"/>
                <a:ea typeface="Roboto"/>
                <a:cs typeface="Roboto"/>
              </a:defRPr>
            </a:pPr>
            <a:r>
              <a:rPr sz="1575" b="1">
                <a:solidFill>
                  <a:srgbClr val="355CC9"/>
                </a:solidFill>
                <a:latin typeface="Roboto"/>
                <a:ea typeface="Roboto"/>
                <a:cs typeface="Roboto"/>
              </a:rPr>
              <a:t>G3</a:t>
            </a:r>
          </a:p>
        </p:txBody>
      </p:sp>
      <p:sp>
        <p:nvSpPr>
          <p:cNvPr id="541" name="Text">
            <a:extLst>
              <a:ext uri="{FF2B5EF4-FFF2-40B4-BE49-F238E27FC236}">
                <a16:creationId xmlns:a16="http://schemas.microsoft.com/office/drawing/2014/main" id="{9A393E7E-5A5C-4F12-AA6C-E2FAFD1062A1}"/>
              </a:ext>
            </a:extLst>
          </p:cNvPr>
          <p:cNvSpPr>
            <a:spLocks noGrp="1"/>
          </p:cNvSpPr>
          <p:nvPr/>
        </p:nvSpPr>
        <p:spPr>
          <a:xfrm>
            <a:off x="609600" y="3876675"/>
            <a:ext cx="1952625" cy="400050"/>
          </a:xfrm>
          <a:prstGeom prst="rect">
            <a:avLst/>
          </a:prstGeom>
          <a:noFill/>
          <a:ln w="0">
            <a:noFill/>
          </a:ln>
        </p:spPr>
        <p:txBody>
          <a:bodyPr wrap="square" lIns="0" tIns="0" rIns="0" bIns="0" anchor="t">
            <a:noAutofit/>
          </a:bodyPr>
          <a:lstStyle/>
          <a:p>
            <a:pPr algn="l">
              <a:defRPr sz="2025" b="0">
                <a:solidFill>
                  <a:srgbClr val="1C2432"/>
                </a:solidFill>
                <a:latin typeface="Roboto"/>
                <a:ea typeface="Roboto"/>
                <a:cs typeface="Roboto"/>
              </a:defRPr>
            </a:pPr>
            <a:r>
              <a:rPr sz="2025" b="0">
                <a:solidFill>
                  <a:srgbClr val="1C2432"/>
                </a:solidFill>
                <a:latin typeface="Roboto"/>
                <a:ea typeface="Roboto"/>
                <a:cs typeface="Roboto"/>
              </a:rPr>
              <a:t>Evaluation</a:t>
            </a:r>
          </a:p>
        </p:txBody>
      </p:sp>
      <p:sp>
        <p:nvSpPr>
          <p:cNvPr id="542" name="Text">
            <a:extLst>
              <a:ext uri="{FF2B5EF4-FFF2-40B4-BE49-F238E27FC236}">
                <a16:creationId xmlns:a16="http://schemas.microsoft.com/office/drawing/2014/main" id="{A5281A92-6850-4D99-9A91-1D830B1F94CD}"/>
              </a:ext>
            </a:extLst>
          </p:cNvPr>
          <p:cNvSpPr>
            <a:spLocks noGrp="1"/>
          </p:cNvSpPr>
          <p:nvPr/>
        </p:nvSpPr>
        <p:spPr>
          <a:xfrm>
            <a:off x="10571163" y="3876675"/>
            <a:ext cx="523875" cy="371475"/>
          </a:xfrm>
          <a:prstGeom prst="rect">
            <a:avLst/>
          </a:prstGeom>
          <a:noFill/>
          <a:ln w="0">
            <a:noFill/>
          </a:ln>
        </p:spPr>
        <p:txBody>
          <a:bodyPr wrap="square" lIns="0" tIns="0" rIns="0" bIns="0" anchor="t">
            <a:noAutofit/>
          </a:bodyPr>
          <a:lstStyle/>
          <a:p>
            <a:pPr algn="l">
              <a:defRPr sz="1575" b="1">
                <a:solidFill>
                  <a:srgbClr val="355CC9"/>
                </a:solidFill>
                <a:latin typeface="Roboto"/>
                <a:ea typeface="Roboto"/>
                <a:cs typeface="Roboto"/>
              </a:defRPr>
            </a:pPr>
            <a:r>
              <a:rPr sz="1575" b="1">
                <a:solidFill>
                  <a:srgbClr val="355CC9"/>
                </a:solidFill>
                <a:latin typeface="Roboto"/>
                <a:ea typeface="Roboto"/>
                <a:cs typeface="Roboto"/>
              </a:rPr>
              <a:t>G4</a:t>
            </a:r>
          </a:p>
        </p:txBody>
      </p:sp>
      <p:sp>
        <p:nvSpPr>
          <p:cNvPr id="543" name="Text">
            <a:extLst>
              <a:ext uri="{FF2B5EF4-FFF2-40B4-BE49-F238E27FC236}">
                <a16:creationId xmlns:a16="http://schemas.microsoft.com/office/drawing/2014/main" id="{88914940-47CA-45F9-B4B8-0806D7B63BB8}"/>
              </a:ext>
            </a:extLst>
          </p:cNvPr>
          <p:cNvSpPr>
            <a:spLocks noGrp="1"/>
          </p:cNvSpPr>
          <p:nvPr/>
        </p:nvSpPr>
        <p:spPr>
          <a:xfrm>
            <a:off x="609600" y="4391025"/>
            <a:ext cx="1952625" cy="400050"/>
          </a:xfrm>
          <a:prstGeom prst="rect">
            <a:avLst/>
          </a:prstGeom>
          <a:noFill/>
          <a:ln w="0">
            <a:noFill/>
          </a:ln>
        </p:spPr>
        <p:txBody>
          <a:bodyPr wrap="square" lIns="0" tIns="0" rIns="0" bIns="0" anchor="t">
            <a:noAutofit/>
          </a:bodyPr>
          <a:lstStyle/>
          <a:p>
            <a:pPr algn="l">
              <a:defRPr sz="2025" b="0">
                <a:solidFill>
                  <a:srgbClr val="1C2432"/>
                </a:solidFill>
                <a:latin typeface="Roboto"/>
                <a:ea typeface="Roboto"/>
                <a:cs typeface="Roboto"/>
              </a:defRPr>
            </a:pPr>
            <a:r>
              <a:rPr sz="2025" b="0">
                <a:solidFill>
                  <a:srgbClr val="1C2432"/>
                </a:solidFill>
                <a:latin typeface="Roboto"/>
                <a:ea typeface="Roboto"/>
                <a:cs typeface="Roboto"/>
              </a:rPr>
              <a:t>Handover</a:t>
            </a:r>
          </a:p>
        </p:txBody>
      </p:sp>
      <p:sp>
        <p:nvSpPr>
          <p:cNvPr id="544" name="Text">
            <a:extLst>
              <a:ext uri="{FF2B5EF4-FFF2-40B4-BE49-F238E27FC236}">
                <a16:creationId xmlns:a16="http://schemas.microsoft.com/office/drawing/2014/main" id="{50D3CA03-5BA8-4ECA-B4F6-D0BC999A3E0D}"/>
              </a:ext>
            </a:extLst>
          </p:cNvPr>
          <p:cNvSpPr>
            <a:spLocks noGrp="1"/>
          </p:cNvSpPr>
          <p:nvPr/>
        </p:nvSpPr>
        <p:spPr>
          <a:xfrm>
            <a:off x="11277600" y="4391025"/>
            <a:ext cx="523875" cy="371475"/>
          </a:xfrm>
          <a:prstGeom prst="rect">
            <a:avLst/>
          </a:prstGeom>
          <a:noFill/>
          <a:ln w="0">
            <a:noFill/>
          </a:ln>
        </p:spPr>
        <p:txBody>
          <a:bodyPr wrap="square" lIns="0" tIns="0" rIns="0" bIns="0" anchor="t">
            <a:noAutofit/>
          </a:bodyPr>
          <a:lstStyle/>
          <a:p>
            <a:pPr algn="l">
              <a:defRPr sz="1575" b="1">
                <a:solidFill>
                  <a:srgbClr val="355CC9"/>
                </a:solidFill>
                <a:latin typeface="Roboto"/>
                <a:ea typeface="Roboto"/>
                <a:cs typeface="Roboto"/>
              </a:defRPr>
            </a:pPr>
            <a:r>
              <a:rPr sz="1575" b="1">
                <a:solidFill>
                  <a:srgbClr val="355CC9"/>
                </a:solidFill>
                <a:latin typeface="Roboto"/>
                <a:ea typeface="Roboto"/>
                <a:cs typeface="Roboto"/>
              </a:rPr>
              <a:t>G5</a:t>
            </a:r>
          </a:p>
        </p:txBody>
      </p:sp>
      <p:sp>
        <p:nvSpPr>
          <p:cNvPr id="545" name="Text">
            <a:extLst>
              <a:ext uri="{FF2B5EF4-FFF2-40B4-BE49-F238E27FC236}">
                <a16:creationId xmlns:a16="http://schemas.microsoft.com/office/drawing/2014/main" id="{C6223B3B-08FC-4BF7-B792-A62894F28386}"/>
              </a:ext>
            </a:extLst>
          </p:cNvPr>
          <p:cNvSpPr>
            <a:spLocks noGrp="1"/>
          </p:cNvSpPr>
          <p:nvPr/>
        </p:nvSpPr>
        <p:spPr>
          <a:xfrm>
            <a:off x="2705100" y="1933575"/>
            <a:ext cx="7143750" cy="323850"/>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Delivery weeks</a:t>
            </a:r>
          </a:p>
        </p:txBody>
      </p:sp>
      <p:sp>
        <p:nvSpPr>
          <p:cNvPr id="546" name="Evidence qualification">
            <a:extLst>
              <a:ext uri="{FF2B5EF4-FFF2-40B4-BE49-F238E27FC236}">
                <a16:creationId xmlns:a16="http://schemas.microsoft.com/office/drawing/2014/main" id="{B8EF1883-CF52-4ED7-ABD2-46A8DCBC2B88}"/>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Proposed: 28 Sep 2026–4 Apr 2027. Pause new enrolment 21 Dec–10 Jan; follow enrolled cases throughout.</a:t>
            </a:r>
          </a:p>
        </p:txBody>
      </p:sp>
      <p:sp>
        <p:nvSpPr>
          <p:cNvPr id="547" name="DetailV2_11_9">
            <a:extLst>
              <a:ext uri="{FF2B5EF4-FFF2-40B4-BE49-F238E27FC236}">
                <a16:creationId xmlns:a16="http://schemas.microsoft.com/office/drawing/2014/main" id="{69BA3AF7-C16E-49C1-B27C-D1057A02F36D}"/>
              </a:ext>
            </a:extLst>
          </p:cNvPr>
          <p:cNvSpPr>
            <a:spLocks noGrp="1"/>
          </p:cNvSpPr>
          <p:nvPr/>
        </p:nvSpPr>
        <p:spPr>
          <a:xfrm>
            <a:off x="609600" y="5086350"/>
            <a:ext cx="8096250" cy="33337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G1: supported option and affordable design, or stop.</a:t>
            </a:r>
          </a:p>
        </p:txBody>
      </p:sp>
    </p:spTree>
    <p:extLst>
      <p:ext uri="{BB962C8B-B14F-4D97-AF65-F5344CB8AC3E}">
        <p14:creationId xmlns:p14="http://schemas.microsoft.com/office/powerpoint/2010/main" val="1338300922"/>
      </p:ext>
    </p:extLst>
  </p:cSld>
  <p:clrMapOvr>
    <a:masterClrMapping/>
  </p:clrMapOvr>
  <p:transition advClick="0" advTm="2000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4DB16885-0D3F-A391-B669-3211DB3B26E8}" type="slidenum">
              <a:rPr sz="1050" b="0">
                <a:solidFill>
                  <a:srgbClr val="59657A"/>
                </a:solidFill>
                <a:latin typeface="Roboto"/>
                <a:ea typeface="Roboto"/>
                <a:cs typeface="Roboto"/>
              </a:rPr>
              <a:t>12</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A proposed team with clear accountability</a:t>
            </a:r>
            <a:endParaRPr>
              <a:solidFill>
                <a:schemeClr val="accent1"/>
              </a:solidFill>
            </a:endParaRPr>
          </a:p>
        </p:txBody>
      </p:sp>
      <p:sp>
        <p:nvSpPr>
          <p:cNvPr id="7" name="Google Shape;534;p58">
            <a:extLst>
              <a:ext uri="{FF2B5EF4-FFF2-40B4-BE49-F238E27FC236}">
                <a16:creationId xmlns:a16="http://schemas.microsoft.com/office/drawing/2014/main" id="{71547039-AB2A-5CA1-49F7-26E9E71601EF}"/>
              </a:ext>
            </a:extLst>
          </p:cNvPr>
          <p:cNvSpPr>
            <a:spLocks noGrp="1"/>
          </p:cNvSpPr>
          <p:nvPr/>
        </p:nvSpPr>
        <p:spPr>
          <a:xfrm>
            <a:off x="393700" y="2774196"/>
            <a:ext cx="3606800" cy="3220203"/>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8" name="Google Shape;534;p58">
            <a:extLst>
              <a:ext uri="{FF2B5EF4-FFF2-40B4-BE49-F238E27FC236}">
                <a16:creationId xmlns:a16="http://schemas.microsoft.com/office/drawing/2014/main" id="{D136FB89-7449-CC90-F061-B6BF578EA25E}"/>
              </a:ext>
            </a:extLst>
          </p:cNvPr>
          <p:cNvSpPr>
            <a:spLocks noGrp="1"/>
          </p:cNvSpPr>
          <p:nvPr/>
        </p:nvSpPr>
        <p:spPr>
          <a:xfrm>
            <a:off x="393700" y="1564835"/>
            <a:ext cx="3606800" cy="1178365"/>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4" name="Text">
            <a:extLst>
              <a:ext uri="{FF2B5EF4-FFF2-40B4-BE49-F238E27FC236}">
                <a16:creationId xmlns:a16="http://schemas.microsoft.com/office/drawing/2014/main" id="{32E5A291-A482-47E9-B32C-06EADFE3B9C0}"/>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Hypothetical consulting profiles</a:t>
            </a:r>
          </a:p>
        </p:txBody>
      </p:sp>
      <p:graphicFrame>
        <p:nvGraphicFramePr>
          <p:cNvPr id="542" name="Table 541"/>
          <p:cNvGraphicFramePr/>
          <p:nvPr/>
        </p:nvGraphicFramePr>
        <p:xfrm>
          <a:off x="609600" y="2019300"/>
          <a:ext cx="10858500" cy="2381250"/>
        </p:xfrm>
        <a:graphic>
          <a:graphicData uri="http://schemas.openxmlformats.org/drawingml/2006/table">
            <a:tbl>
              <a:tblPr firstRow="1"/>
              <a:tblGrid>
                <a:gridCol w="5048250">
                  <a:extLst>
                    <a:ext uri="{9D8B030D-6E8A-4147-A177-3AD203B41FA5}">
                      <a16:colId xmlns:a16="http://schemas.microsoft.com/office/drawing/2014/main" val="20000"/>
                    </a:ext>
                  </a:extLst>
                </a:gridCol>
                <a:gridCol w="5810250">
                  <a:extLst>
                    <a:ext uri="{9D8B030D-6E8A-4147-A177-3AD203B41FA5}">
                      <a16:colId xmlns:a16="http://schemas.microsoft.com/office/drawing/2014/main" val="20001"/>
                    </a:ext>
                  </a:extLst>
                </a:gridCol>
              </a:tblGrid>
              <a:tr h="476250">
                <a:tc>
                  <a:txBody>
                    <a:bodyPr/>
                    <a:lstStyle/>
                    <a:p>
                      <a:r>
                        <a:rPr sz="1800" b="1">
                          <a:solidFill>
                            <a:srgbClr val="355CC9"/>
                          </a:solidFill>
                          <a:latin typeface="Roboto"/>
                          <a:ea typeface="Roboto"/>
                          <a:cs typeface="Roboto"/>
                        </a:rPr>
                        <a:t>Role</a:t>
                      </a:r>
                    </a:p>
                  </a:txBody>
                  <a:tcPr marL="114300" marR="114300" marT="76200" marB="76200" anchor="ctr">
                    <a:solidFill>
                      <a:srgbClr val="EAF0FC"/>
                    </a:solidFill>
                  </a:tcPr>
                </a:tc>
                <a:tc>
                  <a:txBody>
                    <a:bodyPr/>
                    <a:lstStyle/>
                    <a:p>
                      <a:r>
                        <a:rPr sz="1800" b="1">
                          <a:solidFill>
                            <a:srgbClr val="355CC9"/>
                          </a:solidFill>
                          <a:latin typeface="Roboto"/>
                          <a:ea typeface="Roboto"/>
                          <a:cs typeface="Roboto"/>
                        </a:rPr>
                        <a:t>Accountable output</a:t>
                      </a:r>
                    </a:p>
                  </a:txBody>
                  <a:tcPr marL="114300" marR="114300" marT="76200" marB="76200" anchor="ctr">
                    <a:solidFill>
                      <a:srgbClr val="EAF0FC"/>
                    </a:solidFill>
                  </a:tcPr>
                </a:tc>
                <a:extLst>
                  <a:ext uri="{0D108BD9-81ED-4DB2-BD59-A6C34878D82A}">
                    <a16:rowId xmlns:a16="http://schemas.microsoft.com/office/drawing/2014/main" val="10000"/>
                  </a:ext>
                </a:extLst>
              </a:tr>
              <a:tr h="476250">
                <a:tc>
                  <a:txBody>
                    <a:bodyPr/>
                    <a:lstStyle/>
                    <a:p>
                      <a:r>
                        <a:rPr sz="1800">
                          <a:solidFill>
                            <a:srgbClr val="1C2432"/>
                          </a:solidFill>
                          <a:latin typeface="Roboto"/>
                          <a:ea typeface="Roboto"/>
                          <a:cs typeface="Roboto"/>
                        </a:rPr>
                        <a:t>Ryan Li  Engagement and operational lead</a:t>
                      </a:r>
                    </a:p>
                  </a:txBody>
                  <a:tcPr marL="114300" marR="114300" marT="76200" marB="76200" anchor="ctr">
                    <a:solidFill>
                      <a:srgbClr val="F8FBFD"/>
                    </a:solidFill>
                  </a:tcPr>
                </a:tc>
                <a:tc>
                  <a:txBody>
                    <a:bodyPr/>
                    <a:lstStyle/>
                    <a:p>
                      <a:r>
                        <a:rPr sz="1800">
                          <a:solidFill>
                            <a:srgbClr val="1C2432"/>
                          </a:solidFill>
                          <a:latin typeface="Roboto"/>
                          <a:ea typeface="Roboto"/>
                          <a:cs typeface="Roboto"/>
                        </a:rPr>
                        <a:t>Evidence, process design and funding gates</a:t>
                      </a:r>
                    </a:p>
                  </a:txBody>
                  <a:tcPr marL="114300" marR="114300" marT="76200" marB="76200" anchor="ctr">
                    <a:solidFill>
                      <a:srgbClr val="F8FBFD"/>
                    </a:solidFill>
                  </a:tcPr>
                </a:tc>
                <a:extLst>
                  <a:ext uri="{0D108BD9-81ED-4DB2-BD59-A6C34878D82A}">
                    <a16:rowId xmlns:a16="http://schemas.microsoft.com/office/drawing/2014/main" val="10001"/>
                  </a:ext>
                </a:extLst>
              </a:tr>
              <a:tr h="476250">
                <a:tc>
                  <a:txBody>
                    <a:bodyPr/>
                    <a:lstStyle/>
                    <a:p>
                      <a:r>
                        <a:rPr sz="1800">
                          <a:solidFill>
                            <a:srgbClr val="1C2432"/>
                          </a:solidFill>
                          <a:latin typeface="Roboto"/>
                          <a:ea typeface="Roboto"/>
                          <a:cs typeface="Roboto"/>
                        </a:rPr>
                        <a:t>Rae Huang  Financial lead</a:t>
                      </a:r>
                    </a:p>
                  </a:txBody>
                  <a:tcPr marL="114300" marR="114300" marT="76200" marB="76200" anchor="ctr">
                    <a:solidFill>
                      <a:srgbClr val="F8FBFD"/>
                    </a:solidFill>
                  </a:tcPr>
                </a:tc>
                <a:tc>
                  <a:txBody>
                    <a:bodyPr/>
                    <a:lstStyle/>
                    <a:p>
                      <a:r>
                        <a:rPr sz="1800">
                          <a:solidFill>
                            <a:srgbClr val="1C2432"/>
                          </a:solidFill>
                          <a:latin typeface="Roboto"/>
                          <a:ea typeface="Roboto"/>
                          <a:cs typeface="Roboto"/>
                        </a:rPr>
                        <a:t>Cost reconciliation and realised savings</a:t>
                      </a:r>
                    </a:p>
                  </a:txBody>
                  <a:tcPr marL="114300" marR="114300" marT="76200" marB="76200" anchor="ctr">
                    <a:solidFill>
                      <a:srgbClr val="F8FBFD"/>
                    </a:solidFill>
                  </a:tcPr>
                </a:tc>
                <a:extLst>
                  <a:ext uri="{0D108BD9-81ED-4DB2-BD59-A6C34878D82A}">
                    <a16:rowId xmlns:a16="http://schemas.microsoft.com/office/drawing/2014/main" val="10002"/>
                  </a:ext>
                </a:extLst>
              </a:tr>
              <a:tr h="476250">
                <a:tc>
                  <a:txBody>
                    <a:bodyPr/>
                    <a:lstStyle/>
                    <a:p>
                      <a:r>
                        <a:rPr sz="1800">
                          <a:solidFill>
                            <a:srgbClr val="1C2432"/>
                          </a:solidFill>
                          <a:latin typeface="Roboto"/>
                          <a:ea typeface="Roboto"/>
                          <a:cs typeface="Roboto"/>
                        </a:rPr>
                        <a:t>Francis Lee  Strategic lead</a:t>
                      </a:r>
                    </a:p>
                  </a:txBody>
                  <a:tcPr marL="114300" marR="114300" marT="76200" marB="76200" anchor="ctr">
                    <a:solidFill>
                      <a:srgbClr val="F8FBFD"/>
                    </a:solidFill>
                  </a:tcPr>
                </a:tc>
                <a:tc>
                  <a:txBody>
                    <a:bodyPr/>
                    <a:lstStyle/>
                    <a:p>
                      <a:r>
                        <a:rPr sz="1800">
                          <a:solidFill>
                            <a:srgbClr val="1C2432"/>
                          </a:solidFill>
                          <a:latin typeface="Roboto"/>
                          <a:ea typeface="Roboto"/>
                          <a:cs typeface="Roboto"/>
                        </a:rPr>
                        <a:t>Option appraisal and investment challenge</a:t>
                      </a:r>
                    </a:p>
                  </a:txBody>
                  <a:tcPr marL="114300" marR="114300" marT="76200" marB="76200" anchor="ctr">
                    <a:solidFill>
                      <a:srgbClr val="F8FBFD"/>
                    </a:solidFill>
                  </a:tcPr>
                </a:tc>
                <a:extLst>
                  <a:ext uri="{0D108BD9-81ED-4DB2-BD59-A6C34878D82A}">
                    <a16:rowId xmlns:a16="http://schemas.microsoft.com/office/drawing/2014/main" val="10003"/>
                  </a:ext>
                </a:extLst>
              </a:tr>
              <a:tr h="476250">
                <a:tc>
                  <a:txBody>
                    <a:bodyPr/>
                    <a:lstStyle/>
                    <a:p>
                      <a:r>
                        <a:rPr sz="1800">
                          <a:solidFill>
                            <a:srgbClr val="1C2432"/>
                          </a:solidFill>
                          <a:latin typeface="Roboto"/>
                          <a:ea typeface="Roboto"/>
                          <a:cs typeface="Roboto"/>
                        </a:rPr>
                        <a:t>Xuan Zeng  Organisational lead</a:t>
                      </a:r>
                    </a:p>
                  </a:txBody>
                  <a:tcPr marL="114300" marR="114300" marT="76200" marB="76200" anchor="ctr">
                    <a:solidFill>
                      <a:srgbClr val="F8FBFD"/>
                    </a:solidFill>
                  </a:tcPr>
                </a:tc>
                <a:tc>
                  <a:txBody>
                    <a:bodyPr/>
                    <a:lstStyle/>
                    <a:p>
                      <a:r>
                        <a:rPr sz="1800">
                          <a:solidFill>
                            <a:srgbClr val="1C2432"/>
                          </a:solidFill>
                          <a:latin typeface="Roboto"/>
                          <a:ea typeface="Roboto"/>
                          <a:cs typeface="Roboto"/>
                        </a:rPr>
                        <a:t>Readiness, adoption and ownership transfer</a:t>
                      </a:r>
                    </a:p>
                  </a:txBody>
                  <a:tcPr marL="114300" marR="114300" marT="76200" marB="76200" anchor="ctr">
                    <a:solidFill>
                      <a:srgbClr val="F8FBFD"/>
                    </a:solidFill>
                  </a:tcPr>
                </a:tc>
                <a:extLst>
                  <a:ext uri="{0D108BD9-81ED-4DB2-BD59-A6C34878D82A}">
                    <a16:rowId xmlns:a16="http://schemas.microsoft.com/office/drawing/2014/main" val="10004"/>
                  </a:ext>
                </a:extLst>
              </a:tr>
            </a:tbl>
          </a:graphicData>
        </a:graphic>
      </p:graphicFrame>
      <p:sp>
        <p:nvSpPr>
          <p:cNvPr id="536" name="Evidence qualification">
            <a:extLst>
              <a:ext uri="{FF2B5EF4-FFF2-40B4-BE49-F238E27FC236}">
                <a16:creationId xmlns:a16="http://schemas.microsoft.com/office/drawing/2014/main" id="{D4B31803-5A6E-4C10-9D9C-FBCF82013691}"/>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Assumed project capabilities, not claims of professional experience or Spark employment.</a:t>
            </a:r>
          </a:p>
        </p:txBody>
      </p:sp>
      <p:sp>
        <p:nvSpPr>
          <p:cNvPr id="543" name="DetailV2_12_10">
            <a:extLst>
              <a:ext uri="{FF2B5EF4-FFF2-40B4-BE49-F238E27FC236}">
                <a16:creationId xmlns:a16="http://schemas.microsoft.com/office/drawing/2014/main" id="{5BF59AD9-A315-406A-B24D-4E59E81AD995}"/>
              </a:ext>
            </a:extLst>
          </p:cNvPr>
          <p:cNvSpPr>
            <a:spLocks noGrp="1"/>
          </p:cNvSpPr>
          <p:nvPr/>
        </p:nvSpPr>
        <p:spPr>
          <a:xfrm>
            <a:off x="609600" y="4791075"/>
            <a:ext cx="8096250" cy="314325"/>
          </a:xfrm>
          <a:prstGeom prst="rect">
            <a:avLst/>
          </a:prstGeom>
          <a:noFill/>
          <a:ln w="0">
            <a:noFill/>
          </a:ln>
        </p:spPr>
        <p:txBody>
          <a:bodyPr wrap="square" lIns="0" tIns="0" rIns="0" bIns="0" anchor="t">
            <a:noAutofit/>
          </a:bodyPr>
          <a:lstStyle/>
          <a:p>
            <a:pPr algn="l">
              <a:defRPr sz="1800" b="1">
                <a:solidFill>
                  <a:srgbClr val="355CC9"/>
                </a:solidFill>
                <a:latin typeface="Roboto"/>
                <a:ea typeface="Roboto"/>
                <a:cs typeface="Roboto"/>
              </a:defRPr>
            </a:pPr>
            <a:r>
              <a:rPr sz="1800" b="1">
                <a:solidFill>
                  <a:srgbClr val="355CC9"/>
                </a:solidFill>
                <a:latin typeface="Roboto"/>
                <a:ea typeface="Roboto"/>
                <a:cs typeface="Roboto"/>
              </a:rPr>
              <a:t>Client decision rights</a:t>
            </a:r>
          </a:p>
        </p:txBody>
      </p:sp>
      <p:sp>
        <p:nvSpPr>
          <p:cNvPr id="544" name="DetailV2_12_11">
            <a:extLst>
              <a:ext uri="{FF2B5EF4-FFF2-40B4-BE49-F238E27FC236}">
                <a16:creationId xmlns:a16="http://schemas.microsoft.com/office/drawing/2014/main" id="{9A5F3F4D-B818-4C3F-A8AC-D369D7B2F3C4}"/>
              </a:ext>
            </a:extLst>
          </p:cNvPr>
          <p:cNvSpPr>
            <a:spLocks noGrp="1"/>
          </p:cNvSpPr>
          <p:nvPr/>
        </p:nvSpPr>
        <p:spPr>
          <a:xfrm>
            <a:off x="609600" y="5153025"/>
            <a:ext cx="8096250" cy="314325"/>
          </a:xfrm>
          <a:prstGeom prst="rect">
            <a:avLst/>
          </a:prstGeom>
          <a:noFill/>
          <a:ln w="0">
            <a:noFill/>
          </a:ln>
        </p:spPr>
        <p:txBody>
          <a:bodyPr wrap="square" lIns="0" tIns="0" rIns="0" bIns="0" anchor="t">
            <a:noAutofit/>
          </a:bodyPr>
          <a:lstStyle/>
          <a:p>
            <a:pPr algn="l">
              <a:defRPr sz="1650" b="0">
                <a:solidFill>
                  <a:srgbClr val="59657A"/>
                </a:solidFill>
                <a:latin typeface="Roboto"/>
                <a:ea typeface="Roboto"/>
                <a:cs typeface="Roboto"/>
              </a:defRPr>
            </a:pPr>
            <a:r>
              <a:rPr sz="1650" b="0">
                <a:solidFill>
                  <a:srgbClr val="59657A"/>
                </a:solidFill>
                <a:latin typeface="Roboto"/>
                <a:ea typeface="Roboto"/>
                <a:cs typeface="Roboto"/>
              </a:rPr>
              <a:t>Spark owns production changes, partner commitments and service decisions.</a:t>
            </a:r>
          </a:p>
        </p:txBody>
      </p:sp>
    </p:spTree>
    <p:extLst>
      <p:ext uri="{BB962C8B-B14F-4D97-AF65-F5344CB8AC3E}">
        <p14:creationId xmlns:p14="http://schemas.microsoft.com/office/powerpoint/2010/main" val="122579560"/>
      </p:ext>
    </p:extLst>
  </p:cSld>
  <p:clrMapOvr>
    <a:masterClrMapping/>
  </p:clrMapOvr>
  <p:transition advClick="0" advTm="2000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DetailV2_13_12">
            <a:extLst>
              <a:ext uri="{FF2B5EF4-FFF2-40B4-BE49-F238E27FC236}">
                <a16:creationId xmlns:a16="http://schemas.microsoft.com/office/drawing/2014/main" id="{9B4725EC-0659-4246-AE72-4FD9FC81E63B}"/>
              </a:ext>
            </a:extLst>
          </p:cNvPr>
          <p:cNvSpPr>
            <a:spLocks noGrp="1"/>
          </p:cNvSpPr>
          <p:nvPr/>
        </p:nvSpPr>
        <p:spPr>
          <a:xfrm>
            <a:off x="609600" y="2257425"/>
            <a:ext cx="6572250" cy="400050"/>
          </a:xfrm>
          <a:prstGeom prst="rect">
            <a:avLst/>
          </a:prstGeom>
          <a:noFill/>
          <a:ln w="0">
            <a:noFill/>
          </a:ln>
        </p:spPr>
        <p:txBody>
          <a:bodyPr wrap="square" lIns="0" tIns="0" rIns="0" bIns="0" anchor="t">
            <a:noAutofit/>
          </a:bodyPr>
          <a:lstStyle/>
          <a:p>
            <a:pPr algn="l">
              <a:defRPr sz="2175" b="0">
                <a:solidFill>
                  <a:srgbClr val="1C2432"/>
                </a:solidFill>
                <a:latin typeface="Roboto"/>
                <a:ea typeface="Roboto"/>
                <a:cs typeface="Roboto"/>
              </a:defRPr>
            </a:pPr>
            <a:r>
              <a:rPr sz="2175" b="0">
                <a:solidFill>
                  <a:srgbClr val="1C2432"/>
                </a:solidFill>
                <a:latin typeface="Roboto"/>
                <a:ea typeface="Roboto"/>
                <a:cs typeface="Roboto"/>
              </a:rPr>
              <a:t>Sponsor and service owner</a:t>
            </a: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2DD23107-4986-8758-3A93-3D74F35908CC}" type="slidenum">
              <a:rPr sz="1050" b="0">
                <a:solidFill>
                  <a:srgbClr val="59657A"/>
                </a:solidFill>
                <a:latin typeface="Roboto"/>
                <a:ea typeface="Roboto"/>
                <a:cs typeface="Roboto"/>
              </a:rPr>
              <a:t>13</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Client resources needed for diagnosis</a:t>
            </a:r>
          </a:p>
        </p:txBody>
      </p:sp>
      <p:sp>
        <p:nvSpPr>
          <p:cNvPr id="2" name="Google Shape;534;p58">
            <a:extLst>
              <a:ext uri="{FF2B5EF4-FFF2-40B4-BE49-F238E27FC236}">
                <a16:creationId xmlns:a16="http://schemas.microsoft.com/office/drawing/2014/main" id="{A4A94F3C-B1B2-7289-7098-7C66C8A291D6}"/>
              </a:ext>
            </a:extLst>
          </p:cNvPr>
          <p:cNvSpPr>
            <a:spLocks noGrp="1"/>
          </p:cNvSpPr>
          <p:nvPr/>
        </p:nvSpPr>
        <p:spPr>
          <a:xfrm>
            <a:off x="7734300" y="2238375"/>
            <a:ext cx="3619500" cy="2257425"/>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lnSpc>
                <a:spcPct val="114000"/>
              </a:lnSpc>
              <a:spcBef>
                <a:spcPts val="0"/>
              </a:spcBef>
              <a:spcAft>
                <a:spcPts val="800"/>
              </a:spcAft>
              <a:buFont typeface="Arial"/>
              <a:buNone/>
              <a:defRPr sz="2175" b="0">
                <a:solidFill>
                  <a:srgbClr val="355CC9"/>
                </a:solidFill>
                <a:latin typeface="Roboto"/>
                <a:ea typeface="Roboto"/>
                <a:cs typeface="Roboto"/>
              </a:defRPr>
            </a:pPr>
            <a:r>
              <a:rPr sz="2175" b="0">
                <a:solidFill>
                  <a:srgbClr val="355CC9"/>
                </a:solidFill>
                <a:latin typeface="Roboto"/>
                <a:ea typeface="Roboto"/>
                <a:cs typeface="Roboto"/>
              </a:rPr>
              <a:t>540 client hours</a:t>
            </a:r>
          </a:p>
          <a:p>
            <a:pPr marL="0" indent="0" algn="l">
              <a:lnSpc>
                <a:spcPct val="114000"/>
              </a:lnSpc>
              <a:spcBef>
                <a:spcPts val="0"/>
              </a:spcBef>
              <a:spcAft>
                <a:spcPts val="800"/>
              </a:spcAft>
              <a:buFont typeface="Arial"/>
              <a:buNone/>
              <a:defRPr sz="2175" b="0">
                <a:solidFill>
                  <a:srgbClr val="355CC9"/>
                </a:solidFill>
                <a:latin typeface="Roboto"/>
                <a:ea typeface="Roboto"/>
                <a:cs typeface="Roboto"/>
              </a:defRPr>
            </a:pPr>
            <a:r>
              <a:rPr sz="2175" b="0">
                <a:solidFill>
                  <a:srgbClr val="355CC9"/>
                </a:solidFill>
                <a:latin typeface="Roboto"/>
                <a:ea typeface="Roboto"/>
                <a:cs typeface="Roboto"/>
              </a:rPr>
              <a:t>Conditional full engagement</a:t>
            </a:r>
          </a:p>
          <a:p>
            <a:pPr marL="0" indent="0">
              <a:lnSpc>
                <a:spcPct val="114000"/>
              </a:lnSpc>
              <a:spcBef>
                <a:spcPts val="0"/>
              </a:spcBef>
              <a:spcAft>
                <a:spcPts val="800"/>
              </a:spcAft>
              <a:buFont typeface="Arial"/>
              <a:buNone/>
            </a:pPr>
            <a:endParaRPr sz="2175" b="0">
              <a:solidFill>
                <a:srgbClr val="355CC9"/>
              </a:solidFill>
              <a:latin typeface="Roboto"/>
              <a:ea typeface="Roboto"/>
              <a:cs typeface="Roboto"/>
            </a:endParaRPr>
          </a:p>
          <a:p>
            <a:pPr marL="0" indent="0" algn="l">
              <a:lnSpc>
                <a:spcPct val="114000"/>
              </a:lnSpc>
              <a:spcBef>
                <a:spcPts val="0"/>
              </a:spcBef>
              <a:spcAft>
                <a:spcPts val="800"/>
              </a:spcAft>
              <a:buFont typeface="Arial"/>
              <a:buNone/>
              <a:defRPr sz="2175" b="0">
                <a:solidFill>
                  <a:srgbClr val="355CC9"/>
                </a:solidFill>
                <a:latin typeface="Roboto"/>
                <a:ea typeface="Roboto"/>
                <a:cs typeface="Roboto"/>
              </a:defRPr>
            </a:pPr>
            <a:r>
              <a:rPr sz="2175" b="0">
                <a:solidFill>
                  <a:srgbClr val="355CC9"/>
                </a:solidFill>
                <a:latin typeface="Roboto"/>
                <a:ea typeface="Roboto"/>
                <a:cs typeface="Roboto"/>
              </a:rPr>
              <a:t>NZ$43,200 opportunity cost</a:t>
            </a:r>
          </a:p>
          <a:p>
            <a:pPr marL="0" indent="0" algn="l">
              <a:lnSpc>
                <a:spcPct val="114000"/>
              </a:lnSpc>
              <a:spcBef>
                <a:spcPts val="0"/>
              </a:spcBef>
              <a:spcAft>
                <a:spcPts val="800"/>
              </a:spcAft>
              <a:buFont typeface="Arial"/>
              <a:buNone/>
              <a:defRPr sz="2175" b="0">
                <a:solidFill>
                  <a:srgbClr val="355CC9"/>
                </a:solidFill>
                <a:latin typeface="Roboto"/>
                <a:ea typeface="Roboto"/>
                <a:cs typeface="Roboto"/>
              </a:defRPr>
            </a:pPr>
            <a:r>
              <a:rPr sz="2175" b="0">
                <a:solidFill>
                  <a:srgbClr val="355CC9"/>
                </a:solidFill>
                <a:latin typeface="Roboto"/>
                <a:ea typeface="Roboto"/>
                <a:cs typeface="Roboto"/>
              </a:rPr>
              <a:t>At an assumed NZ$80/hour</a:t>
            </a:r>
          </a:p>
        </p:txBody>
      </p:sp>
      <p:sp>
        <p:nvSpPr>
          <p:cNvPr id="3" name="Google Shape;534;p58">
            <a:extLst>
              <a:ext uri="{FF2B5EF4-FFF2-40B4-BE49-F238E27FC236}">
                <a16:creationId xmlns:a16="http://schemas.microsoft.com/office/drawing/2014/main" id="{FD46BF2A-8122-2E0A-E8CC-886653CF64DA}"/>
              </a:ext>
            </a:extLst>
          </p:cNvPr>
          <p:cNvSpPr>
            <a:spLocks noGrp="1"/>
          </p:cNvSpPr>
          <p:nvPr/>
        </p:nvSpPr>
        <p:spPr>
          <a:xfrm>
            <a:off x="393700" y="1310936"/>
            <a:ext cx="5537200" cy="719318"/>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5" name="Text">
            <a:extLst>
              <a:ext uri="{FF2B5EF4-FFF2-40B4-BE49-F238E27FC236}">
                <a16:creationId xmlns:a16="http://schemas.microsoft.com/office/drawing/2014/main" id="{E2D94EFA-A9C1-4F06-94EB-2ACE89BEBA57}"/>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160 client hours in the initial six weeks</a:t>
            </a:r>
          </a:p>
        </p:txBody>
      </p:sp>
      <p:sp>
        <p:nvSpPr>
          <p:cNvPr id="536" name="Evidence qualification">
            <a:extLst>
              <a:ext uri="{FF2B5EF4-FFF2-40B4-BE49-F238E27FC236}">
                <a16:creationId xmlns:a16="http://schemas.microsoft.com/office/drawing/2014/main" id="{341EFC22-28F5-452A-9CC8-6C5AE8254B96}"/>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Diagnosis time: NZ$12,800 opportunity cost at NZ$80/hour. Separate from consultant cash fees.</a:t>
            </a:r>
          </a:p>
        </p:txBody>
      </p:sp>
      <p:sp>
        <p:nvSpPr>
          <p:cNvPr id="537" name="Source citation">
            <a:extLst>
              <a:ext uri="{FF2B5EF4-FFF2-40B4-BE49-F238E27FC236}">
                <a16:creationId xmlns:a16="http://schemas.microsoft.com/office/drawing/2014/main" id="{3A10AFDE-A536-4120-83E5-BFF7FA66BDDE}"/>
              </a:ext>
            </a:extLst>
          </p:cNvPr>
          <p:cNvSpPr>
            <a:spLocks noGrp="1"/>
          </p:cNvSpPr>
          <p:nvPr/>
        </p:nvSpPr>
        <p:spPr>
          <a:xfrm>
            <a:off x="609600" y="6172200"/>
            <a:ext cx="8239125" cy="314325"/>
          </a:xfrm>
          <a:prstGeom prst="rect">
            <a:avLst/>
          </a:prstGeom>
          <a:noFill/>
          <a:ln w="0">
            <a:noFill/>
          </a:ln>
        </p:spPr>
        <p:txBody>
          <a:bodyPr wrap="square" lIns="0" tIns="0" rIns="0" bIns="0" anchor="t">
            <a:noAutofit/>
          </a:bodyPr>
          <a:lstStyle/>
          <a:p>
            <a:pPr algn="l">
              <a:defRPr sz="975" b="0">
                <a:solidFill>
                  <a:srgbClr val="59657A"/>
                </a:solidFill>
                <a:latin typeface="Roboto"/>
                <a:ea typeface="Roboto"/>
                <a:cs typeface="Roboto"/>
              </a:defRPr>
            </a:pPr>
            <a:r>
              <a:rPr sz="975" b="0">
                <a:solidFill>
                  <a:srgbClr val="59657A"/>
                </a:solidFill>
                <a:latin typeface="Roboto"/>
                <a:ea typeface="Roboto"/>
                <a:cs typeface="Roboto"/>
              </a:rPr>
              <a:t>Mills, 2025, 37:13–50:34; 1:00:36–1:06:53</a:t>
            </a:r>
          </a:p>
        </p:txBody>
      </p:sp>
      <p:sp>
        <p:nvSpPr>
          <p:cNvPr id="539" name="DetailV2_13_13">
            <a:extLst>
              <a:ext uri="{FF2B5EF4-FFF2-40B4-BE49-F238E27FC236}">
                <a16:creationId xmlns:a16="http://schemas.microsoft.com/office/drawing/2014/main" id="{4BFE2443-2113-462F-9AC3-5591B15E14A5}"/>
              </a:ext>
            </a:extLst>
          </p:cNvPr>
          <p:cNvSpPr>
            <a:spLocks noGrp="1"/>
          </p:cNvSpPr>
          <p:nvPr/>
        </p:nvSpPr>
        <p:spPr>
          <a:xfrm>
            <a:off x="609600" y="2686050"/>
            <a:ext cx="6572250" cy="33337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Confirm scope, owners and decision access.</a:t>
            </a:r>
          </a:p>
        </p:txBody>
      </p:sp>
      <p:sp>
        <p:nvSpPr>
          <p:cNvPr id="540" name="DetailV2_13_14">
            <a:extLst>
              <a:ext uri="{FF2B5EF4-FFF2-40B4-BE49-F238E27FC236}">
                <a16:creationId xmlns:a16="http://schemas.microsoft.com/office/drawing/2014/main" id="{EFD0D5B8-DF90-4FA7-A6FB-5D45FFA2FB90}"/>
              </a:ext>
            </a:extLst>
          </p:cNvPr>
          <p:cNvSpPr>
            <a:spLocks noGrp="1"/>
          </p:cNvSpPr>
          <p:nvPr/>
        </p:nvSpPr>
        <p:spPr>
          <a:xfrm>
            <a:off x="609600" y="3171825"/>
            <a:ext cx="6572250" cy="400050"/>
          </a:xfrm>
          <a:prstGeom prst="rect">
            <a:avLst/>
          </a:prstGeom>
          <a:noFill/>
          <a:ln w="0">
            <a:noFill/>
          </a:ln>
        </p:spPr>
        <p:txBody>
          <a:bodyPr wrap="square" lIns="0" tIns="0" rIns="0" bIns="0" anchor="t">
            <a:noAutofit/>
          </a:bodyPr>
          <a:lstStyle/>
          <a:p>
            <a:pPr algn="l">
              <a:defRPr sz="2175" b="0">
                <a:solidFill>
                  <a:srgbClr val="1C2432"/>
                </a:solidFill>
                <a:latin typeface="Roboto"/>
                <a:ea typeface="Roboto"/>
                <a:cs typeface="Roboto"/>
              </a:defRPr>
            </a:pPr>
            <a:r>
              <a:rPr sz="2175" b="0">
                <a:solidFill>
                  <a:srgbClr val="1C2432"/>
                </a:solidFill>
                <a:latin typeface="Roboto"/>
                <a:ea typeface="Roboto"/>
                <a:cs typeface="Roboto"/>
              </a:rPr>
              <a:t>Approved data and frontline access</a:t>
            </a:r>
          </a:p>
        </p:txBody>
      </p:sp>
      <p:sp>
        <p:nvSpPr>
          <p:cNvPr id="541" name="DetailV2_13_15">
            <a:extLst>
              <a:ext uri="{FF2B5EF4-FFF2-40B4-BE49-F238E27FC236}">
                <a16:creationId xmlns:a16="http://schemas.microsoft.com/office/drawing/2014/main" id="{9E28B585-5A7C-413D-91F6-CDD70C0DCB73}"/>
              </a:ext>
            </a:extLst>
          </p:cNvPr>
          <p:cNvSpPr>
            <a:spLocks noGrp="1"/>
          </p:cNvSpPr>
          <p:nvPr/>
        </p:nvSpPr>
        <p:spPr>
          <a:xfrm>
            <a:off x="609600" y="3600450"/>
            <a:ext cx="6572250" cy="33337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Provide deidentified records and staff walkthroughs.</a:t>
            </a:r>
          </a:p>
        </p:txBody>
      </p:sp>
      <p:sp>
        <p:nvSpPr>
          <p:cNvPr id="542" name="DetailV2_13_16">
            <a:extLst>
              <a:ext uri="{FF2B5EF4-FFF2-40B4-BE49-F238E27FC236}">
                <a16:creationId xmlns:a16="http://schemas.microsoft.com/office/drawing/2014/main" id="{0DD7E6E1-9283-42CD-8299-DA21BB307E2B}"/>
              </a:ext>
            </a:extLst>
          </p:cNvPr>
          <p:cNvSpPr>
            <a:spLocks noGrp="1"/>
          </p:cNvSpPr>
          <p:nvPr/>
        </p:nvSpPr>
        <p:spPr>
          <a:xfrm>
            <a:off x="609600" y="4086225"/>
            <a:ext cx="6572250" cy="400050"/>
          </a:xfrm>
          <a:prstGeom prst="rect">
            <a:avLst/>
          </a:prstGeom>
          <a:noFill/>
          <a:ln w="0">
            <a:noFill/>
          </a:ln>
        </p:spPr>
        <p:txBody>
          <a:bodyPr wrap="square" lIns="0" tIns="0" rIns="0" bIns="0" anchor="t">
            <a:noAutofit/>
          </a:bodyPr>
          <a:lstStyle/>
          <a:p>
            <a:pPr algn="l">
              <a:defRPr sz="2175" b="0">
                <a:solidFill>
                  <a:srgbClr val="1C2432"/>
                </a:solidFill>
                <a:latin typeface="Roboto"/>
                <a:ea typeface="Roboto"/>
                <a:cs typeface="Roboto"/>
              </a:defRPr>
            </a:pPr>
            <a:r>
              <a:rPr sz="2175" b="0">
                <a:solidFill>
                  <a:srgbClr val="1C2432"/>
                </a:solidFill>
                <a:latin typeface="Roboto"/>
                <a:ea typeface="Roboto"/>
                <a:cs typeface="Roboto"/>
              </a:rPr>
              <a:t>Partner liaison and Finance review</a:t>
            </a:r>
          </a:p>
        </p:txBody>
      </p:sp>
      <p:sp>
        <p:nvSpPr>
          <p:cNvPr id="543" name="DetailV2_13_17">
            <a:extLst>
              <a:ext uri="{FF2B5EF4-FFF2-40B4-BE49-F238E27FC236}">
                <a16:creationId xmlns:a16="http://schemas.microsoft.com/office/drawing/2014/main" id="{EF35B8A7-C830-474A-B444-90E672615831}"/>
              </a:ext>
            </a:extLst>
          </p:cNvPr>
          <p:cNvSpPr>
            <a:spLocks noGrp="1"/>
          </p:cNvSpPr>
          <p:nvPr/>
        </p:nvSpPr>
        <p:spPr>
          <a:xfrm>
            <a:off x="609600" y="4514850"/>
            <a:ext cx="6572250" cy="33337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Agree handoff rules and check the revised costs.</a:t>
            </a:r>
          </a:p>
        </p:txBody>
      </p:sp>
      <p:sp>
        <p:nvSpPr>
          <p:cNvPr id="544" name="ConciseSupport_13_8">
            <a:extLst>
              <a:ext uri="{FF2B5EF4-FFF2-40B4-BE49-F238E27FC236}">
                <a16:creationId xmlns:a16="http://schemas.microsoft.com/office/drawing/2014/main" id="{54C34C66-14DC-4E41-ADC5-432FA1DDC1C1}"/>
              </a:ext>
            </a:extLst>
          </p:cNvPr>
          <p:cNvSpPr>
            <a:spLocks noGrp="1"/>
          </p:cNvSpPr>
          <p:nvPr/>
        </p:nvSpPr>
        <p:spPr>
          <a:xfrm>
            <a:off x="609600" y="5057775"/>
            <a:ext cx="8096250" cy="342900"/>
          </a:xfrm>
          <a:prstGeom prst="rect">
            <a:avLst/>
          </a:prstGeom>
          <a:noFill/>
          <a:ln w="0">
            <a:noFill/>
          </a:ln>
        </p:spPr>
        <p:txBody>
          <a:bodyPr wrap="square" lIns="0" tIns="0" rIns="0" bIns="0" anchor="t">
            <a:noAutofit/>
          </a:bodyPr>
          <a:lstStyle/>
          <a:p>
            <a:pPr algn="l">
              <a:defRPr sz="1650" b="0">
                <a:solidFill>
                  <a:srgbClr val="59657A"/>
                </a:solidFill>
                <a:latin typeface="Roboto"/>
                <a:ea typeface="Roboto"/>
                <a:cs typeface="Roboto"/>
              </a:defRPr>
            </a:pPr>
            <a:r>
              <a:rPr sz="1650" b="0">
                <a:solidFill>
                  <a:srgbClr val="59657A"/>
                </a:solidFill>
                <a:latin typeface="Roboto"/>
                <a:ea typeface="Roboto"/>
                <a:cs typeface="Roboto"/>
              </a:rPr>
              <a:t>The initial 160 hours are included in the full 540-hour allowance.</a:t>
            </a:r>
          </a:p>
        </p:txBody>
      </p:sp>
    </p:spTree>
    <p:extLst>
      <p:ext uri="{BB962C8B-B14F-4D97-AF65-F5344CB8AC3E}">
        <p14:creationId xmlns:p14="http://schemas.microsoft.com/office/powerpoint/2010/main" val="1248306437"/>
      </p:ext>
    </p:extLst>
  </p:cSld>
  <p:clrMapOvr>
    <a:masterClrMapping/>
  </p:clrMapOvr>
  <p:transition advClick="0" advTm="2000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DetailV2_14_18">
            <a:extLst>
              <a:ext uri="{FF2B5EF4-FFF2-40B4-BE49-F238E27FC236}">
                <a16:creationId xmlns:a16="http://schemas.microsoft.com/office/drawing/2014/main" id="{DCC536D7-FB43-458A-BFEE-EF94935F2E4E}"/>
              </a:ext>
            </a:extLst>
          </p:cNvPr>
          <p:cNvSpPr>
            <a:spLocks noGrp="1"/>
          </p:cNvSpPr>
          <p:nvPr/>
        </p:nvSpPr>
        <p:spPr>
          <a:xfrm>
            <a:off x="609600" y="2257425"/>
            <a:ext cx="6572250" cy="400050"/>
          </a:xfrm>
          <a:prstGeom prst="rect">
            <a:avLst/>
          </a:prstGeom>
          <a:noFill/>
          <a:ln w="0">
            <a:noFill/>
          </a:ln>
        </p:spPr>
        <p:txBody>
          <a:bodyPr wrap="square" lIns="0" tIns="0" rIns="0" bIns="0" anchor="t">
            <a:noAutofit/>
          </a:bodyPr>
          <a:lstStyle/>
          <a:p>
            <a:pPr algn="l">
              <a:defRPr sz="2175" b="0">
                <a:solidFill>
                  <a:srgbClr val="1C2432"/>
                </a:solidFill>
                <a:latin typeface="Roboto"/>
                <a:ea typeface="Roboto"/>
                <a:cs typeface="Roboto"/>
              </a:defRPr>
            </a:pPr>
            <a:r>
              <a:rPr sz="2175" b="0">
                <a:solidFill>
                  <a:srgbClr val="1C2432"/>
                </a:solidFill>
                <a:latin typeface="Roboto"/>
                <a:ea typeface="Roboto"/>
                <a:cs typeface="Roboto"/>
              </a:rPr>
              <a:t>Practise normal and exception cases</a:t>
            </a: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327921A4-25C4-3DB4-06B1-32693CEE2241}" type="slidenum">
              <a:rPr sz="1050" b="0">
                <a:solidFill>
                  <a:srgbClr val="59657A"/>
                </a:solidFill>
                <a:latin typeface="Roboto"/>
                <a:ea typeface="Roboto"/>
                <a:cs typeface="Roboto"/>
              </a:rPr>
              <a:t>14</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Readiness before live use</a:t>
            </a:r>
          </a:p>
        </p:txBody>
      </p:sp>
      <p:sp>
        <p:nvSpPr>
          <p:cNvPr id="2" name="Google Shape;534;p58">
            <a:extLst>
              <a:ext uri="{FF2B5EF4-FFF2-40B4-BE49-F238E27FC236}">
                <a16:creationId xmlns:a16="http://schemas.microsoft.com/office/drawing/2014/main" id="{A4A94F3C-B1B2-7289-7098-7C66C8A291D6}"/>
              </a:ext>
            </a:extLst>
          </p:cNvPr>
          <p:cNvSpPr>
            <a:spLocks noGrp="1"/>
          </p:cNvSpPr>
          <p:nvPr/>
        </p:nvSpPr>
        <p:spPr>
          <a:xfrm>
            <a:off x="7734300" y="2238375"/>
            <a:ext cx="3619500" cy="2257425"/>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lnSpc>
                <a:spcPct val="114000"/>
              </a:lnSpc>
              <a:spcBef>
                <a:spcPts val="0"/>
              </a:spcBef>
              <a:spcAft>
                <a:spcPts val="800"/>
              </a:spcAft>
              <a:buFont typeface="Arial"/>
              <a:buNone/>
              <a:defRPr sz="2175" b="0">
                <a:solidFill>
                  <a:srgbClr val="355CC9"/>
                </a:solidFill>
                <a:latin typeface="Roboto"/>
                <a:ea typeface="Roboto"/>
                <a:cs typeface="Roboto"/>
              </a:defRPr>
            </a:pPr>
            <a:r>
              <a:rPr sz="2175" b="0">
                <a:solidFill>
                  <a:srgbClr val="355CC9"/>
                </a:solidFill>
                <a:latin typeface="Roboto"/>
                <a:ea typeface="Roboto"/>
                <a:cs typeface="Roboto"/>
              </a:rPr>
              <a:t>Daily reviews for the first</a:t>
            </a:r>
          </a:p>
          <a:p>
            <a:pPr marL="0" indent="0" algn="l">
              <a:lnSpc>
                <a:spcPct val="114000"/>
              </a:lnSpc>
              <a:spcBef>
                <a:spcPts val="0"/>
              </a:spcBef>
              <a:spcAft>
                <a:spcPts val="800"/>
              </a:spcAft>
              <a:buFont typeface="Arial"/>
              <a:buNone/>
              <a:defRPr sz="2175" b="0">
                <a:solidFill>
                  <a:srgbClr val="355CC9"/>
                </a:solidFill>
                <a:latin typeface="Roboto"/>
                <a:ea typeface="Roboto"/>
                <a:cs typeface="Roboto"/>
              </a:defRPr>
            </a:pPr>
            <a:r>
              <a:rPr sz="2175" b="0">
                <a:solidFill>
                  <a:srgbClr val="355CC9"/>
                </a:solidFill>
                <a:latin typeface="Roboto"/>
                <a:ea typeface="Roboto"/>
                <a:cs typeface="Roboto"/>
              </a:rPr>
              <a:t>two live delivery weeks</a:t>
            </a:r>
          </a:p>
          <a:p>
            <a:pPr marL="0" indent="0">
              <a:lnSpc>
                <a:spcPct val="114000"/>
              </a:lnSpc>
              <a:spcBef>
                <a:spcPts val="0"/>
              </a:spcBef>
              <a:spcAft>
                <a:spcPts val="800"/>
              </a:spcAft>
              <a:buFont typeface="Arial"/>
              <a:buNone/>
            </a:pPr>
            <a:endParaRPr sz="2175" b="0">
              <a:solidFill>
                <a:srgbClr val="355CC9"/>
              </a:solidFill>
              <a:latin typeface="Roboto"/>
              <a:ea typeface="Roboto"/>
              <a:cs typeface="Roboto"/>
            </a:endParaRPr>
          </a:p>
          <a:p>
            <a:pPr marL="0" indent="0" algn="l">
              <a:lnSpc>
                <a:spcPct val="114000"/>
              </a:lnSpc>
              <a:spcBef>
                <a:spcPts val="0"/>
              </a:spcBef>
              <a:spcAft>
                <a:spcPts val="800"/>
              </a:spcAft>
              <a:buFont typeface="Arial"/>
              <a:buNone/>
              <a:defRPr sz="2175" b="0">
                <a:solidFill>
                  <a:srgbClr val="355CC9"/>
                </a:solidFill>
                <a:latin typeface="Roboto"/>
                <a:ea typeface="Roboto"/>
                <a:cs typeface="Roboto"/>
              </a:defRPr>
            </a:pPr>
            <a:r>
              <a:rPr sz="2175" b="0">
                <a:solidFill>
                  <a:srgbClr val="355CC9"/>
                </a:solidFill>
                <a:latin typeface="Roboto"/>
                <a:ea typeface="Roboto"/>
                <a:cs typeface="Roboto"/>
              </a:rPr>
              <a:t>Then weekly reviews,</a:t>
            </a:r>
          </a:p>
          <a:p>
            <a:pPr marL="0" indent="0" algn="l">
              <a:lnSpc>
                <a:spcPct val="114000"/>
              </a:lnSpc>
              <a:spcBef>
                <a:spcPts val="0"/>
              </a:spcBef>
              <a:spcAft>
                <a:spcPts val="800"/>
              </a:spcAft>
              <a:buFont typeface="Arial"/>
              <a:buNone/>
              <a:defRPr sz="2175" b="0">
                <a:solidFill>
                  <a:srgbClr val="355CC9"/>
                </a:solidFill>
                <a:latin typeface="Roboto"/>
                <a:ea typeface="Roboto"/>
                <a:cs typeface="Roboto"/>
              </a:defRPr>
            </a:pPr>
            <a:r>
              <a:rPr sz="2175" b="0">
                <a:solidFill>
                  <a:srgbClr val="355CC9"/>
                </a:solidFill>
                <a:latin typeface="Roboto"/>
                <a:ea typeface="Roboto"/>
                <a:cs typeface="Roboto"/>
              </a:rPr>
              <a:t>if service remains stable</a:t>
            </a:r>
          </a:p>
        </p:txBody>
      </p:sp>
      <p:sp>
        <p:nvSpPr>
          <p:cNvPr id="3" name="Google Shape;534;p58">
            <a:extLst>
              <a:ext uri="{FF2B5EF4-FFF2-40B4-BE49-F238E27FC236}">
                <a16:creationId xmlns:a16="http://schemas.microsoft.com/office/drawing/2014/main" id="{FD46BF2A-8122-2E0A-E8CC-886653CF64DA}"/>
              </a:ext>
            </a:extLst>
          </p:cNvPr>
          <p:cNvSpPr>
            <a:spLocks noGrp="1"/>
          </p:cNvSpPr>
          <p:nvPr/>
        </p:nvSpPr>
        <p:spPr>
          <a:xfrm>
            <a:off x="393700" y="1310936"/>
            <a:ext cx="5537200" cy="719318"/>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5" name="Text">
            <a:extLst>
              <a:ext uri="{FF2B5EF4-FFF2-40B4-BE49-F238E27FC236}">
                <a16:creationId xmlns:a16="http://schemas.microsoft.com/office/drawing/2014/main" id="{245351D9-0F9D-4193-8434-6D706E179DC3}"/>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A bounded pilot with a recovery path</a:t>
            </a:r>
          </a:p>
        </p:txBody>
      </p:sp>
      <p:sp>
        <p:nvSpPr>
          <p:cNvPr id="536" name="ConciseSupport_14_9">
            <a:extLst>
              <a:ext uri="{FF2B5EF4-FFF2-40B4-BE49-F238E27FC236}">
                <a16:creationId xmlns:a16="http://schemas.microsoft.com/office/drawing/2014/main" id="{F8D9DB49-1EA2-48C4-9ED6-11B677E567C8}"/>
              </a:ext>
            </a:extLst>
          </p:cNvPr>
          <p:cNvSpPr>
            <a:spLocks noGrp="1"/>
          </p:cNvSpPr>
          <p:nvPr/>
        </p:nvSpPr>
        <p:spPr>
          <a:xfrm>
            <a:off x="609600" y="5124450"/>
            <a:ext cx="8096250" cy="609600"/>
          </a:xfrm>
          <a:prstGeom prst="rect">
            <a:avLst/>
          </a:prstGeom>
          <a:noFill/>
          <a:ln w="0">
            <a:noFill/>
          </a:ln>
        </p:spPr>
        <p:txBody>
          <a:bodyPr wrap="square" lIns="0" tIns="0" rIns="0" bIns="0" anchor="t">
            <a:noAutofit/>
          </a:bodyPr>
          <a:lstStyle/>
          <a:p>
            <a:pPr algn="l">
              <a:defRPr sz="1650" b="0">
                <a:solidFill>
                  <a:srgbClr val="59657A"/>
                </a:solidFill>
                <a:latin typeface="Roboto"/>
                <a:ea typeface="Roboto"/>
                <a:cs typeface="Roboto"/>
              </a:defRPr>
            </a:pPr>
            <a:r>
              <a:rPr sz="1650" b="0">
                <a:solidFill>
                  <a:srgbClr val="59657A"/>
                </a:solidFill>
                <a:latin typeface="Roboto"/>
                <a:ea typeface="Roboto"/>
                <a:cs typeface="Roboto"/>
              </a:rPr>
              <a:t>At handover: transfer the operating guide, exception queue,</a:t>
            </a:r>
          </a:p>
          <a:p>
            <a:pPr algn="l">
              <a:defRPr sz="1650" b="0">
                <a:solidFill>
                  <a:srgbClr val="59657A"/>
                </a:solidFill>
                <a:latin typeface="Roboto"/>
                <a:ea typeface="Roboto"/>
                <a:cs typeface="Roboto"/>
              </a:defRPr>
            </a:pPr>
            <a:r>
              <a:rPr sz="1650" b="0">
                <a:solidFill>
                  <a:srgbClr val="59657A"/>
                </a:solidFill>
                <a:latin typeface="Roboto"/>
                <a:ea typeface="Roboto"/>
                <a:cs typeface="Roboto"/>
              </a:rPr>
              <a:t>training and monthly benefits review to Spark.</a:t>
            </a:r>
          </a:p>
        </p:txBody>
      </p:sp>
      <p:sp>
        <p:nvSpPr>
          <p:cNvPr id="537" name="Source citation">
            <a:extLst>
              <a:ext uri="{FF2B5EF4-FFF2-40B4-BE49-F238E27FC236}">
                <a16:creationId xmlns:a16="http://schemas.microsoft.com/office/drawing/2014/main" id="{42A40AFC-043A-49C5-AB49-E88670DC3E6C}"/>
              </a:ext>
            </a:extLst>
          </p:cNvPr>
          <p:cNvSpPr>
            <a:spLocks noGrp="1"/>
          </p:cNvSpPr>
          <p:nvPr/>
        </p:nvSpPr>
        <p:spPr>
          <a:xfrm>
            <a:off x="609600" y="6172200"/>
            <a:ext cx="8239125" cy="314325"/>
          </a:xfrm>
          <a:prstGeom prst="rect">
            <a:avLst/>
          </a:prstGeom>
          <a:noFill/>
          <a:ln w="0">
            <a:noFill/>
          </a:ln>
        </p:spPr>
        <p:txBody>
          <a:bodyPr wrap="square" lIns="0" tIns="0" rIns="0" bIns="0" anchor="t">
            <a:noAutofit/>
          </a:bodyPr>
          <a:lstStyle/>
          <a:p>
            <a:pPr algn="l">
              <a:defRPr sz="975" b="0">
                <a:solidFill>
                  <a:srgbClr val="59657A"/>
                </a:solidFill>
                <a:latin typeface="Roboto"/>
                <a:ea typeface="Roboto"/>
                <a:cs typeface="Roboto"/>
              </a:defRPr>
            </a:pPr>
            <a:r>
              <a:rPr sz="975" b="0">
                <a:solidFill>
                  <a:srgbClr val="59657A"/>
                </a:solidFill>
                <a:latin typeface="Roboto"/>
                <a:ea typeface="Roboto"/>
                <a:cs typeface="Roboto"/>
              </a:rPr>
              <a:t>Mills, 2025, 37:13–50:34; 1:00:36–1:06:53</a:t>
            </a:r>
          </a:p>
        </p:txBody>
      </p:sp>
      <p:sp>
        <p:nvSpPr>
          <p:cNvPr id="539" name="DetailV2_14_19">
            <a:extLst>
              <a:ext uri="{FF2B5EF4-FFF2-40B4-BE49-F238E27FC236}">
                <a16:creationId xmlns:a16="http://schemas.microsoft.com/office/drawing/2014/main" id="{9B2C97C3-6E70-411D-BE5E-39FE1E976CE9}"/>
              </a:ext>
            </a:extLst>
          </p:cNvPr>
          <p:cNvSpPr>
            <a:spLocks noGrp="1"/>
          </p:cNvSpPr>
          <p:nvPr/>
        </p:nvSpPr>
        <p:spPr>
          <a:xfrm>
            <a:off x="609600" y="2686050"/>
            <a:ext cx="6572250" cy="33337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Normal, overdue, rejected and reopened referrals</a:t>
            </a:r>
          </a:p>
        </p:txBody>
      </p:sp>
      <p:sp>
        <p:nvSpPr>
          <p:cNvPr id="540" name="DetailV2_14_20">
            <a:extLst>
              <a:ext uri="{FF2B5EF4-FFF2-40B4-BE49-F238E27FC236}">
                <a16:creationId xmlns:a16="http://schemas.microsoft.com/office/drawing/2014/main" id="{0F05FB93-A0BF-414E-B10D-BF7779C6B52F}"/>
              </a:ext>
            </a:extLst>
          </p:cNvPr>
          <p:cNvSpPr>
            <a:spLocks noGrp="1"/>
          </p:cNvSpPr>
          <p:nvPr/>
        </p:nvSpPr>
        <p:spPr>
          <a:xfrm>
            <a:off x="609600" y="3171825"/>
            <a:ext cx="6572250" cy="400050"/>
          </a:xfrm>
          <a:prstGeom prst="rect">
            <a:avLst/>
          </a:prstGeom>
          <a:noFill/>
          <a:ln w="0">
            <a:noFill/>
          </a:ln>
        </p:spPr>
        <p:txBody>
          <a:bodyPr wrap="square" lIns="0" tIns="0" rIns="0" bIns="0" anchor="t">
            <a:noAutofit/>
          </a:bodyPr>
          <a:lstStyle/>
          <a:p>
            <a:pPr algn="l">
              <a:defRPr sz="2175" b="0">
                <a:solidFill>
                  <a:srgbClr val="1C2432"/>
                </a:solidFill>
                <a:latin typeface="Roboto"/>
                <a:ea typeface="Roboto"/>
                <a:cs typeface="Roboto"/>
              </a:defRPr>
            </a:pPr>
            <a:r>
              <a:rPr sz="2175" b="0">
                <a:solidFill>
                  <a:srgbClr val="1C2432"/>
                </a:solidFill>
                <a:latin typeface="Roboto"/>
                <a:ea typeface="Roboto"/>
                <a:cs typeface="Roboto"/>
              </a:rPr>
              <a:t>Confirm partner responsibilities</a:t>
            </a:r>
          </a:p>
        </p:txBody>
      </p:sp>
      <p:sp>
        <p:nvSpPr>
          <p:cNvPr id="541" name="DetailV2_14_21">
            <a:extLst>
              <a:ext uri="{FF2B5EF4-FFF2-40B4-BE49-F238E27FC236}">
                <a16:creationId xmlns:a16="http://schemas.microsoft.com/office/drawing/2014/main" id="{0CAAF858-D889-4C5C-AB4D-93C1D188D709}"/>
              </a:ext>
            </a:extLst>
          </p:cNvPr>
          <p:cNvSpPr>
            <a:spLocks noGrp="1"/>
          </p:cNvSpPr>
          <p:nvPr/>
        </p:nvSpPr>
        <p:spPr>
          <a:xfrm>
            <a:off x="609600" y="3600450"/>
            <a:ext cx="6572250" cy="33337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Named contacts, acceptance and escalation rules</a:t>
            </a:r>
          </a:p>
        </p:txBody>
      </p:sp>
      <p:sp>
        <p:nvSpPr>
          <p:cNvPr id="542" name="DetailV2_14_22">
            <a:extLst>
              <a:ext uri="{FF2B5EF4-FFF2-40B4-BE49-F238E27FC236}">
                <a16:creationId xmlns:a16="http://schemas.microsoft.com/office/drawing/2014/main" id="{8306B0C8-2568-4D67-907D-6BF57F9B545B}"/>
              </a:ext>
            </a:extLst>
          </p:cNvPr>
          <p:cNvSpPr>
            <a:spLocks noGrp="1"/>
          </p:cNvSpPr>
          <p:nvPr/>
        </p:nvSpPr>
        <p:spPr>
          <a:xfrm>
            <a:off x="609600" y="4086225"/>
            <a:ext cx="6572250" cy="400050"/>
          </a:xfrm>
          <a:prstGeom prst="rect">
            <a:avLst/>
          </a:prstGeom>
          <a:noFill/>
          <a:ln w="0">
            <a:noFill/>
          </a:ln>
        </p:spPr>
        <p:txBody>
          <a:bodyPr wrap="square" lIns="0" tIns="0" rIns="0" bIns="0" anchor="t">
            <a:noAutofit/>
          </a:bodyPr>
          <a:lstStyle/>
          <a:p>
            <a:pPr algn="l">
              <a:defRPr sz="2175" b="0">
                <a:solidFill>
                  <a:srgbClr val="1C2432"/>
                </a:solidFill>
                <a:latin typeface="Roboto"/>
                <a:ea typeface="Roboto"/>
                <a:cs typeface="Roboto"/>
              </a:defRPr>
            </a:pPr>
            <a:r>
              <a:rPr sz="2175" b="0">
                <a:solidFill>
                  <a:srgbClr val="1C2432"/>
                </a:solidFill>
                <a:latin typeface="Roboto"/>
                <a:ea typeface="Roboto"/>
                <a:cs typeface="Roboto"/>
              </a:rPr>
              <a:t>Test rollback before launch</a:t>
            </a:r>
          </a:p>
        </p:txBody>
      </p:sp>
      <p:sp>
        <p:nvSpPr>
          <p:cNvPr id="543" name="DetailV2_14_23">
            <a:extLst>
              <a:ext uri="{FF2B5EF4-FFF2-40B4-BE49-F238E27FC236}">
                <a16:creationId xmlns:a16="http://schemas.microsoft.com/office/drawing/2014/main" id="{8391885E-4145-4DD3-B97C-97772A252D61}"/>
              </a:ext>
            </a:extLst>
          </p:cNvPr>
          <p:cNvSpPr>
            <a:spLocks noGrp="1"/>
          </p:cNvSpPr>
          <p:nvPr/>
        </p:nvSpPr>
        <p:spPr>
          <a:xfrm>
            <a:off x="609600" y="4514850"/>
            <a:ext cx="6572250" cy="333375"/>
          </a:xfrm>
          <a:prstGeom prst="rect">
            <a:avLst/>
          </a:prstGeom>
          <a:noFill/>
          <a:ln w="0">
            <a:noFill/>
          </a:ln>
        </p:spPr>
        <p:txBody>
          <a:bodyPr wrap="square" lIns="0" tIns="0" rIns="0" bIns="0" anchor="t">
            <a:noAutofit/>
          </a:bodyPr>
          <a:lstStyle/>
          <a:p>
            <a:pPr algn="l">
              <a:defRPr sz="1725" b="0">
                <a:solidFill>
                  <a:srgbClr val="59657A"/>
                </a:solidFill>
                <a:latin typeface="Roboto"/>
                <a:ea typeface="Roboto"/>
                <a:cs typeface="Roboto"/>
              </a:defRPr>
            </a:pPr>
            <a:r>
              <a:rPr sz="1725" b="0">
                <a:solidFill>
                  <a:srgbClr val="59657A"/>
                </a:solidFill>
                <a:latin typeface="Roboto"/>
                <a:ea typeface="Roboto"/>
                <a:cs typeface="Roboto"/>
              </a:rPr>
              <a:t>G2 requires service, security and partner readiness</a:t>
            </a:r>
          </a:p>
        </p:txBody>
      </p:sp>
    </p:spTree>
    <p:extLst>
      <p:ext uri="{BB962C8B-B14F-4D97-AF65-F5344CB8AC3E}">
        <p14:creationId xmlns:p14="http://schemas.microsoft.com/office/powerpoint/2010/main" val="1348536377"/>
      </p:ext>
    </p:extLst>
  </p:cSld>
  <p:clrMapOvr>
    <a:masterClrMapping/>
  </p:clrMapOvr>
  <p:transition advClick="0" advTm="2000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EA83FA91-883A-0168-8075-96CEB9DCA3C2}" type="slidenum">
              <a:rPr sz="1050" b="0">
                <a:solidFill>
                  <a:srgbClr val="59657A"/>
                </a:solidFill>
                <a:latin typeface="Roboto"/>
                <a:ea typeface="Roboto"/>
                <a:cs typeface="Roboto"/>
              </a:rPr>
              <a:t>15</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Risk owners and response triggers</a:t>
            </a:r>
            <a:endParaRPr>
              <a:solidFill>
                <a:schemeClr val="accent1"/>
              </a:solidFill>
            </a:endParaRPr>
          </a:p>
        </p:txBody>
      </p:sp>
      <p:sp>
        <p:nvSpPr>
          <p:cNvPr id="7" name="Google Shape;534;p58">
            <a:extLst>
              <a:ext uri="{FF2B5EF4-FFF2-40B4-BE49-F238E27FC236}">
                <a16:creationId xmlns:a16="http://schemas.microsoft.com/office/drawing/2014/main" id="{71547039-AB2A-5CA1-49F7-26E9E71601EF}"/>
              </a:ext>
            </a:extLst>
          </p:cNvPr>
          <p:cNvSpPr>
            <a:spLocks noGrp="1"/>
          </p:cNvSpPr>
          <p:nvPr/>
        </p:nvSpPr>
        <p:spPr>
          <a:xfrm>
            <a:off x="393700" y="2774196"/>
            <a:ext cx="3606800" cy="3220203"/>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8" name="Google Shape;534;p58">
            <a:extLst>
              <a:ext uri="{FF2B5EF4-FFF2-40B4-BE49-F238E27FC236}">
                <a16:creationId xmlns:a16="http://schemas.microsoft.com/office/drawing/2014/main" id="{D136FB89-7449-CC90-F061-B6BF578EA25E}"/>
              </a:ext>
            </a:extLst>
          </p:cNvPr>
          <p:cNvSpPr>
            <a:spLocks noGrp="1"/>
          </p:cNvSpPr>
          <p:nvPr/>
        </p:nvSpPr>
        <p:spPr>
          <a:xfrm>
            <a:off x="393700" y="1564835"/>
            <a:ext cx="3606800" cy="1178365"/>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4" name="Text">
            <a:extLst>
              <a:ext uri="{FF2B5EF4-FFF2-40B4-BE49-F238E27FC236}">
                <a16:creationId xmlns:a16="http://schemas.microsoft.com/office/drawing/2014/main" id="{A3E10B41-72C0-4AB8-9ECC-BA070E02154A}"/>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Controls protect service and the value of the change</a:t>
            </a:r>
          </a:p>
        </p:txBody>
      </p:sp>
      <p:graphicFrame>
        <p:nvGraphicFramePr>
          <p:cNvPr id="543" name="Table 542"/>
          <p:cNvGraphicFramePr/>
          <p:nvPr/>
        </p:nvGraphicFramePr>
        <p:xfrm>
          <a:off x="609600" y="2019300"/>
          <a:ext cx="10858500" cy="2857500"/>
        </p:xfrm>
        <a:graphic>
          <a:graphicData uri="http://schemas.openxmlformats.org/drawingml/2006/table">
            <a:tbl>
              <a:tblPr firstRow="1"/>
              <a:tblGrid>
                <a:gridCol w="4333875">
                  <a:extLst>
                    <a:ext uri="{9D8B030D-6E8A-4147-A177-3AD203B41FA5}">
                      <a16:colId xmlns:a16="http://schemas.microsoft.com/office/drawing/2014/main" val="20000"/>
                    </a:ext>
                  </a:extLst>
                </a:gridCol>
                <a:gridCol w="6524625">
                  <a:extLst>
                    <a:ext uri="{9D8B030D-6E8A-4147-A177-3AD203B41FA5}">
                      <a16:colId xmlns:a16="http://schemas.microsoft.com/office/drawing/2014/main" val="20001"/>
                    </a:ext>
                  </a:extLst>
                </a:gridCol>
              </a:tblGrid>
              <a:tr h="476250">
                <a:tc>
                  <a:txBody>
                    <a:bodyPr/>
                    <a:lstStyle/>
                    <a:p>
                      <a:r>
                        <a:rPr sz="1725" b="1">
                          <a:solidFill>
                            <a:srgbClr val="355CC9"/>
                          </a:solidFill>
                          <a:latin typeface="Roboto"/>
                          <a:ea typeface="Roboto"/>
                          <a:cs typeface="Roboto"/>
                        </a:rPr>
                        <a:t>Risk</a:t>
                      </a:r>
                    </a:p>
                  </a:txBody>
                  <a:tcPr marL="114300" marR="114300" marT="76200" marB="76200" anchor="ctr">
                    <a:solidFill>
                      <a:srgbClr val="EAF0FC"/>
                    </a:solidFill>
                  </a:tcPr>
                </a:tc>
                <a:tc>
                  <a:txBody>
                    <a:bodyPr/>
                    <a:lstStyle/>
                    <a:p>
                      <a:r>
                        <a:rPr sz="1725" b="1">
                          <a:solidFill>
                            <a:srgbClr val="355CC9"/>
                          </a:solidFill>
                          <a:latin typeface="Roboto"/>
                          <a:ea typeface="Roboto"/>
                          <a:cs typeface="Roboto"/>
                        </a:rPr>
                        <a:t>Accountability and response</a:t>
                      </a:r>
                    </a:p>
                  </a:txBody>
                  <a:tcPr marL="114300" marR="114300" marT="76200" marB="76200" anchor="ctr">
                    <a:solidFill>
                      <a:srgbClr val="EAF0FC"/>
                    </a:solidFill>
                  </a:tcPr>
                </a:tc>
                <a:extLst>
                  <a:ext uri="{0D108BD9-81ED-4DB2-BD59-A6C34878D82A}">
                    <a16:rowId xmlns:a16="http://schemas.microsoft.com/office/drawing/2014/main" val="10000"/>
                  </a:ext>
                </a:extLst>
              </a:tr>
              <a:tr h="476250">
                <a:tc>
                  <a:txBody>
                    <a:bodyPr/>
                    <a:lstStyle/>
                    <a:p>
                      <a:r>
                        <a:rPr sz="1725">
                          <a:solidFill>
                            <a:srgbClr val="1C2432"/>
                          </a:solidFill>
                          <a:latin typeface="Roboto"/>
                          <a:ea typeface="Roboto"/>
                          <a:cs typeface="Roboto"/>
                        </a:rPr>
                        <a:t>Wrong cause or weak records</a:t>
                      </a:r>
                    </a:p>
                  </a:txBody>
                  <a:tcPr marL="114300" marR="114300" marT="76200" marB="76200" anchor="ctr">
                    <a:solidFill>
                      <a:srgbClr val="F8FBFD"/>
                    </a:solidFill>
                  </a:tcPr>
                </a:tc>
                <a:tc>
                  <a:txBody>
                    <a:bodyPr/>
                    <a:lstStyle/>
                    <a:p>
                      <a:r>
                        <a:rPr sz="1725">
                          <a:solidFill>
                            <a:srgbClr val="1C2432"/>
                          </a:solidFill>
                          <a:latin typeface="Roboto"/>
                          <a:ea typeface="Roboto"/>
                          <a:cs typeface="Roboto"/>
                        </a:rPr>
                        <a:t>Ryan + analyst: evidence or repair at G1</a:t>
                      </a:r>
                    </a:p>
                  </a:txBody>
                  <a:tcPr marL="114300" marR="114300" marT="76200" marB="76200" anchor="ctr">
                    <a:solidFill>
                      <a:srgbClr val="F8FBFD"/>
                    </a:solidFill>
                  </a:tcPr>
                </a:tc>
                <a:extLst>
                  <a:ext uri="{0D108BD9-81ED-4DB2-BD59-A6C34878D82A}">
                    <a16:rowId xmlns:a16="http://schemas.microsoft.com/office/drawing/2014/main" val="10001"/>
                  </a:ext>
                </a:extLst>
              </a:tr>
              <a:tr h="476250">
                <a:tc>
                  <a:txBody>
                    <a:bodyPr/>
                    <a:lstStyle/>
                    <a:p>
                      <a:r>
                        <a:rPr sz="1725">
                          <a:solidFill>
                            <a:srgbClr val="1C2432"/>
                          </a:solidFill>
                          <a:latin typeface="Roboto"/>
                          <a:ea typeface="Roboto"/>
                          <a:cs typeface="Roboto"/>
                        </a:rPr>
                        <a:t>Partner responsibility unclear</a:t>
                      </a:r>
                    </a:p>
                  </a:txBody>
                  <a:tcPr marL="114300" marR="114300" marT="76200" marB="76200" anchor="ctr">
                    <a:solidFill>
                      <a:srgbClr val="F8FBFD"/>
                    </a:solidFill>
                  </a:tcPr>
                </a:tc>
                <a:tc>
                  <a:txBody>
                    <a:bodyPr/>
                    <a:lstStyle/>
                    <a:p>
                      <a:r>
                        <a:rPr sz="1725">
                          <a:solidFill>
                            <a:srgbClr val="1C2432"/>
                          </a:solidFill>
                          <a:latin typeface="Roboto"/>
                          <a:ea typeface="Roboto"/>
                          <a:cs typeface="Roboto"/>
                        </a:rPr>
                        <a:t>Partner liaison: agreement before G2</a:t>
                      </a:r>
                    </a:p>
                  </a:txBody>
                  <a:tcPr marL="114300" marR="114300" marT="76200" marB="76200" anchor="ctr">
                    <a:solidFill>
                      <a:srgbClr val="F8FBFD"/>
                    </a:solidFill>
                  </a:tcPr>
                </a:tc>
                <a:extLst>
                  <a:ext uri="{0D108BD9-81ED-4DB2-BD59-A6C34878D82A}">
                    <a16:rowId xmlns:a16="http://schemas.microsoft.com/office/drawing/2014/main" val="10002"/>
                  </a:ext>
                </a:extLst>
              </a:tr>
              <a:tr h="476250">
                <a:tc>
                  <a:txBody>
                    <a:bodyPr/>
                    <a:lstStyle/>
                    <a:p>
                      <a:r>
                        <a:rPr sz="1725">
                          <a:solidFill>
                            <a:srgbClr val="1C2432"/>
                          </a:solidFill>
                          <a:latin typeface="Roboto"/>
                          <a:ea typeface="Roboto"/>
                          <a:cs typeface="Roboto"/>
                        </a:rPr>
                        <a:t>Added administration</a:t>
                      </a:r>
                    </a:p>
                  </a:txBody>
                  <a:tcPr marL="114300" marR="114300" marT="76200" marB="76200" anchor="ctr">
                    <a:solidFill>
                      <a:srgbClr val="F8FBFD"/>
                    </a:solidFill>
                  </a:tcPr>
                </a:tc>
                <a:tc>
                  <a:txBody>
                    <a:bodyPr/>
                    <a:lstStyle/>
                    <a:p>
                      <a:r>
                        <a:rPr sz="1725">
                          <a:solidFill>
                            <a:srgbClr val="1C2432"/>
                          </a:solidFill>
                          <a:latin typeface="Roboto"/>
                          <a:ea typeface="Roboto"/>
                          <a:cs typeface="Roboto"/>
                        </a:rPr>
                        <a:t>Xuan + team leader: measure net handling time</a:t>
                      </a:r>
                    </a:p>
                  </a:txBody>
                  <a:tcPr marL="114300" marR="114300" marT="76200" marB="76200" anchor="ctr">
                    <a:solidFill>
                      <a:srgbClr val="F8FBFD"/>
                    </a:solidFill>
                  </a:tcPr>
                </a:tc>
                <a:extLst>
                  <a:ext uri="{0D108BD9-81ED-4DB2-BD59-A6C34878D82A}">
                    <a16:rowId xmlns:a16="http://schemas.microsoft.com/office/drawing/2014/main" val="10003"/>
                  </a:ext>
                </a:extLst>
              </a:tr>
              <a:tr h="476250">
                <a:tc>
                  <a:txBody>
                    <a:bodyPr/>
                    <a:lstStyle/>
                    <a:p>
                      <a:r>
                        <a:rPr sz="1725">
                          <a:solidFill>
                            <a:srgbClr val="1C2432"/>
                          </a:solidFill>
                          <a:latin typeface="Roboto"/>
                          <a:ea typeface="Roboto"/>
                          <a:cs typeface="Roboto"/>
                        </a:rPr>
                        <a:t>Service or privacy incident</a:t>
                      </a:r>
                    </a:p>
                  </a:txBody>
                  <a:tcPr marL="114300" marR="114300" marT="76200" marB="76200" anchor="ctr">
                    <a:solidFill>
                      <a:srgbClr val="F8FBFD"/>
                    </a:solidFill>
                  </a:tcPr>
                </a:tc>
                <a:tc>
                  <a:txBody>
                    <a:bodyPr/>
                    <a:lstStyle/>
                    <a:p>
                      <a:r>
                        <a:rPr sz="1725">
                          <a:solidFill>
                            <a:srgbClr val="1C2432"/>
                          </a:solidFill>
                          <a:latin typeface="Roboto"/>
                          <a:ea typeface="Roboto"/>
                          <a:cs typeface="Roboto"/>
                        </a:rPr>
                        <a:t>Service / security leads: pause affected change</a:t>
                      </a:r>
                    </a:p>
                  </a:txBody>
                  <a:tcPr marL="114300" marR="114300" marT="76200" marB="76200" anchor="ctr">
                    <a:solidFill>
                      <a:srgbClr val="F8FBFD"/>
                    </a:solidFill>
                  </a:tcPr>
                </a:tc>
                <a:extLst>
                  <a:ext uri="{0D108BD9-81ED-4DB2-BD59-A6C34878D82A}">
                    <a16:rowId xmlns:a16="http://schemas.microsoft.com/office/drawing/2014/main" val="10004"/>
                  </a:ext>
                </a:extLst>
              </a:tr>
              <a:tr h="476250">
                <a:tc>
                  <a:txBody>
                    <a:bodyPr/>
                    <a:lstStyle/>
                    <a:p>
                      <a:r>
                        <a:rPr sz="1725">
                          <a:solidFill>
                            <a:srgbClr val="1C2432"/>
                          </a:solidFill>
                          <a:latin typeface="Roboto"/>
                          <a:ea typeface="Roboto"/>
                          <a:cs typeface="Roboto"/>
                        </a:rPr>
                        <a:t>Insufficient value</a:t>
                      </a:r>
                    </a:p>
                  </a:txBody>
                  <a:tcPr marL="114300" marR="114300" marT="76200" marB="76200" anchor="ctr">
                    <a:solidFill>
                      <a:srgbClr val="F8FBFD"/>
                    </a:solidFill>
                  </a:tcPr>
                </a:tc>
                <a:tc>
                  <a:txBody>
                    <a:bodyPr/>
                    <a:lstStyle/>
                    <a:p>
                      <a:r>
                        <a:rPr sz="1725">
                          <a:solidFill>
                            <a:srgbClr val="1C2432"/>
                          </a:solidFill>
                          <a:latin typeface="Roboto"/>
                          <a:ea typeface="Roboto"/>
                          <a:cs typeface="Roboto"/>
                        </a:rPr>
                        <a:t>Rae + sponsor: narrow scope or stop</a:t>
                      </a:r>
                    </a:p>
                  </a:txBody>
                  <a:tcPr marL="114300" marR="114300" marT="76200" marB="76200" anchor="ctr">
                    <a:solidFill>
                      <a:srgbClr val="F8FBFD"/>
                    </a:solidFill>
                  </a:tcPr>
                </a:tc>
                <a:extLst>
                  <a:ext uri="{0D108BD9-81ED-4DB2-BD59-A6C34878D82A}">
                    <a16:rowId xmlns:a16="http://schemas.microsoft.com/office/drawing/2014/main" val="10005"/>
                  </a:ext>
                </a:extLst>
              </a:tr>
            </a:tbl>
          </a:graphicData>
        </a:graphic>
      </p:graphicFrame>
      <p:sp>
        <p:nvSpPr>
          <p:cNvPr id="536" name="Evidence qualification">
            <a:extLst>
              <a:ext uri="{FF2B5EF4-FFF2-40B4-BE49-F238E27FC236}">
                <a16:creationId xmlns:a16="http://schemas.microsoft.com/office/drawing/2014/main" id="{C9B8F402-9D60-497F-83B7-91767048032F}"/>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Initial planning judgements. Review red risks weekly and at gates; ratings improve only with evidence.</a:t>
            </a:r>
          </a:p>
        </p:txBody>
      </p:sp>
      <p:sp>
        <p:nvSpPr>
          <p:cNvPr id="537" name="Source citation">
            <a:extLst>
              <a:ext uri="{FF2B5EF4-FFF2-40B4-BE49-F238E27FC236}">
                <a16:creationId xmlns:a16="http://schemas.microsoft.com/office/drawing/2014/main" id="{998CAF76-A9CF-4FE8-9DF3-FADE3A4450D9}"/>
              </a:ext>
            </a:extLst>
          </p:cNvPr>
          <p:cNvSpPr>
            <a:spLocks noGrp="1"/>
          </p:cNvSpPr>
          <p:nvPr/>
        </p:nvSpPr>
        <p:spPr>
          <a:xfrm>
            <a:off x="609600" y="6172200"/>
            <a:ext cx="8239125" cy="314325"/>
          </a:xfrm>
          <a:prstGeom prst="rect">
            <a:avLst/>
          </a:prstGeom>
          <a:noFill/>
          <a:ln w="0">
            <a:noFill/>
          </a:ln>
        </p:spPr>
        <p:txBody>
          <a:bodyPr wrap="square" lIns="0" tIns="0" rIns="0" bIns="0" anchor="t">
            <a:noAutofit/>
          </a:bodyPr>
          <a:lstStyle/>
          <a:p>
            <a:pPr algn="l">
              <a:defRPr sz="975" b="0">
                <a:solidFill>
                  <a:srgbClr val="59657A"/>
                </a:solidFill>
                <a:latin typeface="Roboto"/>
                <a:ea typeface="Roboto"/>
                <a:cs typeface="Roboto"/>
              </a:defRPr>
            </a:pPr>
            <a:r>
              <a:rPr sz="975" b="0">
                <a:solidFill>
                  <a:srgbClr val="59657A"/>
                </a:solidFill>
                <a:latin typeface="Roboto"/>
                <a:ea typeface="Roboto"/>
                <a:cs typeface="Roboto"/>
              </a:rPr>
              <a:t>Scott &amp; Vessey, 2002, pp. 75–77</a:t>
            </a:r>
          </a:p>
        </p:txBody>
      </p:sp>
      <p:sp>
        <p:nvSpPr>
          <p:cNvPr id="544" name="ConciseSupport_15_10">
            <a:extLst>
              <a:ext uri="{FF2B5EF4-FFF2-40B4-BE49-F238E27FC236}">
                <a16:creationId xmlns:a16="http://schemas.microsoft.com/office/drawing/2014/main" id="{A034FCD6-BED8-4A5F-8DFD-5773CBC57EE5}"/>
              </a:ext>
            </a:extLst>
          </p:cNvPr>
          <p:cNvSpPr>
            <a:spLocks noGrp="1"/>
          </p:cNvSpPr>
          <p:nvPr/>
        </p:nvSpPr>
        <p:spPr>
          <a:xfrm>
            <a:off x="609600" y="5076825"/>
            <a:ext cx="8096250" cy="428625"/>
          </a:xfrm>
          <a:prstGeom prst="rect">
            <a:avLst/>
          </a:prstGeom>
          <a:noFill/>
          <a:ln w="0">
            <a:noFill/>
          </a:ln>
        </p:spPr>
        <p:txBody>
          <a:bodyPr wrap="square" lIns="0" tIns="0" rIns="0" bIns="0" anchor="t">
            <a:noAutofit/>
          </a:bodyPr>
          <a:lstStyle/>
          <a:p>
            <a:pPr algn="l">
              <a:defRPr sz="1650" b="0">
                <a:solidFill>
                  <a:srgbClr val="59657A"/>
                </a:solidFill>
                <a:latin typeface="Roboto"/>
                <a:ea typeface="Roboto"/>
                <a:cs typeface="Roboto"/>
              </a:defRPr>
            </a:pPr>
            <a:r>
              <a:rPr sz="1650" b="0">
                <a:solidFill>
                  <a:srgbClr val="59657A"/>
                </a:solidFill>
                <a:latin typeface="Roboto"/>
                <a:ea typeface="Roboto"/>
                <a:cs typeface="Roboto"/>
              </a:rPr>
              <a:t>Before funding: recheck case volumes, net time saved and cash conversion.</a:t>
            </a:r>
          </a:p>
        </p:txBody>
      </p:sp>
    </p:spTree>
    <p:extLst>
      <p:ext uri="{BB962C8B-B14F-4D97-AF65-F5344CB8AC3E}">
        <p14:creationId xmlns:p14="http://schemas.microsoft.com/office/powerpoint/2010/main" val="268066327"/>
      </p:ext>
    </p:extLst>
  </p:cSld>
  <p:clrMapOvr>
    <a:masterClrMapping/>
  </p:clrMapOvr>
  <p:transition advClick="0" advTm="2000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95E36811-4D7D-1AF4-2047-7797FCF55465}"/>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DC9C7607-4BA3-B4DC-A00F-2E67A9FCFF7E}" type="slidenum">
              <a:rPr sz="1050" b="0">
                <a:solidFill>
                  <a:srgbClr val="59657A"/>
                </a:solidFill>
                <a:latin typeface="Roboto"/>
                <a:ea typeface="Roboto"/>
                <a:cs typeface="Roboto"/>
              </a:rPr>
              <a:t>16</a:t>
            </a:fld>
            <a:endParaRPr/>
          </a:p>
        </p:txBody>
      </p:sp>
      <p:sp>
        <p:nvSpPr>
          <p:cNvPr id="533" name="Google Shape;533;p58">
            <a:extLst>
              <a:ext uri="{FF2B5EF4-FFF2-40B4-BE49-F238E27FC236}">
                <a16:creationId xmlns:a16="http://schemas.microsoft.com/office/drawing/2014/main" id="{0619161C-354F-15D6-9579-085F52D7C5B2}"/>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The base case does not justify full investment</a:t>
            </a:r>
            <a:endParaRPr>
              <a:solidFill>
                <a:schemeClr val="accent1"/>
              </a:solidFill>
            </a:endParaRPr>
          </a:p>
        </p:txBody>
      </p:sp>
      <p:sp>
        <p:nvSpPr>
          <p:cNvPr id="19" name="Content Placeholder 2">
            <a:extLst>
              <a:ext uri="{FF2B5EF4-FFF2-40B4-BE49-F238E27FC236}">
                <a16:creationId xmlns:a16="http://schemas.microsoft.com/office/drawing/2014/main" id="{A1ADE962-9ED7-3644-FA2A-7A64E19E9545}"/>
              </a:ext>
            </a:extLst>
          </p:cNvPr>
          <p:cNvSpPr>
            <a:spLocks noGrp="1"/>
          </p:cNvSpPr>
          <p:nvPr/>
        </p:nvSpPr>
        <p:spPr>
          <a:xfrm>
            <a:off x="6258427" y="4971337"/>
            <a:ext cx="5539873" cy="990600"/>
          </a:xfrm>
          <a:prstGeom prst="rect">
            <a:avLst/>
          </a:prstGeom>
        </p:spPr>
        <p:txBody>
          <a:bodyPr lIns="0" tIns="0" rIns="0" bIns="0">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534" name="Text">
            <a:extLst>
              <a:ext uri="{FF2B5EF4-FFF2-40B4-BE49-F238E27FC236}">
                <a16:creationId xmlns:a16="http://schemas.microsoft.com/office/drawing/2014/main" id="{A9A0E597-AFC9-477B-B8E0-AED610B10547}"/>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Assumed annual net cash after recurring operating costs</a:t>
            </a:r>
          </a:p>
        </p:txBody>
      </p:sp>
      <p:graphicFrame>
        <p:nvGraphicFramePr>
          <p:cNvPr id="543" name="Chart"/>
          <p:cNvGraphicFramePr/>
          <p:nvPr/>
        </p:nvGraphicFramePr>
        <p:xfrm>
          <a:off x="495300" y="2066925"/>
          <a:ext cx="4476750" cy="29241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44" name="Table 543"/>
          <p:cNvGraphicFramePr/>
          <p:nvPr/>
        </p:nvGraphicFramePr>
        <p:xfrm>
          <a:off x="5286375" y="2066925"/>
          <a:ext cx="6143625" cy="2686050"/>
        </p:xfrm>
        <a:graphic>
          <a:graphicData uri="http://schemas.openxmlformats.org/drawingml/2006/table">
            <a:tbl>
              <a:tblPr firstRow="1"/>
              <a:tblGrid>
                <a:gridCol w="2114550">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1343025">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tblGrid>
              <a:tr h="447675">
                <a:tc>
                  <a:txBody>
                    <a:bodyPr/>
                    <a:lstStyle/>
                    <a:p>
                      <a:r>
                        <a:rPr sz="1500" b="1">
                          <a:solidFill>
                            <a:srgbClr val="355CC9"/>
                          </a:solidFill>
                          <a:latin typeface="Roboto"/>
                          <a:ea typeface="Roboto"/>
                          <a:cs typeface="Roboto"/>
                        </a:rPr>
                        <a:t>Input</a:t>
                      </a:r>
                    </a:p>
                  </a:txBody>
                  <a:tcPr marL="114300" marR="114300" marT="76200" marB="76200" anchor="ctr">
                    <a:solidFill>
                      <a:srgbClr val="EAF0FC"/>
                    </a:solidFill>
                  </a:tcPr>
                </a:tc>
                <a:tc>
                  <a:txBody>
                    <a:bodyPr/>
                    <a:lstStyle/>
                    <a:p>
                      <a:r>
                        <a:rPr sz="1500" b="1">
                          <a:solidFill>
                            <a:srgbClr val="355CC9"/>
                          </a:solidFill>
                          <a:latin typeface="Roboto"/>
                          <a:ea typeface="Roboto"/>
                          <a:cs typeface="Roboto"/>
                        </a:rPr>
                        <a:t>Downside</a:t>
                      </a:r>
                    </a:p>
                  </a:txBody>
                  <a:tcPr marL="114300" marR="114300" marT="76200" marB="76200" anchor="ctr">
                    <a:solidFill>
                      <a:srgbClr val="EAF0FC"/>
                    </a:solidFill>
                  </a:tcPr>
                </a:tc>
                <a:tc>
                  <a:txBody>
                    <a:bodyPr/>
                    <a:lstStyle/>
                    <a:p>
                      <a:r>
                        <a:rPr sz="1500" b="1">
                          <a:solidFill>
                            <a:srgbClr val="355CC9"/>
                          </a:solidFill>
                          <a:latin typeface="Roboto"/>
                          <a:ea typeface="Roboto"/>
                          <a:cs typeface="Roboto"/>
                        </a:rPr>
                        <a:t>Base</a:t>
                      </a:r>
                    </a:p>
                  </a:txBody>
                  <a:tcPr marL="114300" marR="114300" marT="76200" marB="76200" anchor="ctr">
                    <a:solidFill>
                      <a:srgbClr val="EAF0FC"/>
                    </a:solidFill>
                  </a:tcPr>
                </a:tc>
                <a:tc>
                  <a:txBody>
                    <a:bodyPr/>
                    <a:lstStyle/>
                    <a:p>
                      <a:r>
                        <a:rPr sz="1500" b="1">
                          <a:solidFill>
                            <a:srgbClr val="355CC9"/>
                          </a:solidFill>
                          <a:latin typeface="Roboto"/>
                          <a:ea typeface="Roboto"/>
                          <a:cs typeface="Roboto"/>
                        </a:rPr>
                        <a:t>Upside</a:t>
                      </a:r>
                    </a:p>
                  </a:txBody>
                  <a:tcPr marL="114300" marR="114300" marT="76200" marB="76200" anchor="ctr">
                    <a:solidFill>
                      <a:srgbClr val="EAF0FC"/>
                    </a:solidFill>
                  </a:tcPr>
                </a:tc>
                <a:extLst>
                  <a:ext uri="{0D108BD9-81ED-4DB2-BD59-A6C34878D82A}">
                    <a16:rowId xmlns:a16="http://schemas.microsoft.com/office/drawing/2014/main" val="10000"/>
                  </a:ext>
                </a:extLst>
              </a:tr>
              <a:tr h="447675">
                <a:tc>
                  <a:txBody>
                    <a:bodyPr/>
                    <a:lstStyle/>
                    <a:p>
                      <a:r>
                        <a:rPr sz="1500">
                          <a:solidFill>
                            <a:srgbClr val="1C2432"/>
                          </a:solidFill>
                          <a:latin typeface="Roboto"/>
                          <a:ea typeface="Roboto"/>
                          <a:cs typeface="Roboto"/>
                        </a:rPr>
                        <a:t>Episodes / year</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6,000</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12,000</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24,000</a:t>
                      </a:r>
                    </a:p>
                  </a:txBody>
                  <a:tcPr marL="114300" marR="114300" marT="76200" marB="76200" anchor="ctr">
                    <a:solidFill>
                      <a:srgbClr val="F8FBFD"/>
                    </a:solidFill>
                  </a:tcPr>
                </a:tc>
                <a:extLst>
                  <a:ext uri="{0D108BD9-81ED-4DB2-BD59-A6C34878D82A}">
                    <a16:rowId xmlns:a16="http://schemas.microsoft.com/office/drawing/2014/main" val="10001"/>
                  </a:ext>
                </a:extLst>
              </a:tr>
              <a:tr h="447675">
                <a:tc>
                  <a:txBody>
                    <a:bodyPr/>
                    <a:lstStyle/>
                    <a:p>
                      <a:r>
                        <a:rPr sz="1500">
                          <a:solidFill>
                            <a:srgbClr val="1C2432"/>
                          </a:solidFill>
                          <a:latin typeface="Roboto"/>
                          <a:ea typeface="Roboto"/>
                          <a:cs typeface="Roboto"/>
                        </a:rPr>
                        <a:t>Net minutes / case</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2</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5</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8</a:t>
                      </a:r>
                    </a:p>
                  </a:txBody>
                  <a:tcPr marL="114300" marR="114300" marT="76200" marB="76200" anchor="ctr">
                    <a:solidFill>
                      <a:srgbClr val="F8FBFD"/>
                    </a:solidFill>
                  </a:tcPr>
                </a:tc>
                <a:extLst>
                  <a:ext uri="{0D108BD9-81ED-4DB2-BD59-A6C34878D82A}">
                    <a16:rowId xmlns:a16="http://schemas.microsoft.com/office/drawing/2014/main" val="10002"/>
                  </a:ext>
                </a:extLst>
              </a:tr>
              <a:tr h="447675">
                <a:tc>
                  <a:txBody>
                    <a:bodyPr/>
                    <a:lstStyle/>
                    <a:p>
                      <a:r>
                        <a:rPr sz="1500">
                          <a:solidFill>
                            <a:srgbClr val="1C2432"/>
                          </a:solidFill>
                          <a:latin typeface="Roboto"/>
                          <a:ea typeface="Roboto"/>
                          <a:cs typeface="Roboto"/>
                        </a:rPr>
                        <a:t>Cost / hour</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NZ$55</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NZ$65</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NZ$75</a:t>
                      </a:r>
                    </a:p>
                  </a:txBody>
                  <a:tcPr marL="114300" marR="114300" marT="76200" marB="76200" anchor="ctr">
                    <a:solidFill>
                      <a:srgbClr val="F8FBFD"/>
                    </a:solidFill>
                  </a:tcPr>
                </a:tc>
                <a:extLst>
                  <a:ext uri="{0D108BD9-81ED-4DB2-BD59-A6C34878D82A}">
                    <a16:rowId xmlns:a16="http://schemas.microsoft.com/office/drawing/2014/main" val="10003"/>
                  </a:ext>
                </a:extLst>
              </a:tr>
              <a:tr h="447675">
                <a:tc>
                  <a:txBody>
                    <a:bodyPr/>
                    <a:lstStyle/>
                    <a:p>
                      <a:r>
                        <a:rPr sz="1500">
                          <a:solidFill>
                            <a:srgbClr val="1C2432"/>
                          </a:solidFill>
                          <a:latin typeface="Roboto"/>
                          <a:ea typeface="Roboto"/>
                          <a:cs typeface="Roboto"/>
                        </a:rPr>
                        <a:t>Cash realisation</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0%</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25%</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50%</a:t>
                      </a:r>
                    </a:p>
                  </a:txBody>
                  <a:tcPr marL="114300" marR="114300" marT="76200" marB="76200" anchor="ctr">
                    <a:solidFill>
                      <a:srgbClr val="F8FBFD"/>
                    </a:solidFill>
                  </a:tcPr>
                </a:tc>
                <a:extLst>
                  <a:ext uri="{0D108BD9-81ED-4DB2-BD59-A6C34878D82A}">
                    <a16:rowId xmlns:a16="http://schemas.microsoft.com/office/drawing/2014/main" val="10004"/>
                  </a:ext>
                </a:extLst>
              </a:tr>
              <a:tr h="447675">
                <a:tc>
                  <a:txBody>
                    <a:bodyPr/>
                    <a:lstStyle/>
                    <a:p>
                      <a:r>
                        <a:rPr sz="1500">
                          <a:solidFill>
                            <a:srgbClr val="1C2432"/>
                          </a:solidFill>
                          <a:latin typeface="Roboto"/>
                          <a:ea typeface="Roboto"/>
                          <a:cs typeface="Roboto"/>
                        </a:rPr>
                        <a:t>Annual Opex</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NZ$12,000</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NZ$18,000</a:t>
                      </a:r>
                    </a:p>
                  </a:txBody>
                  <a:tcPr marL="114300" marR="114300" marT="76200" marB="76200" anchor="ctr">
                    <a:solidFill>
                      <a:srgbClr val="F8FBFD"/>
                    </a:solidFill>
                  </a:tcPr>
                </a:tc>
                <a:tc>
                  <a:txBody>
                    <a:bodyPr/>
                    <a:lstStyle/>
                    <a:p>
                      <a:r>
                        <a:rPr sz="1500">
                          <a:solidFill>
                            <a:srgbClr val="1C2432"/>
                          </a:solidFill>
                          <a:latin typeface="Roboto"/>
                          <a:ea typeface="Roboto"/>
                          <a:cs typeface="Roboto"/>
                        </a:rPr>
                        <a:t>NZ$24,000</a:t>
                      </a:r>
                    </a:p>
                  </a:txBody>
                  <a:tcPr marL="114300" marR="114300" marT="76200" marB="76200" anchor="ctr">
                    <a:solidFill>
                      <a:srgbClr val="F8FBFD"/>
                    </a:solidFill>
                  </a:tcPr>
                </a:tc>
                <a:extLst>
                  <a:ext uri="{0D108BD9-81ED-4DB2-BD59-A6C34878D82A}">
                    <a16:rowId xmlns:a16="http://schemas.microsoft.com/office/drawing/2014/main" val="10005"/>
                  </a:ext>
                </a:extLst>
              </a:tr>
            </a:tbl>
          </a:graphicData>
        </a:graphic>
      </p:graphicFrame>
      <p:sp>
        <p:nvSpPr>
          <p:cNvPr id="537" name="ConciseSupport_16_11">
            <a:extLst>
              <a:ext uri="{FF2B5EF4-FFF2-40B4-BE49-F238E27FC236}">
                <a16:creationId xmlns:a16="http://schemas.microsoft.com/office/drawing/2014/main" id="{13FD7DA6-3DB8-4373-97A6-01806F186F31}"/>
              </a:ext>
            </a:extLst>
          </p:cNvPr>
          <p:cNvSpPr>
            <a:spLocks noGrp="1"/>
          </p:cNvSpPr>
          <p:nvPr/>
        </p:nvSpPr>
        <p:spPr>
          <a:xfrm>
            <a:off x="609600" y="5038725"/>
            <a:ext cx="8096250" cy="742950"/>
          </a:xfrm>
          <a:prstGeom prst="rect">
            <a:avLst/>
          </a:prstGeom>
          <a:noFill/>
          <a:ln w="0">
            <a:noFill/>
          </a:ln>
        </p:spPr>
        <p:txBody>
          <a:bodyPr wrap="square" lIns="0" tIns="0" rIns="0" bIns="0" anchor="t">
            <a:noAutofit/>
          </a:bodyPr>
          <a:lstStyle/>
          <a:p>
            <a:pPr algn="l">
              <a:defRPr sz="1575" b="0">
                <a:solidFill>
                  <a:srgbClr val="59657A"/>
                </a:solidFill>
                <a:latin typeface="Roboto"/>
                <a:ea typeface="Roboto"/>
                <a:cs typeface="Roboto"/>
              </a:defRPr>
            </a:pPr>
            <a:r>
              <a:rPr sz="1575" b="0">
                <a:solidFill>
                  <a:srgbClr val="59657A"/>
                </a:solidFill>
                <a:latin typeface="Roboto"/>
                <a:ea typeface="Roboto"/>
                <a:cs typeface="Roboto"/>
              </a:rPr>
              <a:t>Base: NZ$16,250 cash savings − NZ$18,000 Opex = −NZ$1,750/year</a:t>
            </a:r>
          </a:p>
          <a:p>
            <a:pPr algn="l">
              <a:defRPr sz="1575" b="0">
                <a:solidFill>
                  <a:srgbClr val="59657A"/>
                </a:solidFill>
                <a:latin typeface="Roboto"/>
                <a:ea typeface="Roboto"/>
                <a:cs typeface="Roboto"/>
              </a:defRPr>
            </a:pPr>
            <a:r>
              <a:rPr sz="1575" b="0">
                <a:solidFill>
                  <a:srgbClr val="59657A"/>
                </a:solidFill>
                <a:latin typeface="Roboto"/>
                <a:ea typeface="Roboto"/>
                <a:cs typeface="Roboto"/>
              </a:rPr>
              <a:t>Three-year base net cash: −NZ$159,258</a:t>
            </a:r>
          </a:p>
          <a:p>
            <a:pPr algn="l">
              <a:defRPr sz="1575" b="0">
                <a:solidFill>
                  <a:srgbClr val="59657A"/>
                </a:solidFill>
                <a:latin typeface="Roboto"/>
                <a:ea typeface="Roboto"/>
                <a:cs typeface="Roboto"/>
              </a:defRPr>
            </a:pPr>
            <a:r>
              <a:rPr sz="1575" b="0">
                <a:solidFill>
                  <a:srgbClr val="59657A"/>
                </a:solidFill>
                <a:latin typeface="Roboto"/>
                <a:ea typeface="Roboto"/>
                <a:cs typeface="Roboto"/>
              </a:rPr>
              <a:t>Upside payback: 1.60 years after handover</a:t>
            </a:r>
          </a:p>
        </p:txBody>
      </p:sp>
      <p:sp>
        <p:nvSpPr>
          <p:cNvPr id="538" name="Evidence qualification">
            <a:extLst>
              <a:ext uri="{FF2B5EF4-FFF2-40B4-BE49-F238E27FC236}">
                <a16:creationId xmlns:a16="http://schemas.microsoft.com/office/drawing/2014/main" id="{EA979D4E-198D-4417-8387-4D10FF13FF48}"/>
              </a:ext>
            </a:extLst>
          </p:cNvPr>
          <p:cNvSpPr>
            <a:spLocks noGrp="1"/>
          </p:cNvSpPr>
          <p:nvPr/>
        </p:nvSpPr>
        <p:spPr>
          <a:xfrm>
            <a:off x="609600" y="585787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Author assumptions for annual operation after handover. A small regional pilot cannot establish these volumes.</a:t>
            </a:r>
          </a:p>
        </p:txBody>
      </p:sp>
    </p:spTree>
    <p:extLst>
      <p:ext uri="{BB962C8B-B14F-4D97-AF65-F5344CB8AC3E}">
        <p14:creationId xmlns:p14="http://schemas.microsoft.com/office/powerpoint/2010/main" val="1689268898"/>
      </p:ext>
    </p:extLst>
  </p:cSld>
  <p:clrMapOvr>
    <a:masterClrMapping/>
  </p:clrMapOvr>
  <p:transition advClick="0" advTm="2000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a:spLocks noGrp="1"/>
          </p:cNvSpPr>
          <p:nvPr>
            <p:ph idx="1"/>
          </p:nvPr>
        </p:nvSpPr>
        <p:spPr>
          <a:xfrm>
            <a:off x="609600" y="2905125"/>
            <a:ext cx="6524625" cy="1543050"/>
          </a:xfrm>
          <a:prstGeom prst="rect">
            <a:avLst/>
          </a:prstGeom>
        </p:spPr>
        <p:txBody>
          <a:bodyPr spcFirstLastPara="1" vert="horz" wrap="square" lIns="0" tIns="0" rIns="0" bIns="0" anchor="t">
            <a:noAutofit/>
          </a:bodyPr>
          <a:lstStyle/>
          <a:p>
            <a:pPr marL="0" indent="0" algn="l">
              <a:lnSpc>
                <a:spcPct val="114000"/>
              </a:lnSpc>
              <a:spcBef>
                <a:spcPts val="0"/>
              </a:spcBef>
              <a:spcAft>
                <a:spcPts val="800"/>
              </a:spcAft>
              <a:buNone/>
              <a:defRPr sz="2175" b="0">
                <a:solidFill>
                  <a:srgbClr val="1C2432"/>
                </a:solidFill>
                <a:latin typeface="Roboto"/>
                <a:ea typeface="Roboto"/>
                <a:cs typeface="Roboto"/>
              </a:defRPr>
            </a:pPr>
            <a:r>
              <a:rPr sz="2175" b="0">
                <a:solidFill>
                  <a:srgbClr val="1C2432"/>
                </a:solidFill>
                <a:latin typeface="Roboto"/>
                <a:ea typeface="Roboto"/>
                <a:cs typeface="Roboto"/>
              </a:rPr>
              <a:t>Six-week diagnosis ceiling</a:t>
            </a:r>
          </a:p>
          <a:p>
            <a:pPr marL="0" indent="0" algn="l">
              <a:lnSpc>
                <a:spcPct val="114000"/>
              </a:lnSpc>
              <a:spcBef>
                <a:spcPts val="0"/>
              </a:spcBef>
              <a:spcAft>
                <a:spcPts val="800"/>
              </a:spcAft>
              <a:buNone/>
              <a:defRPr sz="2175" b="0">
                <a:solidFill>
                  <a:srgbClr val="1C2432"/>
                </a:solidFill>
                <a:latin typeface="Roboto"/>
                <a:ea typeface="Roboto"/>
                <a:cs typeface="Roboto"/>
              </a:defRPr>
            </a:pPr>
            <a:r>
              <a:rPr sz="2175" b="0">
                <a:solidFill>
                  <a:srgbClr val="1C2432"/>
                </a:solidFill>
                <a:latin typeface="Roboto"/>
                <a:ea typeface="Roboto"/>
                <a:cs typeface="Roboto"/>
              </a:rPr>
              <a:t>208 consultant hours + 160 client hours</a:t>
            </a:r>
          </a:p>
          <a:p>
            <a:pPr marL="0" indent="0" algn="l">
              <a:lnSpc>
                <a:spcPct val="114000"/>
              </a:lnSpc>
              <a:spcBef>
                <a:spcPts val="0"/>
              </a:spcBef>
              <a:spcAft>
                <a:spcPts val="800"/>
              </a:spcAft>
              <a:buNone/>
              <a:defRPr sz="2175" b="0">
                <a:solidFill>
                  <a:srgbClr val="1C2432"/>
                </a:solidFill>
                <a:latin typeface="Roboto"/>
                <a:ea typeface="Roboto"/>
                <a:cs typeface="Roboto"/>
              </a:defRPr>
            </a:pPr>
            <a:r>
              <a:rPr sz="2175" b="0">
                <a:solidFill>
                  <a:srgbClr val="1C2432"/>
                </a:solidFill>
                <a:latin typeface="Roboto"/>
                <a:ea typeface="Roboto"/>
                <a:cs typeface="Roboto"/>
              </a:rPr>
              <a:t>NZD excluding GST</a:t>
            </a: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90F7333B-44AC-F7E9-D49D-FE92F45E0477}" type="slidenum">
              <a:rPr sz="1050" b="0">
                <a:solidFill>
                  <a:srgbClr val="59657A"/>
                </a:solidFill>
                <a:latin typeface="Roboto"/>
                <a:ea typeface="Roboto"/>
                <a:cs typeface="Roboto"/>
              </a:rPr>
              <a:t>17</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The diagnosis approval request</a:t>
            </a:r>
          </a:p>
        </p:txBody>
      </p:sp>
      <p:sp>
        <p:nvSpPr>
          <p:cNvPr id="2" name="Google Shape;534;p58">
            <a:extLst>
              <a:ext uri="{FF2B5EF4-FFF2-40B4-BE49-F238E27FC236}">
                <a16:creationId xmlns:a16="http://schemas.microsoft.com/office/drawing/2014/main" id="{A4A94F3C-B1B2-7289-7098-7C66C8A291D6}"/>
              </a:ext>
            </a:extLst>
          </p:cNvPr>
          <p:cNvSpPr>
            <a:spLocks noGrp="1"/>
          </p:cNvSpPr>
          <p:nvPr/>
        </p:nvSpPr>
        <p:spPr>
          <a:xfrm>
            <a:off x="7715250" y="1790700"/>
            <a:ext cx="3714750" cy="2571750"/>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lnSpc>
                <a:spcPct val="114000"/>
              </a:lnSpc>
              <a:spcBef>
                <a:spcPts val="0"/>
              </a:spcBef>
              <a:spcAft>
                <a:spcPts val="800"/>
              </a:spcAft>
              <a:buFont typeface="Arial"/>
              <a:buNone/>
              <a:defRPr sz="2100" b="0">
                <a:solidFill>
                  <a:srgbClr val="355CC9"/>
                </a:solidFill>
                <a:latin typeface="Roboto"/>
                <a:ea typeface="Roboto"/>
                <a:cs typeface="Roboto"/>
              </a:defRPr>
            </a:pPr>
            <a:r>
              <a:rPr sz="2100" b="0">
                <a:solidFill>
                  <a:srgbClr val="355CC9"/>
                </a:solidFill>
                <a:latin typeface="Roboto"/>
                <a:ea typeface="Roboto"/>
                <a:cs typeface="Roboto"/>
              </a:rPr>
              <a:t>NZ$154,008</a:t>
            </a:r>
          </a:p>
          <a:p>
            <a:pPr marL="0" indent="0" algn="l">
              <a:lnSpc>
                <a:spcPct val="114000"/>
              </a:lnSpc>
              <a:spcBef>
                <a:spcPts val="0"/>
              </a:spcBef>
              <a:spcAft>
                <a:spcPts val="800"/>
              </a:spcAft>
              <a:buFont typeface="Arial"/>
              <a:buNone/>
              <a:defRPr sz="2100" b="0">
                <a:solidFill>
                  <a:srgbClr val="355CC9"/>
                </a:solidFill>
                <a:latin typeface="Roboto"/>
                <a:ea typeface="Roboto"/>
                <a:cs typeface="Roboto"/>
              </a:defRPr>
            </a:pPr>
            <a:r>
              <a:rPr sz="2100" b="0">
                <a:solidFill>
                  <a:srgbClr val="355CC9"/>
                </a:solidFill>
                <a:latin typeface="Roboto"/>
                <a:ea typeface="Roboto"/>
                <a:cs typeface="Roboto"/>
              </a:rPr>
              <a:t>Conditional full-engagement ceiling</a:t>
            </a:r>
          </a:p>
          <a:p>
            <a:pPr marL="0" indent="0">
              <a:lnSpc>
                <a:spcPct val="114000"/>
              </a:lnSpc>
              <a:spcBef>
                <a:spcPts val="0"/>
              </a:spcBef>
              <a:spcAft>
                <a:spcPts val="800"/>
              </a:spcAft>
              <a:buFont typeface="Arial"/>
              <a:buNone/>
            </a:pPr>
            <a:endParaRPr sz="2100" b="0">
              <a:solidFill>
                <a:srgbClr val="355CC9"/>
              </a:solidFill>
              <a:latin typeface="Roboto"/>
              <a:ea typeface="Roboto"/>
              <a:cs typeface="Roboto"/>
            </a:endParaRPr>
          </a:p>
          <a:p>
            <a:pPr marL="0" indent="0" algn="l">
              <a:lnSpc>
                <a:spcPct val="114000"/>
              </a:lnSpc>
              <a:spcBef>
                <a:spcPts val="0"/>
              </a:spcBef>
              <a:spcAft>
                <a:spcPts val="800"/>
              </a:spcAft>
              <a:buFont typeface="Arial"/>
              <a:buNone/>
              <a:defRPr sz="2100" b="0">
                <a:solidFill>
                  <a:srgbClr val="355CC9"/>
                </a:solidFill>
                <a:latin typeface="Roboto"/>
                <a:ea typeface="Roboto"/>
                <a:cs typeface="Roboto"/>
              </a:defRPr>
            </a:pPr>
            <a:r>
              <a:rPr sz="2100" b="0">
                <a:solidFill>
                  <a:srgbClr val="355CC9"/>
                </a:solidFill>
                <a:latin typeface="Roboto"/>
                <a:ea typeface="Roboto"/>
                <a:cs typeface="Roboto"/>
              </a:rPr>
              <a:t>NZ$117,162</a:t>
            </a:r>
          </a:p>
          <a:p>
            <a:pPr marL="0" indent="0" algn="l">
              <a:lnSpc>
                <a:spcPct val="114000"/>
              </a:lnSpc>
              <a:spcBef>
                <a:spcPts val="0"/>
              </a:spcBef>
              <a:spcAft>
                <a:spcPts val="800"/>
              </a:spcAft>
              <a:buFont typeface="Arial"/>
              <a:buNone/>
              <a:defRPr sz="2100" b="0">
                <a:solidFill>
                  <a:srgbClr val="355CC9"/>
                </a:solidFill>
                <a:latin typeface="Roboto"/>
                <a:ea typeface="Roboto"/>
                <a:cs typeface="Roboto"/>
              </a:defRPr>
            </a:pPr>
            <a:r>
              <a:rPr sz="2100" b="0">
                <a:solidFill>
                  <a:srgbClr val="355CC9"/>
                </a:solidFill>
                <a:latin typeface="Roboto"/>
                <a:ea typeface="Roboto"/>
                <a:cs typeface="Roboto"/>
              </a:rPr>
              <a:t>Remains uncommitted</a:t>
            </a:r>
          </a:p>
        </p:txBody>
      </p:sp>
      <p:sp>
        <p:nvSpPr>
          <p:cNvPr id="3" name="Google Shape;534;p58">
            <a:extLst>
              <a:ext uri="{FF2B5EF4-FFF2-40B4-BE49-F238E27FC236}">
                <a16:creationId xmlns:a16="http://schemas.microsoft.com/office/drawing/2014/main" id="{FD46BF2A-8122-2E0A-E8CC-886653CF64DA}"/>
              </a:ext>
            </a:extLst>
          </p:cNvPr>
          <p:cNvSpPr>
            <a:spLocks noGrp="1"/>
          </p:cNvSpPr>
          <p:nvPr/>
        </p:nvSpPr>
        <p:spPr>
          <a:xfrm>
            <a:off x="609600" y="1771650"/>
            <a:ext cx="6381750" cy="914400"/>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lnSpc>
                <a:spcPct val="114000"/>
              </a:lnSpc>
              <a:spcBef>
                <a:spcPts val="0"/>
              </a:spcBef>
              <a:spcAft>
                <a:spcPts val="800"/>
              </a:spcAft>
              <a:buNone/>
              <a:defRPr sz="5700" b="1">
                <a:solidFill>
                  <a:srgbClr val="355CC9"/>
                </a:solidFill>
                <a:latin typeface="Roboto"/>
                <a:ea typeface="Roboto"/>
                <a:cs typeface="Roboto"/>
              </a:defRPr>
            </a:pPr>
            <a:r>
              <a:rPr sz="5700" b="1">
                <a:solidFill>
                  <a:srgbClr val="355CC9"/>
                </a:solidFill>
                <a:latin typeface="Roboto"/>
                <a:ea typeface="Roboto"/>
                <a:cs typeface="Roboto"/>
              </a:rPr>
              <a:t>NZ$36,846</a:t>
            </a:r>
          </a:p>
        </p:txBody>
      </p:sp>
      <p:sp>
        <p:nvSpPr>
          <p:cNvPr id="535" name="Text">
            <a:extLst>
              <a:ext uri="{FF2B5EF4-FFF2-40B4-BE49-F238E27FC236}">
                <a16:creationId xmlns:a16="http://schemas.microsoft.com/office/drawing/2014/main" id="{1293921F-70F0-4231-842B-194694AFC60A}"/>
              </a:ext>
            </a:extLst>
          </p:cNvPr>
          <p:cNvSpPr>
            <a:spLocks noGrp="1"/>
          </p:cNvSpPr>
          <p:nvPr/>
        </p:nvSpPr>
        <p:spPr>
          <a:xfrm>
            <a:off x="609600" y="4933950"/>
            <a:ext cx="8239125" cy="447675"/>
          </a:xfrm>
          <a:prstGeom prst="rect">
            <a:avLst/>
          </a:prstGeom>
          <a:noFill/>
          <a:ln w="0">
            <a:noFill/>
          </a:ln>
        </p:spPr>
        <p:txBody>
          <a:bodyPr wrap="square" lIns="0" tIns="0" rIns="0" bIns="0" anchor="t">
            <a:noAutofit/>
          </a:bodyPr>
          <a:lstStyle/>
          <a:p>
            <a:pPr algn="l">
              <a:defRPr sz="1800" b="0">
                <a:solidFill>
                  <a:srgbClr val="59657A"/>
                </a:solidFill>
                <a:latin typeface="Roboto"/>
                <a:ea typeface="Roboto"/>
                <a:cs typeface="Roboto"/>
              </a:defRPr>
            </a:pPr>
            <a:r>
              <a:rPr sz="1800" b="0">
                <a:solidFill>
                  <a:srgbClr val="59657A"/>
                </a:solidFill>
                <a:latin typeface="Roboto"/>
                <a:ea typeface="Roboto"/>
                <a:cs typeface="Roboto"/>
              </a:rPr>
              <a:t>NZ$31,040 fees + $1,000 allowance + $4,806 reserve</a:t>
            </a:r>
          </a:p>
        </p:txBody>
      </p:sp>
      <p:sp>
        <p:nvSpPr>
          <p:cNvPr id="536" name="ConciseSupport_17_12">
            <a:extLst>
              <a:ext uri="{FF2B5EF4-FFF2-40B4-BE49-F238E27FC236}">
                <a16:creationId xmlns:a16="http://schemas.microsoft.com/office/drawing/2014/main" id="{23E3F120-3614-43A3-B5DE-BB075C1B7618}"/>
              </a:ext>
            </a:extLst>
          </p:cNvPr>
          <p:cNvSpPr>
            <a:spLocks noGrp="1"/>
          </p:cNvSpPr>
          <p:nvPr/>
        </p:nvSpPr>
        <p:spPr>
          <a:xfrm>
            <a:off x="609600" y="5505450"/>
            <a:ext cx="8096250" cy="552450"/>
          </a:xfrm>
          <a:prstGeom prst="rect">
            <a:avLst/>
          </a:prstGeom>
          <a:noFill/>
          <a:ln w="0">
            <a:noFill/>
          </a:ln>
        </p:spPr>
        <p:txBody>
          <a:bodyPr wrap="square" lIns="0" tIns="0" rIns="0" bIns="0" anchor="t">
            <a:noAutofit/>
          </a:bodyPr>
          <a:lstStyle/>
          <a:p>
            <a:pPr algn="l">
              <a:defRPr sz="1575" b="0">
                <a:solidFill>
                  <a:srgbClr val="59657A"/>
                </a:solidFill>
                <a:latin typeface="Roboto"/>
                <a:ea typeface="Roboto"/>
                <a:cs typeface="Roboto"/>
              </a:defRPr>
            </a:pPr>
            <a:r>
              <a:rPr sz="1575" b="0">
                <a:solidFill>
                  <a:srgbClr val="59657A"/>
                </a:solidFill>
                <a:latin typeface="Roboto"/>
                <a:ea typeface="Roboto"/>
                <a:cs typeface="Roboto"/>
              </a:rPr>
              <a:t>Monthly billing for approved hours and expenses, payable in 30 days.</a:t>
            </a:r>
          </a:p>
          <a:p>
            <a:pPr algn="l">
              <a:defRPr sz="1575" b="0">
                <a:solidFill>
                  <a:srgbClr val="59657A"/>
                </a:solidFill>
                <a:latin typeface="Roboto"/>
                <a:ea typeface="Roboto"/>
                <a:cs typeface="Roboto"/>
              </a:defRPr>
            </a:pPr>
            <a:r>
              <a:rPr sz="1575" b="0">
                <a:solidFill>
                  <a:srgbClr val="59657A"/>
                </a:solidFill>
                <a:latin typeface="Roboto"/>
                <a:ea typeface="Roboto"/>
                <a:cs typeface="Roboto"/>
              </a:rPr>
              <a:t>Time and materials within phase caps; unused reserve is not billed.</a:t>
            </a:r>
          </a:p>
        </p:txBody>
      </p:sp>
      <p:sp>
        <p:nvSpPr>
          <p:cNvPr id="537" name="Source citation">
            <a:extLst>
              <a:ext uri="{FF2B5EF4-FFF2-40B4-BE49-F238E27FC236}">
                <a16:creationId xmlns:a16="http://schemas.microsoft.com/office/drawing/2014/main" id="{3A114CA1-52C0-4E21-885D-376A2E6629EF}"/>
              </a:ext>
            </a:extLst>
          </p:cNvPr>
          <p:cNvSpPr>
            <a:spLocks noGrp="1"/>
          </p:cNvSpPr>
          <p:nvPr/>
        </p:nvSpPr>
        <p:spPr>
          <a:xfrm>
            <a:off x="609600" y="6172200"/>
            <a:ext cx="8239125" cy="314325"/>
          </a:xfrm>
          <a:prstGeom prst="rect">
            <a:avLst/>
          </a:prstGeom>
          <a:noFill/>
          <a:ln w="0">
            <a:noFill/>
          </a:ln>
        </p:spPr>
        <p:txBody>
          <a:bodyPr wrap="square" lIns="0" tIns="0" rIns="0" bIns="0" anchor="t">
            <a:noAutofit/>
          </a:bodyPr>
          <a:lstStyle/>
          <a:p>
            <a:pPr algn="l">
              <a:defRPr sz="975" b="0">
                <a:solidFill>
                  <a:srgbClr val="59657A"/>
                </a:solidFill>
                <a:latin typeface="Roboto"/>
                <a:ea typeface="Roboto"/>
                <a:cs typeface="Roboto"/>
              </a:defRPr>
            </a:pPr>
            <a:r>
              <a:rPr sz="975" b="0">
                <a:solidFill>
                  <a:srgbClr val="59657A"/>
                </a:solidFill>
                <a:latin typeface="Roboto"/>
                <a:ea typeface="Roboto"/>
                <a:cs typeface="Roboto"/>
              </a:rPr>
              <a:t>Mills, 2025, 37:13–50:34; 1:00:36–1:06:53; Prodigi Technology Services, n.d.</a:t>
            </a:r>
          </a:p>
        </p:txBody>
      </p:sp>
    </p:spTree>
    <p:extLst>
      <p:ext uri="{BB962C8B-B14F-4D97-AF65-F5344CB8AC3E}">
        <p14:creationId xmlns:p14="http://schemas.microsoft.com/office/powerpoint/2010/main" val="1652040721"/>
      </p:ext>
    </p:extLst>
  </p:cSld>
  <p:clrMapOvr>
    <a:masterClrMapping/>
  </p:clrMapOvr>
  <p:transition advClick="0" advTm="2000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a:spLocks noGrp="1"/>
          </p:cNvSpPr>
          <p:nvPr>
            <p:ph idx="1"/>
          </p:nvPr>
        </p:nvSpPr>
        <p:spPr>
          <a:xfrm>
            <a:off x="393700" y="2192694"/>
            <a:ext cx="5537200" cy="3801706"/>
          </a:xfrm>
          <a:prstGeom prst="rect">
            <a:avLst/>
          </a:prstGeom>
        </p:spPr>
        <p:txBody>
          <a:bodyPr spcFirstLastPara="1" vert="horz" wrap="square" lIns="0" tIns="0" rIns="0" bIns="0" anchor="t">
            <a:noAutofit/>
          </a:bodyPr>
          <a:lstStyle/>
          <a:p>
            <a:pPr marL="0" indent="0">
              <a:lnSpc>
                <a:spcPct val="114000"/>
              </a:lnSpc>
              <a:spcBef>
                <a:spcPts val="0"/>
              </a:spcBef>
              <a:spcAft>
                <a:spcPts val="800"/>
              </a:spcAft>
              <a:buNone/>
            </a:pPr>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B1C6C81E-38B9-7560-621D-5A151A79DF9B}" type="slidenum">
              <a:rPr sz="1050" b="0">
                <a:solidFill>
                  <a:srgbClr val="59657A"/>
                </a:solidFill>
                <a:latin typeface="Roboto"/>
                <a:ea typeface="Roboto"/>
                <a:cs typeface="Roboto"/>
              </a:rPr>
              <a:t>18</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Sources for the business case</a:t>
            </a:r>
          </a:p>
        </p:txBody>
      </p:sp>
      <p:sp>
        <p:nvSpPr>
          <p:cNvPr id="2" name="Google Shape;534;p58">
            <a:extLst>
              <a:ext uri="{FF2B5EF4-FFF2-40B4-BE49-F238E27FC236}">
                <a16:creationId xmlns:a16="http://schemas.microsoft.com/office/drawing/2014/main" id="{A4A94F3C-B1B2-7289-7098-7C66C8A291D6}"/>
              </a:ext>
            </a:extLst>
          </p:cNvPr>
          <p:cNvSpPr>
            <a:spLocks noGrp="1"/>
          </p:cNvSpPr>
          <p:nvPr/>
        </p:nvSpPr>
        <p:spPr>
          <a:xfrm>
            <a:off x="6265111" y="2192694"/>
            <a:ext cx="5537200" cy="3801706"/>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3" name="Google Shape;534;p58">
            <a:extLst>
              <a:ext uri="{FF2B5EF4-FFF2-40B4-BE49-F238E27FC236}">
                <a16:creationId xmlns:a16="http://schemas.microsoft.com/office/drawing/2014/main" id="{FD46BF2A-8122-2E0A-E8CC-886653CF64DA}"/>
              </a:ext>
            </a:extLst>
          </p:cNvPr>
          <p:cNvSpPr>
            <a:spLocks noGrp="1"/>
          </p:cNvSpPr>
          <p:nvPr/>
        </p:nvSpPr>
        <p:spPr>
          <a:xfrm>
            <a:off x="393700" y="1310936"/>
            <a:ext cx="5537200" cy="719318"/>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5" name="Text">
            <a:extLst>
              <a:ext uri="{FF2B5EF4-FFF2-40B4-BE49-F238E27FC236}">
                <a16:creationId xmlns:a16="http://schemas.microsoft.com/office/drawing/2014/main" id="{69CCB7E9-735E-4F21-8B55-8BB31E155F8A}"/>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Original published sources and teaching material</a:t>
            </a:r>
          </a:p>
        </p:txBody>
      </p:sp>
      <p:sp>
        <p:nvSpPr>
          <p:cNvPr id="536" name="Text">
            <a:extLst>
              <a:ext uri="{FF2B5EF4-FFF2-40B4-BE49-F238E27FC236}">
                <a16:creationId xmlns:a16="http://schemas.microsoft.com/office/drawing/2014/main" id="{3F7FCD11-78D4-4E2C-AF83-736C5C8CA1EA}"/>
              </a:ext>
            </a:extLst>
          </p:cNvPr>
          <p:cNvSpPr>
            <a:spLocks noGrp="1"/>
          </p:cNvSpPr>
          <p:nvPr/>
        </p:nvSpPr>
        <p:spPr>
          <a:xfrm>
            <a:off x="609600" y="1809750"/>
            <a:ext cx="5200650" cy="238125"/>
          </a:xfrm>
          <a:prstGeom prst="rect">
            <a:avLst/>
          </a:prstGeom>
          <a:noFill/>
          <a:ln w="0">
            <a:noFill/>
          </a:ln>
        </p:spPr>
        <p:txBody>
          <a:bodyPr wrap="square" lIns="0" tIns="0" rIns="0" bIns="0" anchor="t">
            <a:noAutofit/>
          </a:bodyPr>
          <a:lstStyle/>
          <a:p>
            <a:pPr algn="l">
              <a:defRPr sz="1500" b="1">
                <a:solidFill>
                  <a:srgbClr val="355CC9"/>
                </a:solidFill>
                <a:latin typeface="Roboto"/>
                <a:ea typeface="Roboto"/>
                <a:cs typeface="Roboto"/>
              </a:defRPr>
            </a:pPr>
            <a:r>
              <a:rPr sz="1500" b="1">
                <a:solidFill>
                  <a:srgbClr val="355CC9"/>
                </a:solidFill>
                <a:latin typeface="Roboto"/>
                <a:ea typeface="Roboto"/>
                <a:cs typeface="Roboto"/>
              </a:rPr>
              <a:t>Commerce Commission (2026a)</a:t>
            </a:r>
          </a:p>
        </p:txBody>
      </p:sp>
      <p:sp>
        <p:nvSpPr>
          <p:cNvPr id="537" name="Text">
            <a:extLst>
              <a:ext uri="{FF2B5EF4-FFF2-40B4-BE49-F238E27FC236}">
                <a16:creationId xmlns:a16="http://schemas.microsoft.com/office/drawing/2014/main" id="{AFDB12F0-EEC2-4237-AB43-8B4E56CF0C74}"/>
              </a:ext>
            </a:extLst>
          </p:cNvPr>
          <p:cNvSpPr>
            <a:spLocks noGrp="1"/>
          </p:cNvSpPr>
          <p:nvPr/>
        </p:nvSpPr>
        <p:spPr>
          <a:xfrm>
            <a:off x="609600" y="2047875"/>
            <a:ext cx="5200650" cy="419100"/>
          </a:xfrm>
          <a:prstGeom prst="rect">
            <a:avLst/>
          </a:prstGeom>
          <a:noFill/>
          <a:ln w="0">
            <a:noFill/>
          </a:ln>
        </p:spPr>
        <p:txBody>
          <a:bodyPr wrap="square" lIns="0" tIns="0" rIns="0" bIns="0" anchor="t">
            <a:noAutofit/>
          </a:bodyPr>
          <a:lstStyle/>
          <a:p>
            <a:pPr algn="l">
              <a:defRPr sz="1425" b="0">
                <a:solidFill>
                  <a:srgbClr val="1C2432"/>
                </a:solidFill>
                <a:latin typeface="Roboto"/>
                <a:ea typeface="Roboto"/>
                <a:cs typeface="Roboto"/>
              </a:defRPr>
            </a:pPr>
            <a:r>
              <a:rPr sz="1425" b="0">
                <a:solidFill>
                  <a:srgbClr val="1C2432"/>
                </a:solidFill>
                <a:latin typeface="Roboto"/>
                <a:ea typeface="Roboto"/>
                <a:cs typeface="Roboto"/>
              </a:rPr>
              <a:t>Consumer satisfaction metrics: Methodology &amp; guide – June 2026</a:t>
            </a:r>
          </a:p>
        </p:txBody>
      </p:sp>
      <p:sp>
        <p:nvSpPr>
          <p:cNvPr id="538" name="Text">
            <a:extLst>
              <a:ext uri="{FF2B5EF4-FFF2-40B4-BE49-F238E27FC236}">
                <a16:creationId xmlns:a16="http://schemas.microsoft.com/office/drawing/2014/main" id="{68948373-6F1A-4481-A05F-CBC7D6D02B2F}"/>
              </a:ext>
            </a:extLst>
          </p:cNvPr>
          <p:cNvSpPr>
            <a:spLocks noGrp="1"/>
          </p:cNvSpPr>
          <p:nvPr/>
        </p:nvSpPr>
        <p:spPr>
          <a:xfrm>
            <a:off x="609600" y="2457450"/>
            <a:ext cx="5200650" cy="190500"/>
          </a:xfrm>
          <a:prstGeom prst="rect">
            <a:avLst/>
          </a:prstGeom>
          <a:noFill/>
          <a:ln w="0">
            <a:noFill/>
          </a:ln>
        </p:spPr>
        <p:txBody>
          <a:bodyPr wrap="square" lIns="0" tIns="0" rIns="0" bIns="0" anchor="t">
            <a:noAutofit/>
          </a:bodyPr>
          <a:lstStyle/>
          <a:p>
            <a:pPr algn="l">
              <a:defRPr sz="1200" b="0">
                <a:solidFill>
                  <a:srgbClr val="59657A"/>
                </a:solidFill>
                <a:latin typeface="Roboto"/>
                <a:ea typeface="Roboto"/>
                <a:cs typeface="Roboto"/>
              </a:defRPr>
            </a:pPr>
            <a:r>
              <a:rPr sz="1200" b="0">
                <a:solidFill>
                  <a:srgbClr val="59657A"/>
                </a:solidFill>
                <a:latin typeface="Roboto"/>
                <a:ea typeface="Roboto"/>
                <a:cs typeface="Roboto"/>
              </a:rPr>
              <a:t>comcom.govt.nz</a:t>
            </a:r>
          </a:p>
        </p:txBody>
      </p:sp>
      <p:sp>
        <p:nvSpPr>
          <p:cNvPr id="539" name="Text">
            <a:extLst>
              <a:ext uri="{FF2B5EF4-FFF2-40B4-BE49-F238E27FC236}">
                <a16:creationId xmlns:a16="http://schemas.microsoft.com/office/drawing/2014/main" id="{406A53BB-7B24-4388-83F5-B2DE922346FA}"/>
              </a:ext>
            </a:extLst>
          </p:cNvPr>
          <p:cNvSpPr>
            <a:spLocks noGrp="1"/>
          </p:cNvSpPr>
          <p:nvPr/>
        </p:nvSpPr>
        <p:spPr>
          <a:xfrm>
            <a:off x="609600" y="2647950"/>
            <a:ext cx="5200650" cy="238125"/>
          </a:xfrm>
          <a:prstGeom prst="rect">
            <a:avLst/>
          </a:prstGeom>
          <a:noFill/>
          <a:ln w="0">
            <a:noFill/>
          </a:ln>
        </p:spPr>
        <p:txBody>
          <a:bodyPr wrap="square" lIns="0" tIns="0" rIns="0" bIns="0" anchor="t">
            <a:noAutofit/>
          </a:bodyPr>
          <a:lstStyle/>
          <a:p>
            <a:pPr algn="l">
              <a:defRPr sz="1500" b="1">
                <a:solidFill>
                  <a:srgbClr val="355CC9"/>
                </a:solidFill>
                <a:latin typeface="Roboto"/>
                <a:ea typeface="Roboto"/>
                <a:cs typeface="Roboto"/>
              </a:defRPr>
            </a:pPr>
            <a:r>
              <a:rPr sz="1500" b="1">
                <a:solidFill>
                  <a:srgbClr val="355CC9"/>
                </a:solidFill>
                <a:latin typeface="Roboto"/>
                <a:ea typeface="Roboto"/>
                <a:cs typeface="Roboto"/>
              </a:rPr>
              <a:t>Commerce Commission (2026b)</a:t>
            </a:r>
          </a:p>
        </p:txBody>
      </p:sp>
      <p:sp>
        <p:nvSpPr>
          <p:cNvPr id="540" name="Text">
            <a:extLst>
              <a:ext uri="{FF2B5EF4-FFF2-40B4-BE49-F238E27FC236}">
                <a16:creationId xmlns:a16="http://schemas.microsoft.com/office/drawing/2014/main" id="{C013736C-02B6-499C-A01E-BF1EA3930EE4}"/>
              </a:ext>
            </a:extLst>
          </p:cNvPr>
          <p:cNvSpPr>
            <a:spLocks noGrp="1"/>
          </p:cNvSpPr>
          <p:nvPr/>
        </p:nvSpPr>
        <p:spPr>
          <a:xfrm>
            <a:off x="609600" y="2886075"/>
            <a:ext cx="5200650" cy="419100"/>
          </a:xfrm>
          <a:prstGeom prst="rect">
            <a:avLst/>
          </a:prstGeom>
          <a:noFill/>
          <a:ln w="0">
            <a:noFill/>
          </a:ln>
        </p:spPr>
        <p:txBody>
          <a:bodyPr wrap="square" lIns="0" tIns="0" rIns="0" bIns="0" anchor="t">
            <a:noAutofit/>
          </a:bodyPr>
          <a:lstStyle/>
          <a:p>
            <a:pPr algn="l">
              <a:defRPr sz="1425" b="0">
                <a:solidFill>
                  <a:srgbClr val="1C2432"/>
                </a:solidFill>
                <a:latin typeface="Roboto"/>
                <a:ea typeface="Roboto"/>
                <a:cs typeface="Roboto"/>
              </a:defRPr>
            </a:pPr>
            <a:r>
              <a:rPr sz="1425" b="0">
                <a:solidFill>
                  <a:srgbClr val="1C2432"/>
                </a:solidFill>
                <a:latin typeface="Roboto"/>
                <a:ea typeface="Roboto"/>
                <a:cs typeface="Roboto"/>
              </a:rPr>
              <a:t>Customer service and billing rankings – June 2026</a:t>
            </a:r>
          </a:p>
        </p:txBody>
      </p:sp>
      <p:sp>
        <p:nvSpPr>
          <p:cNvPr id="541" name="Text">
            <a:extLst>
              <a:ext uri="{FF2B5EF4-FFF2-40B4-BE49-F238E27FC236}">
                <a16:creationId xmlns:a16="http://schemas.microsoft.com/office/drawing/2014/main" id="{585FAA87-5D64-4681-B0D3-8B85DDD2FAD8}"/>
              </a:ext>
            </a:extLst>
          </p:cNvPr>
          <p:cNvSpPr>
            <a:spLocks noGrp="1"/>
          </p:cNvSpPr>
          <p:nvPr/>
        </p:nvSpPr>
        <p:spPr>
          <a:xfrm>
            <a:off x="609600" y="3295650"/>
            <a:ext cx="5200650" cy="190500"/>
          </a:xfrm>
          <a:prstGeom prst="rect">
            <a:avLst/>
          </a:prstGeom>
          <a:noFill/>
          <a:ln w="0">
            <a:noFill/>
          </a:ln>
        </p:spPr>
        <p:txBody>
          <a:bodyPr wrap="square" lIns="0" tIns="0" rIns="0" bIns="0" anchor="t">
            <a:noAutofit/>
          </a:bodyPr>
          <a:lstStyle/>
          <a:p>
            <a:pPr algn="l">
              <a:defRPr sz="1200" b="0">
                <a:solidFill>
                  <a:srgbClr val="59657A"/>
                </a:solidFill>
                <a:latin typeface="Roboto"/>
                <a:ea typeface="Roboto"/>
                <a:cs typeface="Roboto"/>
              </a:defRPr>
            </a:pPr>
            <a:r>
              <a:rPr sz="1200" b="0">
                <a:solidFill>
                  <a:srgbClr val="59657A"/>
                </a:solidFill>
                <a:latin typeface="Roboto"/>
                <a:ea typeface="Roboto"/>
                <a:cs typeface="Roboto"/>
              </a:rPr>
              <a:t>comcom.govt.nz</a:t>
            </a:r>
          </a:p>
        </p:txBody>
      </p:sp>
      <p:sp>
        <p:nvSpPr>
          <p:cNvPr id="542" name="Text">
            <a:extLst>
              <a:ext uri="{FF2B5EF4-FFF2-40B4-BE49-F238E27FC236}">
                <a16:creationId xmlns:a16="http://schemas.microsoft.com/office/drawing/2014/main" id="{15F35FCB-57F1-4125-872B-006641DB4F79}"/>
              </a:ext>
            </a:extLst>
          </p:cNvPr>
          <p:cNvSpPr>
            <a:spLocks noGrp="1"/>
          </p:cNvSpPr>
          <p:nvPr/>
        </p:nvSpPr>
        <p:spPr>
          <a:xfrm>
            <a:off x="609600" y="3486150"/>
            <a:ext cx="5200650" cy="238125"/>
          </a:xfrm>
          <a:prstGeom prst="rect">
            <a:avLst/>
          </a:prstGeom>
          <a:noFill/>
          <a:ln w="0">
            <a:noFill/>
          </a:ln>
        </p:spPr>
        <p:txBody>
          <a:bodyPr wrap="square" lIns="0" tIns="0" rIns="0" bIns="0" anchor="t">
            <a:noAutofit/>
          </a:bodyPr>
          <a:lstStyle/>
          <a:p>
            <a:pPr algn="l">
              <a:defRPr sz="1500" b="1">
                <a:solidFill>
                  <a:srgbClr val="355CC9"/>
                </a:solidFill>
                <a:latin typeface="Roboto"/>
                <a:ea typeface="Roboto"/>
                <a:cs typeface="Roboto"/>
              </a:defRPr>
            </a:pPr>
            <a:r>
              <a:rPr sz="1500" b="1">
                <a:solidFill>
                  <a:srgbClr val="355CC9"/>
                </a:solidFill>
                <a:latin typeface="Roboto"/>
                <a:ea typeface="Roboto"/>
                <a:cs typeface="Roboto"/>
              </a:rPr>
              <a:t>Spark New Zealand (2026a)</a:t>
            </a:r>
          </a:p>
        </p:txBody>
      </p:sp>
      <p:sp>
        <p:nvSpPr>
          <p:cNvPr id="543" name="Text">
            <a:extLst>
              <a:ext uri="{FF2B5EF4-FFF2-40B4-BE49-F238E27FC236}">
                <a16:creationId xmlns:a16="http://schemas.microsoft.com/office/drawing/2014/main" id="{6DE99E28-4D65-48CF-B7ED-03AD8F112B82}"/>
              </a:ext>
            </a:extLst>
          </p:cNvPr>
          <p:cNvSpPr>
            <a:spLocks noGrp="1"/>
          </p:cNvSpPr>
          <p:nvPr/>
        </p:nvSpPr>
        <p:spPr>
          <a:xfrm>
            <a:off x="609600" y="3724275"/>
            <a:ext cx="5200650" cy="419100"/>
          </a:xfrm>
          <a:prstGeom prst="rect">
            <a:avLst/>
          </a:prstGeom>
          <a:noFill/>
          <a:ln w="0">
            <a:noFill/>
          </a:ln>
        </p:spPr>
        <p:txBody>
          <a:bodyPr wrap="square" lIns="0" tIns="0" rIns="0" bIns="0" anchor="t">
            <a:noAutofit/>
          </a:bodyPr>
          <a:lstStyle/>
          <a:p>
            <a:pPr algn="l">
              <a:defRPr sz="1425" b="0">
                <a:solidFill>
                  <a:srgbClr val="1C2432"/>
                </a:solidFill>
                <a:latin typeface="Roboto"/>
                <a:ea typeface="Roboto"/>
                <a:cs typeface="Roboto"/>
              </a:defRPr>
            </a:pPr>
            <a:r>
              <a:rPr sz="1425" b="0">
                <a:solidFill>
                  <a:srgbClr val="1C2432"/>
                </a:solidFill>
                <a:latin typeface="Roboto"/>
                <a:ea typeface="Roboto"/>
                <a:cs typeface="Roboto"/>
              </a:rPr>
              <a:t>Spark annual report FY26</a:t>
            </a:r>
          </a:p>
        </p:txBody>
      </p:sp>
      <p:sp>
        <p:nvSpPr>
          <p:cNvPr id="544" name="Text">
            <a:extLst>
              <a:ext uri="{FF2B5EF4-FFF2-40B4-BE49-F238E27FC236}">
                <a16:creationId xmlns:a16="http://schemas.microsoft.com/office/drawing/2014/main" id="{4A0AFDC9-20E6-4D4C-BF26-48B59E741494}"/>
              </a:ext>
            </a:extLst>
          </p:cNvPr>
          <p:cNvSpPr>
            <a:spLocks noGrp="1"/>
          </p:cNvSpPr>
          <p:nvPr/>
        </p:nvSpPr>
        <p:spPr>
          <a:xfrm>
            <a:off x="609600" y="4133850"/>
            <a:ext cx="5200650" cy="190500"/>
          </a:xfrm>
          <a:prstGeom prst="rect">
            <a:avLst/>
          </a:prstGeom>
          <a:noFill/>
          <a:ln w="0">
            <a:noFill/>
          </a:ln>
        </p:spPr>
        <p:txBody>
          <a:bodyPr wrap="square" lIns="0" tIns="0" rIns="0" bIns="0" anchor="t">
            <a:noAutofit/>
          </a:bodyPr>
          <a:lstStyle/>
          <a:p>
            <a:pPr algn="l">
              <a:defRPr sz="1200" b="0">
                <a:solidFill>
                  <a:srgbClr val="59657A"/>
                </a:solidFill>
                <a:latin typeface="Roboto"/>
                <a:ea typeface="Roboto"/>
                <a:cs typeface="Roboto"/>
              </a:defRPr>
            </a:pPr>
            <a:r>
              <a:rPr sz="1200" b="0">
                <a:solidFill>
                  <a:srgbClr val="59657A"/>
                </a:solidFill>
                <a:latin typeface="Roboto"/>
                <a:ea typeface="Roboto"/>
                <a:cs typeface="Roboto"/>
              </a:rPr>
              <a:t>investors.sparknz.co.nz</a:t>
            </a:r>
          </a:p>
        </p:txBody>
      </p:sp>
      <p:sp>
        <p:nvSpPr>
          <p:cNvPr id="545" name="Text">
            <a:extLst>
              <a:ext uri="{FF2B5EF4-FFF2-40B4-BE49-F238E27FC236}">
                <a16:creationId xmlns:a16="http://schemas.microsoft.com/office/drawing/2014/main" id="{A1433F23-95D3-46AA-9F12-CBD76BAEE3CF}"/>
              </a:ext>
            </a:extLst>
          </p:cNvPr>
          <p:cNvSpPr>
            <a:spLocks noGrp="1"/>
          </p:cNvSpPr>
          <p:nvPr/>
        </p:nvSpPr>
        <p:spPr>
          <a:xfrm>
            <a:off x="609600" y="4324350"/>
            <a:ext cx="5200650" cy="238125"/>
          </a:xfrm>
          <a:prstGeom prst="rect">
            <a:avLst/>
          </a:prstGeom>
          <a:noFill/>
          <a:ln w="0">
            <a:noFill/>
          </a:ln>
        </p:spPr>
        <p:txBody>
          <a:bodyPr wrap="square" lIns="0" tIns="0" rIns="0" bIns="0" anchor="t">
            <a:noAutofit/>
          </a:bodyPr>
          <a:lstStyle/>
          <a:p>
            <a:pPr algn="l">
              <a:defRPr sz="1500" b="1">
                <a:solidFill>
                  <a:srgbClr val="355CC9"/>
                </a:solidFill>
                <a:latin typeface="Roboto"/>
                <a:ea typeface="Roboto"/>
                <a:cs typeface="Roboto"/>
              </a:defRPr>
            </a:pPr>
            <a:r>
              <a:rPr sz="1500" b="1">
                <a:solidFill>
                  <a:srgbClr val="355CC9"/>
                </a:solidFill>
                <a:latin typeface="Roboto"/>
                <a:ea typeface="Roboto"/>
                <a:cs typeface="Roboto"/>
              </a:rPr>
              <a:t>Spark New Zealand (2026b)</a:t>
            </a:r>
          </a:p>
        </p:txBody>
      </p:sp>
      <p:sp>
        <p:nvSpPr>
          <p:cNvPr id="546" name="Text">
            <a:extLst>
              <a:ext uri="{FF2B5EF4-FFF2-40B4-BE49-F238E27FC236}">
                <a16:creationId xmlns:a16="http://schemas.microsoft.com/office/drawing/2014/main" id="{E74E51E1-47FE-4486-8A81-2AA37D350B4F}"/>
              </a:ext>
            </a:extLst>
          </p:cNvPr>
          <p:cNvSpPr>
            <a:spLocks noGrp="1"/>
          </p:cNvSpPr>
          <p:nvPr/>
        </p:nvSpPr>
        <p:spPr>
          <a:xfrm>
            <a:off x="609600" y="4562475"/>
            <a:ext cx="5200650" cy="419100"/>
          </a:xfrm>
          <a:prstGeom prst="rect">
            <a:avLst/>
          </a:prstGeom>
          <a:noFill/>
          <a:ln w="0">
            <a:noFill/>
          </a:ln>
        </p:spPr>
        <p:txBody>
          <a:bodyPr wrap="square" lIns="0" tIns="0" rIns="0" bIns="0" anchor="t">
            <a:noAutofit/>
          </a:bodyPr>
          <a:lstStyle/>
          <a:p>
            <a:pPr algn="l">
              <a:defRPr sz="1425" b="0">
                <a:solidFill>
                  <a:srgbClr val="1C2432"/>
                </a:solidFill>
                <a:latin typeface="Roboto"/>
                <a:ea typeface="Roboto"/>
                <a:cs typeface="Roboto"/>
              </a:defRPr>
            </a:pPr>
            <a:r>
              <a:rPr sz="1425" b="0">
                <a:solidFill>
                  <a:srgbClr val="1C2432"/>
                </a:solidFill>
                <a:latin typeface="Roboto"/>
                <a:ea typeface="Roboto"/>
                <a:cs typeface="Roboto"/>
              </a:rPr>
              <a:t>Spark New Zealand FY26 results summary</a:t>
            </a:r>
          </a:p>
        </p:txBody>
      </p:sp>
      <p:sp>
        <p:nvSpPr>
          <p:cNvPr id="547" name="Text">
            <a:extLst>
              <a:ext uri="{FF2B5EF4-FFF2-40B4-BE49-F238E27FC236}">
                <a16:creationId xmlns:a16="http://schemas.microsoft.com/office/drawing/2014/main" id="{942A8B04-4562-40D2-992E-68093C25BCC6}"/>
              </a:ext>
            </a:extLst>
          </p:cNvPr>
          <p:cNvSpPr>
            <a:spLocks noGrp="1"/>
          </p:cNvSpPr>
          <p:nvPr/>
        </p:nvSpPr>
        <p:spPr>
          <a:xfrm>
            <a:off x="609600" y="4972050"/>
            <a:ext cx="5200650" cy="190500"/>
          </a:xfrm>
          <a:prstGeom prst="rect">
            <a:avLst/>
          </a:prstGeom>
          <a:noFill/>
          <a:ln w="0">
            <a:noFill/>
          </a:ln>
        </p:spPr>
        <p:txBody>
          <a:bodyPr wrap="square" lIns="0" tIns="0" rIns="0" bIns="0" anchor="t">
            <a:noAutofit/>
          </a:bodyPr>
          <a:lstStyle/>
          <a:p>
            <a:pPr algn="l">
              <a:defRPr sz="1200" b="0">
                <a:solidFill>
                  <a:srgbClr val="59657A"/>
                </a:solidFill>
                <a:latin typeface="Roboto"/>
                <a:ea typeface="Roboto"/>
                <a:cs typeface="Roboto"/>
              </a:defRPr>
            </a:pPr>
            <a:r>
              <a:rPr sz="1200" b="0">
                <a:solidFill>
                  <a:srgbClr val="59657A"/>
                </a:solidFill>
                <a:latin typeface="Roboto"/>
                <a:ea typeface="Roboto"/>
                <a:cs typeface="Roboto"/>
              </a:rPr>
              <a:t>investors.sparknz.co.nz</a:t>
            </a:r>
          </a:p>
        </p:txBody>
      </p:sp>
      <p:sp>
        <p:nvSpPr>
          <p:cNvPr id="548" name="Text">
            <a:extLst>
              <a:ext uri="{FF2B5EF4-FFF2-40B4-BE49-F238E27FC236}">
                <a16:creationId xmlns:a16="http://schemas.microsoft.com/office/drawing/2014/main" id="{0AA4AAFC-485C-4628-9D0C-391D1238C7BC}"/>
              </a:ext>
            </a:extLst>
          </p:cNvPr>
          <p:cNvSpPr>
            <a:spLocks noGrp="1"/>
          </p:cNvSpPr>
          <p:nvPr/>
        </p:nvSpPr>
        <p:spPr>
          <a:xfrm>
            <a:off x="6343650" y="1809750"/>
            <a:ext cx="5200650" cy="238125"/>
          </a:xfrm>
          <a:prstGeom prst="rect">
            <a:avLst/>
          </a:prstGeom>
          <a:noFill/>
          <a:ln w="0">
            <a:noFill/>
          </a:ln>
        </p:spPr>
        <p:txBody>
          <a:bodyPr wrap="square" lIns="0" tIns="0" rIns="0" bIns="0" anchor="t">
            <a:noAutofit/>
          </a:bodyPr>
          <a:lstStyle/>
          <a:p>
            <a:pPr algn="l">
              <a:defRPr sz="1500" b="1">
                <a:solidFill>
                  <a:srgbClr val="355CC9"/>
                </a:solidFill>
                <a:latin typeface="Roboto"/>
                <a:ea typeface="Roboto"/>
                <a:cs typeface="Roboto"/>
              </a:defRPr>
            </a:pPr>
            <a:r>
              <a:rPr sz="1500" b="1">
                <a:solidFill>
                  <a:srgbClr val="355CC9"/>
                </a:solidFill>
                <a:latin typeface="Roboto"/>
                <a:ea typeface="Roboto"/>
                <a:cs typeface="Roboto"/>
              </a:rPr>
              <a:t>Rosenbaum, Otalora &amp; Ramírez (2017)</a:t>
            </a:r>
          </a:p>
        </p:txBody>
      </p:sp>
      <p:sp>
        <p:nvSpPr>
          <p:cNvPr id="549" name="Text">
            <a:extLst>
              <a:ext uri="{FF2B5EF4-FFF2-40B4-BE49-F238E27FC236}">
                <a16:creationId xmlns:a16="http://schemas.microsoft.com/office/drawing/2014/main" id="{7DEDDB7E-559C-4A56-BD96-929B5AD8447D}"/>
              </a:ext>
            </a:extLst>
          </p:cNvPr>
          <p:cNvSpPr>
            <a:spLocks noGrp="1"/>
          </p:cNvSpPr>
          <p:nvPr/>
        </p:nvSpPr>
        <p:spPr>
          <a:xfrm>
            <a:off x="6343650" y="2047875"/>
            <a:ext cx="5200650" cy="419100"/>
          </a:xfrm>
          <a:prstGeom prst="rect">
            <a:avLst/>
          </a:prstGeom>
          <a:noFill/>
          <a:ln w="0">
            <a:noFill/>
          </a:ln>
        </p:spPr>
        <p:txBody>
          <a:bodyPr wrap="square" lIns="0" tIns="0" rIns="0" bIns="0" anchor="t">
            <a:noAutofit/>
          </a:bodyPr>
          <a:lstStyle/>
          <a:p>
            <a:pPr algn="l">
              <a:defRPr sz="1425" b="0">
                <a:solidFill>
                  <a:srgbClr val="1C2432"/>
                </a:solidFill>
                <a:latin typeface="Roboto"/>
                <a:ea typeface="Roboto"/>
                <a:cs typeface="Roboto"/>
              </a:defRPr>
            </a:pPr>
            <a:r>
              <a:rPr sz="1425" b="0">
                <a:solidFill>
                  <a:srgbClr val="1C2432"/>
                </a:solidFill>
                <a:latin typeface="Roboto"/>
                <a:ea typeface="Roboto"/>
                <a:cs typeface="Roboto"/>
              </a:rPr>
              <a:t>How to create a realistic customer journey map</a:t>
            </a:r>
          </a:p>
        </p:txBody>
      </p:sp>
      <p:sp>
        <p:nvSpPr>
          <p:cNvPr id="550" name="Text">
            <a:extLst>
              <a:ext uri="{FF2B5EF4-FFF2-40B4-BE49-F238E27FC236}">
                <a16:creationId xmlns:a16="http://schemas.microsoft.com/office/drawing/2014/main" id="{B72A0A8E-A1BF-4E0F-B50E-E297A4638AFE}"/>
              </a:ext>
            </a:extLst>
          </p:cNvPr>
          <p:cNvSpPr>
            <a:spLocks noGrp="1"/>
          </p:cNvSpPr>
          <p:nvPr/>
        </p:nvSpPr>
        <p:spPr>
          <a:xfrm>
            <a:off x="6343650" y="2457450"/>
            <a:ext cx="5200650" cy="190500"/>
          </a:xfrm>
          <a:prstGeom prst="rect">
            <a:avLst/>
          </a:prstGeom>
          <a:noFill/>
          <a:ln w="0">
            <a:noFill/>
          </a:ln>
        </p:spPr>
        <p:txBody>
          <a:bodyPr wrap="square" lIns="0" tIns="0" rIns="0" bIns="0" anchor="t">
            <a:noAutofit/>
          </a:bodyPr>
          <a:lstStyle/>
          <a:p>
            <a:pPr algn="l">
              <a:defRPr sz="1200" b="0">
                <a:solidFill>
                  <a:srgbClr val="59657A"/>
                </a:solidFill>
                <a:latin typeface="Roboto"/>
                <a:ea typeface="Roboto"/>
                <a:cs typeface="Roboto"/>
              </a:defRPr>
            </a:pPr>
            <a:r>
              <a:rPr sz="1200" b="0">
                <a:solidFill>
                  <a:srgbClr val="59657A"/>
                </a:solidFill>
                <a:latin typeface="Roboto"/>
                <a:ea typeface="Roboto"/>
                <a:cs typeface="Roboto"/>
              </a:rPr>
              <a:t>doi.org/10.1016/j.bushor.2016.09.010</a:t>
            </a:r>
          </a:p>
        </p:txBody>
      </p:sp>
      <p:sp>
        <p:nvSpPr>
          <p:cNvPr id="551" name="Text">
            <a:extLst>
              <a:ext uri="{FF2B5EF4-FFF2-40B4-BE49-F238E27FC236}">
                <a16:creationId xmlns:a16="http://schemas.microsoft.com/office/drawing/2014/main" id="{FE3A8851-A6DF-45F0-8BBA-F6BEB4561975}"/>
              </a:ext>
            </a:extLst>
          </p:cNvPr>
          <p:cNvSpPr>
            <a:spLocks noGrp="1"/>
          </p:cNvSpPr>
          <p:nvPr/>
        </p:nvSpPr>
        <p:spPr>
          <a:xfrm>
            <a:off x="6343650" y="2647950"/>
            <a:ext cx="5200650" cy="238125"/>
          </a:xfrm>
          <a:prstGeom prst="rect">
            <a:avLst/>
          </a:prstGeom>
          <a:noFill/>
          <a:ln w="0">
            <a:noFill/>
          </a:ln>
        </p:spPr>
        <p:txBody>
          <a:bodyPr wrap="square" lIns="0" tIns="0" rIns="0" bIns="0" anchor="t">
            <a:noAutofit/>
          </a:bodyPr>
          <a:lstStyle/>
          <a:p>
            <a:pPr algn="l">
              <a:defRPr sz="1500" b="1">
                <a:solidFill>
                  <a:srgbClr val="355CC9"/>
                </a:solidFill>
                <a:latin typeface="Roboto"/>
                <a:ea typeface="Roboto"/>
                <a:cs typeface="Roboto"/>
              </a:defRPr>
            </a:pPr>
            <a:r>
              <a:rPr sz="1500" b="1">
                <a:solidFill>
                  <a:srgbClr val="355CC9"/>
                </a:solidFill>
                <a:latin typeface="Roboto"/>
                <a:ea typeface="Roboto"/>
                <a:cs typeface="Roboto"/>
              </a:rPr>
              <a:t>Mills (2025, 26 August)</a:t>
            </a:r>
          </a:p>
        </p:txBody>
      </p:sp>
      <p:sp>
        <p:nvSpPr>
          <p:cNvPr id="552" name="Text">
            <a:extLst>
              <a:ext uri="{FF2B5EF4-FFF2-40B4-BE49-F238E27FC236}">
                <a16:creationId xmlns:a16="http://schemas.microsoft.com/office/drawing/2014/main" id="{0712C66B-6BAE-4185-AC38-C8106A3F9B0A}"/>
              </a:ext>
            </a:extLst>
          </p:cNvPr>
          <p:cNvSpPr>
            <a:spLocks noGrp="1"/>
          </p:cNvSpPr>
          <p:nvPr/>
        </p:nvSpPr>
        <p:spPr>
          <a:xfrm>
            <a:off x="6343650" y="2886075"/>
            <a:ext cx="5200650" cy="419100"/>
          </a:xfrm>
          <a:prstGeom prst="rect">
            <a:avLst/>
          </a:prstGeom>
          <a:noFill/>
          <a:ln w="0">
            <a:noFill/>
          </a:ln>
        </p:spPr>
        <p:txBody>
          <a:bodyPr wrap="square" lIns="0" tIns="0" rIns="0" bIns="0" anchor="t">
            <a:noAutofit/>
          </a:bodyPr>
          <a:lstStyle/>
          <a:p>
            <a:pPr algn="l">
              <a:defRPr sz="1425" b="0">
                <a:solidFill>
                  <a:srgbClr val="1C2432"/>
                </a:solidFill>
                <a:latin typeface="Roboto"/>
                <a:ea typeface="Roboto"/>
                <a:cs typeface="Roboto"/>
              </a:defRPr>
            </a:pPr>
            <a:r>
              <a:rPr sz="1425" b="0">
                <a:solidFill>
                  <a:srgbClr val="1C2432"/>
                </a:solidFill>
                <a:latin typeface="Roboto"/>
                <a:ea typeface="Roboto"/>
                <a:cs typeface="Roboto"/>
              </a:rPr>
              <a:t>Guest lecture Andrew Mills INFOSYS 704</a:t>
            </a:r>
          </a:p>
        </p:txBody>
      </p:sp>
      <p:sp>
        <p:nvSpPr>
          <p:cNvPr id="553" name="Text">
            <a:extLst>
              <a:ext uri="{FF2B5EF4-FFF2-40B4-BE49-F238E27FC236}">
                <a16:creationId xmlns:a16="http://schemas.microsoft.com/office/drawing/2014/main" id="{4B1F3ACC-2CD8-42C6-BFC6-EB638FC1B611}"/>
              </a:ext>
            </a:extLst>
          </p:cNvPr>
          <p:cNvSpPr>
            <a:spLocks noGrp="1"/>
          </p:cNvSpPr>
          <p:nvPr/>
        </p:nvSpPr>
        <p:spPr>
          <a:xfrm>
            <a:off x="6343650" y="3295650"/>
            <a:ext cx="5200650" cy="190500"/>
          </a:xfrm>
          <a:prstGeom prst="rect">
            <a:avLst/>
          </a:prstGeom>
          <a:noFill/>
          <a:ln w="0">
            <a:noFill/>
          </a:ln>
        </p:spPr>
        <p:txBody>
          <a:bodyPr wrap="square" lIns="0" tIns="0" rIns="0" bIns="0" anchor="t">
            <a:noAutofit/>
          </a:bodyPr>
          <a:lstStyle/>
          <a:p>
            <a:pPr algn="l">
              <a:defRPr sz="1200" b="0">
                <a:solidFill>
                  <a:srgbClr val="59657A"/>
                </a:solidFill>
                <a:latin typeface="Roboto"/>
                <a:ea typeface="Roboto"/>
                <a:cs typeface="Roboto"/>
              </a:defRPr>
            </a:pPr>
            <a:r>
              <a:rPr sz="1200" b="0">
                <a:solidFill>
                  <a:srgbClr val="59657A"/>
                </a:solidFill>
                <a:latin typeface="Roboto"/>
                <a:ea typeface="Roboto"/>
                <a:cs typeface="Roboto"/>
              </a:rPr>
              <a:t>University of Auckland, Panopto</a:t>
            </a:r>
          </a:p>
        </p:txBody>
      </p:sp>
      <p:sp>
        <p:nvSpPr>
          <p:cNvPr id="554" name="Text">
            <a:extLst>
              <a:ext uri="{FF2B5EF4-FFF2-40B4-BE49-F238E27FC236}">
                <a16:creationId xmlns:a16="http://schemas.microsoft.com/office/drawing/2014/main" id="{D9D3BD7A-519A-403D-94F3-082870CCBFBB}"/>
              </a:ext>
            </a:extLst>
          </p:cNvPr>
          <p:cNvSpPr>
            <a:spLocks noGrp="1"/>
          </p:cNvSpPr>
          <p:nvPr/>
        </p:nvSpPr>
        <p:spPr>
          <a:xfrm>
            <a:off x="6343650" y="3486150"/>
            <a:ext cx="5200650" cy="238125"/>
          </a:xfrm>
          <a:prstGeom prst="rect">
            <a:avLst/>
          </a:prstGeom>
          <a:noFill/>
          <a:ln w="0">
            <a:noFill/>
          </a:ln>
        </p:spPr>
        <p:txBody>
          <a:bodyPr wrap="square" lIns="0" tIns="0" rIns="0" bIns="0" anchor="t">
            <a:noAutofit/>
          </a:bodyPr>
          <a:lstStyle/>
          <a:p>
            <a:pPr algn="l">
              <a:defRPr sz="1500" b="1">
                <a:solidFill>
                  <a:srgbClr val="355CC9"/>
                </a:solidFill>
                <a:latin typeface="Roboto"/>
                <a:ea typeface="Roboto"/>
                <a:cs typeface="Roboto"/>
              </a:defRPr>
            </a:pPr>
            <a:r>
              <a:rPr sz="1500" b="1">
                <a:solidFill>
                  <a:srgbClr val="355CC9"/>
                </a:solidFill>
                <a:latin typeface="Roboto"/>
                <a:ea typeface="Roboto"/>
                <a:cs typeface="Roboto"/>
              </a:rPr>
              <a:t>Scott &amp; Vessey (2002)</a:t>
            </a:r>
          </a:p>
        </p:txBody>
      </p:sp>
      <p:sp>
        <p:nvSpPr>
          <p:cNvPr id="555" name="Text">
            <a:extLst>
              <a:ext uri="{FF2B5EF4-FFF2-40B4-BE49-F238E27FC236}">
                <a16:creationId xmlns:a16="http://schemas.microsoft.com/office/drawing/2014/main" id="{2B88A516-E953-41BF-A054-5EA7C65833AB}"/>
              </a:ext>
            </a:extLst>
          </p:cNvPr>
          <p:cNvSpPr>
            <a:spLocks noGrp="1"/>
          </p:cNvSpPr>
          <p:nvPr/>
        </p:nvSpPr>
        <p:spPr>
          <a:xfrm>
            <a:off x="6343650" y="3724275"/>
            <a:ext cx="5200650" cy="419100"/>
          </a:xfrm>
          <a:prstGeom prst="rect">
            <a:avLst/>
          </a:prstGeom>
          <a:noFill/>
          <a:ln w="0">
            <a:noFill/>
          </a:ln>
        </p:spPr>
        <p:txBody>
          <a:bodyPr wrap="square" lIns="0" tIns="0" rIns="0" bIns="0" anchor="t">
            <a:noAutofit/>
          </a:bodyPr>
          <a:lstStyle/>
          <a:p>
            <a:pPr algn="l">
              <a:defRPr sz="1425" b="0">
                <a:solidFill>
                  <a:srgbClr val="1C2432"/>
                </a:solidFill>
                <a:latin typeface="Roboto"/>
                <a:ea typeface="Roboto"/>
                <a:cs typeface="Roboto"/>
              </a:defRPr>
            </a:pPr>
            <a:r>
              <a:rPr sz="1425" b="0">
                <a:solidFill>
                  <a:srgbClr val="1C2432"/>
                </a:solidFill>
                <a:latin typeface="Roboto"/>
                <a:ea typeface="Roboto"/>
                <a:cs typeface="Roboto"/>
              </a:rPr>
              <a:t>Managing risks in enterprise systems implementations</a:t>
            </a:r>
          </a:p>
        </p:txBody>
      </p:sp>
      <p:sp>
        <p:nvSpPr>
          <p:cNvPr id="556" name="Text">
            <a:extLst>
              <a:ext uri="{FF2B5EF4-FFF2-40B4-BE49-F238E27FC236}">
                <a16:creationId xmlns:a16="http://schemas.microsoft.com/office/drawing/2014/main" id="{0317B68B-16FB-48F7-94FA-500A29D04170}"/>
              </a:ext>
            </a:extLst>
          </p:cNvPr>
          <p:cNvSpPr>
            <a:spLocks noGrp="1"/>
          </p:cNvSpPr>
          <p:nvPr/>
        </p:nvSpPr>
        <p:spPr>
          <a:xfrm>
            <a:off x="6343650" y="4133850"/>
            <a:ext cx="5200650" cy="190500"/>
          </a:xfrm>
          <a:prstGeom prst="rect">
            <a:avLst/>
          </a:prstGeom>
          <a:noFill/>
          <a:ln w="0">
            <a:noFill/>
          </a:ln>
        </p:spPr>
        <p:txBody>
          <a:bodyPr wrap="square" lIns="0" tIns="0" rIns="0" bIns="0" anchor="t">
            <a:noAutofit/>
          </a:bodyPr>
          <a:lstStyle/>
          <a:p>
            <a:pPr algn="l">
              <a:defRPr sz="1200" b="0">
                <a:solidFill>
                  <a:srgbClr val="59657A"/>
                </a:solidFill>
                <a:latin typeface="Roboto"/>
                <a:ea typeface="Roboto"/>
                <a:cs typeface="Roboto"/>
              </a:defRPr>
            </a:pPr>
            <a:r>
              <a:rPr sz="1200" b="0">
                <a:solidFill>
                  <a:srgbClr val="59657A"/>
                </a:solidFill>
                <a:latin typeface="Roboto"/>
                <a:ea typeface="Roboto"/>
                <a:cs typeface="Roboto"/>
              </a:rPr>
              <a:t>doi.org/10.1145/505248.505249</a:t>
            </a:r>
          </a:p>
        </p:txBody>
      </p:sp>
      <p:sp>
        <p:nvSpPr>
          <p:cNvPr id="557" name="Text">
            <a:extLst>
              <a:ext uri="{FF2B5EF4-FFF2-40B4-BE49-F238E27FC236}">
                <a16:creationId xmlns:a16="http://schemas.microsoft.com/office/drawing/2014/main" id="{70BE4EA1-670B-4160-AFC9-B2755F9023E1}"/>
              </a:ext>
            </a:extLst>
          </p:cNvPr>
          <p:cNvSpPr>
            <a:spLocks noGrp="1"/>
          </p:cNvSpPr>
          <p:nvPr/>
        </p:nvSpPr>
        <p:spPr>
          <a:xfrm>
            <a:off x="6343650" y="4324350"/>
            <a:ext cx="5200650" cy="238125"/>
          </a:xfrm>
          <a:prstGeom prst="rect">
            <a:avLst/>
          </a:prstGeom>
          <a:noFill/>
          <a:ln w="0">
            <a:noFill/>
          </a:ln>
        </p:spPr>
        <p:txBody>
          <a:bodyPr wrap="square" lIns="0" tIns="0" rIns="0" bIns="0" anchor="t">
            <a:noAutofit/>
          </a:bodyPr>
          <a:lstStyle/>
          <a:p>
            <a:pPr algn="l">
              <a:defRPr sz="1500" b="1">
                <a:solidFill>
                  <a:srgbClr val="355CC9"/>
                </a:solidFill>
                <a:latin typeface="Roboto"/>
                <a:ea typeface="Roboto"/>
                <a:cs typeface="Roboto"/>
              </a:defRPr>
            </a:pPr>
            <a:r>
              <a:rPr sz="1500" b="1">
                <a:solidFill>
                  <a:srgbClr val="355CC9"/>
                </a:solidFill>
                <a:latin typeface="Roboto"/>
                <a:ea typeface="Roboto"/>
                <a:cs typeface="Roboto"/>
              </a:rPr>
              <a:t>Prodigi Technology Services (n.d.)</a:t>
            </a:r>
          </a:p>
        </p:txBody>
      </p:sp>
      <p:sp>
        <p:nvSpPr>
          <p:cNvPr id="558" name="Text">
            <a:extLst>
              <a:ext uri="{FF2B5EF4-FFF2-40B4-BE49-F238E27FC236}">
                <a16:creationId xmlns:a16="http://schemas.microsoft.com/office/drawing/2014/main" id="{5079F01C-7E73-4E3C-BC81-B887DA0A77A1}"/>
              </a:ext>
            </a:extLst>
          </p:cNvPr>
          <p:cNvSpPr>
            <a:spLocks noGrp="1"/>
          </p:cNvSpPr>
          <p:nvPr/>
        </p:nvSpPr>
        <p:spPr>
          <a:xfrm>
            <a:off x="6343650" y="4562475"/>
            <a:ext cx="5200650" cy="419100"/>
          </a:xfrm>
          <a:prstGeom prst="rect">
            <a:avLst/>
          </a:prstGeom>
          <a:noFill/>
          <a:ln w="0">
            <a:noFill/>
          </a:ln>
        </p:spPr>
        <p:txBody>
          <a:bodyPr wrap="square" lIns="0" tIns="0" rIns="0" bIns="0" anchor="t">
            <a:noAutofit/>
          </a:bodyPr>
          <a:lstStyle/>
          <a:p>
            <a:pPr algn="l">
              <a:defRPr sz="1425" b="0">
                <a:solidFill>
                  <a:srgbClr val="1C2432"/>
                </a:solidFill>
                <a:latin typeface="Roboto"/>
                <a:ea typeface="Roboto"/>
                <a:cs typeface="Roboto"/>
              </a:defRPr>
            </a:pPr>
            <a:r>
              <a:rPr sz="1425" b="0">
                <a:solidFill>
                  <a:srgbClr val="1C2432"/>
                </a:solidFill>
                <a:latin typeface="Roboto"/>
                <a:ea typeface="Roboto"/>
                <a:cs typeface="Roboto"/>
              </a:rPr>
              <a:t>All our pricing, no meetings required</a:t>
            </a:r>
          </a:p>
        </p:txBody>
      </p:sp>
      <p:sp>
        <p:nvSpPr>
          <p:cNvPr id="559" name="Text">
            <a:extLst>
              <a:ext uri="{FF2B5EF4-FFF2-40B4-BE49-F238E27FC236}">
                <a16:creationId xmlns:a16="http://schemas.microsoft.com/office/drawing/2014/main" id="{AB95BEA8-31E4-4F26-A58F-158CCBCF2686}"/>
              </a:ext>
            </a:extLst>
          </p:cNvPr>
          <p:cNvSpPr>
            <a:spLocks noGrp="1"/>
          </p:cNvSpPr>
          <p:nvPr/>
        </p:nvSpPr>
        <p:spPr>
          <a:xfrm>
            <a:off x="6343650" y="4972050"/>
            <a:ext cx="5200650" cy="190500"/>
          </a:xfrm>
          <a:prstGeom prst="rect">
            <a:avLst/>
          </a:prstGeom>
          <a:noFill/>
          <a:ln w="0">
            <a:noFill/>
          </a:ln>
        </p:spPr>
        <p:txBody>
          <a:bodyPr wrap="square" lIns="0" tIns="0" rIns="0" bIns="0" anchor="t">
            <a:noAutofit/>
          </a:bodyPr>
          <a:lstStyle/>
          <a:p>
            <a:pPr algn="l">
              <a:defRPr sz="1200" b="0">
                <a:solidFill>
                  <a:srgbClr val="59657A"/>
                </a:solidFill>
                <a:latin typeface="Roboto"/>
                <a:ea typeface="Roboto"/>
                <a:cs typeface="Roboto"/>
              </a:defRPr>
            </a:pPr>
            <a:r>
              <a:rPr sz="1200" b="0">
                <a:solidFill>
                  <a:srgbClr val="59657A"/>
                </a:solidFill>
                <a:latin typeface="Roboto"/>
                <a:ea typeface="Roboto"/>
                <a:cs typeface="Roboto"/>
              </a:rPr>
              <a:t>prodigi.nz/pricing (accessed 15 Sep 2026)</a:t>
            </a:r>
          </a:p>
        </p:txBody>
      </p:sp>
      <p:sp>
        <p:nvSpPr>
          <p:cNvPr id="560" name="ConciseSupport_18_13">
            <a:extLst>
              <a:ext uri="{FF2B5EF4-FFF2-40B4-BE49-F238E27FC236}">
                <a16:creationId xmlns:a16="http://schemas.microsoft.com/office/drawing/2014/main" id="{E28E5F3B-D40D-4FD9-98FC-230C29223D0A}"/>
              </a:ext>
            </a:extLst>
          </p:cNvPr>
          <p:cNvSpPr>
            <a:spLocks noGrp="1"/>
          </p:cNvSpPr>
          <p:nvPr/>
        </p:nvSpPr>
        <p:spPr>
          <a:xfrm>
            <a:off x="609600" y="5572125"/>
            <a:ext cx="8096250" cy="533400"/>
          </a:xfrm>
          <a:prstGeom prst="rect">
            <a:avLst/>
          </a:prstGeom>
          <a:noFill/>
          <a:ln w="0">
            <a:noFill/>
          </a:ln>
        </p:spPr>
        <p:txBody>
          <a:bodyPr wrap="square" lIns="0" tIns="0" rIns="0" bIns="0" anchor="t">
            <a:noAutofit/>
          </a:bodyPr>
          <a:lstStyle/>
          <a:p>
            <a:pPr algn="l">
              <a:defRPr sz="1350" b="0">
                <a:solidFill>
                  <a:srgbClr val="59657A"/>
                </a:solidFill>
                <a:latin typeface="Roboto"/>
                <a:ea typeface="Roboto"/>
                <a:cs typeface="Roboto"/>
              </a:defRPr>
            </a:pPr>
            <a:r>
              <a:rPr sz="1350" b="0">
                <a:solidFill>
                  <a:srgbClr val="59657A"/>
                </a:solidFill>
                <a:latin typeface="Roboto"/>
                <a:ea typeface="Roboto"/>
                <a:cs typeface="Roboto"/>
              </a:rPr>
              <a:t>Published facts inform the context. Targets and costs are assumptions.</a:t>
            </a:r>
          </a:p>
          <a:p>
            <a:pPr algn="l">
              <a:defRPr sz="1350" b="0">
                <a:solidFill>
                  <a:srgbClr val="59657A"/>
                </a:solidFill>
                <a:latin typeface="Roboto"/>
                <a:ea typeface="Roboto"/>
                <a:cs typeface="Roboto"/>
              </a:defRPr>
            </a:pPr>
            <a:r>
              <a:rPr sz="1350" b="0">
                <a:solidFill>
                  <a:srgbClr val="59657A"/>
                </a:solidFill>
                <a:latin typeface="Roboto"/>
                <a:ea typeface="Roboto"/>
                <a:cs typeface="Roboto"/>
              </a:rPr>
              <a:t>Diagnostic information value is not monetised; the sponsor must judge its worth.</a:t>
            </a:r>
          </a:p>
        </p:txBody>
      </p:sp>
    </p:spTree>
    <p:extLst>
      <p:ext uri="{BB962C8B-B14F-4D97-AF65-F5344CB8AC3E}">
        <p14:creationId xmlns:p14="http://schemas.microsoft.com/office/powerpoint/2010/main" val="2048103416"/>
      </p:ext>
    </p:extLst>
  </p:cSld>
  <p:clrMapOvr>
    <a:masterClrMapping/>
  </p:clrMapOvr>
  <p:transition advClick="0" advTm="2000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a:spLocks noGrp="1"/>
          </p:cNvSpPr>
          <p:nvPr>
            <p:ph idx="1"/>
          </p:nvPr>
        </p:nvSpPr>
        <p:spPr>
          <a:xfrm>
            <a:off x="393700" y="2192694"/>
            <a:ext cx="5537200" cy="3801706"/>
          </a:xfrm>
          <a:prstGeom prst="rect">
            <a:avLst/>
          </a:prstGeom>
        </p:spPr>
        <p:txBody>
          <a:bodyPr spcFirstLastPara="1" vert="horz" wrap="square" lIns="0" tIns="0" rIns="0" bIns="0" anchor="t">
            <a:noAutofit/>
          </a:bodyPr>
          <a:lstStyle/>
          <a:p>
            <a:pPr marL="0" indent="0">
              <a:lnSpc>
                <a:spcPct val="114000"/>
              </a:lnSpc>
              <a:spcBef>
                <a:spcPts val="0"/>
              </a:spcBef>
              <a:spcAft>
                <a:spcPts val="800"/>
              </a:spcAft>
              <a:buNone/>
            </a:pPr>
            <a:endParaRPr/>
          </a:p>
        </p:txBody>
      </p:sp>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xfrm>
            <a:off x="8705850" y="6486525"/>
            <a:ext cx="361950" cy="190500"/>
          </a:xfrm>
          <a:prstGeom prst="rect">
            <a:avLst/>
          </a:prstGeom>
        </p:spPr>
        <p:txBody>
          <a:bodyPr spcFirstLastPara="1" vert="horz" wrap="square" lIns="0" tIns="0" rIns="0" bIns="0" anchor="t">
            <a:noAutofit/>
          </a:bodyPr>
          <a:lstStyle/>
          <a:p>
            <a:pPr algn="l">
              <a:defRPr sz="1050" b="0">
                <a:solidFill>
                  <a:srgbClr val="59657A"/>
                </a:solidFill>
                <a:latin typeface="Roboto"/>
                <a:ea typeface="Roboto"/>
                <a:cs typeface="Roboto"/>
              </a:defRPr>
            </a:pPr>
            <a:fld id="{CCF91274-D221-1BB4-3BF9-836E3AD31EBE}" type="slidenum">
              <a:rPr sz="1050" b="0">
                <a:solidFill>
                  <a:srgbClr val="59657A"/>
                </a:solidFill>
                <a:latin typeface="Roboto"/>
                <a:ea typeface="Roboto"/>
                <a:cs typeface="Roboto"/>
              </a:rPr>
              <a:t>19</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400050" y="323850"/>
            <a:ext cx="11239500" cy="904875"/>
          </a:xfrm>
          <a:prstGeom prst="rect">
            <a:avLst/>
          </a:prstGeom>
        </p:spPr>
        <p:txBody>
          <a:bodyPr spcFirstLastPara="1" vert="horz" wrap="square" lIns="0" tIns="0" rIns="0" bIns="0" anchor="t">
            <a:noAutofit/>
          </a:bodyPr>
          <a:lstStyle/>
          <a:p>
            <a:pPr algn="l">
              <a:defRPr sz="2925" b="1">
                <a:solidFill>
                  <a:srgbClr val="355CC9"/>
                </a:solidFill>
                <a:latin typeface="Roboto"/>
                <a:ea typeface="Roboto"/>
                <a:cs typeface="Roboto"/>
              </a:defRPr>
            </a:pPr>
            <a:r>
              <a:rPr sz="2925" b="1">
                <a:solidFill>
                  <a:srgbClr val="355CC9"/>
                </a:solidFill>
                <a:latin typeface="Roboto"/>
                <a:ea typeface="Roboto"/>
                <a:cs typeface="Roboto"/>
              </a:rPr>
              <a:t>Sources for the proposed SAP applications</a:t>
            </a:r>
          </a:p>
        </p:txBody>
      </p:sp>
      <p:sp>
        <p:nvSpPr>
          <p:cNvPr id="2" name="Google Shape;534;p58">
            <a:extLst>
              <a:ext uri="{FF2B5EF4-FFF2-40B4-BE49-F238E27FC236}">
                <a16:creationId xmlns:a16="http://schemas.microsoft.com/office/drawing/2014/main" id="{A4A94F3C-B1B2-7289-7098-7C66C8A291D6}"/>
              </a:ext>
            </a:extLst>
          </p:cNvPr>
          <p:cNvSpPr>
            <a:spLocks noGrp="1"/>
          </p:cNvSpPr>
          <p:nvPr/>
        </p:nvSpPr>
        <p:spPr>
          <a:xfrm>
            <a:off x="6265111" y="2192694"/>
            <a:ext cx="5537200" cy="3801706"/>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Font typeface="Arial"/>
              <a:buNone/>
            </a:pPr>
            <a:endParaRPr/>
          </a:p>
        </p:txBody>
      </p:sp>
      <p:sp>
        <p:nvSpPr>
          <p:cNvPr id="3" name="Google Shape;534;p58">
            <a:extLst>
              <a:ext uri="{FF2B5EF4-FFF2-40B4-BE49-F238E27FC236}">
                <a16:creationId xmlns:a16="http://schemas.microsoft.com/office/drawing/2014/main" id="{FD46BF2A-8122-2E0A-E8CC-886653CF64DA}"/>
              </a:ext>
            </a:extLst>
          </p:cNvPr>
          <p:cNvSpPr>
            <a:spLocks noGrp="1"/>
          </p:cNvSpPr>
          <p:nvPr/>
        </p:nvSpPr>
        <p:spPr>
          <a:xfrm>
            <a:off x="393700" y="1310936"/>
            <a:ext cx="5537200" cy="719318"/>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14000"/>
              </a:lnSpc>
              <a:spcBef>
                <a:spcPts val="0"/>
              </a:spcBef>
              <a:spcAft>
                <a:spcPts val="800"/>
              </a:spcAft>
              <a:buNone/>
            </a:pPr>
            <a:endParaRPr/>
          </a:p>
        </p:txBody>
      </p:sp>
      <p:sp>
        <p:nvSpPr>
          <p:cNvPr id="535" name="Text">
            <a:extLst>
              <a:ext uri="{FF2B5EF4-FFF2-40B4-BE49-F238E27FC236}">
                <a16:creationId xmlns:a16="http://schemas.microsoft.com/office/drawing/2014/main" id="{7BEE393C-D673-4119-A53E-AAC5B4B7665E}"/>
              </a:ext>
            </a:extLst>
          </p:cNvPr>
          <p:cNvSpPr>
            <a:spLocks noGrp="1"/>
          </p:cNvSpPr>
          <p:nvPr/>
        </p:nvSpPr>
        <p:spPr>
          <a:xfrm>
            <a:off x="609600" y="1381125"/>
            <a:ext cx="10572750" cy="523875"/>
          </a:xfrm>
          <a:prstGeom prst="rect">
            <a:avLst/>
          </a:prstGeom>
          <a:noFill/>
          <a:ln w="0">
            <a:noFill/>
          </a:ln>
        </p:spPr>
        <p:txBody>
          <a:bodyPr wrap="square" lIns="0" tIns="0" rIns="0" bIns="0" anchor="t">
            <a:noAutofit/>
          </a:bodyPr>
          <a:lstStyle/>
          <a:p>
            <a:pPr algn="l">
              <a:defRPr sz="2100" b="0">
                <a:solidFill>
                  <a:srgbClr val="59657A"/>
                </a:solidFill>
                <a:latin typeface="Roboto"/>
                <a:ea typeface="Roboto"/>
                <a:cs typeface="Roboto"/>
              </a:defRPr>
            </a:pPr>
            <a:r>
              <a:rPr sz="2100" b="0">
                <a:solidFill>
                  <a:srgbClr val="59657A"/>
                </a:solidFill>
                <a:latin typeface="Roboto"/>
                <a:ea typeface="Roboto"/>
                <a:cs typeface="Roboto"/>
              </a:rPr>
              <a:t>SAP Learning (n.d.) at learning.sap.com/courses</a:t>
            </a:r>
          </a:p>
        </p:txBody>
      </p:sp>
      <p:sp>
        <p:nvSpPr>
          <p:cNvPr id="536" name="Text">
            <a:extLst>
              <a:ext uri="{FF2B5EF4-FFF2-40B4-BE49-F238E27FC236}">
                <a16:creationId xmlns:a16="http://schemas.microsoft.com/office/drawing/2014/main" id="{41EE3ADA-1F4C-430B-80E2-D3FEC9C99BE9}"/>
              </a:ext>
            </a:extLst>
          </p:cNvPr>
          <p:cNvSpPr>
            <a:spLocks noGrp="1"/>
          </p:cNvSpPr>
          <p:nvPr/>
        </p:nvSpPr>
        <p:spPr>
          <a:xfrm>
            <a:off x="609600" y="2009775"/>
            <a:ext cx="5191125" cy="552450"/>
          </a:xfrm>
          <a:prstGeom prst="rect">
            <a:avLst/>
          </a:prstGeom>
          <a:noFill/>
          <a:ln w="0">
            <a:noFill/>
          </a:ln>
        </p:spPr>
        <p:txBody>
          <a:bodyPr wrap="square" lIns="0" tIns="0" rIns="0" bIns="0" anchor="t">
            <a:noAutofit/>
          </a:bodyPr>
          <a:lstStyle/>
          <a:p>
            <a:pPr algn="l">
              <a:defRPr sz="1650" b="1">
                <a:solidFill>
                  <a:srgbClr val="355CC9"/>
                </a:solidFill>
                <a:latin typeface="Roboto"/>
                <a:ea typeface="Roboto"/>
                <a:cs typeface="Roboto"/>
              </a:defRPr>
            </a:pPr>
            <a:r>
              <a:rPr sz="1650" b="1">
                <a:solidFill>
                  <a:srgbClr val="355CC9"/>
                </a:solidFill>
                <a:latin typeface="Roboto"/>
                <a:ea typeface="Roboto"/>
                <a:cs typeface="Roboto"/>
              </a:rPr>
              <a:t>Managing Business Processes with SAP Signavio Solutions</a:t>
            </a:r>
          </a:p>
        </p:txBody>
      </p:sp>
      <p:sp>
        <p:nvSpPr>
          <p:cNvPr id="537" name="Text">
            <a:extLst>
              <a:ext uri="{FF2B5EF4-FFF2-40B4-BE49-F238E27FC236}">
                <a16:creationId xmlns:a16="http://schemas.microsoft.com/office/drawing/2014/main" id="{652E66B1-F1CD-43EC-ACC2-A99767F25E33}"/>
              </a:ext>
            </a:extLst>
          </p:cNvPr>
          <p:cNvSpPr>
            <a:spLocks noGrp="1"/>
          </p:cNvSpPr>
          <p:nvPr/>
        </p:nvSpPr>
        <p:spPr>
          <a:xfrm>
            <a:off x="609600" y="2609850"/>
            <a:ext cx="5191125" cy="838200"/>
          </a:xfrm>
          <a:prstGeom prst="rect">
            <a:avLst/>
          </a:prstGeom>
          <a:noFill/>
          <a:ln w="0">
            <a:noFill/>
          </a:ln>
        </p:spPr>
        <p:txBody>
          <a:bodyPr wrap="square" lIns="0" tIns="0" rIns="0" bIns="0" anchor="t">
            <a:noAutofit/>
          </a:bodyPr>
          <a:lstStyle/>
          <a:p>
            <a:pPr algn="l">
              <a:defRPr sz="1500" b="0">
                <a:solidFill>
                  <a:srgbClr val="1C2432"/>
                </a:solidFill>
                <a:latin typeface="Roboto"/>
                <a:ea typeface="Roboto"/>
                <a:cs typeface="Roboto"/>
              </a:defRPr>
            </a:pPr>
            <a:r>
              <a:rPr sz="1500" b="0">
                <a:solidFill>
                  <a:srgbClr val="1C2432"/>
                </a:solidFill>
                <a:latin typeface="Roboto"/>
                <a:ea typeface="Roboto"/>
                <a:cs typeface="Roboto"/>
              </a:rPr>
              <a:t>U4 L3  Modeling with the editor</a:t>
            </a:r>
          </a:p>
          <a:p>
            <a:pPr algn="l">
              <a:defRPr sz="1500" b="0">
                <a:solidFill>
                  <a:srgbClr val="1C2432"/>
                </a:solidFill>
                <a:latin typeface="Roboto"/>
                <a:ea typeface="Roboto"/>
                <a:cs typeface="Roboto"/>
              </a:defRPr>
            </a:pPr>
            <a:r>
              <a:rPr sz="1500" b="0">
                <a:solidFill>
                  <a:srgbClr val="1C2432"/>
                </a:solidFill>
                <a:latin typeface="Roboto"/>
                <a:ea typeface="Roboto"/>
                <a:cs typeface="Roboto"/>
              </a:rPr>
              <a:t>U4 L7  Performing simulations</a:t>
            </a:r>
          </a:p>
        </p:txBody>
      </p:sp>
      <p:sp>
        <p:nvSpPr>
          <p:cNvPr id="538" name="Text">
            <a:extLst>
              <a:ext uri="{FF2B5EF4-FFF2-40B4-BE49-F238E27FC236}">
                <a16:creationId xmlns:a16="http://schemas.microsoft.com/office/drawing/2014/main" id="{6FFE8831-2B5F-49B0-A013-1278249D416E}"/>
              </a:ext>
            </a:extLst>
          </p:cNvPr>
          <p:cNvSpPr>
            <a:spLocks noGrp="1"/>
          </p:cNvSpPr>
          <p:nvPr/>
        </p:nvSpPr>
        <p:spPr>
          <a:xfrm>
            <a:off x="609600" y="3305175"/>
            <a:ext cx="5191125" cy="542925"/>
          </a:xfrm>
          <a:prstGeom prst="rect">
            <a:avLst/>
          </a:prstGeom>
          <a:noFill/>
          <a:ln w="0">
            <a:noFill/>
          </a:ln>
        </p:spPr>
        <p:txBody>
          <a:bodyPr wrap="square" lIns="0" tIns="0" rIns="0" bIns="0" anchor="t">
            <a:noAutofit/>
          </a:bodyPr>
          <a:lstStyle/>
          <a:p>
            <a:pPr algn="l">
              <a:defRPr sz="1650" b="1">
                <a:solidFill>
                  <a:srgbClr val="355CC9"/>
                </a:solidFill>
                <a:latin typeface="Roboto"/>
                <a:ea typeface="Roboto"/>
                <a:cs typeface="Roboto"/>
              </a:defRPr>
            </a:pPr>
            <a:r>
              <a:rPr sz="1650" b="1">
                <a:solidFill>
                  <a:srgbClr val="355CC9"/>
                </a:solidFill>
                <a:latin typeface="Roboto"/>
                <a:ea typeface="Roboto"/>
                <a:cs typeface="Roboto"/>
              </a:rPr>
              <a:t>Learning to Use SAP LeanIX for Successful Enterprise Architecture</a:t>
            </a:r>
          </a:p>
        </p:txBody>
      </p:sp>
      <p:sp>
        <p:nvSpPr>
          <p:cNvPr id="539" name="Text">
            <a:extLst>
              <a:ext uri="{FF2B5EF4-FFF2-40B4-BE49-F238E27FC236}">
                <a16:creationId xmlns:a16="http://schemas.microsoft.com/office/drawing/2014/main" id="{B1CE1358-F03B-45CC-9833-6BB838E70FAE}"/>
              </a:ext>
            </a:extLst>
          </p:cNvPr>
          <p:cNvSpPr>
            <a:spLocks noGrp="1"/>
          </p:cNvSpPr>
          <p:nvPr/>
        </p:nvSpPr>
        <p:spPr>
          <a:xfrm>
            <a:off x="609600" y="3895725"/>
            <a:ext cx="5191125" cy="838200"/>
          </a:xfrm>
          <a:prstGeom prst="rect">
            <a:avLst/>
          </a:prstGeom>
          <a:noFill/>
          <a:ln w="0">
            <a:noFill/>
          </a:ln>
        </p:spPr>
        <p:txBody>
          <a:bodyPr wrap="square" lIns="0" tIns="0" rIns="0" bIns="0" anchor="t">
            <a:noAutofit/>
          </a:bodyPr>
          <a:lstStyle/>
          <a:p>
            <a:pPr algn="l">
              <a:defRPr sz="1500" b="0">
                <a:solidFill>
                  <a:srgbClr val="1C2432"/>
                </a:solidFill>
                <a:latin typeface="Roboto"/>
                <a:ea typeface="Roboto"/>
                <a:cs typeface="Roboto"/>
              </a:defRPr>
            </a:pPr>
            <a:r>
              <a:rPr sz="1500" b="0">
                <a:solidFill>
                  <a:srgbClr val="1C2432"/>
                </a:solidFill>
                <a:latin typeface="Roboto"/>
                <a:ea typeface="Roboto"/>
                <a:cs typeface="Roboto"/>
              </a:rPr>
              <a:t>U2 L2  Defining SAP LeanIX fact sheets and modeling relations and dependencies</a:t>
            </a:r>
          </a:p>
        </p:txBody>
      </p:sp>
      <p:sp>
        <p:nvSpPr>
          <p:cNvPr id="540" name="Text">
            <a:extLst>
              <a:ext uri="{FF2B5EF4-FFF2-40B4-BE49-F238E27FC236}">
                <a16:creationId xmlns:a16="http://schemas.microsoft.com/office/drawing/2014/main" id="{493E3116-C2D7-4418-9CA0-DFED1AD76156}"/>
              </a:ext>
            </a:extLst>
          </p:cNvPr>
          <p:cNvSpPr>
            <a:spLocks noGrp="1"/>
          </p:cNvSpPr>
          <p:nvPr/>
        </p:nvSpPr>
        <p:spPr>
          <a:xfrm>
            <a:off x="609600" y="4800600"/>
            <a:ext cx="5191125" cy="285750"/>
          </a:xfrm>
          <a:prstGeom prst="rect">
            <a:avLst/>
          </a:prstGeom>
          <a:noFill/>
          <a:ln w="0">
            <a:noFill/>
          </a:ln>
        </p:spPr>
        <p:txBody>
          <a:bodyPr wrap="square" lIns="0" tIns="0" rIns="0" bIns="0" anchor="t">
            <a:noAutofit/>
          </a:bodyPr>
          <a:lstStyle/>
          <a:p>
            <a:pPr algn="l">
              <a:defRPr sz="1650" b="1">
                <a:solidFill>
                  <a:srgbClr val="355CC9"/>
                </a:solidFill>
                <a:latin typeface="Roboto"/>
                <a:ea typeface="Roboto"/>
                <a:cs typeface="Roboto"/>
              </a:defRPr>
            </a:pPr>
            <a:r>
              <a:rPr sz="1650" b="1">
                <a:solidFill>
                  <a:srgbClr val="355CC9"/>
                </a:solidFill>
                <a:latin typeface="Roboto"/>
                <a:ea typeface="Roboto"/>
                <a:cs typeface="Roboto"/>
              </a:rPr>
              <a:t>Designing Stories in SAP Analytics Cloud</a:t>
            </a:r>
          </a:p>
        </p:txBody>
      </p:sp>
      <p:sp>
        <p:nvSpPr>
          <p:cNvPr id="541" name="Text">
            <a:extLst>
              <a:ext uri="{FF2B5EF4-FFF2-40B4-BE49-F238E27FC236}">
                <a16:creationId xmlns:a16="http://schemas.microsoft.com/office/drawing/2014/main" id="{92619A3D-DE24-4E22-BE83-91540B43CD07}"/>
              </a:ext>
            </a:extLst>
          </p:cNvPr>
          <p:cNvSpPr>
            <a:spLocks noGrp="1"/>
          </p:cNvSpPr>
          <p:nvPr/>
        </p:nvSpPr>
        <p:spPr>
          <a:xfrm>
            <a:off x="609600" y="5133975"/>
            <a:ext cx="5191125" cy="838200"/>
          </a:xfrm>
          <a:prstGeom prst="rect">
            <a:avLst/>
          </a:prstGeom>
          <a:noFill/>
          <a:ln w="0">
            <a:noFill/>
          </a:ln>
        </p:spPr>
        <p:txBody>
          <a:bodyPr wrap="square" lIns="0" tIns="0" rIns="0" bIns="0" anchor="t">
            <a:noAutofit/>
          </a:bodyPr>
          <a:lstStyle/>
          <a:p>
            <a:pPr algn="l">
              <a:defRPr sz="1500" b="0">
                <a:solidFill>
                  <a:srgbClr val="1C2432"/>
                </a:solidFill>
                <a:latin typeface="Roboto"/>
                <a:ea typeface="Roboto"/>
                <a:cs typeface="Roboto"/>
              </a:defRPr>
            </a:pPr>
            <a:r>
              <a:rPr sz="1500" b="0">
                <a:solidFill>
                  <a:srgbClr val="1C2432"/>
                </a:solidFill>
                <a:latin typeface="Roboto"/>
                <a:ea typeface="Roboto"/>
                <a:cs typeface="Roboto"/>
              </a:rPr>
              <a:t>U3 L2  Configuring charts</a:t>
            </a:r>
          </a:p>
        </p:txBody>
      </p:sp>
      <p:sp>
        <p:nvSpPr>
          <p:cNvPr id="542" name="Text">
            <a:extLst>
              <a:ext uri="{FF2B5EF4-FFF2-40B4-BE49-F238E27FC236}">
                <a16:creationId xmlns:a16="http://schemas.microsoft.com/office/drawing/2014/main" id="{B8847FFA-5A6E-45C8-873C-934F28A5F7B9}"/>
              </a:ext>
            </a:extLst>
          </p:cNvPr>
          <p:cNvSpPr>
            <a:spLocks noGrp="1"/>
          </p:cNvSpPr>
          <p:nvPr/>
        </p:nvSpPr>
        <p:spPr>
          <a:xfrm>
            <a:off x="6343650" y="2009775"/>
            <a:ext cx="5191125" cy="542925"/>
          </a:xfrm>
          <a:prstGeom prst="rect">
            <a:avLst/>
          </a:prstGeom>
          <a:noFill/>
          <a:ln w="0">
            <a:noFill/>
          </a:ln>
        </p:spPr>
        <p:txBody>
          <a:bodyPr wrap="square" lIns="0" tIns="0" rIns="0" bIns="0" anchor="t">
            <a:noAutofit/>
          </a:bodyPr>
          <a:lstStyle/>
          <a:p>
            <a:pPr algn="l">
              <a:defRPr sz="1650" b="1">
                <a:solidFill>
                  <a:srgbClr val="355CC9"/>
                </a:solidFill>
                <a:latin typeface="Roboto"/>
                <a:ea typeface="Roboto"/>
                <a:cs typeface="Roboto"/>
              </a:defRPr>
            </a:pPr>
            <a:r>
              <a:rPr sz="1650" b="1">
                <a:solidFill>
                  <a:srgbClr val="355CC9"/>
                </a:solidFill>
                <a:latin typeface="Roboto"/>
                <a:ea typeface="Roboto"/>
                <a:cs typeface="Roboto"/>
              </a:rPr>
              <a:t>Developing with SAP Build Process Automation</a:t>
            </a:r>
          </a:p>
        </p:txBody>
      </p:sp>
      <p:sp>
        <p:nvSpPr>
          <p:cNvPr id="543" name="Text">
            <a:extLst>
              <a:ext uri="{FF2B5EF4-FFF2-40B4-BE49-F238E27FC236}">
                <a16:creationId xmlns:a16="http://schemas.microsoft.com/office/drawing/2014/main" id="{81F1BE6A-F6CF-464F-99E3-91A9F840855E}"/>
              </a:ext>
            </a:extLst>
          </p:cNvPr>
          <p:cNvSpPr>
            <a:spLocks noGrp="1"/>
          </p:cNvSpPr>
          <p:nvPr/>
        </p:nvSpPr>
        <p:spPr>
          <a:xfrm>
            <a:off x="6343650" y="2600325"/>
            <a:ext cx="5191125" cy="838200"/>
          </a:xfrm>
          <a:prstGeom prst="rect">
            <a:avLst/>
          </a:prstGeom>
          <a:noFill/>
          <a:ln w="0">
            <a:noFill/>
          </a:ln>
        </p:spPr>
        <p:txBody>
          <a:bodyPr wrap="square" lIns="0" tIns="0" rIns="0" bIns="0" anchor="t">
            <a:noAutofit/>
          </a:bodyPr>
          <a:lstStyle/>
          <a:p>
            <a:pPr algn="l">
              <a:defRPr sz="1500" b="0">
                <a:solidFill>
                  <a:srgbClr val="1C2432"/>
                </a:solidFill>
                <a:latin typeface="Roboto"/>
                <a:ea typeface="Roboto"/>
                <a:cs typeface="Roboto"/>
              </a:defRPr>
            </a:pPr>
            <a:r>
              <a:rPr sz="1500" b="0">
                <a:solidFill>
                  <a:srgbClr val="1C2432"/>
                </a:solidFill>
                <a:latin typeface="Roboto"/>
                <a:ea typeface="Roboto"/>
                <a:cs typeface="Roboto"/>
              </a:rPr>
              <a:t>U3 L3  Digitalizing user interactions with forms</a:t>
            </a:r>
          </a:p>
          <a:p>
            <a:pPr algn="l">
              <a:defRPr sz="1500" b="0">
                <a:solidFill>
                  <a:srgbClr val="1C2432"/>
                </a:solidFill>
                <a:latin typeface="Roboto"/>
                <a:ea typeface="Roboto"/>
                <a:cs typeface="Roboto"/>
              </a:defRPr>
            </a:pPr>
            <a:r>
              <a:rPr sz="1500" b="0">
                <a:solidFill>
                  <a:srgbClr val="1C2432"/>
                </a:solidFill>
                <a:latin typeface="Roboto"/>
                <a:ea typeface="Roboto"/>
                <a:cs typeface="Roboto"/>
              </a:rPr>
              <a:t>U5 L2  Encapsulating the APIs of remote systems using actions projects</a:t>
            </a:r>
          </a:p>
        </p:txBody>
      </p:sp>
      <p:sp>
        <p:nvSpPr>
          <p:cNvPr id="544" name="Text">
            <a:extLst>
              <a:ext uri="{FF2B5EF4-FFF2-40B4-BE49-F238E27FC236}">
                <a16:creationId xmlns:a16="http://schemas.microsoft.com/office/drawing/2014/main" id="{1A1C50E7-1294-4BE3-BB87-E0060F5DDF93}"/>
              </a:ext>
            </a:extLst>
          </p:cNvPr>
          <p:cNvSpPr>
            <a:spLocks noGrp="1"/>
          </p:cNvSpPr>
          <p:nvPr/>
        </p:nvSpPr>
        <p:spPr>
          <a:xfrm>
            <a:off x="6343650" y="3743325"/>
            <a:ext cx="5191125" cy="285750"/>
          </a:xfrm>
          <a:prstGeom prst="rect">
            <a:avLst/>
          </a:prstGeom>
          <a:noFill/>
          <a:ln w="0">
            <a:noFill/>
          </a:ln>
        </p:spPr>
        <p:txBody>
          <a:bodyPr wrap="square" lIns="0" tIns="0" rIns="0" bIns="0" anchor="t">
            <a:noAutofit/>
          </a:bodyPr>
          <a:lstStyle/>
          <a:p>
            <a:pPr algn="l">
              <a:defRPr sz="1650" b="1">
                <a:solidFill>
                  <a:srgbClr val="355CC9"/>
                </a:solidFill>
                <a:latin typeface="Roboto"/>
                <a:ea typeface="Roboto"/>
                <a:cs typeface="Roboto"/>
              </a:defRPr>
            </a:pPr>
            <a:r>
              <a:rPr sz="1650" b="1">
                <a:solidFill>
                  <a:srgbClr val="355CC9"/>
                </a:solidFill>
                <a:latin typeface="Roboto"/>
                <a:ea typeface="Roboto"/>
                <a:cs typeface="Roboto"/>
              </a:rPr>
              <a:t>Implementing with SAP Cloud ALM</a:t>
            </a:r>
          </a:p>
        </p:txBody>
      </p:sp>
      <p:sp>
        <p:nvSpPr>
          <p:cNvPr id="545" name="Text">
            <a:extLst>
              <a:ext uri="{FF2B5EF4-FFF2-40B4-BE49-F238E27FC236}">
                <a16:creationId xmlns:a16="http://schemas.microsoft.com/office/drawing/2014/main" id="{67F8EC40-3A46-42E6-A5F6-B23F5C7A91E6}"/>
              </a:ext>
            </a:extLst>
          </p:cNvPr>
          <p:cNvSpPr>
            <a:spLocks noGrp="1"/>
          </p:cNvSpPr>
          <p:nvPr/>
        </p:nvSpPr>
        <p:spPr>
          <a:xfrm>
            <a:off x="6343650" y="4076700"/>
            <a:ext cx="5191125" cy="838200"/>
          </a:xfrm>
          <a:prstGeom prst="rect">
            <a:avLst/>
          </a:prstGeom>
          <a:noFill/>
          <a:ln w="0">
            <a:noFill/>
          </a:ln>
        </p:spPr>
        <p:txBody>
          <a:bodyPr wrap="square" lIns="0" tIns="0" rIns="0" bIns="0" anchor="t">
            <a:noAutofit/>
          </a:bodyPr>
          <a:lstStyle/>
          <a:p>
            <a:pPr algn="l">
              <a:defRPr sz="1500" b="0">
                <a:solidFill>
                  <a:srgbClr val="1C2432"/>
                </a:solidFill>
                <a:latin typeface="Roboto"/>
                <a:ea typeface="Roboto"/>
                <a:cs typeface="Roboto"/>
              </a:defRPr>
            </a:pPr>
            <a:r>
              <a:rPr sz="1500" b="0">
                <a:solidFill>
                  <a:srgbClr val="1C2432"/>
                </a:solidFill>
                <a:latin typeface="Roboto"/>
                <a:ea typeface="Roboto"/>
                <a:cs typeface="Roboto"/>
              </a:rPr>
              <a:t>U2 L1  Setting-up the project and teams</a:t>
            </a:r>
          </a:p>
          <a:p>
            <a:pPr algn="l">
              <a:defRPr sz="1500" b="0">
                <a:solidFill>
                  <a:srgbClr val="1C2432"/>
                </a:solidFill>
                <a:latin typeface="Roboto"/>
                <a:ea typeface="Roboto"/>
                <a:cs typeface="Roboto"/>
              </a:defRPr>
            </a:pPr>
            <a:r>
              <a:rPr sz="1500" b="0">
                <a:solidFill>
                  <a:srgbClr val="1C2432"/>
                </a:solidFill>
                <a:latin typeface="Roboto"/>
                <a:ea typeface="Roboto"/>
                <a:cs typeface="Roboto"/>
              </a:rPr>
              <a:t>U7 L1  Planning and executing testing</a:t>
            </a:r>
          </a:p>
        </p:txBody>
      </p:sp>
      <p:sp>
        <p:nvSpPr>
          <p:cNvPr id="546" name="Evidence qualification">
            <a:extLst>
              <a:ext uri="{FF2B5EF4-FFF2-40B4-BE49-F238E27FC236}">
                <a16:creationId xmlns:a16="http://schemas.microsoft.com/office/drawing/2014/main" id="{6D9F63E5-D8A1-4D18-9BB0-C5C22C3C6277}"/>
              </a:ext>
            </a:extLst>
          </p:cNvPr>
          <p:cNvSpPr>
            <a:spLocks noGrp="1"/>
          </p:cNvSpPr>
          <p:nvPr/>
        </p:nvSpPr>
        <p:spPr>
          <a:xfrm>
            <a:off x="609600" y="5610225"/>
            <a:ext cx="8096250" cy="466725"/>
          </a:xfrm>
          <a:prstGeom prst="rect">
            <a:avLst/>
          </a:prstGeom>
          <a:noFill/>
          <a:ln w="0">
            <a:noFill/>
          </a:ln>
        </p:spPr>
        <p:txBody>
          <a:bodyPr wrap="square" lIns="0" tIns="0" rIns="0" bIns="0" anchor="t">
            <a:noAutofit/>
          </a:bodyPr>
          <a:lstStyle/>
          <a:p>
            <a:pPr algn="l">
              <a:defRPr sz="1275" b="0">
                <a:solidFill>
                  <a:srgbClr val="59657A"/>
                </a:solidFill>
                <a:latin typeface="Roboto"/>
                <a:ea typeface="Roboto"/>
                <a:cs typeface="Roboto"/>
              </a:defRPr>
            </a:pPr>
            <a:r>
              <a:rPr sz="1275" b="0">
                <a:solidFill>
                  <a:srgbClr val="59657A"/>
                </a:solidFill>
                <a:latin typeface="Roboto"/>
                <a:ea typeface="Roboto"/>
                <a:cs typeface="Roboto"/>
              </a:rPr>
              <a:t>Official capability descriptions. Adoption requires a justified need and a fit with Spark’s existing systems.</a:t>
            </a:r>
          </a:p>
        </p:txBody>
      </p:sp>
    </p:spTree>
    <p:extLst>
      <p:ext uri="{BB962C8B-B14F-4D97-AF65-F5344CB8AC3E}">
        <p14:creationId xmlns:p14="http://schemas.microsoft.com/office/powerpoint/2010/main" val="1100743347"/>
      </p:ext>
    </p:extLst>
  </p:cSld>
  <p:clrMapOvr>
    <a:masterClrMapping/>
  </p:clrMapOvr>
  <p:transition advClick="0" advTm="2000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011EE4-C416-3EA2-180D-62404CE47D07}"/>
              </a:ext>
            </a:extLst>
          </p:cNvPr>
          <p:cNvSpPr>
            <a:spLocks noGrp="1"/>
          </p:cNvSpPr>
          <p:nvPr>
            <p:ph type="ctrTitle"/>
          </p:nvPr>
        </p:nvSpPr>
        <p:spPr>
          <a:xfrm>
            <a:off x="609600" y="1476375"/>
            <a:ext cx="10953750" cy="2000250"/>
          </a:xfrm>
        </p:spPr>
        <p:txBody>
          <a:bodyPr wrap="square" lIns="0" tIns="0" rIns="0" bIns="0" anchor="t">
            <a:noAutofit/>
          </a:bodyPr>
          <a:lstStyle/>
          <a:p>
            <a:pPr algn="l">
              <a:defRPr sz="4950" b="1">
                <a:solidFill>
                  <a:srgbClr val="355CC9"/>
                </a:solidFill>
                <a:latin typeface="Roboto"/>
                <a:ea typeface="Roboto"/>
                <a:cs typeface="Roboto"/>
              </a:defRPr>
            </a:pPr>
            <a:r>
              <a:rPr sz="4950" b="1">
                <a:solidFill>
                  <a:srgbClr val="355CC9"/>
                </a:solidFill>
                <a:latin typeface="Roboto"/>
                <a:ea typeface="Roboto"/>
                <a:cs typeface="Roboto"/>
              </a:rPr>
              <a:t>Decision requested</a:t>
            </a:r>
          </a:p>
          <a:p>
            <a:pPr algn="l">
              <a:defRPr sz="4950" b="1">
                <a:solidFill>
                  <a:srgbClr val="355CC9"/>
                </a:solidFill>
                <a:latin typeface="Roboto"/>
                <a:ea typeface="Roboto"/>
                <a:cs typeface="Roboto"/>
              </a:defRPr>
            </a:pPr>
            <a:r>
              <a:rPr sz="4950" b="1">
                <a:solidFill>
                  <a:srgbClr val="355CC9"/>
                </a:solidFill>
                <a:latin typeface="Roboto"/>
                <a:ea typeface="Roboto"/>
                <a:cs typeface="Roboto"/>
              </a:rPr>
              <a:t>Six-week diagnosis</a:t>
            </a:r>
          </a:p>
        </p:txBody>
      </p:sp>
      <p:sp>
        <p:nvSpPr>
          <p:cNvPr id="5" name="Subtitle 4">
            <a:extLst>
              <a:ext uri="{FF2B5EF4-FFF2-40B4-BE49-F238E27FC236}">
                <a16:creationId xmlns:a16="http://schemas.microsoft.com/office/drawing/2014/main" id="{119B400D-E218-8301-7E00-C5A55230DE5D}"/>
              </a:ext>
            </a:extLst>
          </p:cNvPr>
          <p:cNvSpPr>
            <a:spLocks noGrp="1"/>
          </p:cNvSpPr>
          <p:nvPr>
            <p:ph type="subTitle" idx="1"/>
          </p:nvPr>
        </p:nvSpPr>
        <p:spPr>
          <a:xfrm>
            <a:off x="609600" y="4895850"/>
            <a:ext cx="8048625" cy="1314450"/>
          </a:xfrm>
        </p:spPr>
        <p:txBody>
          <a:bodyPr wrap="square" lIns="0" tIns="0" rIns="0" bIns="0" anchor="t">
            <a:noAutofit/>
          </a:bodyPr>
          <a:lstStyle/>
          <a:p>
            <a:pPr algn="l">
              <a:lnSpc>
                <a:spcPct val="120000"/>
              </a:lnSpc>
              <a:buNone/>
              <a:defRPr sz="2175" b="0">
                <a:solidFill>
                  <a:srgbClr val="59657A"/>
                </a:solidFill>
                <a:latin typeface="Roboto"/>
                <a:ea typeface="Roboto"/>
                <a:cs typeface="Roboto"/>
              </a:defRPr>
            </a:pPr>
            <a:r>
              <a:rPr sz="2175" b="0">
                <a:solidFill>
                  <a:srgbClr val="59657A"/>
                </a:solidFill>
                <a:latin typeface="Roboto"/>
                <a:ea typeface="Roboto"/>
                <a:cs typeface="Roboto"/>
              </a:rPr>
              <a:t>160 client hours, with agreed owners and access.</a:t>
            </a:r>
          </a:p>
          <a:p>
            <a:pPr algn="l">
              <a:lnSpc>
                <a:spcPct val="120000"/>
              </a:lnSpc>
              <a:buNone/>
              <a:defRPr sz="2175" b="0">
                <a:solidFill>
                  <a:srgbClr val="59657A"/>
                </a:solidFill>
                <a:latin typeface="Roboto"/>
                <a:ea typeface="Roboto"/>
                <a:cs typeface="Roboto"/>
              </a:defRPr>
            </a:pPr>
            <a:r>
              <a:rPr sz="2175" b="0">
                <a:solidFill>
                  <a:srgbClr val="59657A"/>
                </a:solidFill>
                <a:latin typeface="Roboto"/>
                <a:ea typeface="Roboto"/>
                <a:cs typeface="Roboto"/>
              </a:rPr>
              <a:t>Proposed kickoff: 28 September 2026.</a:t>
            </a:r>
          </a:p>
          <a:p>
            <a:pPr algn="l">
              <a:lnSpc>
                <a:spcPct val="120000"/>
              </a:lnSpc>
              <a:buNone/>
              <a:defRPr sz="2175" b="0">
                <a:solidFill>
                  <a:srgbClr val="59657A"/>
                </a:solidFill>
                <a:latin typeface="Roboto"/>
                <a:ea typeface="Roboto"/>
                <a:cs typeface="Roboto"/>
              </a:defRPr>
            </a:pPr>
            <a:r>
              <a:rPr sz="2175" b="0">
                <a:solidFill>
                  <a:srgbClr val="59657A"/>
                </a:solidFill>
                <a:latin typeface="Roboto"/>
                <a:ea typeface="Roboto"/>
                <a:cs typeface="Roboto"/>
              </a:rPr>
              <a:t>Week six: revised scope and price, or stop.</a:t>
            </a:r>
          </a:p>
        </p:txBody>
      </p:sp>
      <p:sp>
        <p:nvSpPr>
          <p:cNvPr id="3" name="Straight Connector 2">
            <a:extLst>
              <a:ext uri="{FF2B5EF4-FFF2-40B4-BE49-F238E27FC236}">
                <a16:creationId xmlns:a16="http://schemas.microsoft.com/office/drawing/2014/main" id="{3EF46A64-4F5D-47C7-81F3-0140B73273DE}"/>
              </a:ext>
            </a:extLst>
          </p:cNvPr>
          <p:cNvSpPr>
            <a:spLocks noGrp="1"/>
          </p:cNvSpPr>
          <p:nvPr/>
        </p:nv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
            <a:extLst>
              <a:ext uri="{FF2B5EF4-FFF2-40B4-BE49-F238E27FC236}">
                <a16:creationId xmlns:a16="http://schemas.microsoft.com/office/drawing/2014/main" id="{6CBF03C4-C1C6-426E-B799-9AEA517B4115}"/>
              </a:ext>
            </a:extLst>
          </p:cNvPr>
          <p:cNvSpPr>
            <a:spLocks noGrp="1"/>
          </p:cNvSpPr>
          <p:nvPr/>
        </p:nvSpPr>
        <p:spPr>
          <a:xfrm>
            <a:off x="609600" y="4267200"/>
            <a:ext cx="8096250" cy="495300"/>
          </a:xfrm>
          <a:prstGeom prst="rect">
            <a:avLst/>
          </a:prstGeom>
          <a:noFill/>
          <a:ln w="0">
            <a:noFill/>
          </a:ln>
        </p:spPr>
        <p:txBody>
          <a:bodyPr wrap="square" lIns="0" tIns="0" rIns="0" bIns="0" anchor="t">
            <a:noAutofit/>
          </a:bodyPr>
          <a:lstStyle/>
          <a:p>
            <a:pPr algn="l">
              <a:defRPr sz="2850" b="1">
                <a:solidFill>
                  <a:srgbClr val="355CC9"/>
                </a:solidFill>
                <a:latin typeface="Roboto"/>
                <a:ea typeface="Roboto"/>
                <a:cs typeface="Roboto"/>
              </a:defRPr>
            </a:pPr>
            <a:r>
              <a:rPr sz="2850" b="1">
                <a:solidFill>
                  <a:srgbClr val="355CC9"/>
                </a:solidFill>
                <a:latin typeface="Roboto"/>
                <a:ea typeface="Roboto"/>
                <a:cs typeface="Roboto"/>
              </a:rPr>
              <a:t>NZ$36,846 excluding GST</a:t>
            </a:r>
          </a:p>
        </p:txBody>
      </p:sp>
      <p:sp>
        <p:nvSpPr>
          <p:cNvPr id="7" name="Text">
            <a:extLst>
              <a:ext uri="{FF2B5EF4-FFF2-40B4-BE49-F238E27FC236}">
                <a16:creationId xmlns:a16="http://schemas.microsoft.com/office/drawing/2014/main" id="{2F2F35B5-2FBF-4054-9B61-E319EAED8BE1}"/>
              </a:ext>
            </a:extLst>
          </p:cNvPr>
          <p:cNvSpPr>
            <a:spLocks noGrp="1"/>
          </p:cNvSpPr>
          <p:nvPr/>
        </p:nvSpPr>
        <p:spPr>
          <a:xfrm>
            <a:off x="609600" y="6400800"/>
            <a:ext cx="8096250" cy="209550"/>
          </a:xfrm>
          <a:prstGeom prst="rect">
            <a:avLst/>
          </a:prstGeom>
          <a:noFill/>
          <a:ln w="0">
            <a:noFill/>
          </a:ln>
        </p:spPr>
        <p:txBody>
          <a:bodyPr wrap="square" lIns="0" tIns="0" rIns="0" bIns="0" anchor="t">
            <a:noAutofit/>
          </a:bodyPr>
          <a:lstStyle/>
          <a:p>
            <a:pPr algn="l">
              <a:defRPr sz="1200" b="0">
                <a:solidFill>
                  <a:srgbClr val="59657A"/>
                </a:solidFill>
                <a:latin typeface="Roboto"/>
                <a:ea typeface="Roboto"/>
                <a:cs typeface="Roboto"/>
              </a:defRPr>
            </a:pPr>
            <a:r>
              <a:rPr sz="1200" b="0">
                <a:solidFill>
                  <a:srgbClr val="59657A"/>
                </a:solidFill>
                <a:latin typeface="Roboto"/>
                <a:ea typeface="Roboto"/>
                <a:cs typeface="Roboto"/>
              </a:rPr>
              <a:t>Proposed dates and commercial terms require client agreement.</a:t>
            </a:r>
          </a:p>
        </p:txBody>
      </p:sp>
    </p:spTree>
    <p:extLst>
      <p:ext uri="{BB962C8B-B14F-4D97-AF65-F5344CB8AC3E}">
        <p14:creationId xmlns:p14="http://schemas.microsoft.com/office/powerpoint/2010/main" val="1122948338"/>
      </p:ext>
    </p:extLst>
  </p:cSld>
  <p:clrMapOvr>
    <a:masterClrMapping/>
  </p:clrMapOvr>
  <p:transition advClick="0" advTm="20000"/>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6014</Words>
  <Application>Microsoft Macintosh PowerPoint</Application>
  <DocSecurity>0</DocSecurity>
  <PresentationFormat>Widescreen</PresentationFormat>
  <Paragraphs>602</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OpenAI Sans</vt:lpstr>
      <vt:lpstr>Lora SemiBold</vt:lpstr>
      <vt:lpstr>Lora Medium</vt:lpstr>
      <vt:lpstr>Roboto Medium</vt:lpstr>
      <vt:lpstr>Arial</vt:lpstr>
      <vt:lpstr>Roboto</vt:lpstr>
      <vt:lpstr>Default Codex Theme</vt:lpstr>
      <vt:lpstr>Spark NZ Residential fibre fault resolution</vt:lpstr>
      <vt:lpstr>Spark’s service context</vt:lpstr>
      <vt:lpstr>Customer feedback warrants investigation</vt:lpstr>
      <vt:lpstr>A bounded operational problem</vt:lpstr>
      <vt:lpstr>AS-IS handoff requiring validation</vt:lpstr>
      <vt:lpstr>Competing causes and candidate responses</vt:lpstr>
      <vt:lpstr>Success means verified service improvement</vt:lpstr>
      <vt:lpstr>What Spark receives after six weeks</vt:lpstr>
      <vt:lpstr>Conditional P1 and the intended service benefit</vt:lpstr>
      <vt:lpstr>SAP capabilities support specific decisions</vt:lpstr>
      <vt:lpstr>Delivery phases and approval decisions</vt:lpstr>
      <vt:lpstr>A proposed team with clear accountability</vt:lpstr>
      <vt:lpstr>Client resources needed for diagnosis</vt:lpstr>
      <vt:lpstr>Readiness before live use</vt:lpstr>
      <vt:lpstr>Risk owners and response triggers</vt:lpstr>
      <vt:lpstr>The base case does not justify full investment</vt:lpstr>
      <vt:lpstr>The diagnosis approval request</vt:lpstr>
      <vt:lpstr>Sources for the business case</vt:lpstr>
      <vt:lpstr>Sources for the proposed SAP applications</vt:lpstr>
      <vt:lpstr>Decision requested Six-week diagnosis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Ryan Li</cp:lastModifiedBy>
  <cp:revision>1</cp:revision>
  <dcterms:created xsi:type="dcterms:W3CDTF">2026-09-22T03:09:09Z</dcterms:created>
  <dcterms:modified xsi:type="dcterms:W3CDTF">2026-09-24T06:57:29Z</dcterms:modified>
</cp:coreProperties>
</file>