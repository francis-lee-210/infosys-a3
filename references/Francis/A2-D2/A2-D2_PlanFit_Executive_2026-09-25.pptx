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p14="http://schemas.microsoft.com/office/powerpoint/2010/main">
  <p:showPr useTimings="1"/>
  <p:extLst>
    <p:ext uri="{E76CE94A-603C-4142-B9EB-6D1370010A27}">
      <p14:discardImageEditData val="0"/>
    </p:ext>
    <p:ext uri="{D31A062A-798A-4329-ABDD-BBA856620510}">
      <p14:defaultImageDpi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NZ"/>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NZ"/>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NZ"/>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NZ"/>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NZ"/>
          </a:p>
        </p:txBody>
      </p:sp>
    </p:spTree>
  </p:cSld>
  <p:clrMap bg1="lt1" tx1="dk1" bg2="lt2" tx2="dk2" accent1="accent1" accent2="accent2" accent3="accent3" accent4="accent4" accent5="accent5" accent6="accent6" hlink="hlink" folHlink="folHlink"/>
  <p:hf/>
  <p:notesStyle>
    <a:lvl1pPr marL="0" algn="l">
      <a:defRPr sz="1200" lang="en-NZ"/>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PlanFit would help Spark customers decide whether to keep their mobile plan or choose a better-fit Spark plan, with clear reasons. I recommend Phase zero only, capped at one hundred and twenty thousand dollars, to test customer response and establish delivery controls.</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§§1, 5–6, 12–13: proposed concept, Phase 0 cap, separate M1 authorisation and later gates. Financial values are consulting assumptions.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Spark's group connection share fell from forty-two percent in June 2022 to thirty-eight percent in June 2025, while One NZ reached thirty-seven. That narrower lead makes retention a priority for this proposal. My focus is the customer decision about whether their plan still fits.</a:t>
            </a:r>
          </a:p>
          <a:p>
            <a:pPr/>
            <a:endParaRPr lang="en-NZ" dirty="0"/>
          </a:p>
          <a:p>
            <a:pPr/>
            <a:r>
              <a:rPr lang="en-NZ" dirty="0"/>
              <a:t>Sources (not spoken)</a:t>
            </a:r>
          </a:p>
          <a:p>
            <a:pPr/>
            <a:endParaRPr lang="en-NZ" dirty="0"/>
          </a:p>
          <a:p>
            <a:pPr/>
            <a:r>
              <a:rPr lang="en-NZ" dirty="0"/>
              <a:t>Commerce Commission. (2026). 2025 telecommunications monitoring report: Pūrongo aroturuki torotoro waea 2025 (pp. 213–216). https://www.comcom.govt.nz/assets/Uploads/2025-Telecommunications-Monitoring-Report-29-June-2026.pdf</a:t>
            </a:r>
          </a:p>
          <a:p>
            <a:pPr/>
            <a:endParaRPr lang="en-NZ" dirty="0"/>
          </a:p>
          <a:p>
            <a:pPr/>
            <a:r>
              <a:rPr lang="en-NZ" dirty="0"/>
              <a:t>Evidence locator and status: Spark group connection share is market context, not a Spark-brand consumer-process measure or evidence of the cause.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SPK-30 prioritises core connectivity and better customer experiences. FY26 mobile service revenue grew one point one percent, and broad interaction NPS reached plus forty-two. PlanFit translates that strategic direction into a specific customer decision, using customer-intimacy thinking to explain the fit of a mobile plan.</a:t>
            </a:r>
          </a:p>
          <a:p>
            <a:pPr/>
            <a:endParaRPr lang="en-NZ" dirty="0"/>
          </a:p>
          <a:p>
            <a:pPr/>
            <a:r>
              <a:rPr lang="en-NZ" dirty="0"/>
              <a:t>Sources (not spoken)</a:t>
            </a:r>
          </a:p>
          <a:p>
            <a:pPr/>
            <a:endParaRPr lang="en-NZ" dirty="0"/>
          </a:p>
          <a:p>
            <a:pPr/>
            <a:r>
              <a:rPr lang="en-NZ" dirty="0"/>
              <a:t>Spark New Zealand Limited. (2026a). Annual report FY26 (pp. 4–5, 10–11, 21). https://investors.sparknz.co.nz/FormBuilder/_Resource/_module/gXbeer80tkeL4nEaF-kwFA/doc/FY26_Annual_Report.pdf</a:t>
            </a:r>
          </a:p>
          <a:p>
            <a:pPr/>
            <a:endParaRPr lang="en-NZ" dirty="0"/>
          </a:p>
          <a:p>
            <a:pPr/>
            <a:r>
              <a:rPr lang="en-NZ" dirty="0"/>
              <a:t>Spark New Zealand Limited. (2026b, August 20). FY26 results presentation (pp. 7, 12–14). https://investors.sparknz.co.nz/FormBuilder/_Resource/_module/gXbeer80tkeL4nEaF-kwFA/doc/H2FY26_Results_Presentation.pdf</a:t>
            </a:r>
          </a:p>
          <a:p>
            <a:pPr/>
            <a:endParaRPr lang="en-NZ" dirty="0"/>
          </a:p>
          <a:p>
            <a:pPr/>
            <a:r>
              <a:rPr lang="en-NZ" dirty="0"/>
              <a:t>INFOSYS 704 Teaching Team. (2026a). Week 1: Lecture 3—Problem solving process: Identifying the business need [PowerPoint slides, slide 11]. University of Auckland.</a:t>
            </a:r>
          </a:p>
          <a:p>
            <a:pPr/>
            <a:endParaRPr lang="en-NZ" dirty="0"/>
          </a:p>
          <a:p>
            <a:pPr/>
            <a:r>
              <a:rPr lang="en-NZ" dirty="0"/>
              <a:t>Evidence locator and status: SPK-30, FY26 mobile service revenue and broad Consumer &amp; SME iNPS are portfolio context. The customer-intimacy application to PlanFit is the proposal's analysis.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The proposal focuses on Spark-brand individual consumers in New Zealand, across pay-monthly and prepaid plans. It covers the journey from a recognised mismatch or review request to a decision. Network remediation, enterprise sales, Skinny, wholesale and MVNO operations sit outside this engagement.</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§§2.4–2.5: proposed Spark-brand NZ individual-consumer mobile plan-value-review boundary.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Public documentation explains how customers browse and change plans. The opportunity I propose is a timely, transparent fit conclusion at the decision point. Phase one will validate the internal journey, including hand-offs and explanation consistency, so the design addresses the customer's actual experience.</a:t>
            </a:r>
          </a:p>
          <a:p>
            <a:pPr/>
            <a:endParaRPr lang="en-NZ" dirty="0"/>
          </a:p>
          <a:p>
            <a:pPr/>
            <a:r>
              <a:rPr lang="en-NZ" dirty="0"/>
              <a:t>Sources (not spoken)</a:t>
            </a:r>
          </a:p>
          <a:p>
            <a:pPr/>
            <a:endParaRPr lang="en-NZ" dirty="0"/>
          </a:p>
          <a:p>
            <a:pPr/>
            <a:r>
              <a:rPr lang="en-NZ" dirty="0"/>
              <a:t>Spark New Zealand Limited. (n.d.). Change mobile plan. Retrieved August 4, 2026, from https://www.spark.co.nz/help/mobile/manage/change-mobile-plan</a:t>
            </a:r>
          </a:p>
          <a:p>
            <a:pPr/>
            <a:endParaRPr lang="en-NZ" dirty="0"/>
          </a:p>
          <a:p>
            <a:pPr/>
            <a:r>
              <a:rPr lang="en-NZ" dirty="0"/>
              <a:t>Commerce Commission. (2025, November 13). Mobile transparency guidelines (pp. 7–9). https://www.comcom.govt.nz/assets/Documents/review-of-consumer-mobile-bills/Mobile-Transparency-Guidelines-13-November-2025.pdf</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Proposal §§2.3–2.5, 6.2. Public documentation supports the observable path; internal timing, hand-offs and explanation consistency require Phase 1 validation.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We will test two questions. Does an explained recommendation improve decision readiness? Does it reduce all qualifying ninety-day voluntary churn by at least fifteen percent relative to the comparison group? These are separate tests. Avoidable churn remains a pre-specified secondary analysis.</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§§3.2, 4.1: separate decision-readiness mechanism and causal churn hypotheses. Primary outcome: all qualifying voluntary 90-day churn, intention-to-treat; avoidable churn is pre-specified secondary.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Ryan Li rated the explained output four out of five, compared with three for raw information. He valued clear reasoning and a no-change option. This single-case result supports testing the mechanism with more customers. Those two features carry directly into the proposed design.</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§4.1. R. Li (personal communication, August 21, 2026), authentic consumer-proxy interview. Raw information 3/5; explained output 4/5. One case, fixed stimulus order A→B; informs design, not a population or causal churn conclusion. Personal communication is not included as a publicly retrievable reference.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The proposed MySpark feature would combine approved usage and spend data with rules for eligible Spark plans. It would explain the recommendation and its trade-offs, including when the current plan remains suitable. Customers could correct information or request human help before making their choice.</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§§4.2–4.3: proposed rule-based MySpark concept; approved data, eligible Spark plans, fit reasoning, no-change choice, correction and human help.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Before showing an output, we assign customers to comparison groups. Timing, data, options and help stay consistent. The conclusion and reasons differ. Customers can keep, change, defer, leave or ask for help. We recheck eligibility before fulfilment and measure everyone assigned, including non-completers.</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§§3.2, 4.3: assign before display, hold timing/data/options/help consistent, recheck before fulfilment, analyse all assigned eligible starters including non-completers.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We target a fifteen-percent relative reduction in ninety-day churn. Continuation requires that result, a ninety-five-percent confidence interval entirely above zero, reliable data, adequate statistical power, intact guardrails and updated economics. Delivery and acceptance diagnose the process. We track fulfilment separately.</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§3.2, §6.1: ≥15% relative point estimate and 95% confidence-interval lower bound &gt;0, data quality, power, guardrails and economics. ≥60% delivery/reach and ≥20% explicit acceptance are process diagnostics, not independent scale gates. Fulfilment measured separately.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The proposed engagement runs for thirty-nine weeks, from mechanism testing through to handover. Process validation, baselines and economics come before design and build approvals. The pilot enrols customers over three weeks, then follows every customer for ninety days before the final continuation decision.</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INFOSYS 704 Teaching Team. (2026b). Week 5: Lecture 7—Implementation roadmaps [PowerPoint slides, slides 31–40, 47–48]. University of Auckland.</a:t>
            </a:r>
          </a:p>
          <a:p>
            <a:pPr/>
            <a:endParaRPr lang="en-NZ" dirty="0"/>
          </a:p>
          <a:p>
            <a:pPr/>
            <a:r>
              <a:rPr lang="en-NZ" dirty="0"/>
              <a:t>Evidence locator and status: §§5–6: six proposed stages, 5 October 2026–30 June 2027; three-week cohort enrolment then complete 90-day follow-up.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Our proposed team covers process, data, solution, change and programme coordination. Spark appoints the business and control owners who accept each stage. Handover has a practical test: named Spark owners reproduce the analysis and demonstrate how to pause or roll back the service.</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§§7, 11.2: fictional proposed consulting team; Spark appointments pending. Handover acceptance includes reproducing analysis and demonstrating pause/rollback.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Frontline teams will practise plan explanations, corrections and escalation before release. Rollout then follows the evidence: M7 can authorise at most ten percent exposure. Later expansion requires replicated results, intact guardrails, and evidence of sustained benefits and economic value.</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INFOSYS 704 Teaching Team. (2026b). Week 5: Lecture 7—Implementation roadmaps [PowerPoint slides, slides 31–40, 47–48]. University of Auckland.</a:t>
            </a:r>
          </a:p>
          <a:p>
            <a:pPr/>
            <a:endParaRPr lang="en-NZ" dirty="0"/>
          </a:p>
          <a:p>
            <a:pPr/>
            <a:r>
              <a:rPr lang="en-NZ" dirty="0"/>
              <a:t>Evidence locator and status: §6.2 WP3.4, §8.2, §11.2: frontline explanation/correction/escalation practice; proposed phased exposure. M7 can permit at most 10%; later waves require separate evidence and approval.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Each risk has an owner and a defined response. Data or power failures block the pilot. Suitability breaches suppress the output, interface failures stop fulfilment, and severe privacy incidents stop exposure. The steering group can narrow or redesign the work while maintaining the agreed test.</a:t>
            </a:r>
          </a:p>
          <a:p>
            <a:pPr/>
            <a:endParaRPr lang="en-NZ" dirty="0"/>
          </a:p>
          <a:p>
            <a:pPr/>
            <a:r>
              <a:rPr lang="en-NZ" dirty="0"/>
              <a:t>Sources (not spoken)</a:t>
            </a:r>
          </a:p>
          <a:p>
            <a:pPr/>
            <a:endParaRPr lang="en-NZ" dirty="0"/>
          </a:p>
          <a:p>
            <a:pPr/>
            <a:r>
              <a:rPr lang="en-NZ" dirty="0"/>
              <a:t>Scott, J. E., &amp; Vessey, I. (2002). Managing risks in enterprise systems implementations. Communications of the ACM, 45(4), 74–81. https://doi.org/10.1145/505248.505249</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Proposal §9 applies the risk framework through named owners, triggers and contingencies; scenario triggers are proposed controls, not reported Spark incidents.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PlanFit is designed to give customers a decision they can understand and staff a consistent basis for support. Spark would gain reusable rules and experiment capability. Financial value comes from retained contribution and cashable contact capacity, with Finance validating the benefit before it is recognised.</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§10: proposed strategic, operational, organisational and financial value. Recognise financial benefits only after evidence-owner/Finance validation; avoid double counting.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Spending follows separate approvals. Phase zero caps exposure at one hundred and twenty thousand dollars. Phase one adds two hundred and eighty thousand after M1 approval. The full implementation envelope is two million, with annual running costs of six hundred and fifty thousand.</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§12, Tables 20–21: NZ$120k Phase 0, separate NZ$280k Phase 1; cumulative M2 .400/M3 .640/M4 1.340/before M6A 1.920/M7 2.000 million. Fees/capacity and Capex/implementation Opex are alternative splits. Recurring Opex .650 million/year is outside the implementation envelope.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The three-year base case has a negative net present value of one point one one four million dollars. It assumes one-year benefit persistence and fully cashable contact capacity. I therefore recommend a limited diagnostic before larger commitments, with Finance reassessing the economics before design.</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Spark New Zealand Limited. (2025). Annual report FY25 (pp. 2, 4). https://www.spark.co.nz/content/dam/spark/documents/pdfs/governance/FY25_Annual_Report.pdf</a:t>
            </a:r>
          </a:p>
          <a:p>
            <a:pPr/>
            <a:endParaRPr lang="en-NZ" dirty="0"/>
          </a:p>
          <a:p>
            <a:pPr/>
            <a:r>
              <a:rPr lang="en-NZ" dirty="0"/>
              <a:t>Evidence locator and status: §10, Tables 12–15: conditional three-year annual model at 8%; NPV −NZ$1.114m, BCR .70, ROI −21.5%, no three-year payback. One-year persistence and fully cashable contact capacity are assumptions. FY25 figures support only a public revenue-per-connection proxy, not internal margins. Annual model is distinct from dated XNPV.</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The conditional upside case reaches positive NPV of one point nine zero two million dollars. Value depends on eligible volume, churn effect, contribution, persistence and cashability. Phase one calibrates baselines. The pilot tests the effect, with longer follow-up testing persistence.</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§10, Tables 12–15: conditional conservative/base/upside NPV −2.726/−1.114/+1.902 million NZD. Phase 1 calibrates baselines and economics; pilot evidence tests effect; longer follow-up tests persistence. These are scenarios, not a Spark forecast.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Target 5 October for kickoff. M1 checks the mechanism, governance and data access before authorising Phase one. At M2, design requires validated process, baselines and power, plus Finance-accepted updated economics: NPV at least zero and BCR at least one.</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§6.1, Table 6; §13: proposed M1 23 October 2026 and M2 20 November 2026. M2 design release requires validated AS-IS/baselines/power and Finance acceptance of updated three-year NPV≥0 and BCR≥1.</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NZ" dirty="0"/>
              <a:t>Approve Phase zero at up to one hundred and twenty thousand dollars. You receive a customer-mechanism verdict, an agreed charter, and approved measures and controls. At M1, that evidence gives Spark a clear basis to authorise Phase one separately, redesign the approach or stop.</a:t>
            </a:r>
          </a:p>
          <a:p>
            <a:pPr/>
            <a:endParaRPr lang="en-NZ" dirty="0"/>
          </a:p>
          <a:p>
            <a:pPr/>
            <a:r>
              <a:rPr lang="en-NZ" dirty="0"/>
              <a:t>Sources (not spoken)</a:t>
            </a:r>
          </a:p>
          <a:p>
            <a:pPr/>
            <a:endParaRPr lang="en-NZ" dirty="0"/>
          </a:p>
          <a:p>
            <a:pPr/>
            <a:r>
              <a:rPr lang="en-NZ" dirty="0"/>
              <a:t>Lee, F. (2026). Consulting proposal: PlanFit Navigator Core [Unpublished coursework, INFOSYS 704, University of Auckland]. Current controlling draft: 03-Assignment/A2-D1/Drafts/A2-D1_Submission_Content_Draft_2026-09-05.md.</a:t>
            </a:r>
          </a:p>
          <a:p>
            <a:pPr/>
            <a:endParaRPr lang="en-NZ" dirty="0"/>
          </a:p>
          <a:p>
            <a:pPr/>
            <a:r>
              <a:rPr lang="en-NZ" dirty="0"/>
              <a:t>Evidence locator and status: §5, Table 5; §6.1 M1; §13: Phase 0 delivers a customer-mechanism verdict, agreed/signed charter and approved metrics/controls. M1 separately authorises Phase 1, redesign or stop.</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2-D2_PlanFit_Corner_Video_2026-09-0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2-D2_PlanFit_Corner_Video_2026-09-0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9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3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2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1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1950" kern="1200">
          <a:solidFill>
            <a:schemeClr val="tx1"/>
          </a:solidFill>
          <a:latin typeface="+mn-lt"/>
          <a:ea typeface="+mn-ea"/>
          <a:cs typeface="+mn-cs"/>
        </a:defRPr>
      </a:lvl1pPr>
      <a:lvl2pPr marL="457200" algn="l" defTabSz="457200" rtl="0" eaLnBrk="1" latinLnBrk="0" hangingPunct="1">
        <a:defRPr sz="1850" kern="1200">
          <a:solidFill>
            <a:schemeClr val="tx1"/>
          </a:solidFill>
          <a:latin typeface="+mn-lt"/>
          <a:ea typeface="+mn-ea"/>
          <a:cs typeface="+mn-cs"/>
        </a:defRPr>
      </a:lvl2pPr>
      <a:lvl3pPr marL="914400" algn="l" defTabSz="457200" rtl="0" eaLnBrk="1" latinLnBrk="0" hangingPunct="1">
        <a:defRPr sz="1700" kern="1200">
          <a:solidFill>
            <a:schemeClr val="tx1"/>
          </a:solidFill>
          <a:latin typeface="+mn-lt"/>
          <a:ea typeface="+mn-ea"/>
          <a:cs typeface="+mn-cs"/>
        </a:defRPr>
      </a:lvl3pPr>
      <a:lvl4pPr marL="1371600" algn="l" defTabSz="457200" rtl="0" eaLnBrk="1" latinLnBrk="0" hangingPunct="1">
        <a:defRPr sz="1600" kern="1200">
          <a:solidFill>
            <a:schemeClr val="tx1"/>
          </a:solidFill>
          <a:latin typeface="+mn-lt"/>
          <a:ea typeface="+mn-ea"/>
          <a:cs typeface="+mn-cs"/>
        </a:defRPr>
      </a:lvl4pPr>
      <a:lvl5pPr marL="1828800" algn="l" defTabSz="457200" rtl="0" eaLnBrk="1" latinLnBrk="0" hangingPunct="1">
        <a:defRPr sz="1450" kern="1200">
          <a:solidFill>
            <a:schemeClr val="tx1"/>
          </a:solidFill>
          <a:latin typeface="+mn-lt"/>
          <a:ea typeface="+mn-ea"/>
          <a:cs typeface="+mn-cs"/>
        </a:defRPr>
      </a:lvl5pPr>
      <a:lvl6pPr marL="2286000" algn="l" defTabSz="457200" rtl="0" eaLnBrk="1" latinLnBrk="0" hangingPunct="1">
        <a:defRPr sz="135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100" kern="1200">
          <a:solidFill>
            <a:schemeClr val="tx1"/>
          </a:solidFill>
          <a:latin typeface="+mn-lt"/>
          <a:ea typeface="+mn-ea"/>
          <a:cs typeface="+mn-cs"/>
        </a:defRPr>
      </a:lvl8pPr>
      <a:lvl9pPr marL="3657600" algn="l" defTabSz="457200" rtl="0" eaLnBrk="1" latinLnBrk="0" hangingPunct="1">
        <a:defRPr sz="10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6.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8.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
      <Relationship Id="rId2" Type="http://schemas.openxmlformats.org/officeDocument/2006/relationships/notesSlide" Target="../notesSlides/notesSlide20.xml"/>
</Relationships>
</file>

<file path=ppt/slides/slide1.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99110" y="457200"/>
            <a:ext cx="11055096" cy="1586484"/>
            <a:chOff x="499110" y="457200"/>
            <a:chExt cx="11055096" cy="1586484"/>
          </a:xfrm>
        </p:grpSpPr>
        <p:sp>
          <p:nvSpPr>
            <p:cNvPr id="2" name="Rectangle 2"/>
            <p:cNvSpPr/>
            <p:nvPr/>
          </p:nvSpPr>
          <p:spPr>
            <a:xfrm>
              <a:off x="514350" y="457200"/>
              <a:ext cx="533400" cy="76200"/>
            </a:xfrm>
            <a:prstGeom prst="roundRect">
              <a:avLst>
                <a:gd name="adj" fmla="val 50000"/>
              </a:avLst>
            </a:prstGeom>
            <a:solidFill>
              <a:schemeClr val="accent2"/>
            </a:solidFill>
            <a:ln>
              <a:noFill/>
            </a:ln>
          </p:spPr>
        </p:sp>
        <p:sp>
          <p:nvSpPr>
            <p:cNvPr id="3" name="TextBox 3"/>
            <p:cNvSpPr/>
            <p:nvPr/>
          </p:nvSpPr>
          <p:spPr>
            <a:xfrm>
              <a:off x="499110" y="704850"/>
              <a:ext cx="7143750" cy="1024890"/>
            </a:xfrm>
            <a:prstGeom prst="rect">
              <a:avLst/>
            </a:prstGeom>
            <a:noFill/>
            <a:ln>
              <a:noFill/>
            </a:ln>
          </p:spPr>
          <p:txBody>
            <a:bodyPr wrap="none" lIns="0" tIns="0" rIns="0" bIns="0" anchor="t" anchorCtr="0">
              <a:noAutofit/>
            </a:bodyPr>
            <a:lstStyle/>
            <a:p>
              <a:pPr algn="l">
                <a:lnSpc>
                  <a:spcPts val="3600"/>
                </a:lnSpc>
              </a:pPr>
              <a:r>
                <a:rPr lang="en-NZ" sz="3000" b="1" dirty="0">
                  <a:solidFill>
                    <a:srgbClr val="102A43"/>
                  </a:solidFill>
                  <a:latin typeface="Arial"/>
                  <a:ea typeface="Arial"/>
                  <a:cs typeface="Arial"/>
                </a:rPr>
                <a:t>PlanFit: clearer mobile-plan</a:t>
              </a:r>
              <a:br/>
              <a:r>
                <a:rPr lang="en-NZ" sz="3000" b="1" dirty="0">
                  <a:solidFill>
                    <a:srgbClr val="102A43"/>
                  </a:solidFill>
                  <a:latin typeface="Arial"/>
                  <a:ea typeface="Arial"/>
                  <a:cs typeface="Arial"/>
                </a:rPr>
                <a:t>decisions for Spark customers</a:t>
              </a:r>
            </a:p>
          </p:txBody>
        </p:sp>
        <p:sp>
          <p:nvSpPr>
            <p:cNvPr id="4" name="TextBox 4"/>
            <p:cNvSpPr/>
            <p:nvPr/>
          </p:nvSpPr>
          <p:spPr>
            <a:xfrm>
              <a:off x="505206" y="1691640"/>
              <a:ext cx="11049000" cy="352044"/>
            </a:xfrm>
            <a:prstGeom prst="rect">
              <a:avLst/>
            </a:prstGeom>
            <a:noFill/>
            <a:ln>
              <a:noFill/>
            </a:ln>
          </p:spPr>
          <p:txBody>
            <a:bodyPr wrap="none" lIns="0" tIns="0" rIns="0" bIns="0" anchor="t" anchorCtr="0">
              <a:noAutofit/>
            </a:bodyPr>
            <a:lstStyle/>
            <a:p>
              <a:pPr algn="l"/>
              <a:r>
                <a:rPr lang="en-NZ" sz="1800" dirty="0">
                  <a:solidFill>
                    <a:srgbClr val="243B53"/>
                  </a:solidFill>
                  <a:latin typeface="Arial"/>
                  <a:ea typeface="Arial"/>
                  <a:cs typeface="Arial"/>
                </a:rPr>
                <a:t>Phase 0: NZ$120k to test the customer response</a:t>
              </a:r>
            </a:p>
          </p:txBody>
        </p:sp>
      </p:grpSp>
      <p:grpSp>
        <p:nvGrpSpPr>
          <p:cNvPr id="10" name="Group 10"/>
          <p:cNvGrpSpPr/>
          <p:nvPr/>
        </p:nvGrpSpPr>
        <p:grpSpPr>
          <a:xfrm>
            <a:off x="514350" y="2228850"/>
            <a:ext cx="3579781" cy="1695450"/>
            <a:chOff x="514350" y="2228850"/>
            <a:chExt cx="3579781" cy="1695450"/>
          </a:xfrm>
        </p:grpSpPr>
        <p:sp>
          <p:nvSpPr>
            <p:cNvPr id="6" name="Rectangle 6"/>
            <p:cNvSpPr/>
            <p:nvPr/>
          </p:nvSpPr>
          <p:spPr>
            <a:xfrm>
              <a:off x="514350" y="2228850"/>
              <a:ext cx="3373755" cy="1695450"/>
            </a:xfrm>
            <a:prstGeom prst="roundRect">
              <a:avLst>
                <a:gd name="adj" fmla="val 14831"/>
              </a:avLst>
            </a:prstGeom>
            <a:solidFill>
              <a:schemeClr val="accent2"/>
            </a:solidFill>
            <a:ln>
              <a:noFill/>
            </a:ln>
          </p:spPr>
        </p:sp>
        <p:sp>
          <p:nvSpPr>
            <p:cNvPr id="7" name="TextBox 7"/>
            <p:cNvSpPr txBox="1"/>
            <p:nvPr/>
          </p:nvSpPr>
          <p:spPr>
            <a:xfrm>
              <a:off x="800100" y="2505075"/>
              <a:ext cx="2031492" cy="293370"/>
            </a:xfrm>
            <a:prstGeom prst="rect">
              <a:avLst/>
            </a:prstGeom>
            <a:noFill/>
            <a:ln>
              <a:noFill/>
            </a:ln>
          </p:spPr>
          <p:txBody>
            <a:bodyPr wrap="none" lIns="0" tIns="0" rIns="0" bIns="0" anchor="t" anchorCtr="0">
              <a:spAutoFit/>
            </a:bodyPr>
            <a:lstStyle/>
            <a:p>
              <a:pPr algn="l"/>
              <a:r>
                <a:rPr lang="en-NZ" sz="1500" b="1" dirty="0">
                  <a:solidFill>
                    <a:srgbClr val="FFFFFF"/>
                  </a:solidFill>
                  <a:latin typeface="+mn-lt"/>
                  <a:ea typeface="+mn-ea"/>
                  <a:cs typeface="+mn-cs"/>
                </a:rPr>
                <a:t xml:space="preserve">DECISION TODAY   </a:t>
              </a:r>
            </a:p>
          </p:txBody>
        </p:sp>
        <p:sp>
          <p:nvSpPr>
            <p:cNvPr id="8" name="TextBox 8"/>
            <p:cNvSpPr/>
            <p:nvPr/>
          </p:nvSpPr>
          <p:spPr>
            <a:xfrm>
              <a:off x="788670" y="2858452"/>
              <a:ext cx="3305461" cy="790575"/>
            </a:xfrm>
            <a:prstGeom prst="rect">
              <a:avLst/>
            </a:prstGeom>
            <a:noFill/>
            <a:ln>
              <a:noFill/>
            </a:ln>
          </p:spPr>
          <p:txBody>
            <a:bodyPr wrap="none" lIns="0" tIns="0" rIns="0" bIns="0" anchor="t" anchorCtr="0">
              <a:noAutofit/>
            </a:bodyPr>
            <a:lstStyle/>
            <a:p>
              <a:pPr algn="l"/>
              <a:r>
                <a:rPr lang="en-NZ" sz="4050" b="1" dirty="0">
                  <a:solidFill>
                    <a:srgbClr val="FFFFFF"/>
                  </a:solidFill>
                  <a:latin typeface="Arial"/>
                  <a:ea typeface="Arial"/>
                  <a:cs typeface="Arial"/>
                </a:rPr>
                <a:t>NZ$120k</a:t>
              </a:r>
            </a:p>
          </p:txBody>
        </p:sp>
        <p:sp>
          <p:nvSpPr>
            <p:cNvPr id="9" name="TextBox 9"/>
            <p:cNvSpPr/>
            <p:nvPr/>
          </p:nvSpPr>
          <p:spPr>
            <a:xfrm>
              <a:off x="800100" y="3514725"/>
              <a:ext cx="2636520" cy="293370"/>
            </a:xfrm>
            <a:prstGeom prst="rect">
              <a:avLst/>
            </a:prstGeom>
            <a:noFill/>
            <a:ln>
              <a:noFill/>
            </a:ln>
          </p:spPr>
          <p:txBody>
            <a:bodyPr wrap="none" lIns="0" tIns="0" rIns="0" bIns="0" anchor="t" anchorCtr="0">
              <a:noAutofit/>
            </a:bodyPr>
            <a:lstStyle/>
            <a:p>
              <a:pPr algn="l"/>
              <a:r>
                <a:rPr lang="en-NZ" sz="1500" dirty="0">
                  <a:solidFill>
                    <a:srgbClr val="FFFFFF"/>
                  </a:solidFill>
                  <a:latin typeface="Arial"/>
                  <a:ea typeface="Arial"/>
                  <a:cs typeface="Arial"/>
                </a:rPr>
                <a:t>Mechanism and controls</a:t>
              </a:r>
            </a:p>
          </p:txBody>
        </p:sp>
      </p:grpSp>
      <p:grpSp>
        <p:nvGrpSpPr>
          <p:cNvPr id="13" name="Group 13"/>
          <p:cNvGrpSpPr/>
          <p:nvPr/>
        </p:nvGrpSpPr>
        <p:grpSpPr>
          <a:xfrm>
            <a:off x="3886200" y="2943225"/>
            <a:ext cx="1181100" cy="266700"/>
            <a:chOff x="3886200" y="2943225"/>
            <a:chExt cx="1181100" cy="266700"/>
          </a:xfrm>
        </p:grpSpPr>
        <p:sp>
          <p:nvSpPr>
            <p:cNvPr id="11" name="Line 11"/>
            <p:cNvSpPr/>
            <p:nvPr/>
          </p:nvSpPr>
          <p:spPr>
            <a:xfrm>
              <a:off x="3886200" y="3076575"/>
              <a:ext cx="895350" cy="9525"/>
            </a:xfrm>
            <a:custGeom>
              <a:avLst/>
              <a:gdLst/>
              <a:ahLst/>
              <a:cxnLst/>
              <a:rect l="l" t="t" r="r" b="b"/>
              <a:pathLst>
                <a:path w="895350" h="9525">
                  <a:moveTo>
                    <a:pt x="0" y="0"/>
                  </a:moveTo>
                  <a:lnTo>
                    <a:pt x="895350" y="0"/>
                  </a:lnTo>
                </a:path>
              </a:pathLst>
            </a:custGeom>
            <a:noFill/>
            <a:ln w="76200">
              <a:solidFill>
                <a:schemeClr val="accent2"/>
              </a:solidFill>
            </a:ln>
          </p:spPr>
        </p:sp>
        <p:sp>
          <p:nvSpPr>
            <p:cNvPr id="12" name="Polygon 12"/>
            <p:cNvSpPr/>
            <p:nvPr/>
          </p:nvSpPr>
          <p:spPr>
            <a:xfrm>
              <a:off x="4781550" y="2943225"/>
              <a:ext cx="285750" cy="266700"/>
            </a:xfrm>
            <a:custGeom>
              <a:avLst/>
              <a:gdLst/>
              <a:ahLst/>
              <a:cxnLst/>
              <a:rect l="l" t="t" r="r" b="b"/>
              <a:pathLst>
                <a:path w="285750" h="266700">
                  <a:moveTo>
                    <a:pt x="0" y="0"/>
                  </a:moveTo>
                  <a:lnTo>
                    <a:pt x="285750" y="133350"/>
                  </a:lnTo>
                  <a:lnTo>
                    <a:pt x="0" y="266700"/>
                  </a:lnTo>
                  <a:close/>
                </a:path>
              </a:pathLst>
            </a:custGeom>
            <a:solidFill>
              <a:schemeClr val="accent2"/>
            </a:solidFill>
            <a:ln>
              <a:noFill/>
            </a:ln>
          </p:spPr>
        </p:sp>
      </p:grpSp>
      <p:grpSp>
        <p:nvGrpSpPr>
          <p:cNvPr id="19" name="Group 19"/>
          <p:cNvGrpSpPr/>
          <p:nvPr/>
        </p:nvGrpSpPr>
        <p:grpSpPr>
          <a:xfrm>
            <a:off x="5063585" y="2228850"/>
            <a:ext cx="2857405" cy="1695450"/>
            <a:chOff x="5063585" y="2228850"/>
            <a:chExt cx="2857405" cy="1695450"/>
          </a:xfrm>
        </p:grpSpPr>
        <p:sp>
          <p:nvSpPr>
            <p:cNvPr id="14" name="Rectangle 14"/>
            <p:cNvSpPr/>
            <p:nvPr/>
          </p:nvSpPr>
          <p:spPr>
            <a:xfrm>
              <a:off x="5238750" y="2228850"/>
              <a:ext cx="2506980" cy="1695450"/>
            </a:xfrm>
            <a:prstGeom prst="roundRect">
              <a:avLst>
                <a:gd name="adj" fmla="val 18876"/>
              </a:avLst>
            </a:prstGeom>
            <a:solidFill>
              <a:srgbClr val="FFFFFF"/>
            </a:solidFill>
            <a:ln w="28575">
              <a:solidFill>
                <a:schemeClr val="accent1"/>
              </a:solidFill>
            </a:ln>
          </p:spPr>
        </p:sp>
        <p:sp>
          <p:nvSpPr>
            <p:cNvPr id="15" name="TextBox 15"/>
            <p:cNvSpPr/>
            <p:nvPr/>
          </p:nvSpPr>
          <p:spPr>
            <a:xfrm>
              <a:off x="5689282" y="2543175"/>
              <a:ext cx="1605820" cy="293370"/>
            </a:xfrm>
            <a:prstGeom prst="rect">
              <a:avLst/>
            </a:prstGeom>
            <a:noFill/>
            <a:ln>
              <a:noFill/>
            </a:ln>
          </p:spPr>
          <p:txBody>
            <a:bodyPr wrap="none" lIns="95" tIns="0" rIns="0" bIns="0" anchor="t" anchorCtr="0">
              <a:noAutofit/>
            </a:bodyPr>
            <a:lstStyle/>
            <a:p>
              <a:pPr algn="ctr"/>
              <a:r>
                <a:rPr lang="en-NZ" sz="1500" b="1" dirty="0">
                  <a:solidFill>
                    <a:srgbClr val="102A43"/>
                  </a:solidFill>
                  <a:latin typeface="Arial"/>
                  <a:ea typeface="Arial"/>
                  <a:cs typeface="Arial"/>
                </a:rPr>
                <a:t>M1 GATE</a:t>
              </a:r>
            </a:p>
          </p:txBody>
        </p:sp>
        <p:sp>
          <p:nvSpPr>
            <p:cNvPr id="16" name="TextBox 16"/>
            <p:cNvSpPr/>
            <p:nvPr/>
          </p:nvSpPr>
          <p:spPr>
            <a:xfrm>
              <a:off x="5063585" y="2932748"/>
              <a:ext cx="2857405" cy="381381"/>
            </a:xfrm>
            <a:prstGeom prst="rect">
              <a:avLst/>
            </a:prstGeom>
            <a:noFill/>
            <a:ln>
              <a:noFill/>
            </a:ln>
          </p:spPr>
          <p:txBody>
            <a:bodyPr wrap="none" lIns="0" tIns="0" rIns="95" bIns="0" anchor="t" anchorCtr="0">
              <a:noAutofit/>
            </a:bodyPr>
            <a:lstStyle/>
            <a:p>
              <a:pPr algn="ctr"/>
              <a:r>
                <a:rPr lang="en-NZ" sz="1950" b="1" dirty="0">
                  <a:solidFill>
                    <a:srgbClr val="0F8B8D"/>
                  </a:solidFill>
                  <a:latin typeface="Arial"/>
                  <a:ea typeface="Arial"/>
                  <a:cs typeface="Arial"/>
                </a:rPr>
                <a:t>Phase 1: $280k</a:t>
              </a:r>
            </a:p>
          </p:txBody>
        </p:sp>
        <p:sp>
          <p:nvSpPr>
            <p:cNvPr id="17" name="TextBox 17"/>
            <p:cNvSpPr/>
            <p:nvPr/>
          </p:nvSpPr>
          <p:spPr>
            <a:xfrm>
              <a:off x="5273421" y="3305175"/>
              <a:ext cx="2437638" cy="293370"/>
            </a:xfrm>
            <a:prstGeom prst="rect">
              <a:avLst/>
            </a:prstGeom>
            <a:noFill/>
            <a:ln>
              <a:noFill/>
            </a:ln>
          </p:spPr>
          <p:txBody>
            <a:bodyPr wrap="none" lIns="0" tIns="0" rIns="0" bIns="0" anchor="t" anchorCtr="0">
              <a:noAutofit/>
            </a:bodyPr>
            <a:lstStyle/>
            <a:p>
              <a:pPr algn="ctr"/>
              <a:r>
                <a:rPr lang="en-NZ" sz="1500" dirty="0">
                  <a:solidFill>
                    <a:srgbClr val="243B53"/>
                  </a:solidFill>
                  <a:latin typeface="Arial"/>
                  <a:ea typeface="Arial"/>
                  <a:cs typeface="Arial"/>
                </a:rPr>
                <a:t>Separate approval</a:t>
              </a:r>
            </a:p>
          </p:txBody>
        </p:sp>
        <p:sp>
          <p:nvSpPr>
            <p:cNvPr id="18" name="TextBox 18"/>
            <p:cNvSpPr/>
            <p:nvPr/>
          </p:nvSpPr>
          <p:spPr>
            <a:xfrm>
              <a:off x="5781389" y="3590925"/>
              <a:ext cx="1421702" cy="293370"/>
            </a:xfrm>
            <a:prstGeom prst="rect">
              <a:avLst/>
            </a:prstGeom>
            <a:noFill/>
            <a:ln>
              <a:noFill/>
            </a:ln>
          </p:spPr>
          <p:txBody>
            <a:bodyPr wrap="none" lIns="0" tIns="0" rIns="0" bIns="0" anchor="t" anchorCtr="0">
              <a:noAutofit/>
            </a:bodyPr>
            <a:lstStyle/>
            <a:p>
              <a:pPr algn="ctr"/>
              <a:r>
                <a:rPr lang="en-NZ" sz="1500" dirty="0">
                  <a:solidFill>
                    <a:srgbClr val="C43D3D"/>
                  </a:solidFill>
                  <a:latin typeface="Arial"/>
                  <a:ea typeface="Arial"/>
                  <a:cs typeface="Arial"/>
                </a:rPr>
                <a:t>or Stop</a:t>
              </a:r>
            </a:p>
          </p:txBody>
        </p:sp>
      </p:grpSp>
      <p:grpSp>
        <p:nvGrpSpPr>
          <p:cNvPr id="24" name="Group 24"/>
          <p:cNvGrpSpPr/>
          <p:nvPr/>
        </p:nvGrpSpPr>
        <p:grpSpPr>
          <a:xfrm>
            <a:off x="8429625" y="2228850"/>
            <a:ext cx="3230613" cy="1695450"/>
            <a:chOff x="8429625" y="2228850"/>
            <a:chExt cx="3230613" cy="1695450"/>
          </a:xfrm>
        </p:grpSpPr>
        <p:sp>
          <p:nvSpPr>
            <p:cNvPr id="20" name="Rectangle 20"/>
            <p:cNvSpPr/>
            <p:nvPr/>
          </p:nvSpPr>
          <p:spPr>
            <a:xfrm>
              <a:off x="8429625" y="2228850"/>
              <a:ext cx="2933700" cy="1695450"/>
            </a:xfrm>
            <a:prstGeom prst="roundRect">
              <a:avLst>
                <a:gd name="adj" fmla="val 18876"/>
              </a:avLst>
            </a:prstGeom>
            <a:solidFill>
              <a:schemeClr val="accent5"/>
            </a:solidFill>
            <a:ln w="19050">
              <a:solidFill>
                <a:srgbClr val="9FB3C8"/>
              </a:solidFill>
              <a:custDash>
                <a:ds d="400000" sp="400000"/>
              </a:custDash>
            </a:ln>
          </p:spPr>
        </p:sp>
        <p:sp>
          <p:nvSpPr>
            <p:cNvPr id="21" name="TextBox 21"/>
            <p:cNvSpPr/>
            <p:nvPr/>
          </p:nvSpPr>
          <p:spPr>
            <a:xfrm>
              <a:off x="8795385" y="2505075"/>
              <a:ext cx="2333625" cy="293370"/>
            </a:xfrm>
            <a:prstGeom prst="rect">
              <a:avLst/>
            </a:prstGeom>
            <a:noFill/>
            <a:ln>
              <a:noFill/>
            </a:ln>
          </p:spPr>
          <p:txBody>
            <a:bodyPr wrap="none" lIns="0" tIns="0" rIns="0" bIns="0" anchor="t" anchorCtr="0">
              <a:noAutofit/>
            </a:bodyPr>
            <a:lstStyle/>
            <a:p>
              <a:pPr algn="l"/>
              <a:r>
                <a:rPr lang="en-NZ" sz="1500" b="1" dirty="0">
                  <a:solidFill>
                    <a:srgbClr val="52606D"/>
                  </a:solidFill>
                  <a:latin typeface="Arial"/>
                  <a:ea typeface="Arial"/>
                  <a:cs typeface="Arial"/>
                </a:rPr>
                <a:t>LATER PHASES</a:t>
              </a:r>
            </a:p>
          </p:txBody>
        </p:sp>
        <p:sp>
          <p:nvSpPr>
            <p:cNvPr id="22" name="TextBox 22"/>
            <p:cNvSpPr txBox="1"/>
            <p:nvPr/>
          </p:nvSpPr>
          <p:spPr>
            <a:xfrm>
              <a:off x="8788527" y="2911792"/>
              <a:ext cx="2871711" cy="557403"/>
            </a:xfrm>
            <a:prstGeom prst="rect">
              <a:avLst/>
            </a:prstGeom>
            <a:noFill/>
            <a:ln>
              <a:noFill/>
            </a:ln>
          </p:spPr>
          <p:txBody>
            <a:bodyPr wrap="none" lIns="0" tIns="0" rIns="0" bIns="0" anchor="t" anchorCtr="0">
              <a:spAutoFit/>
            </a:bodyPr>
            <a:lstStyle/>
            <a:p>
              <a:pPr algn="l"/>
              <a:r>
                <a:rPr lang="en-NZ" sz="2850" b="1" dirty="0">
                  <a:solidFill>
                    <a:srgbClr val="7B8794"/>
                  </a:solidFill>
                  <a:latin typeface="+mn-lt"/>
                  <a:ea typeface="+mn-ea"/>
                  <a:cs typeface="+mn-cs"/>
                </a:rPr>
                <a:t xml:space="preserve">NZ$1.600m   </a:t>
              </a:r>
            </a:p>
          </p:txBody>
        </p:sp>
        <p:sp>
          <p:nvSpPr>
            <p:cNvPr id="23" name="TextBox 23"/>
            <p:cNvSpPr/>
            <p:nvPr/>
          </p:nvSpPr>
          <p:spPr>
            <a:xfrm>
              <a:off x="8795385" y="3438525"/>
              <a:ext cx="2759107"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After separate gates</a:t>
              </a:r>
            </a:p>
          </p:txBody>
        </p:sp>
      </p:grpSp>
      <p:grpSp>
        <p:nvGrpSpPr>
          <p:cNvPr id="28" name="Group 28"/>
          <p:cNvGrpSpPr/>
          <p:nvPr/>
        </p:nvGrpSpPr>
        <p:grpSpPr>
          <a:xfrm>
            <a:off x="514350" y="4629150"/>
            <a:ext cx="8020050" cy="876300"/>
            <a:chOff x="514350" y="4629150"/>
            <a:chExt cx="8020050" cy="876300"/>
          </a:xfrm>
        </p:grpSpPr>
        <p:sp>
          <p:nvSpPr>
            <p:cNvPr id="25" name="Rectangle 25"/>
            <p:cNvSpPr/>
            <p:nvPr/>
          </p:nvSpPr>
          <p:spPr>
            <a:xfrm>
              <a:off x="514350" y="4629150"/>
              <a:ext cx="8020050" cy="876300"/>
            </a:xfrm>
            <a:prstGeom prst="roundRect">
              <a:avLst>
                <a:gd name="adj" fmla="val 17391"/>
              </a:avLst>
            </a:prstGeom>
            <a:solidFill>
              <a:srgbClr val="FDECEC"/>
            </a:solidFill>
            <a:ln>
              <a:noFill/>
            </a:ln>
          </p:spPr>
        </p:sp>
        <p:sp>
          <p:nvSpPr>
            <p:cNvPr id="26" name="TextBox 26"/>
            <p:cNvSpPr txBox="1"/>
            <p:nvPr/>
          </p:nvSpPr>
          <p:spPr>
            <a:xfrm>
              <a:off x="752856" y="4834890"/>
              <a:ext cx="5709434" cy="352044"/>
            </a:xfrm>
            <a:prstGeom prst="rect">
              <a:avLst/>
            </a:prstGeom>
            <a:noFill/>
            <a:ln>
              <a:noFill/>
            </a:ln>
          </p:spPr>
          <p:txBody>
            <a:bodyPr wrap="none" lIns="0" tIns="0" rIns="0" bIns="0" anchor="t" anchorCtr="0">
              <a:spAutoFit/>
            </a:bodyPr>
            <a:lstStyle/>
            <a:p>
              <a:pPr algn="l"/>
              <a:r>
                <a:rPr lang="en-NZ" sz="1800" b="1" dirty="0">
                  <a:solidFill>
                    <a:srgbClr val="C43D3D"/>
                  </a:solidFill>
                  <a:latin typeface="+mn-lt"/>
                  <a:ea typeface="+mn-ea"/>
                  <a:cs typeface="+mn-cs"/>
                </a:rPr>
                <a:t xml:space="preserve">Current conditional base NPV: −NZ$1.114m   </a:t>
              </a:r>
            </a:p>
          </p:txBody>
        </p:sp>
        <p:sp>
          <p:nvSpPr>
            <p:cNvPr id="27" name="TextBox 27"/>
            <p:cNvSpPr/>
            <p:nvPr/>
          </p:nvSpPr>
          <p:spPr>
            <a:xfrm>
              <a:off x="755142" y="5169218"/>
              <a:ext cx="4699921" cy="264033"/>
            </a:xfrm>
            <a:prstGeom prst="rect">
              <a:avLst/>
            </a:prstGeom>
            <a:noFill/>
            <a:ln>
              <a:noFill/>
            </a:ln>
          </p:spPr>
          <p:txBody>
            <a:bodyPr wrap="none" lIns="0" tIns="0" rIns="0" bIns="0" anchor="t" anchorCtr="0">
              <a:noAutofit/>
            </a:bodyPr>
            <a:lstStyle/>
            <a:p>
              <a:pPr algn="l"/>
              <a:r>
                <a:rPr lang="en-NZ" sz="1350" dirty="0">
                  <a:solidFill>
                    <a:srgbClr val="7B1F1F"/>
                  </a:solidFill>
                  <a:latin typeface="Arial"/>
                  <a:ea typeface="Arial"/>
                  <a:cs typeface="Arial"/>
                </a:rPr>
                <a:t xml:space="preserve">Evidence first, then a separate funding decision.   </a:t>
              </a:r>
            </a:p>
          </p:txBody>
        </p:sp>
      </p:grpSp>
      <p:grpSp>
        <p:nvGrpSpPr>
          <p:cNvPr id="31" name="Group 31"/>
          <p:cNvGrpSpPr/>
          <p:nvPr/>
        </p:nvGrpSpPr>
        <p:grpSpPr>
          <a:xfrm>
            <a:off x="508254" y="5871210"/>
            <a:ext cx="5450681" cy="768096"/>
            <a:chOff x="508254" y="5871210"/>
            <a:chExt cx="5450681" cy="768096"/>
          </a:xfrm>
        </p:grpSpPr>
        <p:sp>
          <p:nvSpPr>
            <p:cNvPr id="29" name="TextBox 29"/>
            <p:cNvSpPr/>
            <p:nvPr/>
          </p:nvSpPr>
          <p:spPr>
            <a:xfrm>
              <a:off x="508254" y="5871210"/>
              <a:ext cx="5450681" cy="234696"/>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Planning assumptions require Spark validation. All amounts in NZ$.</a:t>
              </a:r>
            </a:p>
          </p:txBody>
        </p:sp>
        <p:sp>
          <p:nvSpPr>
            <p:cNvPr id="30" name="TextBox 30"/>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01   </a:t>
              </a:r>
            </a:p>
          </p:txBody>
        </p:sp>
      </p:grpSp>
      <p:sp>
        <p:nvSpPr>
          <p:cNvPr id="32" name="Rectangle 32"/>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2.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Spark’s group mobile lead narrowed</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A narrower market lead makes the retention decision worth testing.</a:t>
              </a:r>
            </a:p>
          </p:txBody>
        </p:sp>
      </p:grpSp>
      <p:grpSp>
        <p:nvGrpSpPr>
          <p:cNvPr id="14" name="Group 14"/>
          <p:cNvGrpSpPr/>
          <p:nvPr/>
        </p:nvGrpSpPr>
        <p:grpSpPr>
          <a:xfrm>
            <a:off x="1727835" y="1525333"/>
            <a:ext cx="8599170" cy="2969419"/>
            <a:chOff x="1727835" y="1525333"/>
            <a:chExt cx="8599170" cy="2969419"/>
          </a:xfrm>
        </p:grpSpPr>
        <p:sp>
          <p:nvSpPr>
            <p:cNvPr id="5" name="Line 5"/>
            <p:cNvSpPr/>
            <p:nvPr/>
          </p:nvSpPr>
          <p:spPr>
            <a:xfrm>
              <a:off x="1727835" y="4067175"/>
              <a:ext cx="8599170" cy="9525"/>
            </a:xfrm>
            <a:custGeom>
              <a:avLst/>
              <a:gdLst/>
              <a:ahLst/>
              <a:cxnLst/>
              <a:rect l="l" t="t" r="r" b="b"/>
              <a:pathLst>
                <a:path w="8599170" h="9525">
                  <a:moveTo>
                    <a:pt x="0" y="0"/>
                  </a:moveTo>
                  <a:lnTo>
                    <a:pt x="8599170" y="0"/>
                  </a:lnTo>
                </a:path>
              </a:pathLst>
            </a:custGeom>
            <a:noFill/>
            <a:ln w="28575">
              <a:solidFill>
                <a:srgbClr val="9FB3C8"/>
              </a:solidFill>
            </a:ln>
          </p:spPr>
        </p:sp>
        <p:sp>
          <p:nvSpPr>
            <p:cNvPr id="6" name="Rectangle 6"/>
            <p:cNvSpPr/>
            <p:nvPr/>
          </p:nvSpPr>
          <p:spPr>
            <a:xfrm>
              <a:off x="2889885" y="2066925"/>
              <a:ext cx="2207895" cy="2000250"/>
            </a:xfrm>
            <a:prstGeom prst="roundRect">
              <a:avLst>
                <a:gd name="adj" fmla="val 8339"/>
              </a:avLst>
            </a:prstGeom>
            <a:solidFill>
              <a:srgbClr val="1677FF"/>
            </a:solidFill>
            <a:ln>
              <a:noFill/>
            </a:ln>
          </p:spPr>
        </p:sp>
        <p:sp>
          <p:nvSpPr>
            <p:cNvPr id="7" name="Rectangle 7"/>
            <p:cNvSpPr/>
            <p:nvPr/>
          </p:nvSpPr>
          <p:spPr>
            <a:xfrm>
              <a:off x="6957060" y="2257425"/>
              <a:ext cx="2207895" cy="1809750"/>
            </a:xfrm>
            <a:prstGeom prst="roundRect">
              <a:avLst>
                <a:gd name="adj" fmla="val 6889"/>
              </a:avLst>
            </a:prstGeom>
            <a:solidFill>
              <a:srgbClr val="102A43"/>
            </a:solidFill>
            <a:ln>
              <a:noFill/>
            </a:ln>
          </p:spPr>
        </p:sp>
        <p:sp>
          <p:nvSpPr>
            <p:cNvPr id="8" name="TextBox 8"/>
            <p:cNvSpPr/>
            <p:nvPr/>
          </p:nvSpPr>
          <p:spPr>
            <a:xfrm>
              <a:off x="2775966" y="1877378"/>
              <a:ext cx="2435828" cy="645414"/>
            </a:xfrm>
            <a:prstGeom prst="rect">
              <a:avLst/>
            </a:prstGeom>
            <a:noFill/>
            <a:ln>
              <a:noFill/>
            </a:ln>
          </p:spPr>
          <p:txBody>
            <a:bodyPr wrap="none" lIns="0" tIns="-328612" rIns="95" bIns="0" anchor="t" anchorCtr="0">
              <a:noAutofit/>
            </a:bodyPr>
            <a:lstStyle/>
            <a:p>
              <a:pPr algn="ctr"/>
              <a:r>
                <a:rPr lang="en-NZ" sz="3300" b="1" dirty="0">
                  <a:solidFill>
                    <a:srgbClr val="1677FF"/>
                  </a:solidFill>
                  <a:latin typeface="Arial"/>
                  <a:ea typeface="Arial"/>
                  <a:cs typeface="Arial"/>
                </a:rPr>
                <a:t>42%</a:t>
              </a:r>
            </a:p>
          </p:txBody>
        </p:sp>
        <p:sp>
          <p:nvSpPr>
            <p:cNvPr id="9" name="TextBox 9"/>
            <p:cNvSpPr/>
            <p:nvPr/>
          </p:nvSpPr>
          <p:spPr>
            <a:xfrm>
              <a:off x="6843141" y="1525333"/>
              <a:ext cx="2435828" cy="645414"/>
            </a:xfrm>
            <a:prstGeom prst="rect">
              <a:avLst/>
            </a:prstGeom>
            <a:noFill/>
            <a:ln>
              <a:noFill/>
            </a:ln>
          </p:spPr>
          <p:txBody>
            <a:bodyPr wrap="none" lIns="0" tIns="213932" rIns="95" bIns="0" anchor="t" anchorCtr="0">
              <a:noAutofit/>
            </a:bodyPr>
            <a:lstStyle/>
            <a:p>
              <a:pPr algn="ctr"/>
              <a:r>
                <a:rPr lang="en-NZ" sz="3300" b="1" dirty="0">
                  <a:solidFill>
                    <a:srgbClr val="102A43"/>
                  </a:solidFill>
                  <a:latin typeface="Arial"/>
                  <a:ea typeface="Arial"/>
                  <a:cs typeface="Arial"/>
                </a:rPr>
                <a:t>38%</a:t>
              </a:r>
            </a:p>
          </p:txBody>
        </p:sp>
        <p:sp>
          <p:nvSpPr>
            <p:cNvPr id="10" name="TextBox 10"/>
            <p:cNvSpPr/>
            <p:nvPr/>
          </p:nvSpPr>
          <p:spPr>
            <a:xfrm>
              <a:off x="3180874" y="4113371"/>
              <a:ext cx="1626013" cy="381381"/>
            </a:xfrm>
            <a:prstGeom prst="rect">
              <a:avLst/>
            </a:prstGeom>
            <a:noFill/>
            <a:ln>
              <a:noFill/>
            </a:ln>
          </p:spPr>
          <p:txBody>
            <a:bodyPr wrap="none" lIns="0" tIns="0" rIns="95" bIns="0" anchor="t" anchorCtr="0">
              <a:noAutofit/>
            </a:bodyPr>
            <a:lstStyle/>
            <a:p>
              <a:pPr algn="ctr"/>
              <a:r>
                <a:rPr lang="en-NZ" sz="1950" dirty="0">
                  <a:solidFill>
                    <a:srgbClr val="243B53"/>
                  </a:solidFill>
                  <a:latin typeface="Arial"/>
                  <a:ea typeface="Arial"/>
                  <a:cs typeface="Arial"/>
                </a:rPr>
                <a:t>June 2022</a:t>
              </a:r>
            </a:p>
          </p:txBody>
        </p:sp>
        <p:sp>
          <p:nvSpPr>
            <p:cNvPr id="11" name="TextBox 11"/>
            <p:cNvSpPr/>
            <p:nvPr/>
          </p:nvSpPr>
          <p:spPr>
            <a:xfrm>
              <a:off x="7162229" y="4113371"/>
              <a:ext cx="1797653" cy="381381"/>
            </a:xfrm>
            <a:prstGeom prst="rect">
              <a:avLst/>
            </a:prstGeom>
            <a:noFill/>
            <a:ln>
              <a:noFill/>
            </a:ln>
          </p:spPr>
          <p:txBody>
            <a:bodyPr wrap="none" lIns="0" tIns="0" rIns="95" bIns="0" anchor="t" anchorCtr="0">
              <a:noAutofit/>
            </a:bodyPr>
            <a:lstStyle/>
            <a:p>
              <a:pPr algn="ctr"/>
              <a:r>
                <a:rPr lang="en-NZ" sz="1950" dirty="0">
                  <a:solidFill>
                    <a:srgbClr val="243B53"/>
                  </a:solidFill>
                  <a:latin typeface="Arial"/>
                  <a:ea typeface="Arial"/>
                  <a:cs typeface="Arial"/>
                </a:rPr>
                <a:t>June 2025</a:t>
              </a:r>
            </a:p>
          </p:txBody>
        </p:sp>
        <p:sp>
          <p:nvSpPr>
            <p:cNvPr id="12" name="Rectangle 12"/>
            <p:cNvSpPr/>
            <p:nvPr/>
          </p:nvSpPr>
          <p:spPr>
            <a:xfrm>
              <a:off x="5028057" y="2967038"/>
              <a:ext cx="1998726" cy="513398"/>
            </a:xfrm>
            <a:prstGeom prst="roundRect">
              <a:avLst>
                <a:gd name="adj" fmla="val 50000"/>
              </a:avLst>
            </a:prstGeom>
            <a:solidFill>
              <a:srgbClr val="FDECEC"/>
            </a:solidFill>
            <a:ln>
              <a:noFill/>
            </a:ln>
          </p:spPr>
        </p:sp>
        <p:sp>
          <p:nvSpPr>
            <p:cNvPr id="13" name="TextBox 13"/>
            <p:cNvSpPr txBox="1"/>
            <p:nvPr/>
          </p:nvSpPr>
          <p:spPr>
            <a:xfrm>
              <a:off x="5093675" y="3046857"/>
              <a:ext cx="1867491" cy="440055"/>
            </a:xfrm>
            <a:prstGeom prst="rect">
              <a:avLst/>
            </a:prstGeom>
            <a:noFill/>
            <a:ln>
              <a:noFill/>
            </a:ln>
          </p:spPr>
          <p:txBody>
            <a:bodyPr wrap="none" lIns="0" tIns="0" rIns="0" bIns="0" anchor="t" anchorCtr="0">
              <a:spAutoFit/>
            </a:bodyPr>
            <a:lstStyle/>
            <a:p>
              <a:pPr algn="ctr"/>
              <a:r>
                <a:rPr lang="en-NZ" sz="2250" b="1" dirty="0">
                  <a:solidFill>
                    <a:srgbClr val="C43D3D"/>
                  </a:solidFill>
                  <a:latin typeface="+mn-lt"/>
                  <a:ea typeface="+mn-ea"/>
                  <a:cs typeface="+mn-cs"/>
                </a:rPr>
                <a:t xml:space="preserve">   −4 pp   </a:t>
              </a:r>
            </a:p>
          </p:txBody>
        </p:sp>
      </p:grpSp>
      <p:grpSp>
        <p:nvGrpSpPr>
          <p:cNvPr id="17" name="Group 17"/>
          <p:cNvGrpSpPr/>
          <p:nvPr/>
        </p:nvGrpSpPr>
        <p:grpSpPr>
          <a:xfrm>
            <a:off x="508254" y="5909310"/>
            <a:ext cx="8020050" cy="729996"/>
            <a:chOff x="508254" y="5909310"/>
            <a:chExt cx="8020050" cy="729996"/>
          </a:xfrm>
        </p:grpSpPr>
        <p:sp>
          <p:nvSpPr>
            <p:cNvPr id="15" name="TextBox 15"/>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One NZ: 37% in June 2025. Commerce Commission (2026), pp. 213–216.</a:t>
              </a:r>
            </a:p>
          </p:txBody>
        </p:sp>
        <p:sp>
          <p:nvSpPr>
            <p:cNvPr id="16" name="TextBox 16"/>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02   </a:t>
              </a:r>
            </a:p>
          </p:txBody>
        </p:sp>
      </p:grpSp>
      <p:sp>
        <p:nvSpPr>
          <p:cNvPr id="18" name="Rectangle 18"/>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SPK-30 prioritises customer experience</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Core connectivity and better customer experiences guide the proposal.</a:t>
              </a:r>
            </a:p>
          </p:txBody>
        </p:sp>
      </p:grpSp>
      <p:grpSp>
        <p:nvGrpSpPr>
          <p:cNvPr id="18" name="Group 18"/>
          <p:cNvGrpSpPr/>
          <p:nvPr/>
        </p:nvGrpSpPr>
        <p:grpSpPr>
          <a:xfrm>
            <a:off x="514350" y="1809750"/>
            <a:ext cx="11162996" cy="2500312"/>
            <a:chOff x="514350" y="1809750"/>
            <a:chExt cx="11162996" cy="2500312"/>
          </a:xfrm>
        </p:grpSpPr>
        <p:sp>
          <p:nvSpPr>
            <p:cNvPr id="5" name="Rectangle 5"/>
            <p:cNvSpPr/>
            <p:nvPr/>
          </p:nvSpPr>
          <p:spPr>
            <a:xfrm>
              <a:off x="514350" y="1809750"/>
              <a:ext cx="3438601" cy="2500312"/>
            </a:xfrm>
            <a:prstGeom prst="roundRect">
              <a:avLst>
                <a:gd name="adj" fmla="val 10962"/>
              </a:avLst>
            </a:prstGeom>
            <a:solidFill>
              <a:srgbClr val="FFFFFF"/>
            </a:solidFill>
            <a:ln w="9525">
              <a:solidFill>
                <a:srgbClr val="9FB3C8"/>
              </a:solidFill>
            </a:ln>
          </p:spPr>
        </p:sp>
        <p:sp>
          <p:nvSpPr>
            <p:cNvPr id="6" name="TextBox 6"/>
            <p:cNvSpPr txBox="1"/>
            <p:nvPr/>
          </p:nvSpPr>
          <p:spPr>
            <a:xfrm>
              <a:off x="855574" y="1990725"/>
              <a:ext cx="1717853" cy="293370"/>
            </a:xfrm>
            <a:prstGeom prst="rect">
              <a:avLst/>
            </a:prstGeom>
            <a:noFill/>
            <a:ln>
              <a:noFill/>
            </a:ln>
          </p:spPr>
          <p:txBody>
            <a:bodyPr wrap="none" lIns="0" tIns="0" rIns="0" bIns="0" anchor="t" anchorCtr="0">
              <a:spAutoFit/>
            </a:bodyPr>
            <a:lstStyle/>
            <a:p>
              <a:pPr algn="l"/>
              <a:r>
                <a:rPr lang="en-NZ" sz="1500" b="1" dirty="0">
                  <a:solidFill>
                    <a:srgbClr val="52606D"/>
                  </a:solidFill>
                  <a:latin typeface="+mn-lt"/>
                  <a:ea typeface="+mn-ea"/>
                  <a:cs typeface="+mn-cs"/>
                </a:rPr>
                <a:t xml:space="preserve">FY26 MOBILE   </a:t>
              </a:r>
            </a:p>
          </p:txBody>
        </p:sp>
        <p:sp>
          <p:nvSpPr>
            <p:cNvPr id="7" name="TextBox 7"/>
            <p:cNvSpPr txBox="1"/>
            <p:nvPr/>
          </p:nvSpPr>
          <p:spPr>
            <a:xfrm>
              <a:off x="855574" y="2219325"/>
              <a:ext cx="2121103" cy="293370"/>
            </a:xfrm>
            <a:prstGeom prst="rect">
              <a:avLst/>
            </a:prstGeom>
            <a:noFill/>
            <a:ln>
              <a:noFill/>
            </a:ln>
          </p:spPr>
          <p:txBody>
            <a:bodyPr wrap="none" lIns="0" tIns="0" rIns="0" bIns="0" anchor="t" anchorCtr="0">
              <a:spAutoFit/>
            </a:bodyPr>
            <a:lstStyle/>
            <a:p>
              <a:pPr algn="l"/>
              <a:r>
                <a:rPr lang="en-NZ" sz="1500" b="1" dirty="0">
                  <a:solidFill>
                    <a:srgbClr val="52606D"/>
                  </a:solidFill>
                  <a:latin typeface="+mn-lt"/>
                  <a:ea typeface="+mn-ea"/>
                  <a:cs typeface="+mn-cs"/>
                </a:rPr>
                <a:t xml:space="preserve">SERVICE REVENUE   </a:t>
              </a:r>
            </a:p>
          </p:txBody>
        </p:sp>
        <p:sp>
          <p:nvSpPr>
            <p:cNvPr id="8" name="TextBox 8"/>
            <p:cNvSpPr txBox="1"/>
            <p:nvPr/>
          </p:nvSpPr>
          <p:spPr>
            <a:xfrm>
              <a:off x="846430" y="2425065"/>
              <a:ext cx="2179236" cy="645414"/>
            </a:xfrm>
            <a:prstGeom prst="rect">
              <a:avLst/>
            </a:prstGeom>
            <a:noFill/>
            <a:ln>
              <a:noFill/>
            </a:ln>
          </p:spPr>
          <p:txBody>
            <a:bodyPr wrap="none" lIns="0" tIns="0" rIns="0" bIns="0" anchor="t" anchorCtr="0">
              <a:spAutoFit/>
            </a:bodyPr>
            <a:lstStyle/>
            <a:p>
              <a:pPr algn="l"/>
              <a:r>
                <a:rPr lang="en-NZ" sz="3300" b="1" dirty="0">
                  <a:solidFill>
                    <a:schemeClr val="accent3"/>
                  </a:solidFill>
                  <a:latin typeface="+mn-lt"/>
                  <a:ea typeface="+mn-ea"/>
                  <a:cs typeface="+mn-cs"/>
                </a:rPr>
                <a:t xml:space="preserve">+1.1%   </a:t>
              </a:r>
            </a:p>
          </p:txBody>
        </p:sp>
        <p:sp>
          <p:nvSpPr>
            <p:cNvPr id="9" name="TextBox 9"/>
            <p:cNvSpPr txBox="1"/>
            <p:nvPr/>
          </p:nvSpPr>
          <p:spPr>
            <a:xfrm>
              <a:off x="851764" y="2867025"/>
              <a:ext cx="2222106" cy="440055"/>
            </a:xfrm>
            <a:prstGeom prst="rect">
              <a:avLst/>
            </a:prstGeom>
            <a:noFill/>
            <a:ln>
              <a:noFill/>
            </a:ln>
          </p:spPr>
          <p:txBody>
            <a:bodyPr wrap="none" lIns="0" tIns="0" rIns="0" bIns="0" anchor="t" anchorCtr="0">
              <a:spAutoFit/>
            </a:bodyPr>
            <a:lstStyle/>
            <a:p>
              <a:pPr algn="l"/>
              <a:r>
                <a:rPr lang="en-NZ" sz="2250" dirty="0">
                  <a:solidFill>
                    <a:schemeClr val="dk1"/>
                  </a:solidFill>
                  <a:latin typeface="+mn-lt"/>
                  <a:ea typeface="+mn-ea"/>
                  <a:cs typeface="+mn-cs"/>
                </a:rPr>
                <a:t xml:space="preserve">to NZ$998m   </a:t>
              </a:r>
            </a:p>
          </p:txBody>
        </p:sp>
        <p:sp>
          <p:nvSpPr>
            <p:cNvPr id="10" name="Rectangle 10"/>
            <p:cNvSpPr/>
            <p:nvPr/>
          </p:nvSpPr>
          <p:spPr>
            <a:xfrm>
              <a:off x="4301795" y="1809750"/>
              <a:ext cx="3438601" cy="2500312"/>
            </a:xfrm>
            <a:prstGeom prst="roundRect">
              <a:avLst>
                <a:gd name="adj" fmla="val 10962"/>
              </a:avLst>
            </a:prstGeom>
            <a:solidFill>
              <a:srgbClr val="FFFFFF"/>
            </a:solidFill>
            <a:ln w="9525">
              <a:solidFill>
                <a:srgbClr val="9FB3C8"/>
              </a:solidFill>
            </a:ln>
          </p:spPr>
        </p:sp>
        <p:sp>
          <p:nvSpPr>
            <p:cNvPr id="11" name="TextBox 11"/>
            <p:cNvSpPr txBox="1"/>
            <p:nvPr/>
          </p:nvSpPr>
          <p:spPr>
            <a:xfrm>
              <a:off x="4643018" y="1990725"/>
              <a:ext cx="3355487" cy="293370"/>
            </a:xfrm>
            <a:prstGeom prst="rect">
              <a:avLst/>
            </a:prstGeom>
            <a:noFill/>
            <a:ln>
              <a:noFill/>
            </a:ln>
          </p:spPr>
          <p:txBody>
            <a:bodyPr wrap="none" lIns="0" tIns="0" rIns="0" bIns="0" anchor="t" anchorCtr="0">
              <a:spAutoFit/>
            </a:bodyPr>
            <a:lstStyle/>
            <a:p>
              <a:pPr algn="l"/>
              <a:r>
                <a:rPr lang="en-NZ" sz="1500" b="1" dirty="0">
                  <a:solidFill>
                    <a:srgbClr val="52606D"/>
                  </a:solidFill>
                  <a:latin typeface="+mn-lt"/>
                  <a:ea typeface="+mn-ea"/>
                  <a:cs typeface="+mn-cs"/>
                </a:rPr>
                <a:t xml:space="preserve">BROAD CONSUMER &amp; SME iNPS   </a:t>
              </a:r>
            </a:p>
          </p:txBody>
        </p:sp>
        <p:sp>
          <p:nvSpPr>
            <p:cNvPr id="12" name="TextBox 12"/>
            <p:cNvSpPr txBox="1"/>
            <p:nvPr/>
          </p:nvSpPr>
          <p:spPr>
            <a:xfrm>
              <a:off x="4633874" y="2425065"/>
              <a:ext cx="1572840" cy="645414"/>
            </a:xfrm>
            <a:prstGeom prst="rect">
              <a:avLst/>
            </a:prstGeom>
            <a:noFill/>
            <a:ln>
              <a:noFill/>
            </a:ln>
          </p:spPr>
          <p:txBody>
            <a:bodyPr wrap="none" lIns="0" tIns="0" rIns="0" bIns="0" anchor="t" anchorCtr="0">
              <a:spAutoFit/>
            </a:bodyPr>
            <a:lstStyle/>
            <a:p>
              <a:pPr algn="l"/>
              <a:r>
                <a:rPr lang="en-NZ" sz="3300" b="1" dirty="0">
                  <a:solidFill>
                    <a:schemeClr val="accent2"/>
                  </a:solidFill>
                  <a:latin typeface="+mn-lt"/>
                  <a:ea typeface="+mn-ea"/>
                  <a:cs typeface="+mn-cs"/>
                </a:rPr>
                <a:t xml:space="preserve">+42   </a:t>
              </a:r>
            </a:p>
          </p:txBody>
        </p:sp>
        <p:sp>
          <p:nvSpPr>
            <p:cNvPr id="13" name="TextBox 13"/>
            <p:cNvSpPr/>
            <p:nvPr/>
          </p:nvSpPr>
          <p:spPr>
            <a:xfrm>
              <a:off x="4643056" y="2947988"/>
              <a:ext cx="2460022"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 xml:space="preserve">Portfolio-wide measure   </a:t>
              </a:r>
            </a:p>
          </p:txBody>
        </p:sp>
        <p:sp>
          <p:nvSpPr>
            <p:cNvPr id="14" name="Rectangle 14"/>
            <p:cNvSpPr/>
            <p:nvPr/>
          </p:nvSpPr>
          <p:spPr>
            <a:xfrm>
              <a:off x="8089240" y="1809750"/>
              <a:ext cx="3588106" cy="2500312"/>
            </a:xfrm>
            <a:prstGeom prst="roundRect">
              <a:avLst>
                <a:gd name="adj" fmla="val 10962"/>
              </a:avLst>
            </a:prstGeom>
            <a:solidFill>
              <a:srgbClr val="FFFFFF"/>
            </a:solidFill>
            <a:ln w="9525">
              <a:solidFill>
                <a:srgbClr val="9FB3C8"/>
              </a:solidFill>
            </a:ln>
          </p:spPr>
        </p:sp>
        <p:sp>
          <p:nvSpPr>
            <p:cNvPr id="15" name="TextBox 15"/>
            <p:cNvSpPr/>
            <p:nvPr/>
          </p:nvSpPr>
          <p:spPr>
            <a:xfrm>
              <a:off x="8430482" y="1990725"/>
              <a:ext cx="2277904" cy="293370"/>
            </a:xfrm>
            <a:prstGeom prst="rect">
              <a:avLst/>
            </a:prstGeom>
            <a:noFill/>
            <a:ln>
              <a:noFill/>
            </a:ln>
          </p:spPr>
          <p:txBody>
            <a:bodyPr wrap="none" lIns="0" tIns="0" rIns="0" bIns="0" anchor="t" anchorCtr="0">
              <a:noAutofit/>
            </a:bodyPr>
            <a:lstStyle/>
            <a:p>
              <a:pPr algn="l"/>
              <a:r>
                <a:rPr lang="en-NZ" sz="1500" b="1" dirty="0">
                  <a:solidFill>
                    <a:srgbClr val="52606D"/>
                  </a:solidFill>
                  <a:latin typeface="Arial"/>
                  <a:ea typeface="Arial"/>
                  <a:cs typeface="Arial"/>
                </a:rPr>
                <a:t>VALUE DISCIPLINE</a:t>
              </a:r>
            </a:p>
          </p:txBody>
        </p:sp>
        <p:sp>
          <p:nvSpPr>
            <p:cNvPr id="16" name="TextBox 16"/>
            <p:cNvSpPr/>
            <p:nvPr/>
          </p:nvSpPr>
          <p:spPr>
            <a:xfrm>
              <a:off x="8421338" y="2425065"/>
              <a:ext cx="2714625" cy="914400"/>
            </a:xfrm>
            <a:prstGeom prst="rect">
              <a:avLst/>
            </a:prstGeom>
            <a:noFill/>
            <a:ln>
              <a:noFill/>
            </a:ln>
          </p:spPr>
          <p:txBody>
            <a:bodyPr wrap="none" lIns="0" tIns="97155" rIns="0" bIns="0" anchor="t" anchorCtr="0">
              <a:noAutofit/>
            </a:bodyPr>
            <a:lstStyle/>
            <a:p>
              <a:pPr algn="l">
                <a:lnSpc>
                  <a:spcPts val="2880"/>
                </a:lnSpc>
              </a:pPr>
              <a:r>
                <a:rPr lang="en-NZ" sz="2400" b="1" dirty="0">
                  <a:solidFill>
                    <a:srgbClr val="0F8B8D"/>
                  </a:solidFill>
                  <a:latin typeface="Arial"/>
                  <a:ea typeface="Arial"/>
                  <a:cs typeface="Arial"/>
                </a:rPr>
                <a:t>Customer</a:t>
              </a:r>
              <a:br/>
              <a:r>
                <a:rPr lang="en-NZ" sz="2400" b="1" dirty="0">
                  <a:solidFill>
                    <a:srgbClr val="0F8B8D"/>
                  </a:solidFill>
                  <a:latin typeface="Arial"/>
                  <a:ea typeface="Arial"/>
                  <a:cs typeface="Arial"/>
                </a:rPr>
                <a:t>intimacy</a:t>
              </a:r>
            </a:p>
          </p:txBody>
        </p:sp>
        <p:sp>
          <p:nvSpPr>
            <p:cNvPr id="17" name="TextBox 17"/>
            <p:cNvSpPr/>
            <p:nvPr/>
          </p:nvSpPr>
          <p:spPr>
            <a:xfrm>
              <a:off x="8430482" y="3476625"/>
              <a:ext cx="2759583"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One customer decision</a:t>
              </a:r>
            </a:p>
          </p:txBody>
        </p:sp>
      </p:grpSp>
      <p:grpSp>
        <p:nvGrpSpPr>
          <p:cNvPr id="21" name="Group 21"/>
          <p:cNvGrpSpPr/>
          <p:nvPr/>
        </p:nvGrpSpPr>
        <p:grpSpPr>
          <a:xfrm>
            <a:off x="508254" y="5909310"/>
            <a:ext cx="8020050" cy="729996"/>
            <a:chOff x="508254" y="5909310"/>
            <a:chExt cx="8020050" cy="729996"/>
          </a:xfrm>
        </p:grpSpPr>
        <p:sp>
          <p:nvSpPr>
            <p:cNvPr id="19" name="TextBox 19"/>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Spark (2026a), pp. 4–5, 10–11, 21; (2026b), pp. 7, 12–14. Lecture 3, slide 11.</a:t>
              </a:r>
            </a:p>
          </p:txBody>
        </p:sp>
        <p:sp>
          <p:nvSpPr>
            <p:cNvPr id="20" name="TextBox 20"/>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03   </a:t>
              </a:r>
            </a:p>
          </p:txBody>
        </p:sp>
      </p:grpSp>
      <p:sp>
        <p:nvSpPr>
          <p:cNvPr id="22" name="Rectangle 22"/>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4.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807720"/>
            <a:chOff x="499110" y="542925"/>
            <a:chExt cx="11144250" cy="80772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Spark-brand consumer plan-value review</a:t>
              </a:r>
            </a:p>
          </p:txBody>
        </p:sp>
        <p:sp>
          <p:nvSpPr>
            <p:cNvPr id="3" name="TextBox 3"/>
            <p:cNvSpPr/>
            <p:nvPr/>
          </p:nvSpPr>
          <p:spPr>
            <a:xfrm>
              <a:off x="506730" y="105727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From a recognised mismatch or review request to a decision.</a:t>
              </a:r>
            </a:p>
          </p:txBody>
        </p:sp>
      </p:grpSp>
      <p:grpSp>
        <p:nvGrpSpPr>
          <p:cNvPr id="17" name="Group 17"/>
          <p:cNvGrpSpPr/>
          <p:nvPr/>
        </p:nvGrpSpPr>
        <p:grpSpPr>
          <a:xfrm>
            <a:off x="698564" y="1572006"/>
            <a:ext cx="10488548" cy="2964752"/>
            <a:chOff x="698564" y="1572006"/>
            <a:chExt cx="10488548" cy="2964752"/>
          </a:xfrm>
        </p:grpSpPr>
        <p:sp>
          <p:nvSpPr>
            <p:cNvPr id="5" name="Ellipse 5"/>
            <p:cNvSpPr/>
            <p:nvPr/>
          </p:nvSpPr>
          <p:spPr>
            <a:xfrm>
              <a:off x="2532698" y="1872996"/>
              <a:ext cx="6840855" cy="2317623"/>
            </a:xfrm>
            <a:prstGeom prst="ellipse">
              <a:avLst/>
            </a:prstGeom>
            <a:solidFill>
              <a:srgbClr val="EAF4FF"/>
            </a:solidFill>
            <a:ln w="38100">
              <a:solidFill>
                <a:schemeClr val="accent2"/>
              </a:solidFill>
            </a:ln>
          </p:spPr>
        </p:sp>
        <p:sp>
          <p:nvSpPr>
            <p:cNvPr id="6" name="TextBox 6"/>
            <p:cNvSpPr txBox="1"/>
            <p:nvPr/>
          </p:nvSpPr>
          <p:spPr>
            <a:xfrm>
              <a:off x="4034453" y="2487930"/>
              <a:ext cx="3837344" cy="440055"/>
            </a:xfrm>
            <a:prstGeom prst="rect">
              <a:avLst/>
            </a:prstGeom>
            <a:noFill/>
            <a:ln>
              <a:noFill/>
            </a:ln>
          </p:spPr>
          <p:txBody>
            <a:bodyPr wrap="none" lIns="0" tIns="0" rIns="0" bIns="0" anchor="t" anchorCtr="0">
              <a:spAutoFit/>
            </a:bodyPr>
            <a:lstStyle/>
            <a:p>
              <a:pPr algn="ctr"/>
              <a:r>
                <a:rPr lang="en-NZ" sz="2250" b="1" dirty="0">
                  <a:solidFill>
                    <a:schemeClr val="accent1"/>
                  </a:solidFill>
                  <a:latin typeface="+mn-lt"/>
                  <a:ea typeface="+mn-ea"/>
                  <a:cs typeface="+mn-cs"/>
                </a:rPr>
                <a:t xml:space="preserve">   Spark-branded NZ   </a:t>
              </a:r>
            </a:p>
          </p:txBody>
        </p:sp>
        <p:sp>
          <p:nvSpPr>
            <p:cNvPr id="7" name="TextBox 7"/>
            <p:cNvSpPr txBox="1"/>
            <p:nvPr/>
          </p:nvSpPr>
          <p:spPr>
            <a:xfrm>
              <a:off x="3882388" y="2803970"/>
              <a:ext cx="4141475" cy="440055"/>
            </a:xfrm>
            <a:prstGeom prst="rect">
              <a:avLst/>
            </a:prstGeom>
            <a:noFill/>
            <a:ln>
              <a:noFill/>
            </a:ln>
          </p:spPr>
          <p:txBody>
            <a:bodyPr wrap="none" lIns="0" tIns="0" rIns="0" bIns="0" anchor="t" anchorCtr="0">
              <a:spAutoFit/>
            </a:bodyPr>
            <a:lstStyle/>
            <a:p>
              <a:pPr algn="ctr"/>
              <a:r>
                <a:rPr lang="en-NZ" sz="2250" b="1" dirty="0">
                  <a:solidFill>
                    <a:schemeClr val="accent1"/>
                  </a:solidFill>
                  <a:latin typeface="+mn-lt"/>
                  <a:ea typeface="+mn-ea"/>
                  <a:cs typeface="+mn-cs"/>
                </a:rPr>
                <a:t xml:space="preserve">   individual-consumer   </a:t>
              </a:r>
            </a:p>
          </p:txBody>
        </p:sp>
        <p:sp>
          <p:nvSpPr>
            <p:cNvPr id="8" name="TextBox 8"/>
            <p:cNvSpPr txBox="1"/>
            <p:nvPr/>
          </p:nvSpPr>
          <p:spPr>
            <a:xfrm>
              <a:off x="3337817" y="3152394"/>
              <a:ext cx="5230616" cy="381381"/>
            </a:xfrm>
            <a:prstGeom prst="rect">
              <a:avLst/>
            </a:prstGeom>
            <a:noFill/>
            <a:ln>
              <a:noFill/>
            </a:ln>
          </p:spPr>
          <p:txBody>
            <a:bodyPr wrap="none" lIns="0" tIns="0" rIns="0" bIns="0" anchor="t" anchorCtr="0">
              <a:spAutoFit/>
            </a:bodyPr>
            <a:lstStyle/>
            <a:p>
              <a:pPr algn="ctr"/>
              <a:r>
                <a:rPr lang="en-NZ" sz="1950" dirty="0">
                  <a:solidFill>
                    <a:schemeClr val="accent2"/>
                  </a:solidFill>
                  <a:latin typeface="+mn-lt"/>
                  <a:ea typeface="+mn-ea"/>
                  <a:cs typeface="+mn-cs"/>
                </a:rPr>
                <a:t xml:space="preserve">   pay-monthly + prepaid plan review   </a:t>
              </a:r>
            </a:p>
          </p:txBody>
        </p:sp>
        <p:sp>
          <p:nvSpPr>
            <p:cNvPr id="9" name="Rectangle 9"/>
            <p:cNvSpPr/>
            <p:nvPr/>
          </p:nvSpPr>
          <p:spPr>
            <a:xfrm>
              <a:off x="733806" y="1572006"/>
              <a:ext cx="2406968" cy="436436"/>
            </a:xfrm>
            <a:prstGeom prst="roundRect">
              <a:avLst>
                <a:gd name="adj" fmla="val 50000"/>
              </a:avLst>
            </a:prstGeom>
            <a:solidFill>
              <a:schemeClr val="accent5"/>
            </a:solidFill>
            <a:ln>
              <a:noFill/>
            </a:ln>
          </p:spPr>
        </p:sp>
        <p:sp>
          <p:nvSpPr>
            <p:cNvPr id="10" name="TextBox 10"/>
            <p:cNvSpPr/>
            <p:nvPr/>
          </p:nvSpPr>
          <p:spPr>
            <a:xfrm>
              <a:off x="698564" y="1680972"/>
              <a:ext cx="2477357" cy="293370"/>
            </a:xfrm>
            <a:prstGeom prst="rect">
              <a:avLst/>
            </a:prstGeom>
            <a:noFill/>
            <a:ln>
              <a:noFill/>
            </a:ln>
          </p:spPr>
          <p:txBody>
            <a:bodyPr wrap="none" lIns="95" tIns="0" rIns="0" bIns="0" anchor="t" anchorCtr="0">
              <a:noAutofit/>
            </a:bodyPr>
            <a:lstStyle/>
            <a:p>
              <a:pPr algn="ctr"/>
              <a:r>
                <a:rPr lang="en-NZ" sz="1500" dirty="0">
                  <a:solidFill>
                    <a:srgbClr val="52606D"/>
                  </a:solidFill>
                  <a:latin typeface="Arial"/>
                  <a:ea typeface="Arial"/>
                  <a:cs typeface="Arial"/>
                </a:rPr>
                <a:t>Enterprise / SME</a:t>
              </a:r>
            </a:p>
          </p:txBody>
        </p:sp>
        <p:sp>
          <p:nvSpPr>
            <p:cNvPr id="11" name="Rectangle 11"/>
            <p:cNvSpPr/>
            <p:nvPr/>
          </p:nvSpPr>
          <p:spPr>
            <a:xfrm>
              <a:off x="8689467" y="1572006"/>
              <a:ext cx="2457640" cy="436436"/>
            </a:xfrm>
            <a:prstGeom prst="roundRect">
              <a:avLst>
                <a:gd name="adj" fmla="val 50000"/>
              </a:avLst>
            </a:prstGeom>
            <a:solidFill>
              <a:schemeClr val="accent5"/>
            </a:solidFill>
            <a:ln>
              <a:noFill/>
            </a:ln>
          </p:spPr>
        </p:sp>
        <p:sp>
          <p:nvSpPr>
            <p:cNvPr id="12" name="TextBox 12"/>
            <p:cNvSpPr/>
            <p:nvPr/>
          </p:nvSpPr>
          <p:spPr>
            <a:xfrm>
              <a:off x="8735092" y="1680972"/>
              <a:ext cx="2366486" cy="293370"/>
            </a:xfrm>
            <a:prstGeom prst="rect">
              <a:avLst/>
            </a:prstGeom>
            <a:noFill/>
            <a:ln>
              <a:noFill/>
            </a:ln>
          </p:spPr>
          <p:txBody>
            <a:bodyPr wrap="none" lIns="0" tIns="0" rIns="95" bIns="0" anchor="t" anchorCtr="0">
              <a:noAutofit/>
            </a:bodyPr>
            <a:lstStyle/>
            <a:p>
              <a:pPr algn="ctr"/>
              <a:r>
                <a:rPr lang="en-NZ" sz="1500" dirty="0">
                  <a:solidFill>
                    <a:srgbClr val="52606D"/>
                  </a:solidFill>
                  <a:latin typeface="Arial"/>
                  <a:ea typeface="Arial"/>
                  <a:cs typeface="Arial"/>
                </a:rPr>
                <a:t>Skinny / MVNO</a:t>
              </a:r>
            </a:p>
          </p:txBody>
        </p:sp>
        <p:sp>
          <p:nvSpPr>
            <p:cNvPr id="13" name="Rectangle 13"/>
            <p:cNvSpPr/>
            <p:nvPr/>
          </p:nvSpPr>
          <p:spPr>
            <a:xfrm>
              <a:off x="733806" y="4100322"/>
              <a:ext cx="2406968" cy="436436"/>
            </a:xfrm>
            <a:prstGeom prst="roundRect">
              <a:avLst>
                <a:gd name="adj" fmla="val 50000"/>
              </a:avLst>
            </a:prstGeom>
            <a:solidFill>
              <a:schemeClr val="accent5"/>
            </a:solidFill>
            <a:ln>
              <a:noFill/>
            </a:ln>
          </p:spPr>
        </p:sp>
        <p:sp>
          <p:nvSpPr>
            <p:cNvPr id="14" name="TextBox 14"/>
            <p:cNvSpPr/>
            <p:nvPr/>
          </p:nvSpPr>
          <p:spPr>
            <a:xfrm>
              <a:off x="708470" y="4209288"/>
              <a:ext cx="2457640" cy="293370"/>
            </a:xfrm>
            <a:prstGeom prst="rect">
              <a:avLst/>
            </a:prstGeom>
            <a:noFill/>
            <a:ln>
              <a:noFill/>
            </a:ln>
          </p:spPr>
          <p:txBody>
            <a:bodyPr wrap="none" lIns="0" tIns="0" rIns="0" bIns="0" anchor="t" anchorCtr="0">
              <a:noAutofit/>
            </a:bodyPr>
            <a:lstStyle/>
            <a:p>
              <a:pPr algn="ctr"/>
              <a:r>
                <a:rPr lang="en-NZ" sz="1500" dirty="0">
                  <a:solidFill>
                    <a:srgbClr val="52606D"/>
                  </a:solidFill>
                  <a:latin typeface="Arial"/>
                  <a:ea typeface="Arial"/>
                  <a:cs typeface="Arial"/>
                </a:rPr>
                <a:t>Network remediation</a:t>
              </a:r>
            </a:p>
          </p:txBody>
        </p:sp>
        <p:sp>
          <p:nvSpPr>
            <p:cNvPr id="15" name="Rectangle 15"/>
            <p:cNvSpPr/>
            <p:nvPr/>
          </p:nvSpPr>
          <p:spPr>
            <a:xfrm>
              <a:off x="8689467" y="4100322"/>
              <a:ext cx="2457640" cy="436436"/>
            </a:xfrm>
            <a:prstGeom prst="roundRect">
              <a:avLst>
                <a:gd name="adj" fmla="val 50000"/>
              </a:avLst>
            </a:prstGeom>
            <a:solidFill>
              <a:schemeClr val="accent5"/>
            </a:solidFill>
            <a:ln>
              <a:noFill/>
            </a:ln>
          </p:spPr>
        </p:sp>
        <p:sp>
          <p:nvSpPr>
            <p:cNvPr id="16" name="TextBox 16"/>
            <p:cNvSpPr/>
            <p:nvPr/>
          </p:nvSpPr>
          <p:spPr>
            <a:xfrm>
              <a:off x="8649462" y="4209288"/>
              <a:ext cx="2537650" cy="293370"/>
            </a:xfrm>
            <a:prstGeom prst="rect">
              <a:avLst/>
            </a:prstGeom>
            <a:noFill/>
            <a:ln>
              <a:noFill/>
            </a:ln>
          </p:spPr>
          <p:txBody>
            <a:bodyPr wrap="none" lIns="0" tIns="0" rIns="0" bIns="0" anchor="t" anchorCtr="0">
              <a:noAutofit/>
            </a:bodyPr>
            <a:lstStyle/>
            <a:p>
              <a:pPr algn="ctr"/>
              <a:r>
                <a:rPr lang="en-NZ" sz="1500" dirty="0">
                  <a:solidFill>
                    <a:srgbClr val="52606D"/>
                  </a:solidFill>
                  <a:latin typeface="Arial"/>
                  <a:ea typeface="Arial"/>
                  <a:cs typeface="Arial"/>
                </a:rPr>
                <a:t>Wholesale</a:t>
              </a:r>
            </a:p>
          </p:txBody>
        </p:sp>
      </p:grpSp>
      <p:grpSp>
        <p:nvGrpSpPr>
          <p:cNvPr id="20" name="Group 20"/>
          <p:cNvGrpSpPr/>
          <p:nvPr/>
        </p:nvGrpSpPr>
        <p:grpSpPr>
          <a:xfrm>
            <a:off x="508254" y="5909310"/>
            <a:ext cx="8020050" cy="729996"/>
            <a:chOff x="508254" y="5909310"/>
            <a:chExt cx="8020050" cy="729996"/>
          </a:xfrm>
        </p:grpSpPr>
        <p:sp>
          <p:nvSpPr>
            <p:cNvPr id="18" name="TextBox 18"/>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Spark-brand NZ individuals only. A proposed process boundary.</a:t>
              </a:r>
            </a:p>
          </p:txBody>
        </p:sp>
        <p:sp>
          <p:nvSpPr>
            <p:cNvPr id="19" name="TextBox 19"/>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04   </a:t>
              </a:r>
            </a:p>
          </p:txBody>
        </p:sp>
      </p:grpSp>
      <p:sp>
        <p:nvSpPr>
          <p:cNvPr id="21" name="Rectangle 21"/>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5.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A clear conclusion at the decision point</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Build on the public plan-change path; validate internal hand-offs in Phase 1.</a:t>
              </a:r>
            </a:p>
          </p:txBody>
        </p:sp>
      </p:grpSp>
      <p:grpSp>
        <p:nvGrpSpPr>
          <p:cNvPr id="28" name="Group 28"/>
          <p:cNvGrpSpPr/>
          <p:nvPr/>
        </p:nvGrpSpPr>
        <p:grpSpPr>
          <a:xfrm>
            <a:off x="636037" y="2457450"/>
            <a:ext cx="11092493" cy="2037779"/>
            <a:chOff x="636037" y="2457450"/>
            <a:chExt cx="11092493" cy="2037779"/>
          </a:xfrm>
        </p:grpSpPr>
        <p:sp>
          <p:nvSpPr>
            <p:cNvPr id="5" name="Line 5"/>
            <p:cNvSpPr/>
            <p:nvPr/>
          </p:nvSpPr>
          <p:spPr>
            <a:xfrm>
              <a:off x="1149744" y="2819400"/>
              <a:ext cx="9904666" cy="9525"/>
            </a:xfrm>
            <a:custGeom>
              <a:avLst/>
              <a:gdLst/>
              <a:ahLst/>
              <a:cxnLst/>
              <a:rect l="l" t="t" r="r" b="b"/>
              <a:pathLst>
                <a:path w="9904666" h="9525">
                  <a:moveTo>
                    <a:pt x="0" y="0"/>
                  </a:moveTo>
                  <a:lnTo>
                    <a:pt x="9904666" y="0"/>
                  </a:lnTo>
                </a:path>
              </a:pathLst>
            </a:custGeom>
            <a:noFill/>
            <a:ln w="57150">
              <a:solidFill>
                <a:srgbClr val="9FB3C8"/>
              </a:solidFill>
            </a:ln>
          </p:spPr>
        </p:sp>
        <p:sp>
          <p:nvSpPr>
            <p:cNvPr id="6" name="Ellipse 6"/>
            <p:cNvSpPr/>
            <p:nvPr/>
          </p:nvSpPr>
          <p:spPr>
            <a:xfrm>
              <a:off x="787794" y="2457450"/>
              <a:ext cx="723900" cy="723900"/>
            </a:xfrm>
            <a:prstGeom prst="ellipse">
              <a:avLst/>
            </a:prstGeom>
            <a:solidFill>
              <a:schemeClr val="accent2"/>
            </a:solidFill>
            <a:ln>
              <a:noFill/>
            </a:ln>
          </p:spPr>
        </p:sp>
        <p:sp>
          <p:nvSpPr>
            <p:cNvPr id="7" name="Ellipse 7"/>
            <p:cNvSpPr/>
            <p:nvPr/>
          </p:nvSpPr>
          <p:spPr>
            <a:xfrm>
              <a:off x="2432342" y="2457450"/>
              <a:ext cx="723900" cy="723900"/>
            </a:xfrm>
            <a:prstGeom prst="ellipse">
              <a:avLst/>
            </a:prstGeom>
            <a:solidFill>
              <a:schemeClr val="accent2"/>
            </a:solidFill>
            <a:ln>
              <a:noFill/>
            </a:ln>
          </p:spPr>
        </p:sp>
        <p:sp>
          <p:nvSpPr>
            <p:cNvPr id="8" name="Ellipse 8"/>
            <p:cNvSpPr/>
            <p:nvPr/>
          </p:nvSpPr>
          <p:spPr>
            <a:xfrm>
              <a:off x="4076890" y="2457450"/>
              <a:ext cx="723900" cy="723900"/>
            </a:xfrm>
            <a:prstGeom prst="ellipse">
              <a:avLst/>
            </a:prstGeom>
            <a:solidFill>
              <a:schemeClr val="accent6"/>
            </a:solidFill>
            <a:ln>
              <a:noFill/>
            </a:ln>
          </p:spPr>
        </p:sp>
        <p:sp>
          <p:nvSpPr>
            <p:cNvPr id="9" name="Ellipse 9"/>
            <p:cNvSpPr/>
            <p:nvPr/>
          </p:nvSpPr>
          <p:spPr>
            <a:xfrm>
              <a:off x="5721439" y="2457450"/>
              <a:ext cx="723900" cy="723900"/>
            </a:xfrm>
            <a:prstGeom prst="ellipse">
              <a:avLst/>
            </a:prstGeom>
            <a:solidFill>
              <a:schemeClr val="accent6"/>
            </a:solidFill>
            <a:ln>
              <a:noFill/>
            </a:ln>
          </p:spPr>
        </p:sp>
        <p:sp>
          <p:nvSpPr>
            <p:cNvPr id="10" name="Ellipse 10"/>
            <p:cNvSpPr/>
            <p:nvPr/>
          </p:nvSpPr>
          <p:spPr>
            <a:xfrm>
              <a:off x="7365987" y="2457450"/>
              <a:ext cx="723900" cy="723900"/>
            </a:xfrm>
            <a:prstGeom prst="ellipse">
              <a:avLst/>
            </a:prstGeom>
            <a:solidFill>
              <a:schemeClr val="accent6"/>
            </a:solidFill>
            <a:ln>
              <a:noFill/>
            </a:ln>
          </p:spPr>
        </p:sp>
        <p:sp>
          <p:nvSpPr>
            <p:cNvPr id="11" name="Ellipse 11"/>
            <p:cNvSpPr/>
            <p:nvPr/>
          </p:nvSpPr>
          <p:spPr>
            <a:xfrm>
              <a:off x="9010536" y="2457450"/>
              <a:ext cx="723900" cy="723900"/>
            </a:xfrm>
            <a:prstGeom prst="ellipse">
              <a:avLst/>
            </a:prstGeom>
            <a:solidFill>
              <a:schemeClr val="accent2"/>
            </a:solidFill>
            <a:ln>
              <a:noFill/>
            </a:ln>
          </p:spPr>
        </p:sp>
        <p:sp>
          <p:nvSpPr>
            <p:cNvPr id="12" name="Ellipse 12"/>
            <p:cNvSpPr/>
            <p:nvPr/>
          </p:nvSpPr>
          <p:spPr>
            <a:xfrm>
              <a:off x="10655084" y="2457450"/>
              <a:ext cx="723900" cy="723900"/>
            </a:xfrm>
            <a:prstGeom prst="ellipse">
              <a:avLst/>
            </a:prstGeom>
            <a:solidFill>
              <a:schemeClr val="accent2"/>
            </a:solidFill>
            <a:ln>
              <a:noFill/>
            </a:ln>
          </p:spPr>
        </p:sp>
        <p:sp>
          <p:nvSpPr>
            <p:cNvPr id="13" name="TextBox 13"/>
            <p:cNvSpPr txBox="1"/>
            <p:nvPr/>
          </p:nvSpPr>
          <p:spPr>
            <a:xfrm>
              <a:off x="733973" y="2705100"/>
              <a:ext cx="831542" cy="293370"/>
            </a:xfrm>
            <a:prstGeom prst="rect">
              <a:avLst/>
            </a:prstGeom>
            <a:noFill/>
            <a:ln>
              <a:noFill/>
            </a:ln>
          </p:spPr>
          <p:txBody>
            <a:bodyPr wrap="none" lIns="0" tIns="0" rIns="0" bIns="0" anchor="t" anchorCtr="0">
              <a:spAutoFit/>
            </a:bodyPr>
            <a:lstStyle/>
            <a:p>
              <a:pPr algn="ctr"/>
              <a:r>
                <a:rPr lang="en-NZ" sz="1500" b="1" dirty="0">
                  <a:solidFill>
                    <a:srgbClr val="FFFFFF"/>
                  </a:solidFill>
                  <a:latin typeface="+mn-lt"/>
                  <a:ea typeface="+mn-ea"/>
                  <a:cs typeface="+mn-cs"/>
                </a:rPr>
                <a:t xml:space="preserve">   1   </a:t>
              </a:r>
            </a:p>
          </p:txBody>
        </p:sp>
        <p:sp>
          <p:nvSpPr>
            <p:cNvPr id="14" name="TextBox 14"/>
            <p:cNvSpPr txBox="1"/>
            <p:nvPr/>
          </p:nvSpPr>
          <p:spPr>
            <a:xfrm>
              <a:off x="2378521" y="2705100"/>
              <a:ext cx="831542" cy="293370"/>
            </a:xfrm>
            <a:prstGeom prst="rect">
              <a:avLst/>
            </a:prstGeom>
            <a:noFill/>
            <a:ln>
              <a:noFill/>
            </a:ln>
          </p:spPr>
          <p:txBody>
            <a:bodyPr wrap="none" lIns="0" tIns="0" rIns="0" bIns="0" anchor="t" anchorCtr="0">
              <a:spAutoFit/>
            </a:bodyPr>
            <a:lstStyle/>
            <a:p>
              <a:pPr algn="ctr"/>
              <a:r>
                <a:rPr lang="en-NZ" sz="1500" b="1" dirty="0">
                  <a:solidFill>
                    <a:srgbClr val="FFFFFF"/>
                  </a:solidFill>
                  <a:latin typeface="+mn-lt"/>
                  <a:ea typeface="+mn-ea"/>
                  <a:cs typeface="+mn-cs"/>
                </a:rPr>
                <a:t xml:space="preserve">   2   </a:t>
              </a:r>
            </a:p>
          </p:txBody>
        </p:sp>
        <p:sp>
          <p:nvSpPr>
            <p:cNvPr id="15" name="TextBox 15"/>
            <p:cNvSpPr txBox="1"/>
            <p:nvPr/>
          </p:nvSpPr>
          <p:spPr>
            <a:xfrm>
              <a:off x="4023069" y="2705100"/>
              <a:ext cx="831542" cy="293370"/>
            </a:xfrm>
            <a:prstGeom prst="rect">
              <a:avLst/>
            </a:prstGeom>
            <a:noFill/>
            <a:ln>
              <a:noFill/>
            </a:ln>
          </p:spPr>
          <p:txBody>
            <a:bodyPr wrap="none" lIns="0" tIns="0" rIns="0" bIns="0" anchor="t" anchorCtr="0">
              <a:spAutoFit/>
            </a:bodyPr>
            <a:lstStyle/>
            <a:p>
              <a:pPr algn="ctr"/>
              <a:r>
                <a:rPr lang="en-NZ" sz="1500" b="1" dirty="0">
                  <a:solidFill>
                    <a:schemeClr val="accent1"/>
                  </a:solidFill>
                  <a:latin typeface="+mn-lt"/>
                  <a:ea typeface="+mn-ea"/>
                  <a:cs typeface="+mn-cs"/>
                </a:rPr>
                <a:t xml:space="preserve">   3   </a:t>
              </a:r>
            </a:p>
          </p:txBody>
        </p:sp>
        <p:sp>
          <p:nvSpPr>
            <p:cNvPr id="16" name="TextBox 16"/>
            <p:cNvSpPr txBox="1"/>
            <p:nvPr/>
          </p:nvSpPr>
          <p:spPr>
            <a:xfrm>
              <a:off x="5667618" y="2705100"/>
              <a:ext cx="831542" cy="293370"/>
            </a:xfrm>
            <a:prstGeom prst="rect">
              <a:avLst/>
            </a:prstGeom>
            <a:noFill/>
            <a:ln>
              <a:noFill/>
            </a:ln>
          </p:spPr>
          <p:txBody>
            <a:bodyPr wrap="none" lIns="0" tIns="0" rIns="0" bIns="0" anchor="t" anchorCtr="0">
              <a:spAutoFit/>
            </a:bodyPr>
            <a:lstStyle/>
            <a:p>
              <a:pPr algn="ctr"/>
              <a:r>
                <a:rPr lang="en-NZ" sz="1500" b="1" dirty="0">
                  <a:solidFill>
                    <a:schemeClr val="accent1"/>
                  </a:solidFill>
                  <a:latin typeface="+mn-lt"/>
                  <a:ea typeface="+mn-ea"/>
                  <a:cs typeface="+mn-cs"/>
                </a:rPr>
                <a:t xml:space="preserve">   4   </a:t>
              </a:r>
            </a:p>
          </p:txBody>
        </p:sp>
        <p:sp>
          <p:nvSpPr>
            <p:cNvPr id="17" name="TextBox 17"/>
            <p:cNvSpPr txBox="1"/>
            <p:nvPr/>
          </p:nvSpPr>
          <p:spPr>
            <a:xfrm>
              <a:off x="7312166" y="2705100"/>
              <a:ext cx="831542" cy="293370"/>
            </a:xfrm>
            <a:prstGeom prst="rect">
              <a:avLst/>
            </a:prstGeom>
            <a:noFill/>
            <a:ln>
              <a:noFill/>
            </a:ln>
          </p:spPr>
          <p:txBody>
            <a:bodyPr wrap="none" lIns="0" tIns="0" rIns="0" bIns="0" anchor="t" anchorCtr="0">
              <a:spAutoFit/>
            </a:bodyPr>
            <a:lstStyle/>
            <a:p>
              <a:pPr algn="ctr"/>
              <a:r>
                <a:rPr lang="en-NZ" sz="1500" b="1" dirty="0">
                  <a:solidFill>
                    <a:schemeClr val="accent1"/>
                  </a:solidFill>
                  <a:latin typeface="+mn-lt"/>
                  <a:ea typeface="+mn-ea"/>
                  <a:cs typeface="+mn-cs"/>
                </a:rPr>
                <a:t xml:space="preserve">   5   </a:t>
              </a:r>
            </a:p>
          </p:txBody>
        </p:sp>
        <p:sp>
          <p:nvSpPr>
            <p:cNvPr id="18" name="TextBox 18"/>
            <p:cNvSpPr txBox="1"/>
            <p:nvPr/>
          </p:nvSpPr>
          <p:spPr>
            <a:xfrm>
              <a:off x="8956715" y="2705100"/>
              <a:ext cx="831542" cy="293370"/>
            </a:xfrm>
            <a:prstGeom prst="rect">
              <a:avLst/>
            </a:prstGeom>
            <a:noFill/>
            <a:ln>
              <a:noFill/>
            </a:ln>
          </p:spPr>
          <p:txBody>
            <a:bodyPr wrap="none" lIns="0" tIns="0" rIns="0" bIns="0" anchor="t" anchorCtr="0">
              <a:spAutoFit/>
            </a:bodyPr>
            <a:lstStyle/>
            <a:p>
              <a:pPr algn="ctr"/>
              <a:r>
                <a:rPr lang="en-NZ" sz="1500" b="1" dirty="0">
                  <a:solidFill>
                    <a:srgbClr val="FFFFFF"/>
                  </a:solidFill>
                  <a:latin typeface="+mn-lt"/>
                  <a:ea typeface="+mn-ea"/>
                  <a:cs typeface="+mn-cs"/>
                </a:rPr>
                <a:t xml:space="preserve">   6   </a:t>
              </a:r>
            </a:p>
          </p:txBody>
        </p:sp>
        <p:sp>
          <p:nvSpPr>
            <p:cNvPr id="19" name="TextBox 19"/>
            <p:cNvSpPr txBox="1"/>
            <p:nvPr/>
          </p:nvSpPr>
          <p:spPr>
            <a:xfrm>
              <a:off x="10601263" y="2705100"/>
              <a:ext cx="831542" cy="293370"/>
            </a:xfrm>
            <a:prstGeom prst="rect">
              <a:avLst/>
            </a:prstGeom>
            <a:noFill/>
            <a:ln>
              <a:noFill/>
            </a:ln>
          </p:spPr>
          <p:txBody>
            <a:bodyPr wrap="none" lIns="0" tIns="0" rIns="0" bIns="0" anchor="t" anchorCtr="0">
              <a:spAutoFit/>
            </a:bodyPr>
            <a:lstStyle/>
            <a:p>
              <a:pPr algn="ctr"/>
              <a:r>
                <a:rPr lang="en-NZ" sz="1500" b="1" dirty="0">
                  <a:solidFill>
                    <a:srgbClr val="FFFFFF"/>
                  </a:solidFill>
                  <a:latin typeface="+mn-lt"/>
                  <a:ea typeface="+mn-ea"/>
                  <a:cs typeface="+mn-cs"/>
                </a:rPr>
                <a:t xml:space="preserve">   7   </a:t>
              </a:r>
            </a:p>
          </p:txBody>
        </p:sp>
        <p:sp>
          <p:nvSpPr>
            <p:cNvPr id="20" name="TextBox 20"/>
            <p:cNvSpPr txBox="1"/>
            <p:nvPr/>
          </p:nvSpPr>
          <p:spPr>
            <a:xfrm>
              <a:off x="636037" y="3407092"/>
              <a:ext cx="1027414"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Need   </a:t>
              </a:r>
            </a:p>
          </p:txBody>
        </p:sp>
        <p:sp>
          <p:nvSpPr>
            <p:cNvPr id="21" name="TextBox 21"/>
            <p:cNvSpPr txBox="1"/>
            <p:nvPr/>
          </p:nvSpPr>
          <p:spPr>
            <a:xfrm>
              <a:off x="1906417" y="3407092"/>
              <a:ext cx="1775751"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Authenticate   </a:t>
              </a:r>
            </a:p>
          </p:txBody>
        </p:sp>
        <p:sp>
          <p:nvSpPr>
            <p:cNvPr id="22" name="TextBox 22"/>
            <p:cNvSpPr txBox="1"/>
            <p:nvPr/>
          </p:nvSpPr>
          <p:spPr>
            <a:xfrm>
              <a:off x="3876004" y="3407092"/>
              <a:ext cx="1125672"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Usage   </a:t>
              </a:r>
            </a:p>
          </p:txBody>
        </p:sp>
        <p:sp>
          <p:nvSpPr>
            <p:cNvPr id="23" name="TextBox 23"/>
            <p:cNvSpPr txBox="1"/>
            <p:nvPr/>
          </p:nvSpPr>
          <p:spPr>
            <a:xfrm>
              <a:off x="5426148" y="3407092"/>
              <a:ext cx="1314483"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Options   </a:t>
              </a:r>
            </a:p>
          </p:txBody>
        </p:sp>
        <p:sp>
          <p:nvSpPr>
            <p:cNvPr id="24" name="TextBox 24"/>
            <p:cNvSpPr txBox="1"/>
            <p:nvPr/>
          </p:nvSpPr>
          <p:spPr>
            <a:xfrm>
              <a:off x="7111917" y="3407092"/>
              <a:ext cx="1232040"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Explain   </a:t>
              </a:r>
            </a:p>
          </p:txBody>
        </p:sp>
        <p:sp>
          <p:nvSpPr>
            <p:cNvPr id="25" name="TextBox 25"/>
            <p:cNvSpPr txBox="1"/>
            <p:nvPr/>
          </p:nvSpPr>
          <p:spPr>
            <a:xfrm>
              <a:off x="8783169" y="3407092"/>
              <a:ext cx="1178633"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Decide   </a:t>
              </a:r>
            </a:p>
          </p:txBody>
        </p:sp>
        <p:sp>
          <p:nvSpPr>
            <p:cNvPr id="26" name="TextBox 26"/>
            <p:cNvSpPr txBox="1"/>
            <p:nvPr/>
          </p:nvSpPr>
          <p:spPr>
            <a:xfrm>
              <a:off x="10305538" y="3407092"/>
              <a:ext cx="1422992"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Follow up   </a:t>
              </a:r>
            </a:p>
          </p:txBody>
        </p:sp>
        <p:sp>
          <p:nvSpPr>
            <p:cNvPr id="27" name="TextBox 27"/>
            <p:cNvSpPr/>
            <p:nvPr/>
          </p:nvSpPr>
          <p:spPr>
            <a:xfrm>
              <a:off x="1120807" y="4113848"/>
              <a:ext cx="9925050" cy="381381"/>
            </a:xfrm>
            <a:prstGeom prst="rect">
              <a:avLst/>
            </a:prstGeom>
            <a:noFill/>
            <a:ln>
              <a:noFill/>
            </a:ln>
          </p:spPr>
          <p:txBody>
            <a:bodyPr wrap="none" lIns="190" tIns="0" rIns="0" bIns="0" anchor="t" anchorCtr="0">
              <a:noAutofit/>
            </a:bodyPr>
            <a:lstStyle/>
            <a:p>
              <a:pPr algn="ctr"/>
              <a:r>
                <a:rPr lang="en-NZ" sz="1950" b="1" dirty="0">
                  <a:solidFill>
                    <a:srgbClr val="9B6800"/>
                  </a:solidFill>
                  <a:latin typeface="Arial"/>
                  <a:ea typeface="Arial"/>
                  <a:cs typeface="Arial"/>
                </a:rPr>
                <a:t>Proposed: a timely, transparent fit conclusion</a:t>
              </a:r>
            </a:p>
          </p:txBody>
        </p:sp>
      </p:grpSp>
      <p:grpSp>
        <p:nvGrpSpPr>
          <p:cNvPr id="31" name="Group 31"/>
          <p:cNvGrpSpPr/>
          <p:nvPr/>
        </p:nvGrpSpPr>
        <p:grpSpPr>
          <a:xfrm>
            <a:off x="508254" y="5909310"/>
            <a:ext cx="8020050" cy="729996"/>
            <a:chOff x="508254" y="5909310"/>
            <a:chExt cx="8020050" cy="729996"/>
          </a:xfrm>
        </p:grpSpPr>
        <p:sp>
          <p:nvSpPr>
            <p:cNvPr id="29" name="TextBox 29"/>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Spark, Change mobile plan (n.d.); Commerce Commission (2025), pp. 7–9.</a:t>
              </a:r>
            </a:p>
          </p:txBody>
        </p:sp>
        <p:sp>
          <p:nvSpPr>
            <p:cNvPr id="30" name="TextBox 30"/>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05   </a:t>
              </a:r>
            </a:p>
          </p:txBody>
        </p:sp>
      </p:grpSp>
      <p:sp>
        <p:nvSpPr>
          <p:cNvPr id="32" name="Rectangle 32"/>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6.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Test decision readiness, then retention</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Two tests answer different questions about customer value.</a:t>
              </a:r>
            </a:p>
          </p:txBody>
        </p:sp>
      </p:grpSp>
      <p:grpSp>
        <p:nvGrpSpPr>
          <p:cNvPr id="17" name="Group 17"/>
          <p:cNvGrpSpPr/>
          <p:nvPr/>
        </p:nvGrpSpPr>
        <p:grpSpPr>
          <a:xfrm>
            <a:off x="514350" y="1771650"/>
            <a:ext cx="11162995" cy="2667000"/>
            <a:chOff x="514350" y="1771650"/>
            <a:chExt cx="11162995" cy="2667000"/>
          </a:xfrm>
        </p:grpSpPr>
        <p:sp>
          <p:nvSpPr>
            <p:cNvPr id="5" name="Rectangle 5"/>
            <p:cNvSpPr/>
            <p:nvPr/>
          </p:nvSpPr>
          <p:spPr>
            <a:xfrm>
              <a:off x="514350" y="1771650"/>
              <a:ext cx="4734306" cy="2667000"/>
            </a:xfrm>
            <a:prstGeom prst="roundRect">
              <a:avLst>
                <a:gd name="adj" fmla="val 12146"/>
              </a:avLst>
            </a:prstGeom>
            <a:solidFill>
              <a:srgbClr val="E7F4EF"/>
            </a:solidFill>
            <a:ln w="28575">
              <a:solidFill>
                <a:schemeClr val="accent3"/>
              </a:solidFill>
            </a:ln>
          </p:spPr>
        </p:sp>
        <p:sp>
          <p:nvSpPr>
            <p:cNvPr id="6" name="TextBox 6"/>
            <p:cNvSpPr/>
            <p:nvPr/>
          </p:nvSpPr>
          <p:spPr>
            <a:xfrm>
              <a:off x="876681" y="1985962"/>
              <a:ext cx="3857625" cy="440055"/>
            </a:xfrm>
            <a:prstGeom prst="rect">
              <a:avLst/>
            </a:prstGeom>
            <a:noFill/>
            <a:ln>
              <a:noFill/>
            </a:ln>
          </p:spPr>
          <p:txBody>
            <a:bodyPr wrap="none" lIns="0" tIns="24289" rIns="0" bIns="0" anchor="t" anchorCtr="0">
              <a:noAutofit/>
            </a:bodyPr>
            <a:lstStyle/>
            <a:p>
              <a:pPr algn="l"/>
              <a:r>
                <a:rPr lang="en-NZ" sz="2020" b="1" dirty="0">
                  <a:solidFill>
                    <a:srgbClr val="0F8B8D"/>
                  </a:solidFill>
                  <a:latin typeface="Arial"/>
                  <a:ea typeface="Arial"/>
                  <a:cs typeface="Arial"/>
                </a:rPr>
                <a:t>DECISION READINESS</a:t>
              </a:r>
            </a:p>
          </p:txBody>
        </p:sp>
        <p:sp>
          <p:nvSpPr>
            <p:cNvPr id="7" name="TextBox 7"/>
            <p:cNvSpPr txBox="1"/>
            <p:nvPr/>
          </p:nvSpPr>
          <p:spPr>
            <a:xfrm>
              <a:off x="878205" y="2608898"/>
              <a:ext cx="3599557" cy="381381"/>
            </a:xfrm>
            <a:prstGeom prst="rect">
              <a:avLst/>
            </a:prstGeom>
            <a:noFill/>
            <a:ln>
              <a:noFill/>
            </a:ln>
          </p:spPr>
          <p:txBody>
            <a:bodyPr wrap="none" lIns="0" tIns="0" rIns="0" bIns="0" anchor="t" anchorCtr="0">
              <a:spAutoFit/>
            </a:bodyPr>
            <a:lstStyle/>
            <a:p>
              <a:pPr algn="l"/>
              <a:r>
                <a:rPr lang="en-NZ" sz="1950" dirty="0">
                  <a:solidFill>
                    <a:schemeClr val="dk1"/>
                  </a:solidFill>
                  <a:latin typeface="+mn-lt"/>
                  <a:ea typeface="+mn-ea"/>
                  <a:cs typeface="+mn-cs"/>
                </a:rPr>
                <a:t xml:space="preserve">Does an explained output   </a:t>
              </a:r>
            </a:p>
          </p:txBody>
        </p:sp>
        <p:sp>
          <p:nvSpPr>
            <p:cNvPr id="8" name="TextBox 8"/>
            <p:cNvSpPr txBox="1"/>
            <p:nvPr/>
          </p:nvSpPr>
          <p:spPr>
            <a:xfrm>
              <a:off x="878205" y="2951798"/>
              <a:ext cx="4009949" cy="381381"/>
            </a:xfrm>
            <a:prstGeom prst="rect">
              <a:avLst/>
            </a:prstGeom>
            <a:noFill/>
            <a:ln>
              <a:noFill/>
            </a:ln>
          </p:spPr>
          <p:txBody>
            <a:bodyPr wrap="none" lIns="0" tIns="0" rIns="0" bIns="0" anchor="t" anchorCtr="0">
              <a:spAutoFit/>
            </a:bodyPr>
            <a:lstStyle/>
            <a:p>
              <a:pPr algn="l"/>
              <a:r>
                <a:rPr lang="en-NZ" sz="1950" dirty="0">
                  <a:solidFill>
                    <a:schemeClr val="dk1"/>
                  </a:solidFill>
                  <a:latin typeface="+mn-lt"/>
                  <a:ea typeface="+mn-ea"/>
                  <a:cs typeface="+mn-cs"/>
                </a:rPr>
                <a:t xml:space="preserve">improve decision readiness?   </a:t>
              </a:r>
            </a:p>
          </p:txBody>
        </p:sp>
        <p:sp>
          <p:nvSpPr>
            <p:cNvPr id="9" name="TextBox 9"/>
            <p:cNvSpPr txBox="1"/>
            <p:nvPr/>
          </p:nvSpPr>
          <p:spPr>
            <a:xfrm>
              <a:off x="880491" y="3743325"/>
              <a:ext cx="3364188" cy="293370"/>
            </a:xfrm>
            <a:prstGeom prst="rect">
              <a:avLst/>
            </a:prstGeom>
            <a:noFill/>
            <a:ln>
              <a:noFill/>
            </a:ln>
          </p:spPr>
          <p:txBody>
            <a:bodyPr wrap="none" lIns="0" tIns="0" rIns="0" bIns="0" anchor="t" anchorCtr="0">
              <a:spAutoFit/>
            </a:bodyPr>
            <a:lstStyle/>
            <a:p>
              <a:pPr algn="l"/>
              <a:r>
                <a:rPr lang="en-NZ" sz="1500" dirty="0">
                  <a:solidFill>
                    <a:srgbClr val="52606D"/>
                  </a:solidFill>
                  <a:latin typeface="+mn-lt"/>
                  <a:ea typeface="+mn-ea"/>
                  <a:cs typeface="+mn-cs"/>
                </a:rPr>
                <a:t xml:space="preserve">Interview-testable perception   </a:t>
              </a:r>
            </a:p>
          </p:txBody>
        </p:sp>
        <p:sp>
          <p:nvSpPr>
            <p:cNvPr id="10" name="Line 10"/>
            <p:cNvSpPr/>
            <p:nvPr/>
          </p:nvSpPr>
          <p:spPr>
            <a:xfrm>
              <a:off x="5472913" y="3105150"/>
              <a:ext cx="1245870" cy="9525"/>
            </a:xfrm>
            <a:custGeom>
              <a:avLst/>
              <a:gdLst/>
              <a:ahLst/>
              <a:cxnLst/>
              <a:rect l="l" t="t" r="r" b="b"/>
              <a:pathLst>
                <a:path w="1245870" h="9525">
                  <a:moveTo>
                    <a:pt x="0" y="0"/>
                  </a:moveTo>
                  <a:lnTo>
                    <a:pt x="1245870" y="0"/>
                  </a:lnTo>
                </a:path>
              </a:pathLst>
            </a:custGeom>
            <a:noFill/>
            <a:ln w="38100">
              <a:solidFill>
                <a:srgbClr val="C43D3D"/>
              </a:solidFill>
              <a:custDash>
                <a:ds d="250000" sp="250000"/>
              </a:custDash>
            </a:ln>
          </p:spPr>
        </p:sp>
        <p:sp>
          <p:nvSpPr>
            <p:cNvPr id="11" name="TextBox 11"/>
            <p:cNvSpPr/>
            <p:nvPr/>
          </p:nvSpPr>
          <p:spPr>
            <a:xfrm>
              <a:off x="5030438" y="2692718"/>
              <a:ext cx="2130742" cy="264033"/>
            </a:xfrm>
            <a:prstGeom prst="rect">
              <a:avLst/>
            </a:prstGeom>
            <a:noFill/>
            <a:ln>
              <a:noFill/>
            </a:ln>
          </p:spPr>
          <p:txBody>
            <a:bodyPr wrap="none" lIns="0" tIns="0" rIns="0" bIns="0" anchor="t" anchorCtr="0">
              <a:noAutofit/>
            </a:bodyPr>
            <a:lstStyle/>
            <a:p>
              <a:pPr algn="ctr"/>
              <a:r>
                <a:rPr lang="en-NZ" sz="1350" b="1" dirty="0">
                  <a:solidFill>
                    <a:srgbClr val="C43D3D"/>
                  </a:solidFill>
                  <a:latin typeface="Arial"/>
                  <a:ea typeface="Arial"/>
                  <a:cs typeface="Arial"/>
                </a:rPr>
                <a:t xml:space="preserve">   SEPARATE TESTS   </a:t>
              </a:r>
            </a:p>
          </p:txBody>
        </p:sp>
        <p:sp>
          <p:nvSpPr>
            <p:cNvPr id="12" name="Rectangle 12"/>
            <p:cNvSpPr/>
            <p:nvPr/>
          </p:nvSpPr>
          <p:spPr>
            <a:xfrm>
              <a:off x="6943039" y="1771650"/>
              <a:ext cx="4734306" cy="2667000"/>
            </a:xfrm>
            <a:prstGeom prst="roundRect">
              <a:avLst>
                <a:gd name="adj" fmla="val 12146"/>
              </a:avLst>
            </a:prstGeom>
            <a:solidFill>
              <a:srgbClr val="EAF4FF"/>
            </a:solidFill>
            <a:ln w="28575">
              <a:solidFill>
                <a:schemeClr val="accent2"/>
              </a:solidFill>
            </a:ln>
          </p:spPr>
        </p:sp>
        <p:sp>
          <p:nvSpPr>
            <p:cNvPr id="13" name="TextBox 13"/>
            <p:cNvSpPr/>
            <p:nvPr/>
          </p:nvSpPr>
          <p:spPr>
            <a:xfrm>
              <a:off x="7305389" y="1985962"/>
              <a:ext cx="3080861" cy="440055"/>
            </a:xfrm>
            <a:prstGeom prst="rect">
              <a:avLst/>
            </a:prstGeom>
            <a:noFill/>
            <a:ln>
              <a:noFill/>
            </a:ln>
          </p:spPr>
          <p:txBody>
            <a:bodyPr wrap="none" lIns="0" tIns="0" rIns="0" bIns="0" anchor="t" anchorCtr="0">
              <a:noAutofit/>
            </a:bodyPr>
            <a:lstStyle/>
            <a:p>
              <a:pPr algn="l"/>
              <a:r>
                <a:rPr lang="en-NZ" sz="2250" b="1" dirty="0">
                  <a:solidFill>
                    <a:srgbClr val="1677FF"/>
                  </a:solidFill>
                  <a:latin typeface="Arial"/>
                  <a:ea typeface="Arial"/>
                  <a:cs typeface="Arial"/>
                </a:rPr>
                <a:t>RETENTION</a:t>
              </a:r>
            </a:p>
          </p:txBody>
        </p:sp>
        <p:sp>
          <p:nvSpPr>
            <p:cNvPr id="14" name="TextBox 14"/>
            <p:cNvSpPr/>
            <p:nvPr/>
          </p:nvSpPr>
          <p:spPr>
            <a:xfrm>
              <a:off x="7306913" y="2608898"/>
              <a:ext cx="3712178" cy="381381"/>
            </a:xfrm>
            <a:prstGeom prst="rect">
              <a:avLst/>
            </a:prstGeom>
            <a:noFill/>
            <a:ln>
              <a:noFill/>
            </a:ln>
          </p:spPr>
          <p:txBody>
            <a:bodyPr wrap="none" lIns="0" tIns="0" rIns="0" bIns="0" anchor="t" anchorCtr="0">
              <a:noAutofit/>
            </a:bodyPr>
            <a:lstStyle/>
            <a:p>
              <a:pPr algn="l"/>
              <a:r>
                <a:rPr lang="en-NZ" sz="1950" dirty="0">
                  <a:solidFill>
                    <a:srgbClr val="243B53"/>
                  </a:solidFill>
                  <a:latin typeface="Arial"/>
                  <a:ea typeface="Arial"/>
                  <a:cs typeface="Arial"/>
                </a:rPr>
                <a:t>All qualifying voluntary</a:t>
              </a:r>
            </a:p>
          </p:txBody>
        </p:sp>
        <p:sp>
          <p:nvSpPr>
            <p:cNvPr id="15" name="TextBox 15"/>
            <p:cNvSpPr/>
            <p:nvPr/>
          </p:nvSpPr>
          <p:spPr>
            <a:xfrm>
              <a:off x="7306913" y="2951798"/>
              <a:ext cx="3878675" cy="381381"/>
            </a:xfrm>
            <a:prstGeom prst="rect">
              <a:avLst/>
            </a:prstGeom>
            <a:noFill/>
            <a:ln>
              <a:noFill/>
            </a:ln>
          </p:spPr>
          <p:txBody>
            <a:bodyPr wrap="none" lIns="0" tIns="0" rIns="0" bIns="0" anchor="t" anchorCtr="0">
              <a:noAutofit/>
            </a:bodyPr>
            <a:lstStyle/>
            <a:p>
              <a:pPr algn="l"/>
              <a:r>
                <a:rPr lang="en-NZ" sz="1950" dirty="0">
                  <a:solidFill>
                    <a:srgbClr val="243B53"/>
                  </a:solidFill>
                  <a:latin typeface="Arial"/>
                  <a:ea typeface="Arial"/>
                  <a:cs typeface="Arial"/>
                </a:rPr>
                <a:t>90-day churn ↓ ≥15%?</a:t>
              </a:r>
            </a:p>
          </p:txBody>
        </p:sp>
        <p:sp>
          <p:nvSpPr>
            <p:cNvPr id="16" name="TextBox 16"/>
            <p:cNvSpPr/>
            <p:nvPr/>
          </p:nvSpPr>
          <p:spPr>
            <a:xfrm>
              <a:off x="7309199" y="3743325"/>
              <a:ext cx="40005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All assigned; avoidable secondary</a:t>
              </a:r>
            </a:p>
          </p:txBody>
        </p:sp>
      </p:grpSp>
      <p:grpSp>
        <p:nvGrpSpPr>
          <p:cNvPr id="20" name="Group 20"/>
          <p:cNvGrpSpPr/>
          <p:nvPr/>
        </p:nvGrpSpPr>
        <p:grpSpPr>
          <a:xfrm>
            <a:off x="508254" y="5909310"/>
            <a:ext cx="8020050" cy="729996"/>
            <a:chOff x="508254" y="5909310"/>
            <a:chExt cx="8020050" cy="729996"/>
          </a:xfrm>
        </p:grpSpPr>
        <p:sp>
          <p:nvSpPr>
            <p:cNvPr id="18" name="TextBox 18"/>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H1M: decision readiness. H1Q: causal churn reduction among eligible assigned starters.</a:t>
              </a:r>
            </a:p>
          </p:txBody>
        </p:sp>
        <p:sp>
          <p:nvSpPr>
            <p:cNvPr id="19" name="TextBox 19"/>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06   </a:t>
              </a:r>
            </a:p>
          </p:txBody>
        </p:sp>
      </p:grpSp>
      <p:sp>
        <p:nvSpPr>
          <p:cNvPr id="21" name="Rectangle 21"/>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Clear reasons and a no-change option</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Ryan Li: one consumer-proxy interview informing the mechanism test</a:t>
              </a:r>
            </a:p>
          </p:txBody>
        </p:sp>
      </p:grpSp>
      <p:grpSp>
        <p:nvGrpSpPr>
          <p:cNvPr id="20" name="Group 20"/>
          <p:cNvGrpSpPr/>
          <p:nvPr/>
        </p:nvGrpSpPr>
        <p:grpSpPr>
          <a:xfrm>
            <a:off x="723900" y="1693926"/>
            <a:ext cx="10687050" cy="2521649"/>
            <a:chOff x="723900" y="1693926"/>
            <a:chExt cx="10687050" cy="2521649"/>
          </a:xfrm>
        </p:grpSpPr>
        <p:sp>
          <p:nvSpPr>
            <p:cNvPr id="5" name="Rectangle 5"/>
            <p:cNvSpPr/>
            <p:nvPr/>
          </p:nvSpPr>
          <p:spPr>
            <a:xfrm>
              <a:off x="723900" y="3272028"/>
              <a:ext cx="3193542" cy="941070"/>
            </a:xfrm>
            <a:prstGeom prst="roundRect">
              <a:avLst>
                <a:gd name="adj" fmla="val 24049"/>
              </a:avLst>
            </a:prstGeom>
            <a:solidFill>
              <a:srgbClr val="E7F4EF"/>
            </a:solidFill>
            <a:ln>
              <a:noFill/>
            </a:ln>
          </p:spPr>
        </p:sp>
        <p:sp>
          <p:nvSpPr>
            <p:cNvPr id="6" name="TextBox 6"/>
            <p:cNvSpPr txBox="1"/>
            <p:nvPr/>
          </p:nvSpPr>
          <p:spPr>
            <a:xfrm>
              <a:off x="1018032" y="3414141"/>
              <a:ext cx="2468347" cy="293370"/>
            </a:xfrm>
            <a:prstGeom prst="rect">
              <a:avLst/>
            </a:prstGeom>
            <a:noFill/>
            <a:ln>
              <a:noFill/>
            </a:ln>
          </p:spPr>
          <p:txBody>
            <a:bodyPr wrap="none" lIns="0" tIns="0" rIns="0" bIns="0" anchor="t" anchorCtr="0">
              <a:spAutoFit/>
            </a:bodyPr>
            <a:lstStyle/>
            <a:p>
              <a:pPr algn="l"/>
              <a:r>
                <a:rPr lang="en-NZ" sz="1500" b="1" dirty="0">
                  <a:solidFill>
                    <a:schemeClr val="accent3"/>
                  </a:solidFill>
                  <a:latin typeface="+mn-lt"/>
                  <a:ea typeface="+mn-ea"/>
                  <a:cs typeface="+mn-cs"/>
                </a:rPr>
                <a:t xml:space="preserve">ONE INTERVIEW CASE   </a:t>
              </a:r>
            </a:p>
          </p:txBody>
        </p:sp>
        <p:sp>
          <p:nvSpPr>
            <p:cNvPr id="7" name="TextBox 7"/>
            <p:cNvSpPr txBox="1"/>
            <p:nvPr/>
          </p:nvSpPr>
          <p:spPr>
            <a:xfrm>
              <a:off x="1014222" y="3651694"/>
              <a:ext cx="1962902" cy="440055"/>
            </a:xfrm>
            <a:prstGeom prst="rect">
              <a:avLst/>
            </a:prstGeom>
            <a:noFill/>
            <a:ln>
              <a:noFill/>
            </a:ln>
          </p:spPr>
          <p:txBody>
            <a:bodyPr wrap="none" lIns="0" tIns="0" rIns="0" bIns="0" anchor="t" anchorCtr="0">
              <a:spAutoFit/>
            </a:bodyPr>
            <a:lstStyle/>
            <a:p>
              <a:pPr algn="l"/>
              <a:r>
                <a:rPr lang="en-NZ" sz="2250" b="1" dirty="0">
                  <a:solidFill>
                    <a:schemeClr val="accent1"/>
                  </a:solidFill>
                  <a:latin typeface="+mn-lt"/>
                  <a:ea typeface="+mn-ea"/>
                  <a:cs typeface="+mn-cs"/>
                </a:rPr>
                <a:t xml:space="preserve">3/5 → 4/5   </a:t>
              </a:r>
            </a:p>
          </p:txBody>
        </p:sp>
        <p:sp>
          <p:nvSpPr>
            <p:cNvPr id="8" name="TextBox 8"/>
            <p:cNvSpPr txBox="1"/>
            <p:nvPr/>
          </p:nvSpPr>
          <p:spPr>
            <a:xfrm>
              <a:off x="1018794" y="3951542"/>
              <a:ext cx="3173992" cy="264033"/>
            </a:xfrm>
            <a:prstGeom prst="rect">
              <a:avLst/>
            </a:prstGeom>
            <a:noFill/>
            <a:ln>
              <a:noFill/>
            </a:ln>
          </p:spPr>
          <p:txBody>
            <a:bodyPr wrap="none" lIns="0" tIns="0" rIns="0" bIns="0" anchor="t" anchorCtr="0">
              <a:spAutoFit/>
            </a:bodyPr>
            <a:lstStyle/>
            <a:p>
              <a:pPr algn="l"/>
              <a:r>
                <a:rPr lang="en-NZ" sz="1350" dirty="0">
                  <a:solidFill>
                    <a:srgbClr val="52606D"/>
                  </a:solidFill>
                  <a:latin typeface="+mn-lt"/>
                  <a:ea typeface="+mn-ea"/>
                  <a:cs typeface="+mn-cs"/>
                </a:rPr>
                <a:t xml:space="preserve">Reasoning + no-change mattered   </a:t>
              </a:r>
            </a:p>
          </p:txBody>
        </p:sp>
        <p:sp>
          <p:nvSpPr>
            <p:cNvPr id="9" name="Rectangle 9"/>
            <p:cNvSpPr/>
            <p:nvPr/>
          </p:nvSpPr>
          <p:spPr>
            <a:xfrm>
              <a:off x="4294632" y="2490216"/>
              <a:ext cx="3193542" cy="1722882"/>
            </a:xfrm>
            <a:prstGeom prst="roundRect">
              <a:avLst>
                <a:gd name="adj" fmla="val 13136"/>
              </a:avLst>
            </a:prstGeom>
            <a:solidFill>
              <a:srgbClr val="EAF4FF"/>
            </a:solidFill>
            <a:ln>
              <a:noFill/>
            </a:ln>
          </p:spPr>
        </p:sp>
        <p:sp>
          <p:nvSpPr>
            <p:cNvPr id="10" name="TextBox 10"/>
            <p:cNvSpPr txBox="1"/>
            <p:nvPr/>
          </p:nvSpPr>
          <p:spPr>
            <a:xfrm>
              <a:off x="4588764" y="2646807"/>
              <a:ext cx="1191387" cy="293370"/>
            </a:xfrm>
            <a:prstGeom prst="rect">
              <a:avLst/>
            </a:prstGeom>
            <a:noFill/>
            <a:ln>
              <a:noFill/>
            </a:ln>
          </p:spPr>
          <p:txBody>
            <a:bodyPr wrap="none" lIns="0" tIns="0" rIns="0" bIns="0" anchor="t" anchorCtr="0">
              <a:spAutoFit/>
            </a:bodyPr>
            <a:lstStyle/>
            <a:p>
              <a:pPr algn="l"/>
              <a:r>
                <a:rPr lang="en-NZ" sz="1500" b="1" dirty="0">
                  <a:solidFill>
                    <a:schemeClr val="accent2"/>
                  </a:solidFill>
                  <a:latin typeface="+mn-lt"/>
                  <a:ea typeface="+mn-ea"/>
                  <a:cs typeface="+mn-cs"/>
                </a:rPr>
                <a:t xml:space="preserve">PHASE 0   </a:t>
              </a:r>
            </a:p>
          </p:txBody>
        </p:sp>
        <p:sp>
          <p:nvSpPr>
            <p:cNvPr id="11" name="TextBox 11"/>
            <p:cNvSpPr txBox="1"/>
            <p:nvPr/>
          </p:nvSpPr>
          <p:spPr>
            <a:xfrm>
              <a:off x="4586478" y="2945702"/>
              <a:ext cx="3117839" cy="381381"/>
            </a:xfrm>
            <a:prstGeom prst="rect">
              <a:avLst/>
            </a:prstGeom>
            <a:noFill/>
            <a:ln>
              <a:noFill/>
            </a:ln>
          </p:spPr>
          <p:txBody>
            <a:bodyPr wrap="none" lIns="0" tIns="0" rIns="0" bIns="0" anchor="t" anchorCtr="0">
              <a:spAutoFit/>
            </a:bodyPr>
            <a:lstStyle/>
            <a:p>
              <a:pPr algn="l"/>
              <a:r>
                <a:rPr lang="en-NZ" sz="1950" b="1" dirty="0">
                  <a:solidFill>
                    <a:schemeClr val="accent1"/>
                  </a:solidFill>
                  <a:latin typeface="+mn-lt"/>
                  <a:ea typeface="+mn-ea"/>
                  <a:cs typeface="+mn-cs"/>
                </a:rPr>
                <a:t xml:space="preserve">Test the mechanism   </a:t>
              </a:r>
            </a:p>
          </p:txBody>
        </p:sp>
        <p:sp>
          <p:nvSpPr>
            <p:cNvPr id="12" name="TextBox 12"/>
            <p:cNvSpPr txBox="1"/>
            <p:nvPr/>
          </p:nvSpPr>
          <p:spPr>
            <a:xfrm>
              <a:off x="4588764" y="3283839"/>
              <a:ext cx="2597134" cy="293370"/>
            </a:xfrm>
            <a:prstGeom prst="rect">
              <a:avLst/>
            </a:prstGeom>
            <a:noFill/>
            <a:ln>
              <a:noFill/>
            </a:ln>
          </p:spPr>
          <p:txBody>
            <a:bodyPr wrap="none" lIns="0" tIns="0" rIns="0" bIns="0" anchor="t" anchorCtr="0">
              <a:spAutoFit/>
            </a:bodyPr>
            <a:lstStyle/>
            <a:p>
              <a:pPr algn="l"/>
              <a:r>
                <a:rPr lang="en-NZ" sz="1500" dirty="0">
                  <a:solidFill>
                    <a:schemeClr val="dk1"/>
                  </a:solidFill>
                  <a:latin typeface="+mn-lt"/>
                  <a:ea typeface="+mn-ea"/>
                  <a:cs typeface="+mn-cs"/>
                </a:rPr>
                <a:t xml:space="preserve">Beyond one participant   </a:t>
              </a:r>
            </a:p>
          </p:txBody>
        </p:sp>
        <p:sp>
          <p:nvSpPr>
            <p:cNvPr id="13" name="TextBox 13"/>
            <p:cNvSpPr txBox="1"/>
            <p:nvPr/>
          </p:nvSpPr>
          <p:spPr>
            <a:xfrm>
              <a:off x="4588764" y="3544443"/>
              <a:ext cx="1870370" cy="293370"/>
            </a:xfrm>
            <a:prstGeom prst="rect">
              <a:avLst/>
            </a:prstGeom>
            <a:noFill/>
            <a:ln>
              <a:noFill/>
            </a:ln>
          </p:spPr>
          <p:txBody>
            <a:bodyPr wrap="none" lIns="0" tIns="0" rIns="0" bIns="0" anchor="t" anchorCtr="0">
              <a:spAutoFit/>
            </a:bodyPr>
            <a:lstStyle/>
            <a:p>
              <a:pPr algn="l"/>
              <a:r>
                <a:rPr lang="en-NZ" sz="1500" dirty="0">
                  <a:solidFill>
                    <a:schemeClr val="dk1"/>
                  </a:solidFill>
                  <a:latin typeface="+mn-lt"/>
                  <a:ea typeface="+mn-ea"/>
                  <a:cs typeface="+mn-cs"/>
                </a:rPr>
                <a:t xml:space="preserve">Controls intact   </a:t>
              </a:r>
            </a:p>
          </p:txBody>
        </p:sp>
        <p:sp>
          <p:nvSpPr>
            <p:cNvPr id="14" name="Rectangle 14"/>
            <p:cNvSpPr/>
            <p:nvPr/>
          </p:nvSpPr>
          <p:spPr>
            <a:xfrm>
              <a:off x="7865364" y="1693926"/>
              <a:ext cx="3545586" cy="2519172"/>
            </a:xfrm>
            <a:prstGeom prst="roundRect">
              <a:avLst>
                <a:gd name="adj" fmla="val 8984"/>
              </a:avLst>
            </a:prstGeom>
            <a:solidFill>
              <a:srgbClr val="FFFFFF"/>
            </a:solidFill>
            <a:ln w="28575">
              <a:solidFill>
                <a:srgbClr val="9FB3C8"/>
              </a:solidFill>
            </a:ln>
          </p:spPr>
        </p:sp>
        <p:sp>
          <p:nvSpPr>
            <p:cNvPr id="15" name="TextBox 15"/>
            <p:cNvSpPr/>
            <p:nvPr/>
          </p:nvSpPr>
          <p:spPr>
            <a:xfrm>
              <a:off x="8184642" y="1864995"/>
              <a:ext cx="2809875" cy="293370"/>
            </a:xfrm>
            <a:prstGeom prst="rect">
              <a:avLst/>
            </a:prstGeom>
            <a:noFill/>
            <a:ln>
              <a:noFill/>
            </a:ln>
          </p:spPr>
          <p:txBody>
            <a:bodyPr wrap="none" lIns="0" tIns="0" rIns="0" bIns="0" anchor="t" anchorCtr="0">
              <a:noAutofit/>
            </a:bodyPr>
            <a:lstStyle/>
            <a:p>
              <a:pPr algn="l"/>
              <a:r>
                <a:rPr lang="en-NZ" sz="1500" b="1" dirty="0">
                  <a:solidFill>
                    <a:srgbClr val="52606D"/>
                  </a:solidFill>
                  <a:latin typeface="Arial"/>
                  <a:ea typeface="Arial"/>
                  <a:cs typeface="Arial"/>
                </a:rPr>
                <a:t>PHASE 1, THEN PILOT</a:t>
              </a:r>
            </a:p>
          </p:txBody>
        </p:sp>
        <p:sp>
          <p:nvSpPr>
            <p:cNvPr id="16" name="TextBox 16"/>
            <p:cNvSpPr/>
            <p:nvPr/>
          </p:nvSpPr>
          <p:spPr>
            <a:xfrm>
              <a:off x="8182356" y="2192846"/>
              <a:ext cx="2762250" cy="381381"/>
            </a:xfrm>
            <a:prstGeom prst="rect">
              <a:avLst/>
            </a:prstGeom>
            <a:noFill/>
            <a:ln>
              <a:noFill/>
            </a:ln>
          </p:spPr>
          <p:txBody>
            <a:bodyPr wrap="none" lIns="0" tIns="0" rIns="0" bIns="0" anchor="t" anchorCtr="0">
              <a:noAutofit/>
            </a:bodyPr>
            <a:lstStyle/>
            <a:p>
              <a:pPr algn="l"/>
              <a:r>
                <a:rPr lang="en-NZ" sz="1950" b="1" dirty="0">
                  <a:solidFill>
                    <a:srgbClr val="102A43"/>
                  </a:solidFill>
                  <a:latin typeface="Arial"/>
                  <a:ea typeface="Arial"/>
                  <a:cs typeface="Arial"/>
                </a:rPr>
                <a:t>Validate process</a:t>
              </a:r>
            </a:p>
          </p:txBody>
        </p:sp>
        <p:sp>
          <p:nvSpPr>
            <p:cNvPr id="17" name="TextBox 17"/>
            <p:cNvSpPr/>
            <p:nvPr/>
          </p:nvSpPr>
          <p:spPr>
            <a:xfrm>
              <a:off x="8184642" y="2559939"/>
              <a:ext cx="2092357"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Then test H1Q</a:t>
              </a:r>
            </a:p>
          </p:txBody>
        </p:sp>
        <p:sp>
          <p:nvSpPr>
            <p:cNvPr id="18" name="TextBox 18"/>
            <p:cNvSpPr/>
            <p:nvPr/>
          </p:nvSpPr>
          <p:spPr>
            <a:xfrm>
              <a:off x="8184642" y="2820543"/>
              <a:ext cx="2466308"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Causal churn outcome</a:t>
              </a:r>
            </a:p>
          </p:txBody>
        </p:sp>
        <p:sp>
          <p:nvSpPr>
            <p:cNvPr id="19" name="TextBox 19"/>
            <p:cNvSpPr/>
            <p:nvPr/>
          </p:nvSpPr>
          <p:spPr>
            <a:xfrm>
              <a:off x="8184642" y="3312795"/>
              <a:ext cx="2092833" cy="293370"/>
            </a:xfrm>
            <a:prstGeom prst="rect">
              <a:avLst/>
            </a:prstGeom>
            <a:noFill/>
            <a:ln>
              <a:noFill/>
            </a:ln>
          </p:spPr>
          <p:txBody>
            <a:bodyPr wrap="none" lIns="0" tIns="0" rIns="0" bIns="0" anchor="t" anchorCtr="0">
              <a:noAutofit/>
            </a:bodyPr>
            <a:lstStyle/>
            <a:p>
              <a:pPr algn="l"/>
              <a:r>
                <a:rPr lang="en-NZ" sz="1500" dirty="0">
                  <a:solidFill>
                    <a:srgbClr val="C43D3D"/>
                  </a:solidFill>
                  <a:latin typeface="Arial"/>
                  <a:ea typeface="Arial"/>
                  <a:cs typeface="Arial"/>
                </a:rPr>
                <a:t xml:space="preserve">Measured at 90 days   </a:t>
              </a:r>
            </a:p>
          </p:txBody>
        </p:sp>
      </p:grpSp>
      <p:grpSp>
        <p:nvGrpSpPr>
          <p:cNvPr id="23" name="Group 23"/>
          <p:cNvGrpSpPr/>
          <p:nvPr/>
        </p:nvGrpSpPr>
        <p:grpSpPr>
          <a:xfrm>
            <a:off x="508254" y="5909310"/>
            <a:ext cx="8020050" cy="729996"/>
            <a:chOff x="508254" y="5909310"/>
            <a:chExt cx="8020050" cy="729996"/>
          </a:xfrm>
        </p:grpSpPr>
        <p:sp>
          <p:nvSpPr>
            <p:cNvPr id="21" name="TextBox 21"/>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Single-case mechanism evidence. A1-D2 interview, 21 Aug 2026.</a:t>
              </a:r>
            </a:p>
          </p:txBody>
        </p:sp>
        <p:sp>
          <p:nvSpPr>
            <p:cNvPr id="22" name="TextBox 22"/>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07   </a:t>
              </a:r>
            </a:p>
          </p:txBody>
        </p:sp>
      </p:grpSp>
      <p:sp>
        <p:nvSpPr>
          <p:cNvPr id="24" name="Rectangle 24"/>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8.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451485"/>
            <a:ext cx="11144250" cy="1146810"/>
            <a:chOff x="499110" y="451485"/>
            <a:chExt cx="11144250" cy="1146810"/>
          </a:xfrm>
        </p:grpSpPr>
        <p:sp>
          <p:nvSpPr>
            <p:cNvPr id="2" name="TextBox 2"/>
            <p:cNvSpPr/>
            <p:nvPr/>
          </p:nvSpPr>
          <p:spPr>
            <a:xfrm>
              <a:off x="499110" y="451485"/>
              <a:ext cx="11144250" cy="928116"/>
            </a:xfrm>
            <a:prstGeom prst="rect">
              <a:avLst/>
            </a:prstGeom>
            <a:noFill/>
            <a:ln>
              <a:noFill/>
            </a:ln>
          </p:spPr>
          <p:txBody>
            <a:bodyPr wrap="none" lIns="1524" tIns="0" rIns="0" bIns="0" anchor="t" anchorCtr="0">
              <a:noAutofit/>
            </a:bodyPr>
            <a:lstStyle/>
            <a:p>
              <a:pPr algn="l"/>
              <a:r>
                <a:rPr lang="en-NZ" sz="2700" b="1" dirty="0">
                  <a:solidFill>
                    <a:srgbClr val="102A43"/>
                  </a:solidFill>
                  <a:latin typeface="Arial"/>
                  <a:ea typeface="Arial"/>
                  <a:cs typeface="Arial"/>
                </a:rPr>
                <a:t>An explainable plan-fit decision</a:t>
              </a:r>
            </a:p>
          </p:txBody>
        </p:sp>
        <p:sp>
          <p:nvSpPr>
            <p:cNvPr id="3" name="TextBox 3"/>
            <p:cNvSpPr/>
            <p:nvPr/>
          </p:nvSpPr>
          <p:spPr>
            <a:xfrm>
              <a:off x="506730" y="13049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Rule-based MySpark concept within eligible Spark plans</a:t>
              </a:r>
            </a:p>
          </p:txBody>
        </p:sp>
      </p:grpSp>
      <p:grpSp>
        <p:nvGrpSpPr>
          <p:cNvPr id="21" name="Group 21"/>
          <p:cNvGrpSpPr/>
          <p:nvPr/>
        </p:nvGrpSpPr>
        <p:grpSpPr>
          <a:xfrm>
            <a:off x="982980" y="1752600"/>
            <a:ext cx="10748582" cy="3120390"/>
            <a:chOff x="982980" y="1752600"/>
            <a:chExt cx="10748582" cy="3120390"/>
          </a:xfrm>
        </p:grpSpPr>
        <p:sp>
          <p:nvSpPr>
            <p:cNvPr id="5" name="Rectangle 5"/>
            <p:cNvSpPr/>
            <p:nvPr/>
          </p:nvSpPr>
          <p:spPr>
            <a:xfrm>
              <a:off x="3550920" y="1752600"/>
              <a:ext cx="4998720" cy="3120390"/>
            </a:xfrm>
            <a:prstGeom prst="roundRect">
              <a:avLst>
                <a:gd name="adj" fmla="val 14847"/>
              </a:avLst>
            </a:prstGeom>
            <a:solidFill>
              <a:srgbClr val="FFFFFF"/>
            </a:solidFill>
            <a:ln w="38100">
              <a:solidFill>
                <a:schemeClr val="accent1"/>
              </a:solidFill>
            </a:ln>
          </p:spPr>
        </p:sp>
        <p:sp>
          <p:nvSpPr>
            <p:cNvPr id="6" name="Rectangle 6"/>
            <p:cNvSpPr/>
            <p:nvPr/>
          </p:nvSpPr>
          <p:spPr>
            <a:xfrm>
              <a:off x="3916680" y="2005203"/>
              <a:ext cx="4267200" cy="505206"/>
            </a:xfrm>
            <a:prstGeom prst="roundRect">
              <a:avLst>
                <a:gd name="adj" fmla="val 33786"/>
              </a:avLst>
            </a:prstGeom>
            <a:solidFill>
              <a:srgbClr val="EAF4FF"/>
            </a:solidFill>
            <a:ln>
              <a:noFill/>
            </a:ln>
          </p:spPr>
        </p:sp>
        <p:sp>
          <p:nvSpPr>
            <p:cNvPr id="7" name="TextBox 7"/>
            <p:cNvSpPr txBox="1"/>
            <p:nvPr/>
          </p:nvSpPr>
          <p:spPr>
            <a:xfrm>
              <a:off x="3695921" y="2114169"/>
              <a:ext cx="4708718" cy="381381"/>
            </a:xfrm>
            <a:prstGeom prst="rect">
              <a:avLst/>
            </a:prstGeom>
            <a:noFill/>
            <a:ln>
              <a:noFill/>
            </a:ln>
          </p:spPr>
          <p:txBody>
            <a:bodyPr wrap="none" lIns="0" tIns="0" rIns="0" bIns="0" anchor="t" anchorCtr="0">
              <a:spAutoFit/>
            </a:bodyPr>
            <a:lstStyle/>
            <a:p>
              <a:pPr algn="ctr"/>
              <a:r>
                <a:rPr lang="en-NZ" sz="1950" b="1" dirty="0">
                  <a:solidFill>
                    <a:schemeClr val="accent2"/>
                  </a:solidFill>
                  <a:latin typeface="+mn-lt"/>
                  <a:ea typeface="+mn-ea"/>
                  <a:cs typeface="+mn-cs"/>
                </a:rPr>
                <a:t xml:space="preserve">   YOUR PLAN-FIT CONCLUSION   </a:t>
              </a:r>
            </a:p>
          </p:txBody>
        </p:sp>
        <p:sp>
          <p:nvSpPr>
            <p:cNvPr id="8" name="TextBox 8"/>
            <p:cNvSpPr txBox="1"/>
            <p:nvPr/>
          </p:nvSpPr>
          <p:spPr>
            <a:xfrm>
              <a:off x="4152900" y="2675382"/>
              <a:ext cx="1068172" cy="293370"/>
            </a:xfrm>
            <a:prstGeom prst="rect">
              <a:avLst/>
            </a:prstGeom>
            <a:noFill/>
            <a:ln>
              <a:noFill/>
            </a:ln>
          </p:spPr>
          <p:txBody>
            <a:bodyPr wrap="none" lIns="0" tIns="0" rIns="0" bIns="0" anchor="t" anchorCtr="0">
              <a:spAutoFit/>
            </a:bodyPr>
            <a:lstStyle/>
            <a:p>
              <a:pPr algn="l"/>
              <a:r>
                <a:rPr lang="en-NZ" sz="1500" b="1" dirty="0">
                  <a:solidFill>
                    <a:srgbClr val="52606D"/>
                  </a:solidFill>
                  <a:latin typeface="+mn-lt"/>
                  <a:ea typeface="+mn-ea"/>
                  <a:cs typeface="+mn-cs"/>
                </a:rPr>
                <a:t xml:space="preserve">INPUTS   </a:t>
              </a:r>
            </a:p>
          </p:txBody>
        </p:sp>
        <p:sp>
          <p:nvSpPr>
            <p:cNvPr id="9" name="TextBox 9"/>
            <p:cNvSpPr/>
            <p:nvPr/>
          </p:nvSpPr>
          <p:spPr>
            <a:xfrm>
              <a:off x="4150614" y="2909126"/>
              <a:ext cx="4033838" cy="381381"/>
            </a:xfrm>
            <a:prstGeom prst="rect">
              <a:avLst/>
            </a:prstGeom>
            <a:noFill/>
            <a:ln>
              <a:noFill/>
            </a:ln>
          </p:spPr>
          <p:txBody>
            <a:bodyPr wrap="none" lIns="0" tIns="0" rIns="0" bIns="0" anchor="t" anchorCtr="0">
              <a:noAutofit/>
            </a:bodyPr>
            <a:lstStyle/>
            <a:p>
              <a:pPr algn="l"/>
              <a:r>
                <a:rPr lang="en-NZ" sz="1950" dirty="0">
                  <a:solidFill>
                    <a:srgbClr val="243B53"/>
                  </a:solidFill>
                  <a:latin typeface="Arial"/>
                  <a:ea typeface="Arial"/>
                  <a:cs typeface="Arial"/>
                </a:rPr>
                <a:t>Approved usage and spend</a:t>
              </a:r>
            </a:p>
          </p:txBody>
        </p:sp>
        <p:sp>
          <p:nvSpPr>
            <p:cNvPr id="10" name="TextBox 10"/>
            <p:cNvSpPr txBox="1"/>
            <p:nvPr/>
          </p:nvSpPr>
          <p:spPr>
            <a:xfrm>
              <a:off x="4152900" y="3240024"/>
              <a:ext cx="1168984" cy="293370"/>
            </a:xfrm>
            <a:prstGeom prst="rect">
              <a:avLst/>
            </a:prstGeom>
            <a:noFill/>
            <a:ln>
              <a:noFill/>
            </a:ln>
          </p:spPr>
          <p:txBody>
            <a:bodyPr wrap="none" lIns="0" tIns="0" rIns="0" bIns="0" anchor="t" anchorCtr="0">
              <a:spAutoFit/>
            </a:bodyPr>
            <a:lstStyle/>
            <a:p>
              <a:pPr algn="l"/>
              <a:r>
                <a:rPr lang="en-NZ" sz="1500" b="1" dirty="0">
                  <a:solidFill>
                    <a:srgbClr val="52606D"/>
                  </a:solidFill>
                  <a:latin typeface="+mn-lt"/>
                  <a:ea typeface="+mn-ea"/>
                  <a:cs typeface="+mn-cs"/>
                </a:rPr>
                <a:t xml:space="preserve">OUTPUT   </a:t>
              </a:r>
            </a:p>
          </p:txBody>
        </p:sp>
        <p:sp>
          <p:nvSpPr>
            <p:cNvPr id="11" name="TextBox 11"/>
            <p:cNvSpPr/>
            <p:nvPr/>
          </p:nvSpPr>
          <p:spPr>
            <a:xfrm>
              <a:off x="4150614" y="3473768"/>
              <a:ext cx="3890200" cy="381381"/>
            </a:xfrm>
            <a:prstGeom prst="rect">
              <a:avLst/>
            </a:prstGeom>
            <a:noFill/>
            <a:ln>
              <a:noFill/>
            </a:ln>
          </p:spPr>
          <p:txBody>
            <a:bodyPr wrap="none" lIns="0" tIns="0" rIns="0" bIns="0" anchor="t" anchorCtr="0">
              <a:noAutofit/>
            </a:bodyPr>
            <a:lstStyle/>
            <a:p>
              <a:pPr algn="l"/>
              <a:r>
                <a:rPr lang="en-NZ" sz="1950" dirty="0">
                  <a:solidFill>
                    <a:srgbClr val="243B53"/>
                  </a:solidFill>
                  <a:latin typeface="Arial"/>
                  <a:ea typeface="Arial"/>
                  <a:cs typeface="Arial"/>
                </a:rPr>
                <a:t>Fit, reasons and trade-offs</a:t>
              </a:r>
            </a:p>
          </p:txBody>
        </p:sp>
        <p:sp>
          <p:nvSpPr>
            <p:cNvPr id="12" name="Rectangle 12"/>
            <p:cNvSpPr/>
            <p:nvPr/>
          </p:nvSpPr>
          <p:spPr>
            <a:xfrm>
              <a:off x="4160520" y="4011168"/>
              <a:ext cx="1828800" cy="475488"/>
            </a:xfrm>
            <a:prstGeom prst="roundRect">
              <a:avLst>
                <a:gd name="adj" fmla="val 50000"/>
              </a:avLst>
            </a:prstGeom>
            <a:solidFill>
              <a:schemeClr val="accent2"/>
            </a:solidFill>
            <a:ln>
              <a:noFill/>
            </a:ln>
          </p:spPr>
        </p:sp>
        <p:sp>
          <p:nvSpPr>
            <p:cNvPr id="13" name="TextBox 13"/>
            <p:cNvSpPr/>
            <p:nvPr/>
          </p:nvSpPr>
          <p:spPr>
            <a:xfrm>
              <a:off x="4260818" y="4146423"/>
              <a:ext cx="1628204" cy="293370"/>
            </a:xfrm>
            <a:prstGeom prst="rect">
              <a:avLst/>
            </a:prstGeom>
            <a:noFill/>
            <a:ln>
              <a:noFill/>
            </a:ln>
          </p:spPr>
          <p:txBody>
            <a:bodyPr wrap="none" lIns="0" tIns="0" rIns="0" bIns="0" anchor="t" anchorCtr="0">
              <a:noAutofit/>
            </a:bodyPr>
            <a:lstStyle/>
            <a:p>
              <a:pPr algn="ctr"/>
              <a:r>
                <a:rPr lang="en-NZ" sz="1500" b="1" dirty="0">
                  <a:solidFill>
                    <a:srgbClr val="FFFFFF"/>
                  </a:solidFill>
                  <a:latin typeface="Arial"/>
                  <a:ea typeface="Arial"/>
                  <a:cs typeface="Arial"/>
                </a:rPr>
                <a:t>CHANGE</a:t>
              </a:r>
            </a:p>
          </p:txBody>
        </p:sp>
        <p:sp>
          <p:nvSpPr>
            <p:cNvPr id="14" name="Rectangle 14"/>
            <p:cNvSpPr/>
            <p:nvPr/>
          </p:nvSpPr>
          <p:spPr>
            <a:xfrm>
              <a:off x="6233160" y="4011168"/>
              <a:ext cx="1950720" cy="475488"/>
            </a:xfrm>
            <a:prstGeom prst="roundRect">
              <a:avLst>
                <a:gd name="adj" fmla="val 50000"/>
              </a:avLst>
            </a:prstGeom>
            <a:solidFill>
              <a:srgbClr val="E7F4EF"/>
            </a:solidFill>
            <a:ln>
              <a:noFill/>
            </a:ln>
          </p:spPr>
        </p:sp>
        <p:sp>
          <p:nvSpPr>
            <p:cNvPr id="15" name="TextBox 15"/>
            <p:cNvSpPr/>
            <p:nvPr/>
          </p:nvSpPr>
          <p:spPr>
            <a:xfrm>
              <a:off x="6282404" y="4146423"/>
              <a:ext cx="1852232" cy="293370"/>
            </a:xfrm>
            <a:prstGeom prst="rect">
              <a:avLst/>
            </a:prstGeom>
            <a:noFill/>
            <a:ln>
              <a:noFill/>
            </a:ln>
          </p:spPr>
          <p:txBody>
            <a:bodyPr wrap="none" lIns="0" tIns="0" rIns="0" bIns="0" anchor="t" anchorCtr="0">
              <a:noAutofit/>
            </a:bodyPr>
            <a:lstStyle/>
            <a:p>
              <a:pPr algn="ctr"/>
              <a:r>
                <a:rPr lang="en-NZ" sz="1500" b="1" dirty="0">
                  <a:solidFill>
                    <a:srgbClr val="0F8B8D"/>
                  </a:solidFill>
                  <a:latin typeface="Arial"/>
                  <a:ea typeface="Arial"/>
                  <a:cs typeface="Arial"/>
                </a:rPr>
                <a:t>KEEP PLAN</a:t>
              </a:r>
            </a:p>
          </p:txBody>
        </p:sp>
        <p:sp>
          <p:nvSpPr>
            <p:cNvPr id="16" name="TextBox 16"/>
            <p:cNvSpPr/>
            <p:nvPr/>
          </p:nvSpPr>
          <p:spPr>
            <a:xfrm>
              <a:off x="982980" y="2675382"/>
              <a:ext cx="1930718" cy="293370"/>
            </a:xfrm>
            <a:prstGeom prst="rect">
              <a:avLst/>
            </a:prstGeom>
            <a:noFill/>
            <a:ln>
              <a:noFill/>
            </a:ln>
          </p:spPr>
          <p:txBody>
            <a:bodyPr wrap="none" lIns="0" tIns="0" rIns="0" bIns="0" anchor="t" anchorCtr="0">
              <a:noAutofit/>
            </a:bodyPr>
            <a:lstStyle/>
            <a:p>
              <a:pPr algn="l"/>
              <a:r>
                <a:rPr lang="en-NZ" sz="1500" b="1" dirty="0">
                  <a:solidFill>
                    <a:srgbClr val="1677FF"/>
                  </a:solidFill>
                  <a:latin typeface="Arial"/>
                  <a:ea typeface="Arial"/>
                  <a:cs typeface="Arial"/>
                </a:rPr>
                <a:t>APPROVED DATA</a:t>
              </a:r>
            </a:p>
          </p:txBody>
        </p:sp>
        <p:sp>
          <p:nvSpPr>
            <p:cNvPr id="17" name="TextBox 17"/>
            <p:cNvSpPr/>
            <p:nvPr/>
          </p:nvSpPr>
          <p:spPr>
            <a:xfrm>
              <a:off x="982980" y="2942844"/>
              <a:ext cx="2145602"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usage + spend</a:t>
              </a:r>
            </a:p>
          </p:txBody>
        </p:sp>
        <p:sp>
          <p:nvSpPr>
            <p:cNvPr id="18" name="Line 18"/>
            <p:cNvSpPr/>
            <p:nvPr/>
          </p:nvSpPr>
          <p:spPr>
            <a:xfrm>
              <a:off x="2697480" y="3030474"/>
              <a:ext cx="755904" cy="9525"/>
            </a:xfrm>
            <a:custGeom>
              <a:avLst/>
              <a:gdLst/>
              <a:ahLst/>
              <a:cxnLst/>
              <a:rect l="l" t="t" r="r" b="b"/>
              <a:pathLst>
                <a:path w="755904" h="9525">
                  <a:moveTo>
                    <a:pt x="0" y="0"/>
                  </a:moveTo>
                  <a:lnTo>
                    <a:pt x="755904" y="0"/>
                  </a:lnTo>
                </a:path>
              </a:pathLst>
            </a:custGeom>
            <a:noFill/>
            <a:ln w="38100">
              <a:solidFill>
                <a:schemeClr val="accent2"/>
              </a:solidFill>
            </a:ln>
          </p:spPr>
        </p:sp>
        <p:sp>
          <p:nvSpPr>
            <p:cNvPr id="19" name="TextBox 19"/>
            <p:cNvSpPr/>
            <p:nvPr/>
          </p:nvSpPr>
          <p:spPr>
            <a:xfrm>
              <a:off x="8859012" y="2675382"/>
              <a:ext cx="1684210" cy="293370"/>
            </a:xfrm>
            <a:prstGeom prst="rect">
              <a:avLst/>
            </a:prstGeom>
            <a:noFill/>
            <a:ln>
              <a:noFill/>
            </a:ln>
          </p:spPr>
          <p:txBody>
            <a:bodyPr wrap="none" lIns="0" tIns="0" rIns="0" bIns="0" anchor="t" anchorCtr="0">
              <a:noAutofit/>
            </a:bodyPr>
            <a:lstStyle/>
            <a:p>
              <a:pPr algn="l"/>
              <a:r>
                <a:rPr lang="en-NZ" sz="1500" b="1" dirty="0">
                  <a:solidFill>
                    <a:srgbClr val="0F8B8D"/>
                  </a:solidFill>
                  <a:latin typeface="Arial"/>
                  <a:ea typeface="Arial"/>
                  <a:cs typeface="Arial"/>
                </a:rPr>
                <a:t>SAFE CHOICES</a:t>
              </a:r>
            </a:p>
          </p:txBody>
        </p:sp>
        <p:sp>
          <p:nvSpPr>
            <p:cNvPr id="20" name="TextBox 20"/>
            <p:cNvSpPr/>
            <p:nvPr/>
          </p:nvSpPr>
          <p:spPr>
            <a:xfrm>
              <a:off x="8859012" y="2942844"/>
              <a:ext cx="2872550"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correction + human help</a:t>
              </a:r>
            </a:p>
          </p:txBody>
        </p:sp>
      </p:grpSp>
      <p:grpSp>
        <p:nvGrpSpPr>
          <p:cNvPr id="24" name="Group 24"/>
          <p:cNvGrpSpPr/>
          <p:nvPr/>
        </p:nvGrpSpPr>
        <p:grpSpPr>
          <a:xfrm>
            <a:off x="508254" y="5909310"/>
            <a:ext cx="8020050" cy="729996"/>
            <a:chOff x="508254" y="5909310"/>
            <a:chExt cx="8020050" cy="729996"/>
          </a:xfrm>
        </p:grpSpPr>
        <p:sp>
          <p:nvSpPr>
            <p:cNvPr id="22" name="TextBox 22"/>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Fictional concept. Keeping a suitable plan counts as success.</a:t>
              </a:r>
            </a:p>
          </p:txBody>
        </p:sp>
        <p:sp>
          <p:nvSpPr>
            <p:cNvPr id="23" name="TextBox 23"/>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08   </a:t>
              </a:r>
            </a:p>
          </p:txBody>
        </p:sp>
      </p:grpSp>
      <p:sp>
        <p:nvSpPr>
          <p:cNvPr id="25" name="Rectangle 25"/>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9.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A fair comparison with safe choices</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Assign before display. Hold timing, data, options and help constant.</a:t>
              </a:r>
            </a:p>
          </p:txBody>
        </p:sp>
      </p:grpSp>
      <p:grpSp>
        <p:nvGrpSpPr>
          <p:cNvPr id="24" name="Group 24"/>
          <p:cNvGrpSpPr/>
          <p:nvPr/>
        </p:nvGrpSpPr>
        <p:grpSpPr>
          <a:xfrm>
            <a:off x="819817" y="1752600"/>
            <a:ext cx="10376249" cy="2686050"/>
            <a:chOff x="819817" y="1752600"/>
            <a:chExt cx="10376249" cy="2686050"/>
          </a:xfrm>
        </p:grpSpPr>
        <p:sp>
          <p:nvSpPr>
            <p:cNvPr id="5" name="Polyline 5"/>
            <p:cNvSpPr/>
            <p:nvPr/>
          </p:nvSpPr>
          <p:spPr>
            <a:xfrm>
              <a:off x="1381125" y="2266950"/>
              <a:ext cx="9096375" cy="1657350"/>
            </a:xfrm>
            <a:custGeom>
              <a:avLst/>
              <a:gdLst/>
              <a:ahLst/>
              <a:cxnLst/>
              <a:rect l="l" t="t" r="r" b="b"/>
              <a:pathLst>
                <a:path w="9096375" h="1657350">
                  <a:moveTo>
                    <a:pt x="0" y="0"/>
                  </a:moveTo>
                  <a:lnTo>
                    <a:pt x="2905125" y="0"/>
                  </a:lnTo>
                  <a:lnTo>
                    <a:pt x="5810250" y="0"/>
                  </a:lnTo>
                  <a:lnTo>
                    <a:pt x="9096375" y="0"/>
                  </a:lnTo>
                  <a:lnTo>
                    <a:pt x="9096375" y="1657350"/>
                  </a:lnTo>
                  <a:lnTo>
                    <a:pt x="6143625" y="1657350"/>
                  </a:lnTo>
                  <a:lnTo>
                    <a:pt x="3190875" y="1657350"/>
                  </a:lnTo>
                  <a:lnTo>
                    <a:pt x="238125" y="1657350"/>
                  </a:lnTo>
                  <a:lnTo>
                    <a:pt x="0" y="0"/>
                  </a:lnTo>
                </a:path>
              </a:pathLst>
            </a:custGeom>
            <a:noFill/>
            <a:ln w="38100">
              <a:solidFill>
                <a:srgbClr val="9FB3C8"/>
              </a:solidFill>
            </a:ln>
          </p:spPr>
        </p:sp>
        <p:sp>
          <p:nvSpPr>
            <p:cNvPr id="6" name="Ellipse 6"/>
            <p:cNvSpPr/>
            <p:nvPr/>
          </p:nvSpPr>
          <p:spPr>
            <a:xfrm>
              <a:off x="866775" y="1752600"/>
              <a:ext cx="1028700" cy="1028700"/>
            </a:xfrm>
            <a:prstGeom prst="ellipse">
              <a:avLst/>
            </a:prstGeom>
            <a:solidFill>
              <a:schemeClr val="accent2"/>
            </a:solidFill>
            <a:ln>
              <a:noFill/>
            </a:ln>
          </p:spPr>
        </p:sp>
        <p:sp>
          <p:nvSpPr>
            <p:cNvPr id="7" name="Ellipse 7"/>
            <p:cNvSpPr/>
            <p:nvPr/>
          </p:nvSpPr>
          <p:spPr>
            <a:xfrm>
              <a:off x="3771900" y="1752600"/>
              <a:ext cx="1028700" cy="1028700"/>
            </a:xfrm>
            <a:prstGeom prst="ellipse">
              <a:avLst/>
            </a:prstGeom>
            <a:solidFill>
              <a:schemeClr val="accent2"/>
            </a:solidFill>
            <a:ln>
              <a:noFill/>
            </a:ln>
          </p:spPr>
        </p:sp>
        <p:sp>
          <p:nvSpPr>
            <p:cNvPr id="8" name="Ellipse 8"/>
            <p:cNvSpPr/>
            <p:nvPr/>
          </p:nvSpPr>
          <p:spPr>
            <a:xfrm>
              <a:off x="6677025" y="1752600"/>
              <a:ext cx="1028700" cy="1028700"/>
            </a:xfrm>
            <a:prstGeom prst="ellipse">
              <a:avLst/>
            </a:prstGeom>
            <a:solidFill>
              <a:schemeClr val="accent3"/>
            </a:solidFill>
            <a:ln>
              <a:noFill/>
            </a:ln>
          </p:spPr>
        </p:sp>
        <p:sp>
          <p:nvSpPr>
            <p:cNvPr id="9" name="Ellipse 9"/>
            <p:cNvSpPr/>
            <p:nvPr/>
          </p:nvSpPr>
          <p:spPr>
            <a:xfrm>
              <a:off x="9963150" y="1752600"/>
              <a:ext cx="1028700" cy="1028700"/>
            </a:xfrm>
            <a:prstGeom prst="ellipse">
              <a:avLst/>
            </a:prstGeom>
            <a:solidFill>
              <a:schemeClr val="accent3"/>
            </a:solidFill>
            <a:ln>
              <a:noFill/>
            </a:ln>
          </p:spPr>
        </p:sp>
        <p:sp>
          <p:nvSpPr>
            <p:cNvPr id="10" name="Ellipse 10"/>
            <p:cNvSpPr/>
            <p:nvPr/>
          </p:nvSpPr>
          <p:spPr>
            <a:xfrm>
              <a:off x="9963150" y="3409950"/>
              <a:ext cx="1028700" cy="1028700"/>
            </a:xfrm>
            <a:prstGeom prst="ellipse">
              <a:avLst/>
            </a:prstGeom>
            <a:solidFill>
              <a:schemeClr val="accent6"/>
            </a:solidFill>
            <a:ln>
              <a:noFill/>
            </a:ln>
          </p:spPr>
        </p:sp>
        <p:sp>
          <p:nvSpPr>
            <p:cNvPr id="11" name="Ellipse 11"/>
            <p:cNvSpPr/>
            <p:nvPr/>
          </p:nvSpPr>
          <p:spPr>
            <a:xfrm>
              <a:off x="7010400" y="3409950"/>
              <a:ext cx="1028700" cy="1028700"/>
            </a:xfrm>
            <a:prstGeom prst="ellipse">
              <a:avLst/>
            </a:prstGeom>
            <a:solidFill>
              <a:schemeClr val="accent2"/>
            </a:solidFill>
            <a:ln>
              <a:noFill/>
            </a:ln>
          </p:spPr>
        </p:sp>
        <p:sp>
          <p:nvSpPr>
            <p:cNvPr id="12" name="Ellipse 12"/>
            <p:cNvSpPr/>
            <p:nvPr/>
          </p:nvSpPr>
          <p:spPr>
            <a:xfrm>
              <a:off x="4057650" y="3409950"/>
              <a:ext cx="1028700" cy="1028700"/>
            </a:xfrm>
            <a:prstGeom prst="ellipse">
              <a:avLst/>
            </a:prstGeom>
            <a:solidFill>
              <a:schemeClr val="accent2"/>
            </a:solidFill>
            <a:ln>
              <a:noFill/>
            </a:ln>
          </p:spPr>
        </p:sp>
        <p:sp>
          <p:nvSpPr>
            <p:cNvPr id="13" name="Ellipse 13"/>
            <p:cNvSpPr/>
            <p:nvPr/>
          </p:nvSpPr>
          <p:spPr>
            <a:xfrm>
              <a:off x="1104900" y="3409950"/>
              <a:ext cx="1028700" cy="1028700"/>
            </a:xfrm>
            <a:prstGeom prst="ellipse">
              <a:avLst/>
            </a:prstGeom>
            <a:solidFill>
              <a:schemeClr val="accent1"/>
            </a:solidFill>
            <a:ln>
              <a:noFill/>
            </a:ln>
          </p:spPr>
        </p:sp>
        <p:sp>
          <p:nvSpPr>
            <p:cNvPr id="14" name="TextBox 14"/>
            <p:cNvSpPr/>
            <p:nvPr/>
          </p:nvSpPr>
          <p:spPr>
            <a:xfrm>
              <a:off x="819817" y="2178368"/>
              <a:ext cx="1122616" cy="264033"/>
            </a:xfrm>
            <a:prstGeom prst="rect">
              <a:avLst/>
            </a:prstGeom>
            <a:noFill/>
            <a:ln>
              <a:noFill/>
            </a:ln>
          </p:spPr>
          <p:txBody>
            <a:bodyPr wrap="none" lIns="0" tIns="0" rIns="0" bIns="0" anchor="t" anchorCtr="0">
              <a:noAutofit/>
            </a:bodyPr>
            <a:lstStyle/>
            <a:p>
              <a:pPr algn="ctr"/>
              <a:r>
                <a:rPr lang="en-NZ" sz="1350" b="1" dirty="0">
                  <a:solidFill>
                    <a:srgbClr val="FFFFFF"/>
                  </a:solidFill>
                  <a:latin typeface="Arial"/>
                  <a:ea typeface="Arial"/>
                  <a:cs typeface="Arial"/>
                </a:rPr>
                <a:t>VALIDATE</a:t>
              </a:r>
            </a:p>
          </p:txBody>
        </p:sp>
        <p:sp>
          <p:nvSpPr>
            <p:cNvPr id="15" name="TextBox 15"/>
            <p:cNvSpPr/>
            <p:nvPr/>
          </p:nvSpPr>
          <p:spPr>
            <a:xfrm>
              <a:off x="3669506" y="2178368"/>
              <a:ext cx="1233583" cy="264033"/>
            </a:xfrm>
            <a:prstGeom prst="rect">
              <a:avLst/>
            </a:prstGeom>
            <a:noFill/>
            <a:ln>
              <a:noFill/>
            </a:ln>
          </p:spPr>
          <p:txBody>
            <a:bodyPr wrap="none" lIns="0" tIns="0" rIns="95" bIns="0" anchor="t" anchorCtr="0">
              <a:noAutofit/>
            </a:bodyPr>
            <a:lstStyle/>
            <a:p>
              <a:pPr algn="ctr"/>
              <a:r>
                <a:rPr lang="en-NZ" sz="1350" b="1" dirty="0">
                  <a:solidFill>
                    <a:srgbClr val="FFFFFF"/>
                  </a:solidFill>
                  <a:latin typeface="Arial"/>
                  <a:ea typeface="Arial"/>
                  <a:cs typeface="Arial"/>
                </a:rPr>
                <a:t>ASSIGN</a:t>
              </a:r>
            </a:p>
          </p:txBody>
        </p:sp>
        <p:sp>
          <p:nvSpPr>
            <p:cNvPr id="16" name="TextBox 16"/>
            <p:cNvSpPr/>
            <p:nvPr/>
          </p:nvSpPr>
          <p:spPr>
            <a:xfrm>
              <a:off x="6710744" y="2178368"/>
              <a:ext cx="961358" cy="264033"/>
            </a:xfrm>
            <a:prstGeom prst="rect">
              <a:avLst/>
            </a:prstGeom>
            <a:noFill/>
            <a:ln>
              <a:noFill/>
            </a:ln>
          </p:spPr>
          <p:txBody>
            <a:bodyPr wrap="none" lIns="0" tIns="0" rIns="95" bIns="0" anchor="t" anchorCtr="0">
              <a:noAutofit/>
            </a:bodyPr>
            <a:lstStyle/>
            <a:p>
              <a:pPr algn="ctr"/>
              <a:r>
                <a:rPr lang="en-NZ" sz="1350" b="1" dirty="0">
                  <a:solidFill>
                    <a:srgbClr val="FFFFFF"/>
                  </a:solidFill>
                  <a:latin typeface="Arial"/>
                  <a:ea typeface="Arial"/>
                  <a:cs typeface="Arial"/>
                </a:rPr>
                <a:t>DISPLAY</a:t>
              </a:r>
            </a:p>
          </p:txBody>
        </p:sp>
        <p:sp>
          <p:nvSpPr>
            <p:cNvPr id="17" name="TextBox 17"/>
            <p:cNvSpPr/>
            <p:nvPr/>
          </p:nvSpPr>
          <p:spPr>
            <a:xfrm>
              <a:off x="9775031" y="2178368"/>
              <a:ext cx="1404938" cy="264033"/>
            </a:xfrm>
            <a:prstGeom prst="rect">
              <a:avLst/>
            </a:prstGeom>
            <a:noFill/>
            <a:ln>
              <a:noFill/>
            </a:ln>
          </p:spPr>
          <p:txBody>
            <a:bodyPr wrap="none" lIns="0" tIns="0" rIns="0" bIns="0" anchor="t" anchorCtr="0">
              <a:noAutofit/>
            </a:bodyPr>
            <a:lstStyle/>
            <a:p>
              <a:pPr algn="ctr"/>
              <a:r>
                <a:rPr lang="en-NZ" sz="1350" b="1" dirty="0">
                  <a:solidFill>
                    <a:srgbClr val="FFFFFF"/>
                  </a:solidFill>
                  <a:latin typeface="Arial"/>
                  <a:ea typeface="Arial"/>
                  <a:cs typeface="Arial"/>
                </a:rPr>
                <a:t>CHOICE</a:t>
              </a:r>
            </a:p>
          </p:txBody>
        </p:sp>
        <p:sp>
          <p:nvSpPr>
            <p:cNvPr id="18" name="TextBox 18"/>
            <p:cNvSpPr/>
            <p:nvPr/>
          </p:nvSpPr>
          <p:spPr>
            <a:xfrm>
              <a:off x="9758934" y="3843814"/>
              <a:ext cx="1437132" cy="249364"/>
            </a:xfrm>
            <a:prstGeom prst="rect">
              <a:avLst/>
            </a:prstGeom>
            <a:noFill/>
            <a:ln>
              <a:noFill/>
            </a:ln>
          </p:spPr>
          <p:txBody>
            <a:bodyPr wrap="none" lIns="0" tIns="5" rIns="0" bIns="0" anchor="t" anchorCtr="0">
              <a:noAutofit/>
            </a:bodyPr>
            <a:lstStyle/>
            <a:p>
              <a:pPr algn="ctr"/>
              <a:r>
                <a:rPr lang="en-NZ" sz="1280" b="1" dirty="0">
                  <a:solidFill>
                    <a:srgbClr val="102A43"/>
                  </a:solidFill>
                  <a:latin typeface="Arial"/>
                  <a:ea typeface="Arial"/>
                  <a:cs typeface="Arial"/>
                </a:rPr>
                <a:t>RECHECK</a:t>
              </a:r>
            </a:p>
          </p:txBody>
        </p:sp>
        <p:sp>
          <p:nvSpPr>
            <p:cNvPr id="19" name="TextBox 19"/>
            <p:cNvSpPr/>
            <p:nvPr/>
          </p:nvSpPr>
          <p:spPr>
            <a:xfrm>
              <a:off x="6877717" y="3835718"/>
              <a:ext cx="1294067" cy="264033"/>
            </a:xfrm>
            <a:prstGeom prst="rect">
              <a:avLst/>
            </a:prstGeom>
            <a:noFill/>
            <a:ln>
              <a:noFill/>
            </a:ln>
          </p:spPr>
          <p:txBody>
            <a:bodyPr wrap="none" lIns="0" tIns="0" rIns="0" bIns="0" anchor="t" anchorCtr="0">
              <a:noAutofit/>
            </a:bodyPr>
            <a:lstStyle/>
            <a:p>
              <a:pPr algn="ctr"/>
              <a:r>
                <a:rPr lang="en-NZ" sz="1350" b="1" dirty="0">
                  <a:solidFill>
                    <a:srgbClr val="FFFFFF"/>
                  </a:solidFill>
                  <a:latin typeface="Arial"/>
                  <a:ea typeface="Arial"/>
                  <a:cs typeface="Arial"/>
                </a:rPr>
                <a:t>FULFIL</a:t>
              </a:r>
            </a:p>
          </p:txBody>
        </p:sp>
        <p:sp>
          <p:nvSpPr>
            <p:cNvPr id="20" name="TextBox 20"/>
            <p:cNvSpPr/>
            <p:nvPr/>
          </p:nvSpPr>
          <p:spPr>
            <a:xfrm>
              <a:off x="3924967" y="3835718"/>
              <a:ext cx="1294067" cy="264033"/>
            </a:xfrm>
            <a:prstGeom prst="rect">
              <a:avLst/>
            </a:prstGeom>
            <a:noFill/>
            <a:ln>
              <a:noFill/>
            </a:ln>
          </p:spPr>
          <p:txBody>
            <a:bodyPr wrap="none" lIns="0" tIns="0" rIns="0" bIns="0" anchor="t" anchorCtr="0">
              <a:noAutofit/>
            </a:bodyPr>
            <a:lstStyle/>
            <a:p>
              <a:pPr algn="ctr"/>
              <a:r>
                <a:rPr lang="en-NZ" sz="1350" b="1" dirty="0">
                  <a:solidFill>
                    <a:srgbClr val="FFFFFF"/>
                  </a:solidFill>
                  <a:latin typeface="Arial"/>
                  <a:ea typeface="Arial"/>
                  <a:cs typeface="Arial"/>
                </a:rPr>
                <a:t>RECORD</a:t>
              </a:r>
            </a:p>
          </p:txBody>
        </p:sp>
        <p:sp>
          <p:nvSpPr>
            <p:cNvPr id="21" name="TextBox 21"/>
            <p:cNvSpPr/>
            <p:nvPr/>
          </p:nvSpPr>
          <p:spPr>
            <a:xfrm>
              <a:off x="871442" y="3835718"/>
              <a:ext cx="1495616" cy="264033"/>
            </a:xfrm>
            <a:prstGeom prst="rect">
              <a:avLst/>
            </a:prstGeom>
            <a:noFill/>
            <a:ln>
              <a:noFill/>
            </a:ln>
          </p:spPr>
          <p:txBody>
            <a:bodyPr wrap="none" lIns="0" tIns="0" rIns="0" bIns="0" anchor="t" anchorCtr="0">
              <a:noAutofit/>
            </a:bodyPr>
            <a:lstStyle/>
            <a:p>
              <a:pPr algn="ctr"/>
              <a:r>
                <a:rPr lang="en-NZ" sz="1350" b="1" dirty="0">
                  <a:solidFill>
                    <a:srgbClr val="FFFFFF"/>
                  </a:solidFill>
                  <a:latin typeface="Arial"/>
                  <a:ea typeface="Arial"/>
                  <a:cs typeface="Arial"/>
                </a:rPr>
                <a:t>MEASURE</a:t>
              </a:r>
            </a:p>
          </p:txBody>
        </p:sp>
        <p:sp>
          <p:nvSpPr>
            <p:cNvPr id="22" name="TextBox 22"/>
            <p:cNvSpPr/>
            <p:nvPr/>
          </p:nvSpPr>
          <p:spPr>
            <a:xfrm>
              <a:off x="3762375" y="2859405"/>
              <a:ext cx="4286250" cy="410718"/>
            </a:xfrm>
            <a:prstGeom prst="rect">
              <a:avLst/>
            </a:prstGeom>
            <a:noFill/>
            <a:ln>
              <a:noFill/>
            </a:ln>
          </p:spPr>
          <p:txBody>
            <a:bodyPr wrap="none" lIns="0" tIns="0" rIns="0" bIns="0" anchor="t" anchorCtr="0">
              <a:noAutofit/>
            </a:bodyPr>
            <a:lstStyle/>
            <a:p>
              <a:pPr algn="ctr"/>
              <a:r>
                <a:rPr lang="en-NZ" sz="2100" b="1" dirty="0">
                  <a:solidFill>
                    <a:srgbClr val="102A43"/>
                  </a:solidFill>
                  <a:latin typeface="Arial"/>
                  <a:ea typeface="Arial"/>
                  <a:cs typeface="Arial"/>
                </a:rPr>
                <a:t>ALL ASSIGNED</a:t>
              </a:r>
            </a:p>
          </p:txBody>
        </p:sp>
        <p:sp>
          <p:nvSpPr>
            <p:cNvPr id="23" name="TextBox 23"/>
            <p:cNvSpPr/>
            <p:nvPr/>
          </p:nvSpPr>
          <p:spPr>
            <a:xfrm>
              <a:off x="4508849" y="3193732"/>
              <a:ext cx="2793302" cy="322707"/>
            </a:xfrm>
            <a:prstGeom prst="rect">
              <a:avLst/>
            </a:prstGeom>
            <a:noFill/>
            <a:ln>
              <a:noFill/>
            </a:ln>
          </p:spPr>
          <p:txBody>
            <a:bodyPr wrap="none" lIns="0" tIns="0" rIns="0" bIns="0" anchor="t" anchorCtr="0">
              <a:noAutofit/>
            </a:bodyPr>
            <a:lstStyle/>
            <a:p>
              <a:pPr algn="ctr"/>
              <a:r>
                <a:rPr lang="en-NZ" sz="1650" dirty="0">
                  <a:solidFill>
                    <a:srgbClr val="243B53"/>
                  </a:solidFill>
                  <a:latin typeface="Arial"/>
                  <a:ea typeface="Arial"/>
                  <a:cs typeface="Arial"/>
                </a:rPr>
                <a:t>including non-completers</a:t>
              </a:r>
            </a:p>
          </p:txBody>
        </p:sp>
      </p:grpSp>
      <p:grpSp>
        <p:nvGrpSpPr>
          <p:cNvPr id="27" name="Group 27"/>
          <p:cNvGrpSpPr/>
          <p:nvPr/>
        </p:nvGrpSpPr>
        <p:grpSpPr>
          <a:xfrm>
            <a:off x="508254" y="5909310"/>
            <a:ext cx="8020050" cy="729996"/>
            <a:chOff x="508254" y="5909310"/>
            <a:chExt cx="8020050" cy="729996"/>
          </a:xfrm>
        </p:grpSpPr>
        <p:sp>
          <p:nvSpPr>
            <p:cNvPr id="25" name="TextBox 25"/>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Raw or explained output. Keep, change, defer, help or exit. Measure every assignment at 90 days.</a:t>
              </a:r>
            </a:p>
          </p:txBody>
        </p:sp>
        <p:sp>
          <p:nvSpPr>
            <p:cNvPr id="26" name="TextBox 26"/>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09   </a:t>
              </a:r>
            </a:p>
          </p:txBody>
        </p:sp>
      </p:grpSp>
      <p:sp>
        <p:nvSpPr>
          <p:cNvPr id="28" name="Rectangle 28"/>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0.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Judge retention and diagnose the process</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The churn result drives the decision; delivery and acceptance explain the process.</a:t>
              </a:r>
            </a:p>
          </p:txBody>
        </p:sp>
      </p:grpSp>
      <p:grpSp>
        <p:nvGrpSpPr>
          <p:cNvPr id="20" name="Group 20"/>
          <p:cNvGrpSpPr/>
          <p:nvPr/>
        </p:nvGrpSpPr>
        <p:grpSpPr>
          <a:xfrm>
            <a:off x="514350" y="1809750"/>
            <a:ext cx="11162995" cy="2095500"/>
            <a:chOff x="514350" y="1809750"/>
            <a:chExt cx="11162995" cy="2095500"/>
          </a:xfrm>
        </p:grpSpPr>
        <p:sp>
          <p:nvSpPr>
            <p:cNvPr id="5" name="Rectangle 5"/>
            <p:cNvSpPr/>
            <p:nvPr/>
          </p:nvSpPr>
          <p:spPr>
            <a:xfrm>
              <a:off x="514350" y="1809750"/>
              <a:ext cx="3488436" cy="2095500"/>
            </a:xfrm>
            <a:prstGeom prst="roundRect">
              <a:avLst>
                <a:gd name="adj" fmla="val 14269"/>
              </a:avLst>
            </a:prstGeom>
            <a:solidFill>
              <a:srgbClr val="EAF4FF"/>
            </a:solidFill>
            <a:ln>
              <a:noFill/>
            </a:ln>
          </p:spPr>
        </p:sp>
        <p:sp>
          <p:nvSpPr>
            <p:cNvPr id="6" name="TextBox 6"/>
            <p:cNvSpPr/>
            <p:nvPr/>
          </p:nvSpPr>
          <p:spPr>
            <a:xfrm>
              <a:off x="855535" y="2105025"/>
              <a:ext cx="2857500" cy="293370"/>
            </a:xfrm>
            <a:prstGeom prst="rect">
              <a:avLst/>
            </a:prstGeom>
            <a:noFill/>
            <a:ln>
              <a:noFill/>
            </a:ln>
          </p:spPr>
          <p:txBody>
            <a:bodyPr wrap="none" lIns="0" tIns="0" rIns="0" bIns="0" anchor="t" anchorCtr="0">
              <a:noAutofit/>
            </a:bodyPr>
            <a:lstStyle/>
            <a:p>
              <a:pPr algn="l"/>
              <a:r>
                <a:rPr lang="en-NZ" sz="1500" b="1" dirty="0">
                  <a:solidFill>
                    <a:srgbClr val="1677FF"/>
                  </a:solidFill>
                  <a:latin typeface="Arial"/>
                  <a:ea typeface="Arial"/>
                  <a:cs typeface="Arial"/>
                </a:rPr>
                <a:t>ALL QUALIFYING</a:t>
              </a:r>
            </a:p>
          </p:txBody>
        </p:sp>
        <p:sp>
          <p:nvSpPr>
            <p:cNvPr id="7" name="TextBox 7"/>
            <p:cNvSpPr txBox="1"/>
            <p:nvPr/>
          </p:nvSpPr>
          <p:spPr>
            <a:xfrm>
              <a:off x="846430" y="2653665"/>
              <a:ext cx="1922684" cy="645414"/>
            </a:xfrm>
            <a:prstGeom prst="rect">
              <a:avLst/>
            </a:prstGeom>
            <a:noFill/>
            <a:ln>
              <a:noFill/>
            </a:ln>
          </p:spPr>
          <p:txBody>
            <a:bodyPr wrap="none" lIns="0" tIns="0" rIns="0" bIns="0" anchor="t" anchorCtr="0">
              <a:spAutoFit/>
            </a:bodyPr>
            <a:lstStyle/>
            <a:p>
              <a:pPr algn="l"/>
              <a:r>
                <a:rPr lang="en-NZ" sz="3300" b="1" dirty="0">
                  <a:solidFill>
                    <a:schemeClr val="accent1"/>
                  </a:solidFill>
                  <a:latin typeface="+mn-lt"/>
                  <a:ea typeface="+mn-ea"/>
                  <a:cs typeface="+mn-cs"/>
                </a:rPr>
                <a:t xml:space="preserve">≥15%   </a:t>
              </a:r>
            </a:p>
          </p:txBody>
        </p:sp>
        <p:sp>
          <p:nvSpPr>
            <p:cNvPr id="8" name="TextBox 8"/>
            <p:cNvSpPr/>
            <p:nvPr/>
          </p:nvSpPr>
          <p:spPr>
            <a:xfrm>
              <a:off x="855535" y="3190875"/>
              <a:ext cx="2857500"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90-day voluntary churn</a:t>
              </a:r>
            </a:p>
          </p:txBody>
        </p:sp>
        <p:sp>
          <p:nvSpPr>
            <p:cNvPr id="9" name="TextBox 9"/>
            <p:cNvSpPr/>
            <p:nvPr/>
          </p:nvSpPr>
          <p:spPr>
            <a:xfrm>
              <a:off x="855535" y="3457575"/>
              <a:ext cx="2857500"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Relative reduction, all assigned</a:t>
              </a:r>
            </a:p>
          </p:txBody>
        </p:sp>
        <p:sp>
          <p:nvSpPr>
            <p:cNvPr id="10" name="Rectangle 10"/>
            <p:cNvSpPr/>
            <p:nvPr/>
          </p:nvSpPr>
          <p:spPr>
            <a:xfrm>
              <a:off x="4351630" y="1809750"/>
              <a:ext cx="3488436" cy="2095500"/>
            </a:xfrm>
            <a:prstGeom prst="roundRect">
              <a:avLst>
                <a:gd name="adj" fmla="val 14269"/>
              </a:avLst>
            </a:prstGeom>
            <a:solidFill>
              <a:srgbClr val="E7F4EF"/>
            </a:solidFill>
            <a:ln>
              <a:noFill/>
            </a:ln>
          </p:spPr>
        </p:sp>
        <p:sp>
          <p:nvSpPr>
            <p:cNvPr id="11" name="TextBox 11"/>
            <p:cNvSpPr/>
            <p:nvPr/>
          </p:nvSpPr>
          <p:spPr>
            <a:xfrm>
              <a:off x="4692872" y="2105025"/>
              <a:ext cx="2857500" cy="293370"/>
            </a:xfrm>
            <a:prstGeom prst="rect">
              <a:avLst/>
            </a:prstGeom>
            <a:noFill/>
            <a:ln>
              <a:noFill/>
            </a:ln>
          </p:spPr>
          <p:txBody>
            <a:bodyPr wrap="none" lIns="0" tIns="0" rIns="0" bIns="0" anchor="t" anchorCtr="0">
              <a:noAutofit/>
            </a:bodyPr>
            <a:lstStyle/>
            <a:p>
              <a:pPr algn="l"/>
              <a:r>
                <a:rPr lang="en-NZ" sz="1500" b="1" dirty="0">
                  <a:solidFill>
                    <a:srgbClr val="0F8B8D"/>
                  </a:solidFill>
                  <a:latin typeface="Arial"/>
                  <a:ea typeface="Arial"/>
                  <a:cs typeface="Arial"/>
                </a:rPr>
                <a:t>DELIVERY / REACH</a:t>
              </a:r>
            </a:p>
          </p:txBody>
        </p:sp>
        <p:sp>
          <p:nvSpPr>
            <p:cNvPr id="12" name="TextBox 12"/>
            <p:cNvSpPr txBox="1"/>
            <p:nvPr/>
          </p:nvSpPr>
          <p:spPr>
            <a:xfrm>
              <a:off x="4683709" y="2653665"/>
              <a:ext cx="1922684" cy="645414"/>
            </a:xfrm>
            <a:prstGeom prst="rect">
              <a:avLst/>
            </a:prstGeom>
            <a:noFill/>
            <a:ln>
              <a:noFill/>
            </a:ln>
          </p:spPr>
          <p:txBody>
            <a:bodyPr wrap="none" lIns="0" tIns="0" rIns="0" bIns="0" anchor="t" anchorCtr="0">
              <a:spAutoFit/>
            </a:bodyPr>
            <a:lstStyle/>
            <a:p>
              <a:pPr algn="l"/>
              <a:r>
                <a:rPr lang="en-NZ" sz="3300" b="1" dirty="0">
                  <a:solidFill>
                    <a:schemeClr val="accent1"/>
                  </a:solidFill>
                  <a:latin typeface="+mn-lt"/>
                  <a:ea typeface="+mn-ea"/>
                  <a:cs typeface="+mn-cs"/>
                </a:rPr>
                <a:t xml:space="preserve">≥60%   </a:t>
              </a:r>
            </a:p>
          </p:txBody>
        </p:sp>
        <p:sp>
          <p:nvSpPr>
            <p:cNvPr id="13" name="TextBox 13"/>
            <p:cNvSpPr/>
            <p:nvPr/>
          </p:nvSpPr>
          <p:spPr>
            <a:xfrm>
              <a:off x="4692872" y="3190875"/>
              <a:ext cx="2857500"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Assigned output displayed</a:t>
              </a:r>
            </a:p>
          </p:txBody>
        </p:sp>
        <p:sp>
          <p:nvSpPr>
            <p:cNvPr id="14" name="TextBox 14"/>
            <p:cNvSpPr/>
            <p:nvPr/>
          </p:nvSpPr>
          <p:spPr>
            <a:xfrm>
              <a:off x="4692872" y="3457575"/>
              <a:ext cx="2857500"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and recorded / review starts</a:t>
              </a:r>
            </a:p>
          </p:txBody>
        </p:sp>
        <p:sp>
          <p:nvSpPr>
            <p:cNvPr id="15" name="Rectangle 15"/>
            <p:cNvSpPr/>
            <p:nvPr/>
          </p:nvSpPr>
          <p:spPr>
            <a:xfrm>
              <a:off x="8188909" y="1809750"/>
              <a:ext cx="3488436" cy="2095500"/>
            </a:xfrm>
            <a:prstGeom prst="roundRect">
              <a:avLst>
                <a:gd name="adj" fmla="val 14269"/>
              </a:avLst>
            </a:prstGeom>
            <a:solidFill>
              <a:srgbClr val="FFF4E5"/>
            </a:solidFill>
            <a:ln>
              <a:noFill/>
            </a:ln>
          </p:spPr>
        </p:sp>
        <p:sp>
          <p:nvSpPr>
            <p:cNvPr id="16" name="TextBox 16"/>
            <p:cNvSpPr/>
            <p:nvPr/>
          </p:nvSpPr>
          <p:spPr>
            <a:xfrm>
              <a:off x="8530114" y="2105025"/>
              <a:ext cx="2857500" cy="293370"/>
            </a:xfrm>
            <a:prstGeom prst="rect">
              <a:avLst/>
            </a:prstGeom>
            <a:noFill/>
            <a:ln>
              <a:noFill/>
            </a:ln>
          </p:spPr>
          <p:txBody>
            <a:bodyPr wrap="none" lIns="0" tIns="0" rIns="0" bIns="0" anchor="t" anchorCtr="0">
              <a:noAutofit/>
            </a:bodyPr>
            <a:lstStyle/>
            <a:p>
              <a:pPr algn="l"/>
              <a:r>
                <a:rPr lang="en-NZ" sz="1500" b="1" dirty="0">
                  <a:solidFill>
                    <a:srgbClr val="9B6800"/>
                  </a:solidFill>
                  <a:latin typeface="Arial"/>
                  <a:ea typeface="Arial"/>
                  <a:cs typeface="Arial"/>
                </a:rPr>
                <a:t>ACCEPTANCE REF.</a:t>
              </a:r>
            </a:p>
          </p:txBody>
        </p:sp>
        <p:sp>
          <p:nvSpPr>
            <p:cNvPr id="17" name="TextBox 17"/>
            <p:cNvSpPr txBox="1"/>
            <p:nvPr/>
          </p:nvSpPr>
          <p:spPr>
            <a:xfrm>
              <a:off x="8520989" y="2653665"/>
              <a:ext cx="1922684" cy="645414"/>
            </a:xfrm>
            <a:prstGeom prst="rect">
              <a:avLst/>
            </a:prstGeom>
            <a:noFill/>
            <a:ln>
              <a:noFill/>
            </a:ln>
          </p:spPr>
          <p:txBody>
            <a:bodyPr wrap="none" lIns="0" tIns="0" rIns="0" bIns="0" anchor="t" anchorCtr="0">
              <a:spAutoFit/>
            </a:bodyPr>
            <a:lstStyle/>
            <a:p>
              <a:pPr algn="l"/>
              <a:r>
                <a:rPr lang="en-NZ" sz="3300" b="1" dirty="0">
                  <a:solidFill>
                    <a:schemeClr val="accent1"/>
                  </a:solidFill>
                  <a:latin typeface="+mn-lt"/>
                  <a:ea typeface="+mn-ea"/>
                  <a:cs typeface="+mn-cs"/>
                </a:rPr>
                <a:t xml:space="preserve">≥20%   </a:t>
              </a:r>
            </a:p>
          </p:txBody>
        </p:sp>
        <p:sp>
          <p:nvSpPr>
            <p:cNvPr id="18" name="TextBox 18"/>
            <p:cNvSpPr/>
            <p:nvPr/>
          </p:nvSpPr>
          <p:spPr>
            <a:xfrm>
              <a:off x="8530114" y="3190875"/>
              <a:ext cx="2857500"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Explicit treatment acceptance</a:t>
              </a:r>
            </a:p>
          </p:txBody>
        </p:sp>
        <p:sp>
          <p:nvSpPr>
            <p:cNvPr id="19" name="TextBox 19"/>
            <p:cNvSpPr/>
            <p:nvPr/>
          </p:nvSpPr>
          <p:spPr>
            <a:xfrm>
              <a:off x="8530114" y="3457575"/>
              <a:ext cx="2857500"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Diagnostic, not a sales target</a:t>
              </a:r>
            </a:p>
          </p:txBody>
        </p:sp>
      </p:grpSp>
      <p:grpSp>
        <p:nvGrpSpPr>
          <p:cNvPr id="24" name="Group 24"/>
          <p:cNvGrpSpPr/>
          <p:nvPr/>
        </p:nvGrpSpPr>
        <p:grpSpPr>
          <a:xfrm>
            <a:off x="514350" y="4714875"/>
            <a:ext cx="8020050" cy="967740"/>
            <a:chOff x="514350" y="4714875"/>
            <a:chExt cx="8020050" cy="967740"/>
          </a:xfrm>
        </p:grpSpPr>
        <p:sp>
          <p:nvSpPr>
            <p:cNvPr id="21" name="Rectangle 21"/>
            <p:cNvSpPr/>
            <p:nvPr/>
          </p:nvSpPr>
          <p:spPr>
            <a:xfrm>
              <a:off x="514350" y="4714875"/>
              <a:ext cx="8020050" cy="952500"/>
            </a:xfrm>
            <a:prstGeom prst="roundRect">
              <a:avLst>
                <a:gd name="adj" fmla="val 20000"/>
              </a:avLst>
            </a:prstGeom>
            <a:solidFill>
              <a:schemeClr val="accent1"/>
            </a:solidFill>
            <a:ln>
              <a:noFill/>
            </a:ln>
          </p:spPr>
        </p:sp>
        <p:sp>
          <p:nvSpPr>
            <p:cNvPr id="22" name="TextBox 22"/>
            <p:cNvSpPr/>
            <p:nvPr/>
          </p:nvSpPr>
          <p:spPr>
            <a:xfrm>
              <a:off x="774192" y="4950142"/>
              <a:ext cx="2171128" cy="264033"/>
            </a:xfrm>
            <a:prstGeom prst="rect">
              <a:avLst/>
            </a:prstGeom>
            <a:noFill/>
            <a:ln>
              <a:noFill/>
            </a:ln>
          </p:spPr>
          <p:txBody>
            <a:bodyPr wrap="none" lIns="0" tIns="0" rIns="0" bIns="0" anchor="t" anchorCtr="0">
              <a:noAutofit/>
            </a:bodyPr>
            <a:lstStyle/>
            <a:p>
              <a:pPr algn="l"/>
              <a:r>
                <a:rPr lang="en-NZ" sz="1350" b="1" dirty="0">
                  <a:solidFill>
                    <a:srgbClr val="FFFFFF"/>
                  </a:solidFill>
                  <a:latin typeface="Arial"/>
                  <a:ea typeface="Arial"/>
                  <a:cs typeface="Arial"/>
                </a:rPr>
                <a:t>CONTINUATION: M6A</a:t>
              </a:r>
            </a:p>
          </p:txBody>
        </p:sp>
        <p:sp>
          <p:nvSpPr>
            <p:cNvPr id="23" name="TextBox 23"/>
            <p:cNvSpPr/>
            <p:nvPr/>
          </p:nvSpPr>
          <p:spPr>
            <a:xfrm>
              <a:off x="771906" y="5282565"/>
              <a:ext cx="7620000" cy="400050"/>
            </a:xfrm>
            <a:prstGeom prst="rect">
              <a:avLst/>
            </a:prstGeom>
            <a:noFill/>
            <a:ln>
              <a:noFill/>
            </a:ln>
          </p:spPr>
          <p:txBody>
            <a:bodyPr wrap="none" lIns="0" tIns="0" rIns="0" bIns="0" anchor="t" anchorCtr="0">
              <a:noAutofit/>
            </a:bodyPr>
            <a:lstStyle/>
            <a:p>
              <a:pPr algn="l"/>
              <a:r>
                <a:rPr lang="en-NZ" sz="1800" dirty="0">
                  <a:solidFill>
                    <a:srgbClr val="FFFFFF"/>
                  </a:solidFill>
                  <a:latin typeface="Arial"/>
                  <a:ea typeface="Arial"/>
                  <a:cs typeface="Arial"/>
                </a:rPr>
                <a:t>95% CI lower bound &gt;0, data, power, guardrails and economics</a:t>
              </a:r>
            </a:p>
          </p:txBody>
        </p:sp>
      </p:grpSp>
      <p:grpSp>
        <p:nvGrpSpPr>
          <p:cNvPr id="27" name="Group 27"/>
          <p:cNvGrpSpPr/>
          <p:nvPr/>
        </p:nvGrpSpPr>
        <p:grpSpPr>
          <a:xfrm>
            <a:off x="508254" y="5909310"/>
            <a:ext cx="8020050" cy="729996"/>
            <a:chOff x="508254" y="5909310"/>
            <a:chExt cx="8020050" cy="729996"/>
          </a:xfrm>
        </p:grpSpPr>
        <p:sp>
          <p:nvSpPr>
            <p:cNvPr id="25" name="TextBox 25"/>
            <p:cNvSpPr/>
            <p:nvPr/>
          </p:nvSpPr>
          <p:spPr>
            <a:xfrm>
              <a:off x="508254" y="5909310"/>
              <a:ext cx="8020050" cy="381000"/>
            </a:xfrm>
            <a:prstGeom prst="rect">
              <a:avLst/>
            </a:prstGeom>
            <a:noFill/>
            <a:ln>
              <a:noFill/>
            </a:ln>
          </p:spPr>
          <p:txBody>
            <a:bodyPr wrap="none" lIns="0" tIns="0" rIns="0" bIns="0" anchor="t" anchorCtr="0">
              <a:noAutofit/>
            </a:bodyPr>
            <a:lstStyle/>
            <a:p>
              <a:pPr algn="l">
                <a:lnSpc>
                  <a:spcPts val="1440"/>
                </a:lnSpc>
              </a:pPr>
              <a:r>
                <a:rPr lang="en-NZ" sz="1200" dirty="0">
                  <a:solidFill>
                    <a:srgbClr val="52606D"/>
                  </a:solidFill>
                  <a:latin typeface="Arial"/>
                  <a:ea typeface="Arial"/>
                  <a:cs typeface="Arial"/>
                </a:rPr>
                <a:t>20% is not a standalone gate. Track fulfilment separately.</a:t>
              </a:r>
              <a:br/>
              <a:r>
                <a:rPr lang="en-NZ" sz="1200" dirty="0">
                  <a:solidFill>
                    <a:srgbClr val="52606D"/>
                  </a:solidFill>
                  <a:latin typeface="Arial"/>
                  <a:ea typeface="Arial"/>
                  <a:cs typeface="Arial"/>
                </a:rPr>
                <a:t>Guardrails: contribution/ARPU, trust/complaints, privacy/security and suitability.</a:t>
              </a:r>
            </a:p>
          </p:txBody>
        </p:sp>
        <p:sp>
          <p:nvSpPr>
            <p:cNvPr id="26" name="TextBox 26"/>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10   </a:t>
              </a:r>
            </a:p>
          </p:txBody>
        </p:sp>
      </p:grpSp>
      <p:sp>
        <p:nvSpPr>
          <p:cNvPr id="28" name="Rectangle 28"/>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1.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Six stages across thirty-nine weeks</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5 October 2026 to 30 June 2027. Each release requires evidence.</a:t>
              </a:r>
            </a:p>
          </p:txBody>
        </p:sp>
      </p:grpSp>
      <p:grpSp>
        <p:nvGrpSpPr>
          <p:cNvPr id="25" name="Group 25"/>
          <p:cNvGrpSpPr/>
          <p:nvPr/>
        </p:nvGrpSpPr>
        <p:grpSpPr>
          <a:xfrm>
            <a:off x="506730" y="2305050"/>
            <a:ext cx="10921441" cy="2931795"/>
            <a:chOff x="506730" y="2305050"/>
            <a:chExt cx="10921441" cy="2931795"/>
          </a:xfrm>
        </p:grpSpPr>
        <p:sp>
          <p:nvSpPr>
            <p:cNvPr id="5" name="Line 5"/>
            <p:cNvSpPr/>
            <p:nvPr/>
          </p:nvSpPr>
          <p:spPr>
            <a:xfrm>
              <a:off x="1087450" y="3143250"/>
              <a:ext cx="10066630" cy="9525"/>
            </a:xfrm>
            <a:custGeom>
              <a:avLst/>
              <a:gdLst/>
              <a:ahLst/>
              <a:cxnLst/>
              <a:rect l="l" t="t" r="r" b="b"/>
              <a:pathLst>
                <a:path w="10066630" h="9525">
                  <a:moveTo>
                    <a:pt x="0" y="0"/>
                  </a:moveTo>
                  <a:lnTo>
                    <a:pt x="10066630" y="0"/>
                  </a:lnTo>
                </a:path>
              </a:pathLst>
            </a:custGeom>
            <a:noFill/>
            <a:ln w="76200">
              <a:solidFill>
                <a:srgbClr val="9FB3C8"/>
              </a:solidFill>
            </a:ln>
          </p:spPr>
        </p:sp>
        <p:sp>
          <p:nvSpPr>
            <p:cNvPr id="6" name="Rectangle 6"/>
            <p:cNvSpPr/>
            <p:nvPr/>
          </p:nvSpPr>
          <p:spPr>
            <a:xfrm>
              <a:off x="713689" y="2305050"/>
              <a:ext cx="1619631" cy="1676400"/>
            </a:xfrm>
            <a:prstGeom prst="roundRect">
              <a:avLst>
                <a:gd name="adj" fmla="val 13846"/>
              </a:avLst>
            </a:prstGeom>
            <a:solidFill>
              <a:srgbClr val="E7F4EF"/>
            </a:solidFill>
            <a:ln>
              <a:noFill/>
            </a:ln>
          </p:spPr>
        </p:sp>
        <p:sp>
          <p:nvSpPr>
            <p:cNvPr id="7" name="Rectangle 7"/>
            <p:cNvSpPr/>
            <p:nvPr/>
          </p:nvSpPr>
          <p:spPr>
            <a:xfrm>
              <a:off x="2532659" y="2305050"/>
              <a:ext cx="1619631" cy="1676400"/>
            </a:xfrm>
            <a:prstGeom prst="roundRect">
              <a:avLst>
                <a:gd name="adj" fmla="val 13846"/>
              </a:avLst>
            </a:prstGeom>
            <a:solidFill>
              <a:srgbClr val="EAF4FF"/>
            </a:solidFill>
            <a:ln>
              <a:noFill/>
            </a:ln>
          </p:spPr>
        </p:sp>
        <p:sp>
          <p:nvSpPr>
            <p:cNvPr id="8" name="Rectangle 8"/>
            <p:cNvSpPr/>
            <p:nvPr/>
          </p:nvSpPr>
          <p:spPr>
            <a:xfrm>
              <a:off x="4351630" y="2305050"/>
              <a:ext cx="1619631" cy="1676400"/>
            </a:xfrm>
            <a:prstGeom prst="roundRect">
              <a:avLst>
                <a:gd name="adj" fmla="val 13846"/>
              </a:avLst>
            </a:prstGeom>
            <a:solidFill>
              <a:srgbClr val="EAF4FF"/>
            </a:solidFill>
            <a:ln>
              <a:noFill/>
            </a:ln>
          </p:spPr>
        </p:sp>
        <p:sp>
          <p:nvSpPr>
            <p:cNvPr id="9" name="Rectangle 9"/>
            <p:cNvSpPr/>
            <p:nvPr/>
          </p:nvSpPr>
          <p:spPr>
            <a:xfrm>
              <a:off x="6170600" y="2305050"/>
              <a:ext cx="1619631" cy="1676400"/>
            </a:xfrm>
            <a:prstGeom prst="roundRect">
              <a:avLst>
                <a:gd name="adj" fmla="val 13846"/>
              </a:avLst>
            </a:prstGeom>
            <a:solidFill>
              <a:srgbClr val="EAF4FF"/>
            </a:solidFill>
            <a:ln>
              <a:noFill/>
            </a:ln>
          </p:spPr>
        </p:sp>
        <p:sp>
          <p:nvSpPr>
            <p:cNvPr id="10" name="Rectangle 10"/>
            <p:cNvSpPr/>
            <p:nvPr/>
          </p:nvSpPr>
          <p:spPr>
            <a:xfrm>
              <a:off x="7989570" y="2305050"/>
              <a:ext cx="1619631" cy="1676400"/>
            </a:xfrm>
            <a:prstGeom prst="roundRect">
              <a:avLst>
                <a:gd name="adj" fmla="val 13846"/>
              </a:avLst>
            </a:prstGeom>
            <a:solidFill>
              <a:srgbClr val="FFF4E5"/>
            </a:solidFill>
            <a:ln>
              <a:noFill/>
            </a:ln>
          </p:spPr>
        </p:sp>
        <p:sp>
          <p:nvSpPr>
            <p:cNvPr id="11" name="Rectangle 11"/>
            <p:cNvSpPr/>
            <p:nvPr/>
          </p:nvSpPr>
          <p:spPr>
            <a:xfrm>
              <a:off x="9808540" y="2305050"/>
              <a:ext cx="1619631" cy="1676400"/>
            </a:xfrm>
            <a:prstGeom prst="roundRect">
              <a:avLst>
                <a:gd name="adj" fmla="val 13846"/>
              </a:avLst>
            </a:prstGeom>
            <a:solidFill>
              <a:schemeClr val="accent5"/>
            </a:solidFill>
            <a:ln>
              <a:noFill/>
            </a:ln>
          </p:spPr>
        </p:sp>
        <p:sp>
          <p:nvSpPr>
            <p:cNvPr id="12" name="TextBox 12"/>
            <p:cNvSpPr txBox="1"/>
            <p:nvPr/>
          </p:nvSpPr>
          <p:spPr>
            <a:xfrm>
              <a:off x="899848" y="2500312"/>
              <a:ext cx="1247313" cy="440055"/>
            </a:xfrm>
            <a:prstGeom prst="rect">
              <a:avLst/>
            </a:prstGeom>
            <a:noFill/>
            <a:ln>
              <a:noFill/>
            </a:ln>
          </p:spPr>
          <p:txBody>
            <a:bodyPr wrap="none" lIns="0" tIns="0" rIns="0" bIns="0" anchor="t" anchorCtr="0">
              <a:spAutoFit/>
            </a:bodyPr>
            <a:lstStyle/>
            <a:p>
              <a:pPr algn="ctr"/>
              <a:r>
                <a:rPr lang="en-NZ" sz="2250" b="1" dirty="0">
                  <a:solidFill>
                    <a:schemeClr val="accent3"/>
                  </a:solidFill>
                  <a:latin typeface="+mn-lt"/>
                  <a:ea typeface="+mn-ea"/>
                  <a:cs typeface="+mn-cs"/>
                </a:rPr>
                <a:t xml:space="preserve">   0   </a:t>
              </a:r>
            </a:p>
          </p:txBody>
        </p:sp>
        <p:sp>
          <p:nvSpPr>
            <p:cNvPr id="13" name="TextBox 13"/>
            <p:cNvSpPr txBox="1"/>
            <p:nvPr/>
          </p:nvSpPr>
          <p:spPr>
            <a:xfrm>
              <a:off x="2718818" y="2500312"/>
              <a:ext cx="1247313" cy="440055"/>
            </a:xfrm>
            <a:prstGeom prst="rect">
              <a:avLst/>
            </a:prstGeom>
            <a:noFill/>
            <a:ln>
              <a:noFill/>
            </a:ln>
          </p:spPr>
          <p:txBody>
            <a:bodyPr wrap="none" lIns="0" tIns="0" rIns="0" bIns="0" anchor="t" anchorCtr="0">
              <a:spAutoFit/>
            </a:bodyPr>
            <a:lstStyle/>
            <a:p>
              <a:pPr algn="ctr"/>
              <a:r>
                <a:rPr lang="en-NZ" sz="2250" b="1" dirty="0">
                  <a:solidFill>
                    <a:schemeClr val="accent2"/>
                  </a:solidFill>
                  <a:latin typeface="+mn-lt"/>
                  <a:ea typeface="+mn-ea"/>
                  <a:cs typeface="+mn-cs"/>
                </a:rPr>
                <a:t xml:space="preserve">   1   </a:t>
              </a:r>
            </a:p>
          </p:txBody>
        </p:sp>
        <p:sp>
          <p:nvSpPr>
            <p:cNvPr id="14" name="TextBox 14"/>
            <p:cNvSpPr txBox="1"/>
            <p:nvPr/>
          </p:nvSpPr>
          <p:spPr>
            <a:xfrm>
              <a:off x="4537789" y="2500312"/>
              <a:ext cx="1247313" cy="440055"/>
            </a:xfrm>
            <a:prstGeom prst="rect">
              <a:avLst/>
            </a:prstGeom>
            <a:noFill/>
            <a:ln>
              <a:noFill/>
            </a:ln>
          </p:spPr>
          <p:txBody>
            <a:bodyPr wrap="none" lIns="0" tIns="0" rIns="0" bIns="0" anchor="t" anchorCtr="0">
              <a:spAutoFit/>
            </a:bodyPr>
            <a:lstStyle/>
            <a:p>
              <a:pPr algn="ctr"/>
              <a:r>
                <a:rPr lang="en-NZ" sz="2250" b="1" dirty="0">
                  <a:solidFill>
                    <a:schemeClr val="accent2"/>
                  </a:solidFill>
                  <a:latin typeface="+mn-lt"/>
                  <a:ea typeface="+mn-ea"/>
                  <a:cs typeface="+mn-cs"/>
                </a:rPr>
                <a:t xml:space="preserve">   2   </a:t>
              </a:r>
            </a:p>
          </p:txBody>
        </p:sp>
        <p:sp>
          <p:nvSpPr>
            <p:cNvPr id="15" name="TextBox 15"/>
            <p:cNvSpPr txBox="1"/>
            <p:nvPr/>
          </p:nvSpPr>
          <p:spPr>
            <a:xfrm>
              <a:off x="6356759" y="2500312"/>
              <a:ext cx="1247313" cy="440055"/>
            </a:xfrm>
            <a:prstGeom prst="rect">
              <a:avLst/>
            </a:prstGeom>
            <a:noFill/>
            <a:ln>
              <a:noFill/>
            </a:ln>
          </p:spPr>
          <p:txBody>
            <a:bodyPr wrap="none" lIns="0" tIns="0" rIns="0" bIns="0" anchor="t" anchorCtr="0">
              <a:spAutoFit/>
            </a:bodyPr>
            <a:lstStyle/>
            <a:p>
              <a:pPr algn="ctr"/>
              <a:r>
                <a:rPr lang="en-NZ" sz="2250" b="1" dirty="0">
                  <a:solidFill>
                    <a:schemeClr val="accent2"/>
                  </a:solidFill>
                  <a:latin typeface="+mn-lt"/>
                  <a:ea typeface="+mn-ea"/>
                  <a:cs typeface="+mn-cs"/>
                </a:rPr>
                <a:t xml:space="preserve">   3   </a:t>
              </a:r>
            </a:p>
          </p:txBody>
        </p:sp>
        <p:sp>
          <p:nvSpPr>
            <p:cNvPr id="16" name="TextBox 16"/>
            <p:cNvSpPr txBox="1"/>
            <p:nvPr/>
          </p:nvSpPr>
          <p:spPr>
            <a:xfrm>
              <a:off x="8175729" y="2500312"/>
              <a:ext cx="1247313" cy="440055"/>
            </a:xfrm>
            <a:prstGeom prst="rect">
              <a:avLst/>
            </a:prstGeom>
            <a:noFill/>
            <a:ln>
              <a:noFill/>
            </a:ln>
          </p:spPr>
          <p:txBody>
            <a:bodyPr wrap="none" lIns="0" tIns="0" rIns="0" bIns="0" anchor="t" anchorCtr="0">
              <a:spAutoFit/>
            </a:bodyPr>
            <a:lstStyle/>
            <a:p>
              <a:pPr algn="ctr"/>
              <a:r>
                <a:rPr lang="en-NZ" sz="2250" b="1" dirty="0">
                  <a:solidFill>
                    <a:srgbClr val="9B6800"/>
                  </a:solidFill>
                  <a:latin typeface="+mn-lt"/>
                  <a:ea typeface="+mn-ea"/>
                  <a:cs typeface="+mn-cs"/>
                </a:rPr>
                <a:t xml:space="preserve">   4   </a:t>
              </a:r>
            </a:p>
          </p:txBody>
        </p:sp>
        <p:sp>
          <p:nvSpPr>
            <p:cNvPr id="17" name="TextBox 17"/>
            <p:cNvSpPr txBox="1"/>
            <p:nvPr/>
          </p:nvSpPr>
          <p:spPr>
            <a:xfrm>
              <a:off x="9994699" y="2500312"/>
              <a:ext cx="1247313" cy="440055"/>
            </a:xfrm>
            <a:prstGeom prst="rect">
              <a:avLst/>
            </a:prstGeom>
            <a:noFill/>
            <a:ln>
              <a:noFill/>
            </a:ln>
          </p:spPr>
          <p:txBody>
            <a:bodyPr wrap="none" lIns="0" tIns="0" rIns="0" bIns="0" anchor="t" anchorCtr="0">
              <a:spAutoFit/>
            </a:bodyPr>
            <a:lstStyle/>
            <a:p>
              <a:pPr algn="ctr"/>
              <a:r>
                <a:rPr lang="en-NZ" sz="2250" b="1" dirty="0">
                  <a:solidFill>
                    <a:srgbClr val="52606D"/>
                  </a:solidFill>
                  <a:latin typeface="+mn-lt"/>
                  <a:ea typeface="+mn-ea"/>
                  <a:cs typeface="+mn-cs"/>
                </a:rPr>
                <a:t xml:space="preserve">   5   </a:t>
              </a:r>
            </a:p>
          </p:txBody>
        </p:sp>
        <p:sp>
          <p:nvSpPr>
            <p:cNvPr id="18" name="TextBox 18"/>
            <p:cNvSpPr txBox="1"/>
            <p:nvPr/>
          </p:nvSpPr>
          <p:spPr>
            <a:xfrm>
              <a:off x="748551" y="3397568"/>
              <a:ext cx="1549908"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Mechanism   </a:t>
              </a:r>
            </a:p>
          </p:txBody>
        </p:sp>
        <p:sp>
          <p:nvSpPr>
            <p:cNvPr id="19" name="TextBox 19"/>
            <p:cNvSpPr txBox="1"/>
            <p:nvPr/>
          </p:nvSpPr>
          <p:spPr>
            <a:xfrm>
              <a:off x="2676735" y="3397568"/>
              <a:ext cx="1331481"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Baseline   </a:t>
              </a:r>
            </a:p>
          </p:txBody>
        </p:sp>
        <p:sp>
          <p:nvSpPr>
            <p:cNvPr id="20" name="TextBox 20"/>
            <p:cNvSpPr txBox="1"/>
            <p:nvPr/>
          </p:nvSpPr>
          <p:spPr>
            <a:xfrm>
              <a:off x="4572129" y="3397568"/>
              <a:ext cx="1178633"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Design   </a:t>
              </a:r>
            </a:p>
          </p:txBody>
        </p:sp>
        <p:sp>
          <p:nvSpPr>
            <p:cNvPr id="21" name="TextBox 21"/>
            <p:cNvSpPr txBox="1"/>
            <p:nvPr/>
          </p:nvSpPr>
          <p:spPr>
            <a:xfrm>
              <a:off x="6463528" y="3397568"/>
              <a:ext cx="1033775"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Build   </a:t>
              </a:r>
            </a:p>
          </p:txBody>
        </p:sp>
        <p:sp>
          <p:nvSpPr>
            <p:cNvPr id="22" name="TextBox 22"/>
            <p:cNvSpPr txBox="1"/>
            <p:nvPr/>
          </p:nvSpPr>
          <p:spPr>
            <a:xfrm>
              <a:off x="8282498" y="3397568"/>
              <a:ext cx="1033775"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Pilot   </a:t>
              </a:r>
            </a:p>
          </p:txBody>
        </p:sp>
        <p:sp>
          <p:nvSpPr>
            <p:cNvPr id="23" name="TextBox 23"/>
            <p:cNvSpPr txBox="1"/>
            <p:nvPr/>
          </p:nvSpPr>
          <p:spPr>
            <a:xfrm>
              <a:off x="9906860" y="3397568"/>
              <a:ext cx="1422992"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Handover   </a:t>
              </a:r>
            </a:p>
          </p:txBody>
        </p:sp>
        <p:sp>
          <p:nvSpPr>
            <p:cNvPr id="24" name="TextBox 24"/>
            <p:cNvSpPr/>
            <p:nvPr/>
          </p:nvSpPr>
          <p:spPr>
            <a:xfrm>
              <a:off x="506730" y="4943475"/>
              <a:ext cx="5212652" cy="293370"/>
            </a:xfrm>
            <a:prstGeom prst="rect">
              <a:avLst/>
            </a:prstGeom>
            <a:noFill/>
            <a:ln>
              <a:noFill/>
            </a:ln>
          </p:spPr>
          <p:txBody>
            <a:bodyPr wrap="none" lIns="0" tIns="0" rIns="0" bIns="0" anchor="t" anchorCtr="0">
              <a:noAutofit/>
            </a:bodyPr>
            <a:lstStyle/>
            <a:p>
              <a:pPr algn="l"/>
              <a:r>
                <a:rPr lang="en-NZ" sz="1500" b="1" dirty="0">
                  <a:solidFill>
                    <a:srgbClr val="C43D3D"/>
                  </a:solidFill>
                  <a:latin typeface="Arial"/>
                  <a:ea typeface="Arial"/>
                  <a:cs typeface="Arial"/>
                </a:rPr>
                <a:t>3-WEEK COHORT, THEN 90-DAY MATURATION</a:t>
              </a:r>
            </a:p>
          </p:txBody>
        </p:sp>
      </p:grpSp>
      <p:grpSp>
        <p:nvGrpSpPr>
          <p:cNvPr id="28" name="Group 28"/>
          <p:cNvGrpSpPr/>
          <p:nvPr/>
        </p:nvGrpSpPr>
        <p:grpSpPr>
          <a:xfrm>
            <a:off x="508254" y="5909310"/>
            <a:ext cx="8020050" cy="729996"/>
            <a:chOff x="508254" y="5909310"/>
            <a:chExt cx="8020050" cy="729996"/>
          </a:xfrm>
        </p:grpSpPr>
        <p:sp>
          <p:nvSpPr>
            <p:cNvPr id="26" name="TextBox 26"/>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Year-end freeze retained. M7 may permit capped continuation only. Lecture 7, slides 31–40, 47–48.</a:t>
              </a:r>
            </a:p>
          </p:txBody>
        </p:sp>
        <p:sp>
          <p:nvSpPr>
            <p:cNvPr id="27" name="TextBox 27"/>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11   </a:t>
              </a:r>
            </a:p>
          </p:txBody>
        </p:sp>
      </p:grpSp>
      <p:sp>
        <p:nvSpPr>
          <p:cNvPr id="29" name="Rectangle 29"/>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2.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Clear ownership and a usable handover</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Fictional consulting team proposed for this engagement</a:t>
              </a:r>
            </a:p>
          </p:txBody>
        </p:sp>
      </p:grpSp>
      <p:grpSp>
        <p:nvGrpSpPr>
          <p:cNvPr id="17" name="Group 17"/>
          <p:cNvGrpSpPr/>
          <p:nvPr/>
        </p:nvGrpSpPr>
        <p:grpSpPr>
          <a:xfrm>
            <a:off x="895350" y="1704975"/>
            <a:ext cx="10039350" cy="2762250"/>
            <a:chOff x="895350" y="1704975"/>
            <a:chExt cx="10039350" cy="2762250"/>
          </a:xfrm>
        </p:grpSpPr>
        <p:sp>
          <p:nvSpPr>
            <p:cNvPr id="5" name="Ellipse 5"/>
            <p:cNvSpPr/>
            <p:nvPr/>
          </p:nvSpPr>
          <p:spPr>
            <a:xfrm>
              <a:off x="895350" y="1704975"/>
              <a:ext cx="5524500" cy="2762250"/>
            </a:xfrm>
            <a:prstGeom prst="ellipse">
              <a:avLst/>
            </a:prstGeom>
            <a:solidFill>
              <a:srgbClr val="EAF4FF"/>
            </a:solidFill>
            <a:ln w="28575">
              <a:solidFill>
                <a:schemeClr val="accent2"/>
              </a:solidFill>
            </a:ln>
          </p:spPr>
        </p:sp>
        <p:sp>
          <p:nvSpPr>
            <p:cNvPr id="6" name="Ellipse 6"/>
            <p:cNvSpPr/>
            <p:nvPr/>
          </p:nvSpPr>
          <p:spPr>
            <a:xfrm>
              <a:off x="5410200" y="1704975"/>
              <a:ext cx="5524500" cy="2762250"/>
            </a:xfrm>
            <a:prstGeom prst="ellipse">
              <a:avLst/>
            </a:prstGeom>
            <a:solidFill>
              <a:srgbClr val="E7F4EF"/>
            </a:solidFill>
            <a:ln w="28575">
              <a:solidFill>
                <a:schemeClr val="accent3"/>
              </a:solidFill>
            </a:ln>
          </p:spPr>
        </p:sp>
        <p:sp>
          <p:nvSpPr>
            <p:cNvPr id="7" name="TextBox 7"/>
            <p:cNvSpPr txBox="1"/>
            <p:nvPr/>
          </p:nvSpPr>
          <p:spPr>
            <a:xfrm>
              <a:off x="1305836" y="2208848"/>
              <a:ext cx="3674829" cy="381381"/>
            </a:xfrm>
            <a:prstGeom prst="rect">
              <a:avLst/>
            </a:prstGeom>
            <a:noFill/>
            <a:ln>
              <a:noFill/>
            </a:ln>
          </p:spPr>
          <p:txBody>
            <a:bodyPr wrap="none" lIns="0" tIns="0" rIns="0" bIns="0" anchor="t" anchorCtr="0">
              <a:spAutoFit/>
            </a:bodyPr>
            <a:lstStyle/>
            <a:p>
              <a:pPr algn="ctr"/>
              <a:r>
                <a:rPr lang="en-NZ" sz="1950" b="1" dirty="0">
                  <a:solidFill>
                    <a:schemeClr val="accent2"/>
                  </a:solidFill>
                  <a:latin typeface="+mn-lt"/>
                  <a:ea typeface="+mn-ea"/>
                  <a:cs typeface="+mn-cs"/>
                </a:rPr>
                <a:t xml:space="preserve">   PROPOSED DELIVERY   </a:t>
              </a:r>
            </a:p>
          </p:txBody>
        </p:sp>
        <p:sp>
          <p:nvSpPr>
            <p:cNvPr id="8" name="TextBox 8"/>
            <p:cNvSpPr txBox="1"/>
            <p:nvPr/>
          </p:nvSpPr>
          <p:spPr>
            <a:xfrm>
              <a:off x="1569653" y="2679382"/>
              <a:ext cx="3147194" cy="322707"/>
            </a:xfrm>
            <a:prstGeom prst="rect">
              <a:avLst/>
            </a:prstGeom>
            <a:noFill/>
            <a:ln>
              <a:noFill/>
            </a:ln>
          </p:spPr>
          <p:txBody>
            <a:bodyPr wrap="none" lIns="0" tIns="0" rIns="0" bIns="0" anchor="t" anchorCtr="0">
              <a:spAutoFit/>
            </a:bodyPr>
            <a:lstStyle/>
            <a:p>
              <a:pPr algn="ctr"/>
              <a:r>
                <a:rPr lang="en-NZ" sz="1650" dirty="0">
                  <a:solidFill>
                    <a:schemeClr val="dk1"/>
                  </a:solidFill>
                  <a:latin typeface="+mn-lt"/>
                  <a:ea typeface="+mn-ea"/>
                  <a:cs typeface="+mn-cs"/>
                </a:rPr>
                <a:t xml:space="preserve">   Engagement · Process   </a:t>
              </a:r>
            </a:p>
          </p:txBody>
        </p:sp>
        <p:sp>
          <p:nvSpPr>
            <p:cNvPr id="9" name="TextBox 9"/>
            <p:cNvSpPr txBox="1"/>
            <p:nvPr/>
          </p:nvSpPr>
          <p:spPr>
            <a:xfrm>
              <a:off x="1952115" y="3003232"/>
              <a:ext cx="2382269" cy="322707"/>
            </a:xfrm>
            <a:prstGeom prst="rect">
              <a:avLst/>
            </a:prstGeom>
            <a:noFill/>
            <a:ln>
              <a:noFill/>
            </a:ln>
          </p:spPr>
          <p:txBody>
            <a:bodyPr wrap="none" lIns="0" tIns="0" rIns="0" bIns="0" anchor="t" anchorCtr="0">
              <a:spAutoFit/>
            </a:bodyPr>
            <a:lstStyle/>
            <a:p>
              <a:pPr algn="ctr"/>
              <a:r>
                <a:rPr lang="en-NZ" sz="1650" dirty="0">
                  <a:solidFill>
                    <a:schemeClr val="dk1"/>
                  </a:solidFill>
                  <a:latin typeface="+mn-lt"/>
                  <a:ea typeface="+mn-ea"/>
                  <a:cs typeface="+mn-cs"/>
                </a:rPr>
                <a:t xml:space="preserve">   Data · Solution   </a:t>
              </a:r>
            </a:p>
          </p:txBody>
        </p:sp>
        <p:sp>
          <p:nvSpPr>
            <p:cNvPr id="10" name="TextBox 10"/>
            <p:cNvSpPr/>
            <p:nvPr/>
          </p:nvSpPr>
          <p:spPr>
            <a:xfrm>
              <a:off x="1403699" y="3327082"/>
              <a:ext cx="3479197" cy="322707"/>
            </a:xfrm>
            <a:prstGeom prst="rect">
              <a:avLst/>
            </a:prstGeom>
            <a:noFill/>
            <a:ln>
              <a:noFill/>
            </a:ln>
          </p:spPr>
          <p:txBody>
            <a:bodyPr wrap="none" lIns="0" tIns="0" rIns="95" bIns="0" anchor="t" anchorCtr="0">
              <a:noAutofit/>
            </a:bodyPr>
            <a:lstStyle/>
            <a:p>
              <a:pPr algn="ctr"/>
              <a:r>
                <a:rPr lang="en-NZ" sz="1650" dirty="0">
                  <a:solidFill>
                    <a:srgbClr val="243B53"/>
                  </a:solidFill>
                  <a:latin typeface="Arial"/>
                  <a:ea typeface="Arial"/>
                  <a:cs typeface="Arial"/>
                </a:rPr>
                <a:t>Change / PMO</a:t>
              </a:r>
            </a:p>
          </p:txBody>
        </p:sp>
        <p:sp>
          <p:nvSpPr>
            <p:cNvPr id="11" name="TextBox 11"/>
            <p:cNvSpPr txBox="1"/>
            <p:nvPr/>
          </p:nvSpPr>
          <p:spPr>
            <a:xfrm>
              <a:off x="6881900" y="2208848"/>
              <a:ext cx="3762200" cy="381381"/>
            </a:xfrm>
            <a:prstGeom prst="rect">
              <a:avLst/>
            </a:prstGeom>
            <a:noFill/>
            <a:ln>
              <a:noFill/>
            </a:ln>
          </p:spPr>
          <p:txBody>
            <a:bodyPr wrap="none" lIns="0" tIns="0" rIns="0" bIns="0" anchor="t" anchorCtr="0">
              <a:spAutoFit/>
            </a:bodyPr>
            <a:lstStyle/>
            <a:p>
              <a:pPr algn="ctr"/>
              <a:r>
                <a:rPr lang="en-NZ" sz="1950" b="1" dirty="0">
                  <a:solidFill>
                    <a:schemeClr val="accent3"/>
                  </a:solidFill>
                  <a:latin typeface="+mn-lt"/>
                  <a:ea typeface="+mn-ea"/>
                  <a:cs typeface="+mn-cs"/>
                </a:rPr>
                <a:t xml:space="preserve">   REQUIRED AUTHORITY   </a:t>
              </a:r>
            </a:p>
          </p:txBody>
        </p:sp>
        <p:sp>
          <p:nvSpPr>
            <p:cNvPr id="12" name="TextBox 12"/>
            <p:cNvSpPr/>
            <p:nvPr/>
          </p:nvSpPr>
          <p:spPr>
            <a:xfrm>
              <a:off x="7016972" y="2679382"/>
              <a:ext cx="3492151" cy="322707"/>
            </a:xfrm>
            <a:prstGeom prst="rect">
              <a:avLst/>
            </a:prstGeom>
            <a:noFill/>
            <a:ln>
              <a:noFill/>
            </a:ln>
          </p:spPr>
          <p:txBody>
            <a:bodyPr wrap="none" lIns="0" tIns="0" rIns="95" bIns="0" anchor="t" anchorCtr="0">
              <a:noAutofit/>
            </a:bodyPr>
            <a:lstStyle/>
            <a:p>
              <a:pPr algn="ctr"/>
              <a:r>
                <a:rPr lang="en-NZ" sz="1650" dirty="0">
                  <a:solidFill>
                    <a:srgbClr val="243B53"/>
                  </a:solidFill>
                  <a:latin typeface="Arial"/>
                  <a:ea typeface="Arial"/>
                  <a:cs typeface="Arial"/>
                </a:rPr>
                <a:t>Sponsor / Process / Product</a:t>
              </a:r>
            </a:p>
          </p:txBody>
        </p:sp>
        <p:sp>
          <p:nvSpPr>
            <p:cNvPr id="13" name="TextBox 13"/>
            <p:cNvSpPr/>
            <p:nvPr/>
          </p:nvSpPr>
          <p:spPr>
            <a:xfrm>
              <a:off x="7267670" y="3003232"/>
              <a:ext cx="2990660" cy="322707"/>
            </a:xfrm>
            <a:prstGeom prst="rect">
              <a:avLst/>
            </a:prstGeom>
            <a:noFill/>
            <a:ln>
              <a:noFill/>
            </a:ln>
          </p:spPr>
          <p:txBody>
            <a:bodyPr wrap="none" lIns="0" tIns="0" rIns="0" bIns="0" anchor="t" anchorCtr="0">
              <a:noAutofit/>
            </a:bodyPr>
            <a:lstStyle/>
            <a:p>
              <a:pPr algn="ctr"/>
              <a:r>
                <a:rPr lang="en-NZ" sz="1650" dirty="0">
                  <a:solidFill>
                    <a:srgbClr val="243B53"/>
                  </a:solidFill>
                  <a:latin typeface="Arial"/>
                  <a:ea typeface="Arial"/>
                  <a:cs typeface="Arial"/>
                </a:rPr>
                <a:t>Engineering / Data / Security</a:t>
              </a:r>
            </a:p>
          </p:txBody>
        </p:sp>
        <p:sp>
          <p:nvSpPr>
            <p:cNvPr id="14" name="TextBox 14"/>
            <p:cNvSpPr/>
            <p:nvPr/>
          </p:nvSpPr>
          <p:spPr>
            <a:xfrm>
              <a:off x="6884765" y="3327082"/>
              <a:ext cx="3756470" cy="322707"/>
            </a:xfrm>
            <a:prstGeom prst="rect">
              <a:avLst/>
            </a:prstGeom>
            <a:noFill/>
            <a:ln>
              <a:noFill/>
            </a:ln>
          </p:spPr>
          <p:txBody>
            <a:bodyPr wrap="none" lIns="0" tIns="0" rIns="0" bIns="0" anchor="t" anchorCtr="0">
              <a:noAutofit/>
            </a:bodyPr>
            <a:lstStyle/>
            <a:p>
              <a:pPr algn="ctr"/>
              <a:r>
                <a:rPr lang="en-NZ" sz="1650" dirty="0">
                  <a:solidFill>
                    <a:srgbClr val="243B53"/>
                  </a:solidFill>
                  <a:latin typeface="Arial"/>
                  <a:ea typeface="Arial"/>
                  <a:cs typeface="Arial"/>
                </a:rPr>
                <a:t>Finance / Privacy</a:t>
              </a:r>
            </a:p>
          </p:txBody>
        </p:sp>
        <p:sp>
          <p:nvSpPr>
            <p:cNvPr id="15" name="Rectangle 15"/>
            <p:cNvSpPr/>
            <p:nvPr/>
          </p:nvSpPr>
          <p:spPr>
            <a:xfrm>
              <a:off x="4419600" y="3886200"/>
              <a:ext cx="3067050" cy="476250"/>
            </a:xfrm>
            <a:prstGeom prst="roundRect">
              <a:avLst>
                <a:gd name="adj" fmla="val 50000"/>
              </a:avLst>
            </a:prstGeom>
            <a:solidFill>
              <a:schemeClr val="accent1"/>
            </a:solidFill>
            <a:ln>
              <a:noFill/>
            </a:ln>
          </p:spPr>
        </p:sp>
        <p:sp>
          <p:nvSpPr>
            <p:cNvPr id="16" name="TextBox 16"/>
            <p:cNvSpPr txBox="1"/>
            <p:nvPr/>
          </p:nvSpPr>
          <p:spPr>
            <a:xfrm>
              <a:off x="4524951" y="4027646"/>
              <a:ext cx="2856348" cy="278702"/>
            </a:xfrm>
            <a:prstGeom prst="rect">
              <a:avLst/>
            </a:prstGeom>
            <a:noFill/>
            <a:ln>
              <a:noFill/>
            </a:ln>
          </p:spPr>
          <p:txBody>
            <a:bodyPr wrap="none" lIns="0" tIns="0" rIns="0" bIns="0" anchor="t" anchorCtr="0">
              <a:spAutoFit/>
            </a:bodyPr>
            <a:lstStyle/>
            <a:p>
              <a:pPr algn="ctr"/>
              <a:r>
                <a:rPr lang="en-NZ" sz="1420" b="1" dirty="0">
                  <a:solidFill>
                    <a:srgbClr val="FFFFFF"/>
                  </a:solidFill>
                  <a:latin typeface="+mn-lt"/>
                  <a:ea typeface="+mn-ea"/>
                  <a:cs typeface="+mn-cs"/>
                </a:rPr>
                <a:t xml:space="preserve">   OWNERS AT EACH GATE   </a:t>
              </a:r>
            </a:p>
          </p:txBody>
        </p:sp>
      </p:grpSp>
      <p:grpSp>
        <p:nvGrpSpPr>
          <p:cNvPr id="20" name="Group 20"/>
          <p:cNvGrpSpPr/>
          <p:nvPr/>
        </p:nvGrpSpPr>
        <p:grpSpPr>
          <a:xfrm>
            <a:off x="508254" y="5143500"/>
            <a:ext cx="8020050" cy="1495806"/>
            <a:chOff x="508254" y="5143500"/>
            <a:chExt cx="8020050" cy="1495806"/>
          </a:xfrm>
        </p:grpSpPr>
        <p:sp>
          <p:nvSpPr>
            <p:cNvPr id="18" name="TextBox 18"/>
            <p:cNvSpPr/>
            <p:nvPr/>
          </p:nvSpPr>
          <p:spPr>
            <a:xfrm>
              <a:off x="508254" y="5143500"/>
              <a:ext cx="8020050" cy="723900"/>
            </a:xfrm>
            <a:prstGeom prst="rect">
              <a:avLst/>
            </a:prstGeom>
            <a:noFill/>
            <a:ln>
              <a:noFill/>
            </a:ln>
          </p:spPr>
          <p:txBody>
            <a:bodyPr wrap="none" lIns="0" tIns="5715" rIns="0" bIns="0" anchor="t" anchorCtr="0">
              <a:noAutofit/>
            </a:bodyPr>
            <a:lstStyle/>
            <a:p>
              <a:pPr algn="l">
                <a:lnSpc>
                  <a:spcPts val="2250"/>
                </a:lnSpc>
              </a:pPr>
              <a:r>
                <a:rPr lang="en-NZ" sz="1800" dirty="0">
                  <a:solidFill>
                    <a:srgbClr val="52606D"/>
                  </a:solidFill>
                  <a:latin typeface="Arial"/>
                  <a:ea typeface="Arial"/>
                  <a:cs typeface="Arial"/>
                </a:rPr>
                <a:t>Handover: reproduce the analysis and demonstrate rollback.</a:t>
              </a:r>
              <a:br/>
              <a:r>
                <a:rPr lang="en-NZ" sz="1800" dirty="0">
                  <a:solidFill>
                    <a:srgbClr val="52606D"/>
                  </a:solidFill>
                  <a:latin typeface="Arial"/>
                  <a:ea typeface="Arial"/>
                  <a:cs typeface="Arial"/>
                </a:rPr>
                <a:t>Spark appointments pending. A2-D1, §11.2.</a:t>
              </a:r>
            </a:p>
          </p:txBody>
        </p:sp>
        <p:sp>
          <p:nvSpPr>
            <p:cNvPr id="19" name="TextBox 19"/>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12   </a:t>
              </a:r>
            </a:p>
          </p:txBody>
        </p:sp>
      </p:grpSp>
      <p:sp>
        <p:nvSpPr>
          <p:cNvPr id="21" name="Rectangle 21"/>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3.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Train the team, then expand in stages</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Practise explanations, corrections and escalation before release.</a:t>
              </a:r>
            </a:p>
          </p:txBody>
        </p:sp>
      </p:grpSp>
      <p:grpSp>
        <p:nvGrpSpPr>
          <p:cNvPr id="19" name="Group 19"/>
          <p:cNvGrpSpPr/>
          <p:nvPr/>
        </p:nvGrpSpPr>
        <p:grpSpPr>
          <a:xfrm>
            <a:off x="397000" y="1805940"/>
            <a:ext cx="11112057" cy="3421380"/>
            <a:chOff x="397000" y="1805940"/>
            <a:chExt cx="11112057" cy="3421380"/>
          </a:xfrm>
        </p:grpSpPr>
        <p:sp>
          <p:nvSpPr>
            <p:cNvPr id="5" name="Rectangle 5"/>
            <p:cNvSpPr/>
            <p:nvPr/>
          </p:nvSpPr>
          <p:spPr>
            <a:xfrm>
              <a:off x="514350" y="3533775"/>
              <a:ext cx="2457640" cy="685800"/>
            </a:xfrm>
            <a:prstGeom prst="rect">
              <a:avLst/>
            </a:prstGeom>
            <a:solidFill>
              <a:srgbClr val="E7F4EF"/>
            </a:solidFill>
            <a:ln>
              <a:noFill/>
            </a:ln>
          </p:spPr>
        </p:sp>
        <p:sp>
          <p:nvSpPr>
            <p:cNvPr id="6" name="Rectangle 6"/>
            <p:cNvSpPr/>
            <p:nvPr/>
          </p:nvSpPr>
          <p:spPr>
            <a:xfrm>
              <a:off x="2971990" y="3122295"/>
              <a:ext cx="2457640" cy="1097280"/>
            </a:xfrm>
            <a:prstGeom prst="rect">
              <a:avLst/>
            </a:prstGeom>
            <a:solidFill>
              <a:srgbClr val="D9EEF1"/>
            </a:solidFill>
            <a:ln>
              <a:noFill/>
            </a:ln>
          </p:spPr>
        </p:sp>
        <p:sp>
          <p:nvSpPr>
            <p:cNvPr id="7" name="Rectangle 7"/>
            <p:cNvSpPr/>
            <p:nvPr/>
          </p:nvSpPr>
          <p:spPr>
            <a:xfrm>
              <a:off x="5429631" y="2505075"/>
              <a:ext cx="2457640" cy="1714500"/>
            </a:xfrm>
            <a:prstGeom prst="rect">
              <a:avLst/>
            </a:prstGeom>
            <a:solidFill>
              <a:srgbClr val="C8E3FA"/>
            </a:solidFill>
            <a:ln>
              <a:noFill/>
            </a:ln>
          </p:spPr>
        </p:sp>
        <p:sp>
          <p:nvSpPr>
            <p:cNvPr id="8" name="Rectangle 8"/>
            <p:cNvSpPr/>
            <p:nvPr/>
          </p:nvSpPr>
          <p:spPr>
            <a:xfrm>
              <a:off x="7887271" y="1819275"/>
              <a:ext cx="3621786" cy="2400300"/>
            </a:xfrm>
            <a:prstGeom prst="rect">
              <a:avLst/>
            </a:prstGeom>
            <a:solidFill>
              <a:srgbClr val="B5D4F4"/>
            </a:solidFill>
            <a:ln>
              <a:noFill/>
            </a:ln>
          </p:spPr>
        </p:sp>
        <p:sp>
          <p:nvSpPr>
            <p:cNvPr id="9" name="TextBox 9"/>
            <p:cNvSpPr txBox="1"/>
            <p:nvPr/>
          </p:nvSpPr>
          <p:spPr>
            <a:xfrm>
              <a:off x="397000" y="3520440"/>
              <a:ext cx="2692340" cy="645414"/>
            </a:xfrm>
            <a:prstGeom prst="rect">
              <a:avLst/>
            </a:prstGeom>
            <a:noFill/>
            <a:ln>
              <a:noFill/>
            </a:ln>
          </p:spPr>
          <p:txBody>
            <a:bodyPr wrap="none" lIns="0" tIns="0" rIns="0" bIns="0" anchor="t" anchorCtr="0">
              <a:spAutoFit/>
            </a:bodyPr>
            <a:lstStyle/>
            <a:p>
              <a:pPr algn="ctr"/>
              <a:r>
                <a:rPr lang="en-NZ" sz="3300" b="1" dirty="0">
                  <a:solidFill>
                    <a:schemeClr val="accent3"/>
                  </a:solidFill>
                  <a:latin typeface="+mn-lt"/>
                  <a:ea typeface="+mn-ea"/>
                  <a:cs typeface="+mn-cs"/>
                </a:rPr>
                <a:t xml:space="preserve">   ≤10%   </a:t>
              </a:r>
            </a:p>
          </p:txBody>
        </p:sp>
        <p:sp>
          <p:nvSpPr>
            <p:cNvPr id="10" name="TextBox 10"/>
            <p:cNvSpPr txBox="1"/>
            <p:nvPr/>
          </p:nvSpPr>
          <p:spPr>
            <a:xfrm>
              <a:off x="2982917" y="3108960"/>
              <a:ext cx="2435788" cy="645414"/>
            </a:xfrm>
            <a:prstGeom prst="rect">
              <a:avLst/>
            </a:prstGeom>
            <a:noFill/>
            <a:ln>
              <a:noFill/>
            </a:ln>
          </p:spPr>
          <p:txBody>
            <a:bodyPr wrap="none" lIns="0" tIns="0" rIns="0" bIns="0" anchor="t" anchorCtr="0">
              <a:spAutoFit/>
            </a:bodyPr>
            <a:lstStyle/>
            <a:p>
              <a:pPr algn="ctr"/>
              <a:r>
                <a:rPr lang="en-NZ" sz="3300" b="1" dirty="0">
                  <a:solidFill>
                    <a:schemeClr val="accent3"/>
                  </a:solidFill>
                  <a:latin typeface="+mn-lt"/>
                  <a:ea typeface="+mn-ea"/>
                  <a:cs typeface="+mn-cs"/>
                </a:rPr>
                <a:t xml:space="preserve">   25%   </a:t>
              </a:r>
            </a:p>
          </p:txBody>
        </p:sp>
        <p:sp>
          <p:nvSpPr>
            <p:cNvPr id="11" name="TextBox 11"/>
            <p:cNvSpPr txBox="1"/>
            <p:nvPr/>
          </p:nvSpPr>
          <p:spPr>
            <a:xfrm>
              <a:off x="5440557" y="2491740"/>
              <a:ext cx="2435788" cy="645414"/>
            </a:xfrm>
            <a:prstGeom prst="rect">
              <a:avLst/>
            </a:prstGeom>
            <a:noFill/>
            <a:ln>
              <a:noFill/>
            </a:ln>
          </p:spPr>
          <p:txBody>
            <a:bodyPr wrap="none" lIns="0" tIns="0" rIns="0" bIns="0" anchor="t" anchorCtr="0">
              <a:spAutoFit/>
            </a:bodyPr>
            <a:lstStyle/>
            <a:p>
              <a:pPr algn="ctr"/>
              <a:r>
                <a:rPr lang="en-NZ" sz="3300" b="1" dirty="0">
                  <a:solidFill>
                    <a:schemeClr val="accent2"/>
                  </a:solidFill>
                  <a:latin typeface="+mn-lt"/>
                  <a:ea typeface="+mn-ea"/>
                  <a:cs typeface="+mn-cs"/>
                </a:rPr>
                <a:t xml:space="preserve">   50%   </a:t>
              </a:r>
            </a:p>
          </p:txBody>
        </p:sp>
        <p:sp>
          <p:nvSpPr>
            <p:cNvPr id="12" name="TextBox 12"/>
            <p:cNvSpPr txBox="1"/>
            <p:nvPr/>
          </p:nvSpPr>
          <p:spPr>
            <a:xfrm>
              <a:off x="8351994" y="1805940"/>
              <a:ext cx="2692340" cy="645414"/>
            </a:xfrm>
            <a:prstGeom prst="rect">
              <a:avLst/>
            </a:prstGeom>
            <a:noFill/>
            <a:ln>
              <a:noFill/>
            </a:ln>
          </p:spPr>
          <p:txBody>
            <a:bodyPr wrap="none" lIns="0" tIns="0" rIns="0" bIns="0" anchor="t" anchorCtr="0">
              <a:spAutoFit/>
            </a:bodyPr>
            <a:lstStyle/>
            <a:p>
              <a:pPr algn="ctr"/>
              <a:r>
                <a:rPr lang="en-NZ" sz="3300" b="1" dirty="0">
                  <a:solidFill>
                    <a:schemeClr val="accent1"/>
                  </a:solidFill>
                  <a:latin typeface="+mn-lt"/>
                  <a:ea typeface="+mn-ea"/>
                  <a:cs typeface="+mn-cs"/>
                </a:rPr>
                <a:t xml:space="preserve">   100%   </a:t>
              </a:r>
            </a:p>
          </p:txBody>
        </p:sp>
        <p:sp>
          <p:nvSpPr>
            <p:cNvPr id="13" name="TextBox 13"/>
            <p:cNvSpPr txBox="1"/>
            <p:nvPr/>
          </p:nvSpPr>
          <p:spPr>
            <a:xfrm>
              <a:off x="405680" y="3950398"/>
              <a:ext cx="2674981"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M7 capped continuation   </a:t>
              </a:r>
            </a:p>
          </p:txBody>
        </p:sp>
        <p:sp>
          <p:nvSpPr>
            <p:cNvPr id="14" name="TextBox 14"/>
            <p:cNvSpPr/>
            <p:nvPr/>
          </p:nvSpPr>
          <p:spPr>
            <a:xfrm>
              <a:off x="3010186" y="3552634"/>
              <a:ext cx="2381250" cy="264033"/>
            </a:xfrm>
            <a:prstGeom prst="rect">
              <a:avLst/>
            </a:prstGeom>
            <a:noFill/>
            <a:ln>
              <a:noFill/>
            </a:ln>
          </p:spPr>
          <p:txBody>
            <a:bodyPr wrap="none" lIns="0" tIns="0" rIns="0" bIns="0" anchor="t" anchorCtr="0">
              <a:noAutofit/>
            </a:bodyPr>
            <a:lstStyle/>
            <a:p>
              <a:pPr algn="ctr"/>
              <a:r>
                <a:rPr lang="en-NZ" sz="1350" dirty="0">
                  <a:solidFill>
                    <a:srgbClr val="243B53"/>
                  </a:solidFill>
                  <a:latin typeface="Arial"/>
                  <a:ea typeface="Arial"/>
                  <a:cs typeface="Arial"/>
                </a:rPr>
                <a:t>Persistence + economics</a:t>
              </a:r>
            </a:p>
          </p:txBody>
        </p:sp>
        <p:sp>
          <p:nvSpPr>
            <p:cNvPr id="15" name="TextBox 15"/>
            <p:cNvSpPr/>
            <p:nvPr/>
          </p:nvSpPr>
          <p:spPr>
            <a:xfrm>
              <a:off x="5461826" y="2935414"/>
              <a:ext cx="2393252" cy="264033"/>
            </a:xfrm>
            <a:prstGeom prst="rect">
              <a:avLst/>
            </a:prstGeom>
            <a:noFill/>
            <a:ln>
              <a:noFill/>
            </a:ln>
          </p:spPr>
          <p:txBody>
            <a:bodyPr wrap="none" lIns="0" tIns="0" rIns="0" bIns="0" anchor="t" anchorCtr="0">
              <a:noAutofit/>
            </a:bodyPr>
            <a:lstStyle/>
            <a:p>
              <a:pPr algn="ctr"/>
              <a:r>
                <a:rPr lang="en-NZ" sz="1350" dirty="0">
                  <a:solidFill>
                    <a:srgbClr val="243B53"/>
                  </a:solidFill>
                  <a:latin typeface="Arial"/>
                  <a:ea typeface="Arial"/>
                  <a:cs typeface="Arial"/>
                </a:rPr>
                <a:t>Replication + guardrails</a:t>
              </a:r>
            </a:p>
          </p:txBody>
        </p:sp>
        <p:sp>
          <p:nvSpPr>
            <p:cNvPr id="16" name="TextBox 16"/>
            <p:cNvSpPr txBox="1"/>
            <p:nvPr/>
          </p:nvSpPr>
          <p:spPr>
            <a:xfrm>
              <a:off x="8451813" y="2249614"/>
              <a:ext cx="2492703" cy="264033"/>
            </a:xfrm>
            <a:prstGeom prst="rect">
              <a:avLst/>
            </a:prstGeom>
            <a:noFill/>
            <a:ln>
              <a:noFill/>
            </a:ln>
          </p:spPr>
          <p:txBody>
            <a:bodyPr wrap="none" lIns="0" tIns="0" rIns="0" bIns="0" anchor="t" anchorCtr="0">
              <a:spAutoFit/>
            </a:bodyPr>
            <a:lstStyle/>
            <a:p>
              <a:pPr algn="ctr"/>
              <a:r>
                <a:rPr lang="en-NZ" sz="1350" dirty="0">
                  <a:solidFill>
                    <a:schemeClr val="dk1"/>
                  </a:solidFill>
                  <a:latin typeface="+mn-lt"/>
                  <a:ea typeface="+mn-ea"/>
                  <a:cs typeface="+mn-cs"/>
                </a:rPr>
                <a:t xml:space="preserve">   Revised positive case   </a:t>
              </a:r>
            </a:p>
          </p:txBody>
        </p:sp>
        <p:sp>
          <p:nvSpPr>
            <p:cNvPr id="17" name="TextBox 17"/>
            <p:cNvSpPr txBox="1"/>
            <p:nvPr/>
          </p:nvSpPr>
          <p:spPr>
            <a:xfrm>
              <a:off x="1043445" y="4933950"/>
              <a:ext cx="2580361" cy="293370"/>
            </a:xfrm>
            <a:prstGeom prst="rect">
              <a:avLst/>
            </a:prstGeom>
            <a:noFill/>
            <a:ln>
              <a:noFill/>
            </a:ln>
          </p:spPr>
          <p:txBody>
            <a:bodyPr wrap="none" lIns="0" tIns="0" rIns="0" bIns="0" anchor="t" anchorCtr="0">
              <a:spAutoFit/>
            </a:bodyPr>
            <a:lstStyle/>
            <a:p>
              <a:pPr algn="ctr"/>
              <a:r>
                <a:rPr lang="en-NZ" sz="1500" b="1" dirty="0">
                  <a:solidFill>
                    <a:srgbClr val="C43D3D"/>
                  </a:solidFill>
                  <a:latin typeface="+mn-lt"/>
                  <a:ea typeface="+mn-ea"/>
                  <a:cs typeface="+mn-cs"/>
                </a:rPr>
                <a:t xml:space="preserve">   HOLD / ROLLBACK   </a:t>
              </a:r>
            </a:p>
          </p:txBody>
        </p:sp>
        <p:sp>
          <p:nvSpPr>
            <p:cNvPr id="18" name="TextBox 18"/>
            <p:cNvSpPr txBox="1"/>
            <p:nvPr/>
          </p:nvSpPr>
          <p:spPr>
            <a:xfrm>
              <a:off x="4957001" y="4933950"/>
              <a:ext cx="2087499" cy="293370"/>
            </a:xfrm>
            <a:prstGeom prst="rect">
              <a:avLst/>
            </a:prstGeom>
            <a:noFill/>
            <a:ln>
              <a:noFill/>
            </a:ln>
          </p:spPr>
          <p:txBody>
            <a:bodyPr wrap="none" lIns="0" tIns="0" rIns="0" bIns="0" anchor="t" anchorCtr="0">
              <a:spAutoFit/>
            </a:bodyPr>
            <a:lstStyle/>
            <a:p>
              <a:pPr algn="ctr"/>
              <a:r>
                <a:rPr lang="en-NZ" sz="1500" b="1" dirty="0">
                  <a:solidFill>
                    <a:srgbClr val="C43D3D"/>
                  </a:solidFill>
                  <a:latin typeface="+mn-lt"/>
                  <a:ea typeface="+mn-ea"/>
                  <a:cs typeface="+mn-cs"/>
                </a:rPr>
                <a:t xml:space="preserve">   HOLD / STOP   </a:t>
              </a:r>
            </a:p>
          </p:txBody>
        </p:sp>
      </p:grpSp>
      <p:grpSp>
        <p:nvGrpSpPr>
          <p:cNvPr id="22" name="Group 22"/>
          <p:cNvGrpSpPr/>
          <p:nvPr/>
        </p:nvGrpSpPr>
        <p:grpSpPr>
          <a:xfrm>
            <a:off x="508254" y="5909310"/>
            <a:ext cx="8020050" cy="729996"/>
            <a:chOff x="508254" y="5909310"/>
            <a:chExt cx="8020050" cy="729996"/>
          </a:xfrm>
        </p:grpSpPr>
        <p:sp>
          <p:nvSpPr>
            <p:cNvPr id="20" name="TextBox 20"/>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Comparator only inside pilot. Proposed exposure waves. Lecture 7, slides 31–40, 47–48.</a:t>
              </a:r>
            </a:p>
          </p:txBody>
        </p:sp>
        <p:sp>
          <p:nvSpPr>
            <p:cNvPr id="21" name="TextBox 21"/>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13   </a:t>
              </a:r>
            </a:p>
          </p:txBody>
        </p:sp>
      </p:grpSp>
      <p:sp>
        <p:nvSpPr>
          <p:cNvPr id="23" name="Rectangle 23"/>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4.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Risk triggers and stop rules</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A failed gate narrows, extends or stops work without weakening the test.</a:t>
              </a:r>
            </a:p>
          </p:txBody>
        </p:sp>
      </p:grpSp>
      <p:grpSp>
        <p:nvGrpSpPr>
          <p:cNvPr id="25" name="Group 25"/>
          <p:cNvGrpSpPr/>
          <p:nvPr/>
        </p:nvGrpSpPr>
        <p:grpSpPr>
          <a:xfrm>
            <a:off x="514350" y="1676400"/>
            <a:ext cx="11186958" cy="3124200"/>
            <a:chOff x="514350" y="1676400"/>
            <a:chExt cx="11186958" cy="3124200"/>
          </a:xfrm>
        </p:grpSpPr>
        <p:sp>
          <p:nvSpPr>
            <p:cNvPr id="5" name="Rectangle 5"/>
            <p:cNvSpPr/>
            <p:nvPr/>
          </p:nvSpPr>
          <p:spPr>
            <a:xfrm>
              <a:off x="514350" y="1676400"/>
              <a:ext cx="3438601" cy="1428750"/>
            </a:xfrm>
            <a:prstGeom prst="roundRect">
              <a:avLst>
                <a:gd name="adj" fmla="val 15696"/>
              </a:avLst>
            </a:prstGeom>
            <a:solidFill>
              <a:srgbClr val="FFF4E5"/>
            </a:solidFill>
            <a:ln>
              <a:noFill/>
            </a:ln>
          </p:spPr>
        </p:sp>
        <p:sp>
          <p:nvSpPr>
            <p:cNvPr id="6" name="TextBox 6"/>
            <p:cNvSpPr txBox="1"/>
            <p:nvPr/>
          </p:nvSpPr>
          <p:spPr>
            <a:xfrm>
              <a:off x="803453" y="1865948"/>
              <a:ext cx="3117197" cy="381381"/>
            </a:xfrm>
            <a:prstGeom prst="rect">
              <a:avLst/>
            </a:prstGeom>
            <a:noFill/>
            <a:ln>
              <a:noFill/>
            </a:ln>
          </p:spPr>
          <p:txBody>
            <a:bodyPr wrap="none" lIns="0" tIns="0" rIns="0" bIns="0" anchor="t" anchorCtr="0">
              <a:spAutoFit/>
            </a:bodyPr>
            <a:lstStyle/>
            <a:p>
              <a:pPr algn="l"/>
              <a:r>
                <a:rPr lang="en-NZ" sz="1950" b="1" dirty="0">
                  <a:solidFill>
                    <a:srgbClr val="9B6800"/>
                  </a:solidFill>
                  <a:latin typeface="+mn-lt"/>
                  <a:ea typeface="+mn-ea"/>
                  <a:cs typeface="+mn-cs"/>
                </a:rPr>
                <a:t xml:space="preserve">Strategic mismatch   </a:t>
              </a:r>
            </a:p>
          </p:txBody>
        </p:sp>
        <p:sp>
          <p:nvSpPr>
            <p:cNvPr id="7" name="TextBox 7"/>
            <p:cNvSpPr txBox="1"/>
            <p:nvPr/>
          </p:nvSpPr>
          <p:spPr>
            <a:xfrm>
              <a:off x="805739" y="2295525"/>
              <a:ext cx="3566541" cy="293370"/>
            </a:xfrm>
            <a:prstGeom prst="rect">
              <a:avLst/>
            </a:prstGeom>
            <a:noFill/>
            <a:ln>
              <a:noFill/>
            </a:ln>
          </p:spPr>
          <p:txBody>
            <a:bodyPr wrap="none" lIns="0" tIns="0" rIns="0" bIns="0" anchor="t" anchorCtr="0">
              <a:spAutoFit/>
            </a:bodyPr>
            <a:lstStyle/>
            <a:p>
              <a:pPr algn="l"/>
              <a:r>
                <a:rPr lang="en-NZ" sz="1500" dirty="0">
                  <a:solidFill>
                    <a:schemeClr val="dk1"/>
                  </a:solidFill>
                  <a:latin typeface="+mn-lt"/>
                  <a:ea typeface="+mn-ea"/>
                  <a:cs typeface="+mn-cs"/>
                </a:rPr>
                <a:t xml:space="preserve">Trigger: mechanism unsupported   </a:t>
              </a:r>
            </a:p>
          </p:txBody>
        </p:sp>
        <p:sp>
          <p:nvSpPr>
            <p:cNvPr id="8" name="TextBox 8"/>
            <p:cNvSpPr txBox="1"/>
            <p:nvPr/>
          </p:nvSpPr>
          <p:spPr>
            <a:xfrm>
              <a:off x="805739" y="2619375"/>
              <a:ext cx="1981880" cy="293370"/>
            </a:xfrm>
            <a:prstGeom prst="rect">
              <a:avLst/>
            </a:prstGeom>
            <a:noFill/>
            <a:ln>
              <a:noFill/>
            </a:ln>
          </p:spPr>
          <p:txBody>
            <a:bodyPr wrap="none" lIns="0" tIns="0" rIns="0" bIns="0" anchor="t" anchorCtr="0">
              <a:spAutoFit/>
            </a:bodyPr>
            <a:lstStyle/>
            <a:p>
              <a:pPr algn="l"/>
              <a:r>
                <a:rPr lang="en-NZ" sz="1500" dirty="0">
                  <a:solidFill>
                    <a:srgbClr val="C43D3D"/>
                  </a:solidFill>
                  <a:latin typeface="+mn-lt"/>
                  <a:ea typeface="+mn-ea"/>
                  <a:cs typeface="+mn-cs"/>
                </a:rPr>
                <a:t xml:space="preserve">Redesign or stop   </a:t>
              </a:r>
            </a:p>
          </p:txBody>
        </p:sp>
        <p:sp>
          <p:nvSpPr>
            <p:cNvPr id="9" name="Rectangle 9"/>
            <p:cNvSpPr/>
            <p:nvPr/>
          </p:nvSpPr>
          <p:spPr>
            <a:xfrm>
              <a:off x="4301795" y="1676400"/>
              <a:ext cx="3438601" cy="1428750"/>
            </a:xfrm>
            <a:prstGeom prst="roundRect">
              <a:avLst>
                <a:gd name="adj" fmla="val 15696"/>
              </a:avLst>
            </a:prstGeom>
            <a:solidFill>
              <a:srgbClr val="FDECEC"/>
            </a:solidFill>
            <a:ln>
              <a:noFill/>
            </a:ln>
          </p:spPr>
        </p:sp>
        <p:sp>
          <p:nvSpPr>
            <p:cNvPr id="10" name="TextBox 10"/>
            <p:cNvSpPr txBox="1"/>
            <p:nvPr/>
          </p:nvSpPr>
          <p:spPr>
            <a:xfrm>
              <a:off x="4590898" y="1865948"/>
              <a:ext cx="3159331" cy="381381"/>
            </a:xfrm>
            <a:prstGeom prst="rect">
              <a:avLst/>
            </a:prstGeom>
            <a:noFill/>
            <a:ln>
              <a:noFill/>
            </a:ln>
          </p:spPr>
          <p:txBody>
            <a:bodyPr wrap="none" lIns="0" tIns="0" rIns="0" bIns="0" anchor="t" anchorCtr="0">
              <a:spAutoFit/>
            </a:bodyPr>
            <a:lstStyle/>
            <a:p>
              <a:pPr algn="l"/>
              <a:r>
                <a:rPr lang="en-NZ" sz="1950" b="1" dirty="0">
                  <a:solidFill>
                    <a:srgbClr val="C43D3D"/>
                  </a:solidFill>
                  <a:latin typeface="+mn-lt"/>
                  <a:ea typeface="+mn-ea"/>
                  <a:cs typeface="+mn-cs"/>
                </a:rPr>
                <a:t xml:space="preserve">Invalid data / power   </a:t>
              </a:r>
            </a:p>
          </p:txBody>
        </p:sp>
        <p:sp>
          <p:nvSpPr>
            <p:cNvPr id="11" name="TextBox 11"/>
            <p:cNvSpPr txBox="1"/>
            <p:nvPr/>
          </p:nvSpPr>
          <p:spPr>
            <a:xfrm>
              <a:off x="4593184" y="2295525"/>
              <a:ext cx="2950431" cy="293370"/>
            </a:xfrm>
            <a:prstGeom prst="rect">
              <a:avLst/>
            </a:prstGeom>
            <a:noFill/>
            <a:ln>
              <a:noFill/>
            </a:ln>
          </p:spPr>
          <p:txBody>
            <a:bodyPr wrap="none" lIns="0" tIns="0" rIns="0" bIns="0" anchor="t" anchorCtr="0">
              <a:spAutoFit/>
            </a:bodyPr>
            <a:lstStyle/>
            <a:p>
              <a:pPr algn="l"/>
              <a:r>
                <a:rPr lang="en-NZ" sz="1500" dirty="0">
                  <a:solidFill>
                    <a:schemeClr val="dk1"/>
                  </a:solidFill>
                  <a:latin typeface="+mn-lt"/>
                  <a:ea typeface="+mn-ea"/>
                  <a:cs typeface="+mn-cs"/>
                </a:rPr>
                <a:t xml:space="preserve">Trigger: quality gate fails   </a:t>
              </a:r>
            </a:p>
          </p:txBody>
        </p:sp>
        <p:sp>
          <p:nvSpPr>
            <p:cNvPr id="12" name="TextBox 12"/>
            <p:cNvSpPr txBox="1"/>
            <p:nvPr/>
          </p:nvSpPr>
          <p:spPr>
            <a:xfrm>
              <a:off x="4593184" y="2619375"/>
              <a:ext cx="2213476" cy="293370"/>
            </a:xfrm>
            <a:prstGeom prst="rect">
              <a:avLst/>
            </a:prstGeom>
            <a:noFill/>
            <a:ln>
              <a:noFill/>
            </a:ln>
          </p:spPr>
          <p:txBody>
            <a:bodyPr wrap="none" lIns="0" tIns="0" rIns="0" bIns="0" anchor="t" anchorCtr="0">
              <a:spAutoFit/>
            </a:bodyPr>
            <a:lstStyle/>
            <a:p>
              <a:pPr algn="l"/>
              <a:r>
                <a:rPr lang="en-NZ" sz="1500" dirty="0">
                  <a:solidFill>
                    <a:srgbClr val="C43D3D"/>
                  </a:solidFill>
                  <a:latin typeface="+mn-lt"/>
                  <a:ea typeface="+mn-ea"/>
                  <a:cs typeface="+mn-cs"/>
                </a:rPr>
                <a:t xml:space="preserve">Repair before pilot   </a:t>
              </a:r>
            </a:p>
          </p:txBody>
        </p:sp>
        <p:sp>
          <p:nvSpPr>
            <p:cNvPr id="13" name="Rectangle 13"/>
            <p:cNvSpPr/>
            <p:nvPr/>
          </p:nvSpPr>
          <p:spPr>
            <a:xfrm>
              <a:off x="8089240" y="1676400"/>
              <a:ext cx="3588106" cy="1428750"/>
            </a:xfrm>
            <a:prstGeom prst="roundRect">
              <a:avLst>
                <a:gd name="adj" fmla="val 15696"/>
              </a:avLst>
            </a:prstGeom>
            <a:solidFill>
              <a:srgbClr val="FFF4E5"/>
            </a:solidFill>
            <a:ln>
              <a:noFill/>
            </a:ln>
          </p:spPr>
        </p:sp>
        <p:sp>
          <p:nvSpPr>
            <p:cNvPr id="14" name="TextBox 14"/>
            <p:cNvSpPr txBox="1"/>
            <p:nvPr/>
          </p:nvSpPr>
          <p:spPr>
            <a:xfrm>
              <a:off x="8378342" y="1865948"/>
              <a:ext cx="3322966" cy="381381"/>
            </a:xfrm>
            <a:prstGeom prst="rect">
              <a:avLst/>
            </a:prstGeom>
            <a:noFill/>
            <a:ln>
              <a:noFill/>
            </a:ln>
          </p:spPr>
          <p:txBody>
            <a:bodyPr wrap="none" lIns="0" tIns="0" rIns="0" bIns="0" anchor="t" anchorCtr="0">
              <a:spAutoFit/>
            </a:bodyPr>
            <a:lstStyle/>
            <a:p>
              <a:pPr algn="l"/>
              <a:r>
                <a:rPr lang="en-NZ" sz="1950" b="1" dirty="0">
                  <a:solidFill>
                    <a:srgbClr val="9B6800"/>
                  </a:solidFill>
                  <a:latin typeface="+mn-lt"/>
                  <a:ea typeface="+mn-ea"/>
                  <a:cs typeface="+mn-cs"/>
                </a:rPr>
                <a:t xml:space="preserve">Unsuitable conclusion   </a:t>
              </a:r>
            </a:p>
          </p:txBody>
        </p:sp>
        <p:sp>
          <p:nvSpPr>
            <p:cNvPr id="15" name="TextBox 15"/>
            <p:cNvSpPr txBox="1"/>
            <p:nvPr/>
          </p:nvSpPr>
          <p:spPr>
            <a:xfrm>
              <a:off x="8380628" y="2295525"/>
              <a:ext cx="2879901" cy="293370"/>
            </a:xfrm>
            <a:prstGeom prst="rect">
              <a:avLst/>
            </a:prstGeom>
            <a:noFill/>
            <a:ln>
              <a:noFill/>
            </a:ln>
          </p:spPr>
          <p:txBody>
            <a:bodyPr wrap="none" lIns="0" tIns="0" rIns="0" bIns="0" anchor="t" anchorCtr="0">
              <a:spAutoFit/>
            </a:bodyPr>
            <a:lstStyle/>
            <a:p>
              <a:pPr algn="l"/>
              <a:r>
                <a:rPr lang="en-NZ" sz="1500" dirty="0">
                  <a:solidFill>
                    <a:schemeClr val="dk1"/>
                  </a:solidFill>
                  <a:latin typeface="+mn-lt"/>
                  <a:ea typeface="+mn-ea"/>
                  <a:cs typeface="+mn-cs"/>
                </a:rPr>
                <a:t xml:space="preserve">Trigger: guardrail breach   </a:t>
              </a:r>
            </a:p>
          </p:txBody>
        </p:sp>
        <p:sp>
          <p:nvSpPr>
            <p:cNvPr id="16" name="TextBox 16"/>
            <p:cNvSpPr txBox="1"/>
            <p:nvPr/>
          </p:nvSpPr>
          <p:spPr>
            <a:xfrm>
              <a:off x="8380628" y="2619375"/>
              <a:ext cx="1971743" cy="293370"/>
            </a:xfrm>
            <a:prstGeom prst="rect">
              <a:avLst/>
            </a:prstGeom>
            <a:noFill/>
            <a:ln>
              <a:noFill/>
            </a:ln>
          </p:spPr>
          <p:txBody>
            <a:bodyPr wrap="none" lIns="0" tIns="0" rIns="0" bIns="0" anchor="t" anchorCtr="0">
              <a:spAutoFit/>
            </a:bodyPr>
            <a:lstStyle/>
            <a:p>
              <a:pPr algn="l"/>
              <a:r>
                <a:rPr lang="en-NZ" sz="1500" dirty="0">
                  <a:solidFill>
                    <a:srgbClr val="C43D3D"/>
                  </a:solidFill>
                  <a:latin typeface="+mn-lt"/>
                  <a:ea typeface="+mn-ea"/>
                  <a:cs typeface="+mn-cs"/>
                </a:rPr>
                <a:t xml:space="preserve">Suppress output   </a:t>
              </a:r>
            </a:p>
          </p:txBody>
        </p:sp>
        <p:sp>
          <p:nvSpPr>
            <p:cNvPr id="17" name="Rectangle 17"/>
            <p:cNvSpPr/>
            <p:nvPr/>
          </p:nvSpPr>
          <p:spPr>
            <a:xfrm>
              <a:off x="514350" y="3371850"/>
              <a:ext cx="3438601" cy="1428750"/>
            </a:xfrm>
            <a:prstGeom prst="roundRect">
              <a:avLst>
                <a:gd name="adj" fmla="val 15696"/>
              </a:avLst>
            </a:prstGeom>
            <a:solidFill>
              <a:srgbClr val="FDECEC"/>
            </a:solidFill>
            <a:ln>
              <a:noFill/>
            </a:ln>
          </p:spPr>
        </p:sp>
        <p:sp>
          <p:nvSpPr>
            <p:cNvPr id="18" name="TextBox 18"/>
            <p:cNvSpPr txBox="1"/>
            <p:nvPr/>
          </p:nvSpPr>
          <p:spPr>
            <a:xfrm>
              <a:off x="803453" y="3561398"/>
              <a:ext cx="2785908" cy="381381"/>
            </a:xfrm>
            <a:prstGeom prst="rect">
              <a:avLst/>
            </a:prstGeom>
            <a:noFill/>
            <a:ln>
              <a:noFill/>
            </a:ln>
          </p:spPr>
          <p:txBody>
            <a:bodyPr wrap="none" lIns="0" tIns="0" rIns="0" bIns="0" anchor="t" anchorCtr="0">
              <a:spAutoFit/>
            </a:bodyPr>
            <a:lstStyle/>
            <a:p>
              <a:pPr algn="l"/>
              <a:r>
                <a:rPr lang="en-NZ" sz="1950" b="1" dirty="0">
                  <a:solidFill>
                    <a:srgbClr val="C43D3D"/>
                  </a:solidFill>
                  <a:latin typeface="+mn-lt"/>
                  <a:ea typeface="+mn-ea"/>
                  <a:cs typeface="+mn-cs"/>
                </a:rPr>
                <a:t xml:space="preserve">Interface failure   </a:t>
              </a:r>
            </a:p>
          </p:txBody>
        </p:sp>
        <p:sp>
          <p:nvSpPr>
            <p:cNvPr id="19" name="TextBox 19"/>
            <p:cNvSpPr txBox="1"/>
            <p:nvPr/>
          </p:nvSpPr>
          <p:spPr>
            <a:xfrm>
              <a:off x="805739" y="3990975"/>
              <a:ext cx="3333835" cy="293370"/>
            </a:xfrm>
            <a:prstGeom prst="rect">
              <a:avLst/>
            </a:prstGeom>
            <a:noFill/>
            <a:ln>
              <a:noFill/>
            </a:ln>
          </p:spPr>
          <p:txBody>
            <a:bodyPr wrap="none" lIns="0" tIns="0" rIns="0" bIns="0" anchor="t" anchorCtr="0">
              <a:spAutoFit/>
            </a:bodyPr>
            <a:lstStyle/>
            <a:p>
              <a:pPr algn="l"/>
              <a:r>
                <a:rPr lang="en-NZ" sz="1500" dirty="0">
                  <a:solidFill>
                    <a:schemeClr val="dk1"/>
                  </a:solidFill>
                  <a:latin typeface="+mn-lt"/>
                  <a:ea typeface="+mn-ea"/>
                  <a:cs typeface="+mn-cs"/>
                </a:rPr>
                <a:t xml:space="preserve">Trigger: reconciliation breach   </a:t>
              </a:r>
            </a:p>
          </p:txBody>
        </p:sp>
        <p:sp>
          <p:nvSpPr>
            <p:cNvPr id="20" name="TextBox 20"/>
            <p:cNvSpPr txBox="1"/>
            <p:nvPr/>
          </p:nvSpPr>
          <p:spPr>
            <a:xfrm>
              <a:off x="805739" y="4314825"/>
              <a:ext cx="1860232" cy="293370"/>
            </a:xfrm>
            <a:prstGeom prst="rect">
              <a:avLst/>
            </a:prstGeom>
            <a:noFill/>
            <a:ln>
              <a:noFill/>
            </a:ln>
          </p:spPr>
          <p:txBody>
            <a:bodyPr wrap="none" lIns="0" tIns="0" rIns="0" bIns="0" anchor="t" anchorCtr="0">
              <a:spAutoFit/>
            </a:bodyPr>
            <a:lstStyle/>
            <a:p>
              <a:pPr algn="l"/>
              <a:r>
                <a:rPr lang="en-NZ" sz="1500" dirty="0">
                  <a:solidFill>
                    <a:srgbClr val="C43D3D"/>
                  </a:solidFill>
                  <a:latin typeface="+mn-lt"/>
                  <a:ea typeface="+mn-ea"/>
                  <a:cs typeface="+mn-cs"/>
                </a:rPr>
                <a:t xml:space="preserve">Stop fulfilment   </a:t>
              </a:r>
            </a:p>
          </p:txBody>
        </p:sp>
        <p:sp>
          <p:nvSpPr>
            <p:cNvPr id="21" name="Rectangle 21"/>
            <p:cNvSpPr/>
            <p:nvPr/>
          </p:nvSpPr>
          <p:spPr>
            <a:xfrm>
              <a:off x="4301795" y="3371850"/>
              <a:ext cx="3438601" cy="1428750"/>
            </a:xfrm>
            <a:prstGeom prst="roundRect">
              <a:avLst>
                <a:gd name="adj" fmla="val 15696"/>
              </a:avLst>
            </a:prstGeom>
            <a:solidFill>
              <a:srgbClr val="FDECEC"/>
            </a:solidFill>
            <a:ln>
              <a:noFill/>
            </a:ln>
          </p:spPr>
        </p:sp>
        <p:sp>
          <p:nvSpPr>
            <p:cNvPr id="22" name="TextBox 22"/>
            <p:cNvSpPr txBox="1"/>
            <p:nvPr/>
          </p:nvSpPr>
          <p:spPr>
            <a:xfrm>
              <a:off x="4590898" y="3561398"/>
              <a:ext cx="2222382" cy="381381"/>
            </a:xfrm>
            <a:prstGeom prst="rect">
              <a:avLst/>
            </a:prstGeom>
            <a:noFill/>
            <a:ln>
              <a:noFill/>
            </a:ln>
          </p:spPr>
          <p:txBody>
            <a:bodyPr wrap="none" lIns="0" tIns="0" rIns="0" bIns="0" anchor="t" anchorCtr="0">
              <a:spAutoFit/>
            </a:bodyPr>
            <a:lstStyle/>
            <a:p>
              <a:pPr algn="l"/>
              <a:r>
                <a:rPr lang="en-NZ" sz="1950" b="1" dirty="0">
                  <a:solidFill>
                    <a:srgbClr val="C43D3D"/>
                  </a:solidFill>
                  <a:latin typeface="+mn-lt"/>
                  <a:ea typeface="+mn-ea"/>
                  <a:cs typeface="+mn-cs"/>
                </a:rPr>
                <a:t xml:space="preserve">Privacy harm   </a:t>
              </a:r>
            </a:p>
          </p:txBody>
        </p:sp>
        <p:sp>
          <p:nvSpPr>
            <p:cNvPr id="23" name="TextBox 23"/>
            <p:cNvSpPr txBox="1"/>
            <p:nvPr/>
          </p:nvSpPr>
          <p:spPr>
            <a:xfrm>
              <a:off x="4593184" y="3990975"/>
              <a:ext cx="2768890" cy="293370"/>
            </a:xfrm>
            <a:prstGeom prst="rect">
              <a:avLst/>
            </a:prstGeom>
            <a:noFill/>
            <a:ln>
              <a:noFill/>
            </a:ln>
          </p:spPr>
          <p:txBody>
            <a:bodyPr wrap="none" lIns="0" tIns="0" rIns="0" bIns="0" anchor="t" anchorCtr="0">
              <a:spAutoFit/>
            </a:bodyPr>
            <a:lstStyle/>
            <a:p>
              <a:pPr algn="l"/>
              <a:r>
                <a:rPr lang="en-NZ" sz="1500" dirty="0">
                  <a:solidFill>
                    <a:schemeClr val="dk1"/>
                  </a:solidFill>
                  <a:latin typeface="+mn-lt"/>
                  <a:ea typeface="+mn-ea"/>
                  <a:cs typeface="+mn-cs"/>
                </a:rPr>
                <a:t xml:space="preserve">Trigger: severe incident   </a:t>
              </a:r>
            </a:p>
          </p:txBody>
        </p:sp>
        <p:sp>
          <p:nvSpPr>
            <p:cNvPr id="24" name="TextBox 24"/>
            <p:cNvSpPr txBox="1"/>
            <p:nvPr/>
          </p:nvSpPr>
          <p:spPr>
            <a:xfrm>
              <a:off x="4593184" y="4314825"/>
              <a:ext cx="2184044" cy="293370"/>
            </a:xfrm>
            <a:prstGeom prst="rect">
              <a:avLst/>
            </a:prstGeom>
            <a:noFill/>
            <a:ln>
              <a:noFill/>
            </a:ln>
          </p:spPr>
          <p:txBody>
            <a:bodyPr wrap="none" lIns="0" tIns="0" rIns="0" bIns="0" anchor="t" anchorCtr="0">
              <a:spAutoFit/>
            </a:bodyPr>
            <a:lstStyle/>
            <a:p>
              <a:pPr algn="l"/>
              <a:r>
                <a:rPr lang="en-NZ" sz="1500" dirty="0">
                  <a:solidFill>
                    <a:srgbClr val="C43D3D"/>
                  </a:solidFill>
                  <a:latin typeface="+mn-lt"/>
                  <a:ea typeface="+mn-ea"/>
                  <a:cs typeface="+mn-cs"/>
                </a:rPr>
                <a:t xml:space="preserve">Stop exposure now   </a:t>
              </a:r>
            </a:p>
          </p:txBody>
        </p:sp>
      </p:grpSp>
      <p:grpSp>
        <p:nvGrpSpPr>
          <p:cNvPr id="28" name="Group 28"/>
          <p:cNvGrpSpPr/>
          <p:nvPr/>
        </p:nvGrpSpPr>
        <p:grpSpPr>
          <a:xfrm>
            <a:off x="508254" y="5909310"/>
            <a:ext cx="8020050" cy="729996"/>
            <a:chOff x="508254" y="5909310"/>
            <a:chExt cx="8020050" cy="729996"/>
          </a:xfrm>
        </p:grpSpPr>
        <p:sp>
          <p:nvSpPr>
            <p:cNvPr id="26" name="TextBox 26"/>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Each risk has an owner, trigger and contingency. Scott and Vessey (2002), pp. 74–81.</a:t>
              </a:r>
            </a:p>
          </p:txBody>
        </p:sp>
        <p:sp>
          <p:nvSpPr>
            <p:cNvPr id="27" name="TextBox 27"/>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14   </a:t>
              </a:r>
            </a:p>
          </p:txBody>
        </p:sp>
      </p:grpSp>
      <p:sp>
        <p:nvSpPr>
          <p:cNvPr id="29" name="Rectangle 29"/>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5.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Customer and business value</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Clear customer decisions, consistent support and reusable delivery capability.</a:t>
              </a:r>
            </a:p>
          </p:txBody>
        </p:sp>
      </p:grpSp>
      <p:grpSp>
        <p:nvGrpSpPr>
          <p:cNvPr id="17" name="Group 17"/>
          <p:cNvGrpSpPr/>
          <p:nvPr/>
        </p:nvGrpSpPr>
        <p:grpSpPr>
          <a:xfrm>
            <a:off x="600075" y="1847850"/>
            <a:ext cx="11068050" cy="2438400"/>
            <a:chOff x="600075" y="1847850"/>
            <a:chExt cx="11068050" cy="2438400"/>
          </a:xfrm>
        </p:grpSpPr>
        <p:sp>
          <p:nvSpPr>
            <p:cNvPr id="5" name="Ellipse 5"/>
            <p:cNvSpPr/>
            <p:nvPr/>
          </p:nvSpPr>
          <p:spPr>
            <a:xfrm>
              <a:off x="600075" y="1847850"/>
              <a:ext cx="2438400" cy="2438400"/>
            </a:xfrm>
            <a:prstGeom prst="ellipse">
              <a:avLst/>
            </a:prstGeom>
            <a:solidFill>
              <a:srgbClr val="EAF4FF"/>
            </a:solidFill>
            <a:ln w="28575">
              <a:solidFill>
                <a:schemeClr val="accent2"/>
              </a:solidFill>
            </a:ln>
          </p:spPr>
        </p:sp>
        <p:sp>
          <p:nvSpPr>
            <p:cNvPr id="6" name="Ellipse 6"/>
            <p:cNvSpPr/>
            <p:nvPr/>
          </p:nvSpPr>
          <p:spPr>
            <a:xfrm>
              <a:off x="3476625" y="1847850"/>
              <a:ext cx="2438400" cy="2438400"/>
            </a:xfrm>
            <a:prstGeom prst="ellipse">
              <a:avLst/>
            </a:prstGeom>
            <a:solidFill>
              <a:srgbClr val="E7F4EF"/>
            </a:solidFill>
            <a:ln w="28575">
              <a:solidFill>
                <a:schemeClr val="accent3"/>
              </a:solidFill>
            </a:ln>
          </p:spPr>
        </p:sp>
        <p:sp>
          <p:nvSpPr>
            <p:cNvPr id="7" name="Ellipse 7"/>
            <p:cNvSpPr/>
            <p:nvPr/>
          </p:nvSpPr>
          <p:spPr>
            <a:xfrm>
              <a:off x="6353175" y="1847850"/>
              <a:ext cx="2438400" cy="2438400"/>
            </a:xfrm>
            <a:prstGeom prst="ellipse">
              <a:avLst/>
            </a:prstGeom>
            <a:solidFill>
              <a:schemeClr val="accent5"/>
            </a:solidFill>
            <a:ln w="28575">
              <a:solidFill>
                <a:schemeClr val="accent1"/>
              </a:solidFill>
            </a:ln>
          </p:spPr>
        </p:sp>
        <p:sp>
          <p:nvSpPr>
            <p:cNvPr id="8" name="Ellipse 8"/>
            <p:cNvSpPr/>
            <p:nvPr/>
          </p:nvSpPr>
          <p:spPr>
            <a:xfrm>
              <a:off x="9229725" y="1847850"/>
              <a:ext cx="2438400" cy="2438400"/>
            </a:xfrm>
            <a:prstGeom prst="ellipse">
              <a:avLst/>
            </a:prstGeom>
            <a:solidFill>
              <a:srgbClr val="FFF4E5"/>
            </a:solidFill>
            <a:ln w="28575">
              <a:solidFill>
                <a:schemeClr val="accent6"/>
              </a:solidFill>
              <a:custDash>
                <a:ds d="333333" sp="266667"/>
              </a:custDash>
            </a:ln>
          </p:spPr>
        </p:sp>
        <p:sp>
          <p:nvSpPr>
            <p:cNvPr id="9" name="TextBox 9"/>
            <p:cNvSpPr txBox="1"/>
            <p:nvPr/>
          </p:nvSpPr>
          <p:spPr>
            <a:xfrm>
              <a:off x="734797" y="2672715"/>
              <a:ext cx="2168957" cy="352044"/>
            </a:xfrm>
            <a:prstGeom prst="rect">
              <a:avLst/>
            </a:prstGeom>
            <a:noFill/>
            <a:ln>
              <a:noFill/>
            </a:ln>
          </p:spPr>
          <p:txBody>
            <a:bodyPr wrap="none" lIns="0" tIns="0" rIns="0" bIns="0" anchor="t" anchorCtr="0">
              <a:spAutoFit/>
            </a:bodyPr>
            <a:lstStyle/>
            <a:p>
              <a:pPr algn="ctr"/>
              <a:r>
                <a:rPr lang="en-NZ" sz="1800" b="1" dirty="0">
                  <a:solidFill>
                    <a:schemeClr val="accent2"/>
                  </a:solidFill>
                  <a:latin typeface="+mn-lt"/>
                  <a:ea typeface="+mn-ea"/>
                  <a:cs typeface="+mn-cs"/>
                </a:rPr>
                <a:t xml:space="preserve">   STRATEGIC   </a:t>
              </a:r>
            </a:p>
          </p:txBody>
        </p:sp>
        <p:sp>
          <p:nvSpPr>
            <p:cNvPr id="10" name="TextBox 10"/>
            <p:cNvSpPr txBox="1"/>
            <p:nvPr/>
          </p:nvSpPr>
          <p:spPr>
            <a:xfrm>
              <a:off x="661378" y="3133725"/>
              <a:ext cx="2315794"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Trusted decision   </a:t>
              </a:r>
            </a:p>
          </p:txBody>
        </p:sp>
        <p:sp>
          <p:nvSpPr>
            <p:cNvPr id="11" name="TextBox 11"/>
            <p:cNvSpPr txBox="1"/>
            <p:nvPr/>
          </p:nvSpPr>
          <p:spPr>
            <a:xfrm>
              <a:off x="3409721" y="2672715"/>
              <a:ext cx="2572207" cy="352044"/>
            </a:xfrm>
            <a:prstGeom prst="rect">
              <a:avLst/>
            </a:prstGeom>
            <a:noFill/>
            <a:ln>
              <a:noFill/>
            </a:ln>
          </p:spPr>
          <p:txBody>
            <a:bodyPr wrap="none" lIns="0" tIns="0" rIns="0" bIns="0" anchor="t" anchorCtr="0">
              <a:spAutoFit/>
            </a:bodyPr>
            <a:lstStyle/>
            <a:p>
              <a:pPr algn="ctr"/>
              <a:r>
                <a:rPr lang="en-NZ" sz="1800" b="1" dirty="0">
                  <a:solidFill>
                    <a:schemeClr val="accent3"/>
                  </a:solidFill>
                  <a:latin typeface="+mn-lt"/>
                  <a:ea typeface="+mn-ea"/>
                  <a:cs typeface="+mn-cs"/>
                </a:rPr>
                <a:t xml:space="preserve">   OPERATIONAL   </a:t>
              </a:r>
            </a:p>
          </p:txBody>
        </p:sp>
        <p:sp>
          <p:nvSpPr>
            <p:cNvPr id="12" name="TextBox 12"/>
            <p:cNvSpPr txBox="1"/>
            <p:nvPr/>
          </p:nvSpPr>
          <p:spPr>
            <a:xfrm>
              <a:off x="3973830" y="3133725"/>
              <a:ext cx="1443990" cy="560070"/>
            </a:xfrm>
            <a:prstGeom prst="rect">
              <a:avLst/>
            </a:prstGeom>
            <a:noFill/>
            <a:ln>
              <a:noFill/>
            </a:ln>
          </p:spPr>
          <p:txBody>
            <a:bodyPr wrap="none" lIns="0" tIns="0" rIns="0" bIns="0" anchor="t" anchorCtr="0">
              <a:spAutoFit/>
            </a:bodyPr>
            <a:lstStyle/>
            <a:p>
              <a:pPr algn="ctr">
                <a:lnSpc>
                  <a:spcPts val="2100"/>
                </a:lnSpc>
              </a:pPr>
              <a:r>
                <a:rPr lang="en-NZ" sz="1500" dirty="0">
                  <a:solidFill>
                    <a:schemeClr val="dk1"/>
                  </a:solidFill>
                  <a:latin typeface="+mn-lt"/>
                  <a:ea typeface="+mn-ea"/>
                  <a:cs typeface="+mn-cs"/>
                </a:rPr>
                <a:t>Versioned rules</a:t>
              </a:r>
              <a:br/>
              <a:r>
                <a:rPr lang="en-NZ" sz="1500" dirty="0">
                  <a:solidFill>
                    <a:schemeClr val="dk1"/>
                  </a:solidFill>
                  <a:latin typeface="+mn-lt"/>
                  <a:ea typeface="+mn-ea"/>
                  <a:cs typeface="+mn-cs"/>
                </a:rPr>
                <a:t>+ events</a:t>
              </a:r>
            </a:p>
          </p:txBody>
        </p:sp>
        <p:sp>
          <p:nvSpPr>
            <p:cNvPr id="13" name="TextBox 13"/>
            <p:cNvSpPr txBox="1"/>
            <p:nvPr/>
          </p:nvSpPr>
          <p:spPr>
            <a:xfrm>
              <a:off x="6278304" y="2697004"/>
              <a:ext cx="2588142" cy="308039"/>
            </a:xfrm>
            <a:prstGeom prst="rect">
              <a:avLst/>
            </a:prstGeom>
            <a:noFill/>
            <a:ln>
              <a:noFill/>
            </a:ln>
          </p:spPr>
          <p:txBody>
            <a:bodyPr wrap="none" lIns="0" tIns="0" rIns="0" bIns="0" anchor="t" anchorCtr="0">
              <a:spAutoFit/>
            </a:bodyPr>
            <a:lstStyle/>
            <a:p>
              <a:pPr algn="ctr"/>
              <a:r>
                <a:rPr lang="en-NZ" sz="1580" b="1" dirty="0">
                  <a:solidFill>
                    <a:schemeClr val="accent1"/>
                  </a:solidFill>
                  <a:latin typeface="+mn-lt"/>
                  <a:ea typeface="+mn-ea"/>
                  <a:cs typeface="+mn-cs"/>
                </a:rPr>
                <a:t xml:space="preserve">   ORGANISATIONAL   </a:t>
              </a:r>
            </a:p>
          </p:txBody>
        </p:sp>
        <p:sp>
          <p:nvSpPr>
            <p:cNvPr id="14" name="TextBox 14"/>
            <p:cNvSpPr txBox="1"/>
            <p:nvPr/>
          </p:nvSpPr>
          <p:spPr>
            <a:xfrm>
              <a:off x="6621780" y="3133725"/>
              <a:ext cx="1901190" cy="560070"/>
            </a:xfrm>
            <a:prstGeom prst="rect">
              <a:avLst/>
            </a:prstGeom>
            <a:noFill/>
            <a:ln>
              <a:noFill/>
            </a:ln>
          </p:spPr>
          <p:txBody>
            <a:bodyPr wrap="none" lIns="0" tIns="0" rIns="0" bIns="0" anchor="t" anchorCtr="0">
              <a:spAutoFit/>
            </a:bodyPr>
            <a:lstStyle/>
            <a:p>
              <a:pPr algn="ctr">
                <a:lnSpc>
                  <a:spcPts val="2100"/>
                </a:lnSpc>
              </a:pPr>
              <a:r>
                <a:rPr lang="en-NZ" sz="1500" dirty="0">
                  <a:solidFill>
                    <a:schemeClr val="dk1"/>
                  </a:solidFill>
                  <a:latin typeface="+mn-lt"/>
                  <a:ea typeface="+mn-ea"/>
                  <a:cs typeface="+mn-cs"/>
                </a:rPr>
                <a:t>Reusable experiment</a:t>
              </a:r>
              <a:br/>
              <a:r>
                <a:rPr lang="en-NZ" sz="1500" dirty="0">
                  <a:solidFill>
                    <a:schemeClr val="dk1"/>
                  </a:solidFill>
                  <a:latin typeface="+mn-lt"/>
                  <a:ea typeface="+mn-ea"/>
                  <a:cs typeface="+mn-cs"/>
                </a:rPr>
                <a:t>capability</a:t>
              </a:r>
            </a:p>
          </p:txBody>
        </p:sp>
        <p:sp>
          <p:nvSpPr>
            <p:cNvPr id="15" name="TextBox 15"/>
            <p:cNvSpPr txBox="1"/>
            <p:nvPr/>
          </p:nvSpPr>
          <p:spPr>
            <a:xfrm>
              <a:off x="9398051" y="2672715"/>
              <a:ext cx="2101748" cy="352044"/>
            </a:xfrm>
            <a:prstGeom prst="rect">
              <a:avLst/>
            </a:prstGeom>
            <a:noFill/>
            <a:ln>
              <a:noFill/>
            </a:ln>
          </p:spPr>
          <p:txBody>
            <a:bodyPr wrap="none" lIns="0" tIns="0" rIns="0" bIns="0" anchor="t" anchorCtr="0">
              <a:spAutoFit/>
            </a:bodyPr>
            <a:lstStyle/>
            <a:p>
              <a:pPr algn="ctr"/>
              <a:r>
                <a:rPr lang="en-NZ" sz="1800" b="1" dirty="0">
                  <a:solidFill>
                    <a:srgbClr val="9B6800"/>
                  </a:solidFill>
                  <a:latin typeface="+mn-lt"/>
                  <a:ea typeface="+mn-ea"/>
                  <a:cs typeface="+mn-cs"/>
                </a:rPr>
                <a:t xml:space="preserve">   FINANCIAL   </a:t>
              </a:r>
            </a:p>
          </p:txBody>
        </p:sp>
        <p:sp>
          <p:nvSpPr>
            <p:cNvPr id="16" name="TextBox 16"/>
            <p:cNvSpPr txBox="1"/>
            <p:nvPr/>
          </p:nvSpPr>
          <p:spPr>
            <a:xfrm>
              <a:off x="9622155" y="3133725"/>
              <a:ext cx="1653540" cy="560070"/>
            </a:xfrm>
            <a:prstGeom prst="rect">
              <a:avLst/>
            </a:prstGeom>
            <a:noFill/>
            <a:ln>
              <a:noFill/>
            </a:ln>
          </p:spPr>
          <p:txBody>
            <a:bodyPr wrap="none" lIns="0" tIns="0" rIns="0" bIns="0" anchor="t" anchorCtr="0">
              <a:spAutoFit/>
            </a:bodyPr>
            <a:lstStyle/>
            <a:p>
              <a:pPr algn="ctr">
                <a:lnSpc>
                  <a:spcPts val="2100"/>
                </a:lnSpc>
              </a:pPr>
              <a:r>
                <a:rPr lang="en-NZ" sz="1500" dirty="0">
                  <a:solidFill>
                    <a:schemeClr val="dk1"/>
                  </a:solidFill>
                  <a:latin typeface="+mn-lt"/>
                  <a:ea typeface="+mn-ea"/>
                  <a:cs typeface="+mn-cs"/>
                </a:rPr>
                <a:t>Contribution or</a:t>
              </a:r>
              <a:br/>
              <a:r>
                <a:rPr lang="en-NZ" sz="1500" dirty="0">
                  <a:solidFill>
                    <a:schemeClr val="dk1"/>
                  </a:solidFill>
                  <a:latin typeface="+mn-lt"/>
                  <a:ea typeface="+mn-ea"/>
                  <a:cs typeface="+mn-cs"/>
                </a:rPr>
                <a:t>cashable capacity</a:t>
              </a:r>
            </a:p>
          </p:txBody>
        </p:sp>
      </p:grpSp>
      <p:grpSp>
        <p:nvGrpSpPr>
          <p:cNvPr id="20" name="Group 20"/>
          <p:cNvGrpSpPr/>
          <p:nvPr/>
        </p:nvGrpSpPr>
        <p:grpSpPr>
          <a:xfrm>
            <a:off x="508254" y="5909310"/>
            <a:ext cx="4742783" cy="729996"/>
            <a:chOff x="508254" y="5909310"/>
            <a:chExt cx="4742783" cy="729996"/>
          </a:xfrm>
        </p:grpSpPr>
        <p:sp>
          <p:nvSpPr>
            <p:cNvPr id="18" name="TextBox 18"/>
            <p:cNvSpPr/>
            <p:nvPr/>
          </p:nvSpPr>
          <p:spPr>
            <a:xfrm>
              <a:off x="508254" y="5909310"/>
              <a:ext cx="4742783" cy="234696"/>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 xml:space="preserve">Finance recognises benefits after evidence-owner validation   </a:t>
              </a:r>
            </a:p>
          </p:txBody>
        </p:sp>
        <p:sp>
          <p:nvSpPr>
            <p:cNvPr id="19" name="TextBox 19"/>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15   </a:t>
              </a:r>
            </a:p>
          </p:txBody>
        </p:sp>
      </p:grpSp>
      <p:sp>
        <p:nvSpPr>
          <p:cNvPr id="21" name="Rectangle 21"/>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6.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NZ$120k first, then separate releases</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Phase 0 $0.120m; Phase 1 adds $0.280m after M1. Cumulative spending: NZ$m.</a:t>
              </a:r>
            </a:p>
          </p:txBody>
        </p:sp>
      </p:grpSp>
      <p:grpSp>
        <p:nvGrpSpPr>
          <p:cNvPr id="22" name="Group 22"/>
          <p:cNvGrpSpPr/>
          <p:nvPr/>
        </p:nvGrpSpPr>
        <p:grpSpPr>
          <a:xfrm>
            <a:off x="533875" y="1622108"/>
            <a:ext cx="6000275" cy="3024187"/>
            <a:chOff x="533875" y="1622108"/>
            <a:chExt cx="6000275" cy="3024187"/>
          </a:xfrm>
        </p:grpSpPr>
        <p:grpSp>
          <p:nvGrpSpPr>
            <p:cNvPr id="11" name="Group 11"/>
            <p:cNvGrpSpPr/>
            <p:nvPr/>
          </p:nvGrpSpPr>
          <p:grpSpPr>
            <a:xfrm>
              <a:off x="685800" y="1943100"/>
              <a:ext cx="5848350" cy="2295525"/>
              <a:chOff x="685800" y="1943100"/>
              <a:chExt cx="5848350" cy="2295525"/>
            </a:xfrm>
          </p:grpSpPr>
          <p:sp>
            <p:nvSpPr>
              <p:cNvPr id="5" name="Line 5"/>
              <p:cNvSpPr/>
              <p:nvPr/>
            </p:nvSpPr>
            <p:spPr>
              <a:xfrm>
                <a:off x="685800" y="4229100"/>
                <a:ext cx="5848350" cy="9525"/>
              </a:xfrm>
              <a:custGeom>
                <a:avLst/>
                <a:gdLst/>
                <a:ahLst/>
                <a:cxnLst/>
                <a:rect l="l" t="t" r="r" b="b"/>
                <a:pathLst>
                  <a:path w="5848350" h="9525">
                    <a:moveTo>
                      <a:pt x="0" y="0"/>
                    </a:moveTo>
                    <a:lnTo>
                      <a:pt x="5848350" y="0"/>
                    </a:lnTo>
                  </a:path>
                </a:pathLst>
              </a:custGeom>
              <a:noFill/>
              <a:ln w="19050">
                <a:solidFill>
                  <a:srgbClr val="9FB3C8"/>
                </a:solidFill>
              </a:ln>
            </p:spPr>
          </p:sp>
          <p:sp>
            <p:nvSpPr>
              <p:cNvPr id="6" name="Rectangle 6"/>
              <p:cNvSpPr/>
              <p:nvPr/>
            </p:nvSpPr>
            <p:spPr>
              <a:xfrm>
                <a:off x="857250" y="3771900"/>
                <a:ext cx="781050" cy="457200"/>
              </a:xfrm>
              <a:prstGeom prst="rect">
                <a:avLst/>
              </a:prstGeom>
              <a:solidFill>
                <a:schemeClr val="accent3"/>
              </a:solidFill>
              <a:ln>
                <a:noFill/>
              </a:ln>
            </p:spPr>
          </p:sp>
          <p:sp>
            <p:nvSpPr>
              <p:cNvPr id="7" name="Rectangle 7"/>
              <p:cNvSpPr/>
              <p:nvPr/>
            </p:nvSpPr>
            <p:spPr>
              <a:xfrm>
                <a:off x="2000250" y="3497580"/>
                <a:ext cx="781050" cy="731520"/>
              </a:xfrm>
              <a:prstGeom prst="rect">
                <a:avLst/>
              </a:prstGeom>
              <a:solidFill>
                <a:srgbClr val="3AA6A8"/>
              </a:solidFill>
              <a:ln>
                <a:noFill/>
              </a:ln>
            </p:spPr>
          </p:sp>
          <p:sp>
            <p:nvSpPr>
              <p:cNvPr id="8" name="Rectangle 8"/>
              <p:cNvSpPr/>
              <p:nvPr/>
            </p:nvSpPr>
            <p:spPr>
              <a:xfrm>
                <a:off x="3143250" y="2697480"/>
                <a:ext cx="781050" cy="1531620"/>
              </a:xfrm>
              <a:prstGeom prst="rect">
                <a:avLst/>
              </a:prstGeom>
              <a:solidFill>
                <a:schemeClr val="accent2"/>
              </a:solidFill>
              <a:ln>
                <a:noFill/>
              </a:ln>
            </p:spPr>
          </p:sp>
          <p:sp>
            <p:nvSpPr>
              <p:cNvPr id="9" name="Rectangle 9"/>
              <p:cNvSpPr/>
              <p:nvPr/>
            </p:nvSpPr>
            <p:spPr>
              <a:xfrm>
                <a:off x="4286250" y="2034540"/>
                <a:ext cx="781050" cy="2194560"/>
              </a:xfrm>
              <a:prstGeom prst="rect">
                <a:avLst/>
              </a:prstGeom>
              <a:solidFill>
                <a:srgbClr val="2D64A5"/>
              </a:solidFill>
              <a:ln>
                <a:noFill/>
              </a:ln>
            </p:spPr>
          </p:sp>
          <p:sp>
            <p:nvSpPr>
              <p:cNvPr id="10" name="Rectangle 10"/>
              <p:cNvSpPr/>
              <p:nvPr/>
            </p:nvSpPr>
            <p:spPr>
              <a:xfrm>
                <a:off x="5429250" y="1943100"/>
                <a:ext cx="781050" cy="2286000"/>
              </a:xfrm>
              <a:prstGeom prst="rect">
                <a:avLst/>
              </a:prstGeom>
              <a:solidFill>
                <a:schemeClr val="accent1"/>
              </a:solidFill>
              <a:ln>
                <a:noFill/>
              </a:ln>
            </p:spPr>
          </p:sp>
        </p:grpSp>
        <p:sp>
          <p:nvSpPr>
            <p:cNvPr id="12" name="TextBox 12"/>
            <p:cNvSpPr txBox="1"/>
            <p:nvPr/>
          </p:nvSpPr>
          <p:spPr>
            <a:xfrm>
              <a:off x="533875" y="3450908"/>
              <a:ext cx="1427800" cy="322707"/>
            </a:xfrm>
            <a:prstGeom prst="rect">
              <a:avLst/>
            </a:prstGeom>
            <a:noFill/>
            <a:ln>
              <a:noFill/>
            </a:ln>
          </p:spPr>
          <p:txBody>
            <a:bodyPr wrap="none" lIns="0" tIns="0" rIns="0" bIns="0" anchor="t" anchorCtr="0">
              <a:spAutoFit/>
            </a:bodyPr>
            <a:lstStyle/>
            <a:p>
              <a:pPr algn="ctr"/>
              <a:r>
                <a:rPr lang="en-NZ" sz="1650" b="1" dirty="0">
                  <a:solidFill>
                    <a:schemeClr val="accent3"/>
                  </a:solidFill>
                  <a:latin typeface="+mn-lt"/>
                  <a:ea typeface="+mn-ea"/>
                  <a:cs typeface="+mn-cs"/>
                </a:rPr>
                <a:t xml:space="preserve">   0.400   </a:t>
              </a:r>
            </a:p>
          </p:txBody>
        </p:sp>
        <p:sp>
          <p:nvSpPr>
            <p:cNvPr id="13" name="TextBox 13"/>
            <p:cNvSpPr txBox="1"/>
            <p:nvPr/>
          </p:nvSpPr>
          <p:spPr>
            <a:xfrm>
              <a:off x="1676875" y="3174682"/>
              <a:ext cx="1427800" cy="322707"/>
            </a:xfrm>
            <a:prstGeom prst="rect">
              <a:avLst/>
            </a:prstGeom>
            <a:noFill/>
            <a:ln>
              <a:noFill/>
            </a:ln>
          </p:spPr>
          <p:txBody>
            <a:bodyPr wrap="none" lIns="0" tIns="0" rIns="0" bIns="0" anchor="t" anchorCtr="0">
              <a:spAutoFit/>
            </a:bodyPr>
            <a:lstStyle/>
            <a:p>
              <a:pPr algn="ctr"/>
              <a:r>
                <a:rPr lang="en-NZ" sz="1650" b="1" dirty="0">
                  <a:solidFill>
                    <a:schemeClr val="accent3"/>
                  </a:solidFill>
                  <a:latin typeface="+mn-lt"/>
                  <a:ea typeface="+mn-ea"/>
                  <a:cs typeface="+mn-cs"/>
                </a:rPr>
                <a:t xml:space="preserve">   0.640   </a:t>
              </a:r>
            </a:p>
          </p:txBody>
        </p:sp>
        <p:sp>
          <p:nvSpPr>
            <p:cNvPr id="14" name="TextBox 14"/>
            <p:cNvSpPr txBox="1"/>
            <p:nvPr/>
          </p:nvSpPr>
          <p:spPr>
            <a:xfrm>
              <a:off x="2819875" y="2374582"/>
              <a:ext cx="1427800" cy="322707"/>
            </a:xfrm>
            <a:prstGeom prst="rect">
              <a:avLst/>
            </a:prstGeom>
            <a:noFill/>
            <a:ln>
              <a:noFill/>
            </a:ln>
          </p:spPr>
          <p:txBody>
            <a:bodyPr wrap="none" lIns="0" tIns="0" rIns="0" bIns="0" anchor="t" anchorCtr="0">
              <a:spAutoFit/>
            </a:bodyPr>
            <a:lstStyle/>
            <a:p>
              <a:pPr algn="ctr"/>
              <a:r>
                <a:rPr lang="en-NZ" sz="1650" b="1" dirty="0">
                  <a:solidFill>
                    <a:schemeClr val="accent2"/>
                  </a:solidFill>
                  <a:latin typeface="+mn-lt"/>
                  <a:ea typeface="+mn-ea"/>
                  <a:cs typeface="+mn-cs"/>
                </a:rPr>
                <a:t xml:space="preserve">   1.340   </a:t>
              </a:r>
            </a:p>
          </p:txBody>
        </p:sp>
        <p:sp>
          <p:nvSpPr>
            <p:cNvPr id="15" name="TextBox 15"/>
            <p:cNvSpPr txBox="1"/>
            <p:nvPr/>
          </p:nvSpPr>
          <p:spPr>
            <a:xfrm>
              <a:off x="3962875" y="1707832"/>
              <a:ext cx="1427800" cy="322707"/>
            </a:xfrm>
            <a:prstGeom prst="rect">
              <a:avLst/>
            </a:prstGeom>
            <a:noFill/>
            <a:ln>
              <a:noFill/>
            </a:ln>
          </p:spPr>
          <p:txBody>
            <a:bodyPr wrap="none" lIns="0" tIns="0" rIns="0" bIns="0" anchor="t" anchorCtr="0">
              <a:spAutoFit/>
            </a:bodyPr>
            <a:lstStyle/>
            <a:p>
              <a:pPr algn="ctr"/>
              <a:r>
                <a:rPr lang="en-NZ" sz="1650" b="1" dirty="0">
                  <a:solidFill>
                    <a:srgbClr val="2D64A5"/>
                  </a:solidFill>
                  <a:latin typeface="+mn-lt"/>
                  <a:ea typeface="+mn-ea"/>
                  <a:cs typeface="+mn-cs"/>
                </a:rPr>
                <a:t xml:space="preserve">   1.920   </a:t>
              </a:r>
            </a:p>
          </p:txBody>
        </p:sp>
        <p:sp>
          <p:nvSpPr>
            <p:cNvPr id="16" name="TextBox 16"/>
            <p:cNvSpPr txBox="1"/>
            <p:nvPr/>
          </p:nvSpPr>
          <p:spPr>
            <a:xfrm>
              <a:off x="5105875" y="1622108"/>
              <a:ext cx="1427800" cy="322707"/>
            </a:xfrm>
            <a:prstGeom prst="rect">
              <a:avLst/>
            </a:prstGeom>
            <a:noFill/>
            <a:ln>
              <a:noFill/>
            </a:ln>
          </p:spPr>
          <p:txBody>
            <a:bodyPr wrap="none" lIns="0" tIns="0" rIns="0" bIns="0" anchor="t" anchorCtr="0">
              <a:spAutoFit/>
            </a:bodyPr>
            <a:lstStyle/>
            <a:p>
              <a:pPr algn="ctr"/>
              <a:r>
                <a:rPr lang="en-NZ" sz="1650" b="1" dirty="0">
                  <a:solidFill>
                    <a:schemeClr val="accent1"/>
                  </a:solidFill>
                  <a:latin typeface="+mn-lt"/>
                  <a:ea typeface="+mn-ea"/>
                  <a:cs typeface="+mn-cs"/>
                </a:rPr>
                <a:t xml:space="preserve">   2.000   </a:t>
              </a:r>
            </a:p>
          </p:txBody>
        </p:sp>
        <p:sp>
          <p:nvSpPr>
            <p:cNvPr id="17" name="TextBox 17"/>
            <p:cNvSpPr txBox="1"/>
            <p:nvPr/>
          </p:nvSpPr>
          <p:spPr>
            <a:xfrm>
              <a:off x="749427" y="4352925"/>
              <a:ext cx="996696"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M2   </a:t>
              </a:r>
            </a:p>
          </p:txBody>
        </p:sp>
        <p:sp>
          <p:nvSpPr>
            <p:cNvPr id="18" name="TextBox 18"/>
            <p:cNvSpPr txBox="1"/>
            <p:nvPr/>
          </p:nvSpPr>
          <p:spPr>
            <a:xfrm>
              <a:off x="1892427" y="4352925"/>
              <a:ext cx="996696"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M3   </a:t>
              </a:r>
            </a:p>
          </p:txBody>
        </p:sp>
        <p:sp>
          <p:nvSpPr>
            <p:cNvPr id="19" name="TextBox 19"/>
            <p:cNvSpPr txBox="1"/>
            <p:nvPr/>
          </p:nvSpPr>
          <p:spPr>
            <a:xfrm>
              <a:off x="3035427" y="4352925"/>
              <a:ext cx="996696"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M4   </a:t>
              </a:r>
            </a:p>
          </p:txBody>
        </p:sp>
        <p:sp>
          <p:nvSpPr>
            <p:cNvPr id="20" name="TextBox 20"/>
            <p:cNvSpPr/>
            <p:nvPr/>
          </p:nvSpPr>
          <p:spPr>
            <a:xfrm>
              <a:off x="4119753" y="4352925"/>
              <a:ext cx="1114044" cy="293370"/>
            </a:xfrm>
            <a:prstGeom prst="rect">
              <a:avLst/>
            </a:prstGeom>
            <a:noFill/>
            <a:ln>
              <a:noFill/>
            </a:ln>
          </p:spPr>
          <p:txBody>
            <a:bodyPr wrap="none" lIns="0" tIns="0" rIns="0" bIns="0" anchor="t" anchorCtr="0">
              <a:noAutofit/>
            </a:bodyPr>
            <a:lstStyle/>
            <a:p>
              <a:pPr algn="ctr"/>
              <a:r>
                <a:rPr lang="en-NZ" sz="1500" dirty="0">
                  <a:solidFill>
                    <a:srgbClr val="243B53"/>
                  </a:solidFill>
                  <a:latin typeface="Arial"/>
                  <a:ea typeface="Arial"/>
                  <a:cs typeface="Arial"/>
                </a:rPr>
                <a:t>Before M6A</a:t>
              </a:r>
            </a:p>
          </p:txBody>
        </p:sp>
        <p:sp>
          <p:nvSpPr>
            <p:cNvPr id="21" name="TextBox 21"/>
            <p:cNvSpPr txBox="1"/>
            <p:nvPr/>
          </p:nvSpPr>
          <p:spPr>
            <a:xfrm>
              <a:off x="5321427" y="4352925"/>
              <a:ext cx="996696"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M7   </a:t>
              </a:r>
            </a:p>
          </p:txBody>
        </p:sp>
      </p:grpSp>
      <p:grpSp>
        <p:nvGrpSpPr>
          <p:cNvPr id="32" name="Group 32"/>
          <p:cNvGrpSpPr/>
          <p:nvPr/>
        </p:nvGrpSpPr>
        <p:grpSpPr>
          <a:xfrm>
            <a:off x="7303363" y="1698308"/>
            <a:ext cx="4510856" cy="2206942"/>
            <a:chOff x="7303363" y="1698308"/>
            <a:chExt cx="4510856" cy="2206942"/>
          </a:xfrm>
        </p:grpSpPr>
        <p:sp>
          <p:nvSpPr>
            <p:cNvPr id="23" name="TextBox 23"/>
            <p:cNvSpPr/>
            <p:nvPr/>
          </p:nvSpPr>
          <p:spPr>
            <a:xfrm>
              <a:off x="7325868" y="1698308"/>
              <a:ext cx="3871912" cy="322707"/>
            </a:xfrm>
            <a:prstGeom prst="rect">
              <a:avLst/>
            </a:prstGeom>
            <a:noFill/>
            <a:ln>
              <a:noFill/>
            </a:ln>
          </p:spPr>
          <p:txBody>
            <a:bodyPr wrap="none" lIns="0" tIns="0" rIns="0" bIns="0" anchor="t" anchorCtr="0">
              <a:noAutofit/>
            </a:bodyPr>
            <a:lstStyle/>
            <a:p>
              <a:pPr algn="l"/>
              <a:r>
                <a:rPr lang="en-NZ" sz="1650" b="1" dirty="0">
                  <a:solidFill>
                    <a:srgbClr val="52606D"/>
                  </a:solidFill>
                  <a:latin typeface="Arial"/>
                  <a:ea typeface="Arial"/>
                  <a:cs typeface="Arial"/>
                </a:rPr>
                <a:t>NZ$2.000m: TWO VIEWS</a:t>
              </a:r>
            </a:p>
          </p:txBody>
        </p:sp>
        <p:sp>
          <p:nvSpPr>
            <p:cNvPr id="24" name="Rectangle 24"/>
            <p:cNvSpPr/>
            <p:nvPr/>
          </p:nvSpPr>
          <p:spPr>
            <a:xfrm>
              <a:off x="7334250" y="2190750"/>
              <a:ext cx="920115" cy="704850"/>
            </a:xfrm>
            <a:prstGeom prst="rect">
              <a:avLst/>
            </a:prstGeom>
            <a:solidFill>
              <a:schemeClr val="accent2"/>
            </a:solidFill>
            <a:ln>
              <a:noFill/>
            </a:ln>
          </p:spPr>
        </p:sp>
        <p:sp>
          <p:nvSpPr>
            <p:cNvPr id="25" name="Rectangle 25"/>
            <p:cNvSpPr/>
            <p:nvPr/>
          </p:nvSpPr>
          <p:spPr>
            <a:xfrm>
              <a:off x="8254365" y="2190750"/>
              <a:ext cx="3461385" cy="704850"/>
            </a:xfrm>
            <a:prstGeom prst="rect">
              <a:avLst/>
            </a:prstGeom>
            <a:solidFill>
              <a:srgbClr val="C8D8E6"/>
            </a:solidFill>
            <a:ln>
              <a:noFill/>
            </a:ln>
          </p:spPr>
        </p:sp>
        <p:sp>
          <p:nvSpPr>
            <p:cNvPr id="26" name="TextBox 26"/>
            <p:cNvSpPr txBox="1"/>
            <p:nvPr/>
          </p:nvSpPr>
          <p:spPr>
            <a:xfrm>
              <a:off x="7589425" y="2321242"/>
              <a:ext cx="409766" cy="502158"/>
            </a:xfrm>
            <a:prstGeom prst="rect">
              <a:avLst/>
            </a:prstGeom>
            <a:noFill/>
            <a:ln>
              <a:noFill/>
            </a:ln>
          </p:spPr>
          <p:txBody>
            <a:bodyPr wrap="none" lIns="0" tIns="0" rIns="0" bIns="0" anchor="t" anchorCtr="0">
              <a:spAutoFit/>
            </a:bodyPr>
            <a:lstStyle/>
            <a:p>
              <a:pPr algn="ctr">
                <a:lnSpc>
                  <a:spcPts val="1875"/>
                </a:lnSpc>
              </a:pPr>
              <a:r>
                <a:rPr lang="en-NZ" sz="1350" b="1" dirty="0">
                  <a:solidFill>
                    <a:srgbClr val="FFFFFF"/>
                  </a:solidFill>
                  <a:latin typeface="+mn-lt"/>
                  <a:ea typeface="+mn-ea"/>
                  <a:cs typeface="+mn-cs"/>
                </a:rPr>
                <a:t>Fees</a:t>
              </a:r>
              <a:br/>
              <a:r>
                <a:rPr lang="en-NZ" sz="1350" b="1" dirty="0">
                  <a:solidFill>
                    <a:srgbClr val="FFFFFF"/>
                  </a:solidFill>
                  <a:latin typeface="+mn-lt"/>
                  <a:ea typeface="+mn-ea"/>
                  <a:cs typeface="+mn-cs"/>
                </a:rPr>
                <a:t>.420</a:t>
              </a:r>
            </a:p>
          </p:txBody>
        </p:sp>
        <p:sp>
          <p:nvSpPr>
            <p:cNvPr id="27" name="TextBox 27"/>
            <p:cNvSpPr txBox="1"/>
            <p:nvPr/>
          </p:nvSpPr>
          <p:spPr>
            <a:xfrm>
              <a:off x="9024461" y="2305050"/>
              <a:ext cx="1915478" cy="550545"/>
            </a:xfrm>
            <a:prstGeom prst="rect">
              <a:avLst/>
            </a:prstGeom>
            <a:noFill/>
            <a:ln>
              <a:noFill/>
            </a:ln>
          </p:spPr>
          <p:txBody>
            <a:bodyPr wrap="none" lIns="0" tIns="0" rIns="0" bIns="0" anchor="t" anchorCtr="0">
              <a:spAutoFit/>
            </a:bodyPr>
            <a:lstStyle/>
            <a:p>
              <a:pPr algn="ctr">
                <a:lnSpc>
                  <a:spcPts val="2025"/>
                </a:lnSpc>
              </a:pPr>
              <a:r>
                <a:rPr lang="en-NZ" sz="1500" b="1" dirty="0">
                  <a:solidFill>
                    <a:schemeClr val="accent1"/>
                  </a:solidFill>
                  <a:latin typeface="+mn-lt"/>
                  <a:ea typeface="+mn-ea"/>
                  <a:cs typeface="+mn-cs"/>
                </a:rPr>
                <a:t>Client / third party</a:t>
              </a:r>
              <a:br/>
              <a:r>
                <a:rPr lang="en-NZ" sz="1500" b="1" dirty="0">
                  <a:solidFill>
                    <a:schemeClr val="accent1"/>
                  </a:solidFill>
                  <a:latin typeface="+mn-lt"/>
                  <a:ea typeface="+mn-ea"/>
                  <a:cs typeface="+mn-cs"/>
                </a:rPr>
                <a:t>1.580</a:t>
              </a:r>
            </a:p>
          </p:txBody>
        </p:sp>
        <p:sp>
          <p:nvSpPr>
            <p:cNvPr id="28" name="Rectangle 28"/>
            <p:cNvSpPr/>
            <p:nvPr/>
          </p:nvSpPr>
          <p:spPr>
            <a:xfrm>
              <a:off x="7334250" y="3200400"/>
              <a:ext cx="1971675" cy="704850"/>
            </a:xfrm>
            <a:prstGeom prst="rect">
              <a:avLst/>
            </a:prstGeom>
            <a:solidFill>
              <a:schemeClr val="accent3"/>
            </a:solidFill>
            <a:ln>
              <a:noFill/>
            </a:ln>
          </p:spPr>
        </p:sp>
        <p:sp>
          <p:nvSpPr>
            <p:cNvPr id="29" name="Rectangle 29"/>
            <p:cNvSpPr/>
            <p:nvPr/>
          </p:nvSpPr>
          <p:spPr>
            <a:xfrm>
              <a:off x="9305925" y="3200400"/>
              <a:ext cx="2409825" cy="704850"/>
            </a:xfrm>
            <a:prstGeom prst="rect">
              <a:avLst/>
            </a:prstGeom>
            <a:solidFill>
              <a:schemeClr val="accent6"/>
            </a:solidFill>
            <a:ln>
              <a:noFill/>
            </a:ln>
          </p:spPr>
        </p:sp>
        <p:sp>
          <p:nvSpPr>
            <p:cNvPr id="30" name="TextBox 30"/>
            <p:cNvSpPr txBox="1"/>
            <p:nvPr/>
          </p:nvSpPr>
          <p:spPr>
            <a:xfrm>
              <a:off x="7303363" y="3450908"/>
              <a:ext cx="2033448" cy="322707"/>
            </a:xfrm>
            <a:prstGeom prst="rect">
              <a:avLst/>
            </a:prstGeom>
            <a:noFill/>
            <a:ln>
              <a:noFill/>
            </a:ln>
          </p:spPr>
          <p:txBody>
            <a:bodyPr wrap="none" lIns="0" tIns="0" rIns="0" bIns="0" anchor="t" anchorCtr="0">
              <a:spAutoFit/>
            </a:bodyPr>
            <a:lstStyle/>
            <a:p>
              <a:pPr algn="ctr"/>
              <a:r>
                <a:rPr lang="en-NZ" sz="1650" b="1" dirty="0">
                  <a:solidFill>
                    <a:srgbClr val="FFFFFF"/>
                  </a:solidFill>
                  <a:latin typeface="+mn-lt"/>
                  <a:ea typeface="+mn-ea"/>
                  <a:cs typeface="+mn-cs"/>
                </a:rPr>
                <a:t xml:space="preserve">   Capex .900   </a:t>
              </a:r>
            </a:p>
          </p:txBody>
        </p:sp>
        <p:sp>
          <p:nvSpPr>
            <p:cNvPr id="31" name="TextBox 31"/>
            <p:cNvSpPr txBox="1"/>
            <p:nvPr/>
          </p:nvSpPr>
          <p:spPr>
            <a:xfrm>
              <a:off x="9207456" y="3450908"/>
              <a:ext cx="2606763" cy="322707"/>
            </a:xfrm>
            <a:prstGeom prst="rect">
              <a:avLst/>
            </a:prstGeom>
            <a:noFill/>
            <a:ln>
              <a:noFill/>
            </a:ln>
          </p:spPr>
          <p:txBody>
            <a:bodyPr wrap="none" lIns="0" tIns="0" rIns="0" bIns="0" anchor="t" anchorCtr="0">
              <a:spAutoFit/>
            </a:bodyPr>
            <a:lstStyle/>
            <a:p>
              <a:pPr algn="ctr"/>
              <a:r>
                <a:rPr lang="en-NZ" sz="1650" b="1" dirty="0">
                  <a:solidFill>
                    <a:schemeClr val="accent1"/>
                  </a:solidFill>
                  <a:latin typeface="+mn-lt"/>
                  <a:ea typeface="+mn-ea"/>
                  <a:cs typeface="+mn-cs"/>
                </a:rPr>
                <a:t xml:space="preserve">   Impl Opex 1.100   </a:t>
              </a:r>
            </a:p>
          </p:txBody>
        </p:sp>
      </p:grpSp>
      <p:grpSp>
        <p:nvGrpSpPr>
          <p:cNvPr id="36" name="Group 36"/>
          <p:cNvGrpSpPr/>
          <p:nvPr/>
        </p:nvGrpSpPr>
        <p:grpSpPr>
          <a:xfrm>
            <a:off x="514350" y="4886325"/>
            <a:ext cx="8020050" cy="762000"/>
            <a:chOff x="514350" y="4886325"/>
            <a:chExt cx="8020050" cy="762000"/>
          </a:xfrm>
        </p:grpSpPr>
        <p:sp>
          <p:nvSpPr>
            <p:cNvPr id="33" name="Rectangle 33"/>
            <p:cNvSpPr/>
            <p:nvPr/>
          </p:nvSpPr>
          <p:spPr>
            <a:xfrm>
              <a:off x="514350" y="4886325"/>
              <a:ext cx="8020050" cy="762000"/>
            </a:xfrm>
            <a:prstGeom prst="roundRect">
              <a:avLst>
                <a:gd name="adj" fmla="val 17500"/>
              </a:avLst>
            </a:prstGeom>
            <a:solidFill>
              <a:srgbClr val="FFF4E5"/>
            </a:solidFill>
            <a:ln>
              <a:noFill/>
            </a:ln>
          </p:spPr>
        </p:sp>
        <p:sp>
          <p:nvSpPr>
            <p:cNvPr id="34" name="TextBox 34"/>
            <p:cNvSpPr txBox="1"/>
            <p:nvPr/>
          </p:nvSpPr>
          <p:spPr>
            <a:xfrm>
              <a:off x="733806" y="5015865"/>
              <a:ext cx="4598444" cy="352044"/>
            </a:xfrm>
            <a:prstGeom prst="rect">
              <a:avLst/>
            </a:prstGeom>
            <a:noFill/>
            <a:ln>
              <a:noFill/>
            </a:ln>
          </p:spPr>
          <p:txBody>
            <a:bodyPr wrap="none" lIns="0" tIns="0" rIns="0" bIns="0" anchor="t" anchorCtr="0">
              <a:spAutoFit/>
            </a:bodyPr>
            <a:lstStyle/>
            <a:p>
              <a:pPr algn="l"/>
              <a:r>
                <a:rPr lang="en-NZ" sz="1800" b="1" dirty="0">
                  <a:solidFill>
                    <a:srgbClr val="9B6800"/>
                  </a:solidFill>
                  <a:latin typeface="+mn-lt"/>
                  <a:ea typeface="+mn-ea"/>
                  <a:cs typeface="+mn-cs"/>
                </a:rPr>
                <a:t xml:space="preserve">Recurring Opex: NZ$0.650m/year   </a:t>
              </a:r>
            </a:p>
          </p:txBody>
        </p:sp>
        <p:sp>
          <p:nvSpPr>
            <p:cNvPr id="35" name="TextBox 35"/>
            <p:cNvSpPr/>
            <p:nvPr/>
          </p:nvSpPr>
          <p:spPr>
            <a:xfrm>
              <a:off x="735330" y="5324475"/>
              <a:ext cx="7429500" cy="293370"/>
            </a:xfrm>
            <a:prstGeom prst="rect">
              <a:avLst/>
            </a:prstGeom>
            <a:noFill/>
            <a:ln>
              <a:noFill/>
            </a:ln>
          </p:spPr>
          <p:txBody>
            <a:bodyPr wrap="none" lIns="0" tIns="0" rIns="0" bIns="0" anchor="t" anchorCtr="0">
              <a:noAutofit/>
            </a:bodyPr>
            <a:lstStyle/>
            <a:p>
              <a:pPr algn="l"/>
              <a:r>
                <a:rPr lang="en-NZ" sz="1500" dirty="0">
                  <a:solidFill>
                    <a:srgbClr val="243B53"/>
                  </a:solidFill>
                  <a:latin typeface="Arial"/>
                  <a:ea typeface="Arial"/>
                  <a:cs typeface="Arial"/>
                </a:rPr>
                <a:t>Recurring cost, outside implementation envelope</a:t>
              </a:r>
            </a:p>
          </p:txBody>
        </p:sp>
      </p:grpSp>
      <p:grpSp>
        <p:nvGrpSpPr>
          <p:cNvPr id="39" name="Group 39"/>
          <p:cNvGrpSpPr/>
          <p:nvPr/>
        </p:nvGrpSpPr>
        <p:grpSpPr>
          <a:xfrm>
            <a:off x="508254" y="5909310"/>
            <a:ext cx="8020050" cy="729996"/>
            <a:chOff x="508254" y="5909310"/>
            <a:chExt cx="8020050" cy="729996"/>
          </a:xfrm>
        </p:grpSpPr>
        <p:sp>
          <p:nvSpPr>
            <p:cNvPr id="37" name="TextBox 37"/>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52606D"/>
                  </a:solidFill>
                  <a:latin typeface="Arial"/>
                  <a:ea typeface="Arial"/>
                  <a:cs typeface="Arial"/>
                </a:rPr>
                <a:t>Conditional exposure at each gate. Fees/capacity and Capex/Opex are alternative splits.</a:t>
              </a:r>
            </a:p>
          </p:txBody>
        </p:sp>
        <p:sp>
          <p:nvSpPr>
            <p:cNvPr id="38" name="TextBox 38"/>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16   </a:t>
              </a:r>
            </a:p>
          </p:txBody>
        </p:sp>
      </p:grpSp>
      <p:sp>
        <p:nvSpPr>
          <p:cNvPr id="40" name="Rectangle 40"/>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7765352" cy="788670"/>
            <a:chOff x="499110" y="542925"/>
            <a:chExt cx="7765352" cy="788670"/>
          </a:xfrm>
        </p:grpSpPr>
        <p:sp>
          <p:nvSpPr>
            <p:cNvPr id="2" name="TextBox 2"/>
            <p:cNvSpPr/>
            <p:nvPr/>
          </p:nvSpPr>
          <p:spPr>
            <a:xfrm>
              <a:off x="499110" y="542925"/>
              <a:ext cx="7765352"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 xml:space="preserve">Base net present value: −NZ$1.114m   </a:t>
              </a:r>
            </a:p>
          </p:txBody>
        </p:sp>
        <p:sp>
          <p:nvSpPr>
            <p:cNvPr id="3" name="TextBox 3"/>
            <p:cNvSpPr/>
            <p:nvPr/>
          </p:nvSpPr>
          <p:spPr>
            <a:xfrm>
              <a:off x="506730" y="1038225"/>
              <a:ext cx="5825966"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 xml:space="preserve">Three-year annual model at 8% · A2-D1, Tables 12–15   </a:t>
              </a:r>
            </a:p>
          </p:txBody>
        </p:sp>
      </p:grpSp>
      <p:grpSp>
        <p:nvGrpSpPr>
          <p:cNvPr id="14" name="Group 14"/>
          <p:cNvGrpSpPr/>
          <p:nvPr/>
        </p:nvGrpSpPr>
        <p:grpSpPr>
          <a:xfrm>
            <a:off x="514350" y="1562100"/>
            <a:ext cx="11220450" cy="857059"/>
            <a:chOff x="514350" y="1562100"/>
            <a:chExt cx="11220450" cy="857059"/>
          </a:xfrm>
        </p:grpSpPr>
        <p:sp>
          <p:nvSpPr>
            <p:cNvPr id="5" name="Rectangle 5"/>
            <p:cNvSpPr/>
            <p:nvPr/>
          </p:nvSpPr>
          <p:spPr>
            <a:xfrm>
              <a:off x="514350" y="1562100"/>
              <a:ext cx="3371850" cy="800100"/>
            </a:xfrm>
            <a:prstGeom prst="roundRect">
              <a:avLst>
                <a:gd name="adj" fmla="val 19048"/>
              </a:avLst>
            </a:prstGeom>
            <a:solidFill>
              <a:srgbClr val="FDECEC"/>
            </a:solidFill>
            <a:ln>
              <a:noFill/>
            </a:ln>
          </p:spPr>
        </p:sp>
        <p:sp>
          <p:nvSpPr>
            <p:cNvPr id="6" name="TextBox 6"/>
            <p:cNvSpPr/>
            <p:nvPr/>
          </p:nvSpPr>
          <p:spPr>
            <a:xfrm>
              <a:off x="736092" y="1702118"/>
              <a:ext cx="1905000" cy="264033"/>
            </a:xfrm>
            <a:prstGeom prst="rect">
              <a:avLst/>
            </a:prstGeom>
            <a:noFill/>
            <a:ln>
              <a:noFill/>
            </a:ln>
          </p:spPr>
          <p:txBody>
            <a:bodyPr wrap="none" lIns="0" tIns="0" rIns="0" bIns="0" anchor="t" anchorCtr="0">
              <a:noAutofit/>
            </a:bodyPr>
            <a:lstStyle/>
            <a:p>
              <a:pPr algn="l"/>
              <a:r>
                <a:rPr lang="en-NZ" sz="1350" dirty="0">
                  <a:solidFill>
                    <a:srgbClr val="7B1F1F"/>
                  </a:solidFill>
                  <a:latin typeface="Arial"/>
                  <a:ea typeface="Arial"/>
                  <a:cs typeface="Arial"/>
                </a:rPr>
                <a:t>Benefit/cost ratio</a:t>
              </a:r>
            </a:p>
          </p:txBody>
        </p:sp>
        <p:sp>
          <p:nvSpPr>
            <p:cNvPr id="7" name="TextBox 7"/>
            <p:cNvSpPr txBox="1"/>
            <p:nvPr/>
          </p:nvSpPr>
          <p:spPr>
            <a:xfrm>
              <a:off x="1908314" y="1803082"/>
              <a:ext cx="1746238" cy="616077"/>
            </a:xfrm>
            <a:prstGeom prst="rect">
              <a:avLst/>
            </a:prstGeom>
            <a:noFill/>
            <a:ln>
              <a:noFill/>
            </a:ln>
          </p:spPr>
          <p:txBody>
            <a:bodyPr wrap="none" lIns="0" tIns="0" rIns="0" bIns="0" anchor="t" anchorCtr="0">
              <a:spAutoFit/>
            </a:bodyPr>
            <a:lstStyle/>
            <a:p>
              <a:pPr algn="r"/>
              <a:r>
                <a:rPr lang="en-NZ" sz="3150" b="1" dirty="0">
                  <a:solidFill>
                    <a:srgbClr val="C43D3D"/>
                  </a:solidFill>
                  <a:latin typeface="+mn-lt"/>
                  <a:ea typeface="+mn-ea"/>
                  <a:cs typeface="+mn-cs"/>
                </a:rPr>
                <a:t xml:space="preserve">0.70   </a:t>
              </a:r>
            </a:p>
          </p:txBody>
        </p:sp>
        <p:sp>
          <p:nvSpPr>
            <p:cNvPr id="8" name="Rectangle 8"/>
            <p:cNvSpPr/>
            <p:nvPr/>
          </p:nvSpPr>
          <p:spPr>
            <a:xfrm>
              <a:off x="4114800" y="1562100"/>
              <a:ext cx="3371850" cy="800100"/>
            </a:xfrm>
            <a:prstGeom prst="roundRect">
              <a:avLst>
                <a:gd name="adj" fmla="val 19048"/>
              </a:avLst>
            </a:prstGeom>
            <a:solidFill>
              <a:srgbClr val="FDECEC"/>
            </a:solidFill>
            <a:ln>
              <a:noFill/>
            </a:ln>
          </p:spPr>
        </p:sp>
        <p:sp>
          <p:nvSpPr>
            <p:cNvPr id="9" name="TextBox 9"/>
            <p:cNvSpPr/>
            <p:nvPr/>
          </p:nvSpPr>
          <p:spPr>
            <a:xfrm>
              <a:off x="4336542" y="1702118"/>
              <a:ext cx="2095500" cy="264033"/>
            </a:xfrm>
            <a:prstGeom prst="rect">
              <a:avLst/>
            </a:prstGeom>
            <a:noFill/>
            <a:ln>
              <a:noFill/>
            </a:ln>
          </p:spPr>
          <p:txBody>
            <a:bodyPr wrap="none" lIns="0" tIns="0" rIns="0" bIns="0" anchor="t" anchorCtr="0">
              <a:noAutofit/>
            </a:bodyPr>
            <a:lstStyle/>
            <a:p>
              <a:pPr algn="l"/>
              <a:r>
                <a:rPr lang="en-NZ" sz="1350" dirty="0">
                  <a:solidFill>
                    <a:srgbClr val="7B1F1F"/>
                  </a:solidFill>
                  <a:latin typeface="Arial"/>
                  <a:ea typeface="Arial"/>
                  <a:cs typeface="Arial"/>
                </a:rPr>
                <a:t>Return on investment</a:t>
              </a:r>
            </a:p>
          </p:txBody>
        </p:sp>
        <p:sp>
          <p:nvSpPr>
            <p:cNvPr id="10" name="TextBox 10"/>
            <p:cNvSpPr txBox="1"/>
            <p:nvPr/>
          </p:nvSpPr>
          <p:spPr>
            <a:xfrm>
              <a:off x="4929931" y="1803082"/>
              <a:ext cx="2325071" cy="616077"/>
            </a:xfrm>
            <a:prstGeom prst="rect">
              <a:avLst/>
            </a:prstGeom>
            <a:noFill/>
            <a:ln>
              <a:noFill/>
            </a:ln>
          </p:spPr>
          <p:txBody>
            <a:bodyPr wrap="none" lIns="0" tIns="0" rIns="0" bIns="0" anchor="t" anchorCtr="0">
              <a:spAutoFit/>
            </a:bodyPr>
            <a:lstStyle/>
            <a:p>
              <a:pPr algn="r"/>
              <a:r>
                <a:rPr lang="en-NZ" sz="3150" b="1" dirty="0">
                  <a:solidFill>
                    <a:srgbClr val="C43D3D"/>
                  </a:solidFill>
                  <a:latin typeface="+mn-lt"/>
                  <a:ea typeface="+mn-ea"/>
                  <a:cs typeface="+mn-cs"/>
                </a:rPr>
                <a:t xml:space="preserve">−21.5%   </a:t>
              </a:r>
            </a:p>
          </p:txBody>
        </p:sp>
        <p:sp>
          <p:nvSpPr>
            <p:cNvPr id="11" name="Rectangle 11"/>
            <p:cNvSpPr/>
            <p:nvPr/>
          </p:nvSpPr>
          <p:spPr>
            <a:xfrm>
              <a:off x="7715250" y="1562100"/>
              <a:ext cx="4019550" cy="800100"/>
            </a:xfrm>
            <a:prstGeom prst="roundRect">
              <a:avLst>
                <a:gd name="adj" fmla="val 19048"/>
              </a:avLst>
            </a:prstGeom>
            <a:solidFill>
              <a:schemeClr val="accent5"/>
            </a:solidFill>
            <a:ln>
              <a:noFill/>
            </a:ln>
          </p:spPr>
        </p:sp>
        <p:sp>
          <p:nvSpPr>
            <p:cNvPr id="12" name="TextBox 12"/>
            <p:cNvSpPr txBox="1"/>
            <p:nvPr/>
          </p:nvSpPr>
          <p:spPr>
            <a:xfrm>
              <a:off x="7936992" y="1702118"/>
              <a:ext cx="1069848" cy="264033"/>
            </a:xfrm>
            <a:prstGeom prst="rect">
              <a:avLst/>
            </a:prstGeom>
            <a:noFill/>
            <a:ln>
              <a:noFill/>
            </a:ln>
          </p:spPr>
          <p:txBody>
            <a:bodyPr wrap="none" lIns="0" tIns="0" rIns="0" bIns="0" anchor="t" anchorCtr="0">
              <a:spAutoFit/>
            </a:bodyPr>
            <a:lstStyle/>
            <a:p>
              <a:pPr algn="l"/>
              <a:r>
                <a:rPr lang="en-NZ" sz="1350" dirty="0">
                  <a:solidFill>
                    <a:srgbClr val="52606D"/>
                  </a:solidFill>
                  <a:latin typeface="+mn-lt"/>
                  <a:ea typeface="+mn-ea"/>
                  <a:cs typeface="+mn-cs"/>
                </a:rPr>
                <a:t xml:space="preserve">PAYBACK   </a:t>
              </a:r>
            </a:p>
          </p:txBody>
        </p:sp>
        <p:sp>
          <p:nvSpPr>
            <p:cNvPr id="13" name="TextBox 13"/>
            <p:cNvSpPr txBox="1"/>
            <p:nvPr/>
          </p:nvSpPr>
          <p:spPr>
            <a:xfrm>
              <a:off x="8366141" y="1925955"/>
              <a:ext cx="3150727" cy="410718"/>
            </a:xfrm>
            <a:prstGeom prst="rect">
              <a:avLst/>
            </a:prstGeom>
            <a:noFill/>
            <a:ln>
              <a:noFill/>
            </a:ln>
          </p:spPr>
          <p:txBody>
            <a:bodyPr wrap="none" lIns="0" tIns="0" rIns="0" bIns="0" anchor="t" anchorCtr="0">
              <a:spAutoFit/>
            </a:bodyPr>
            <a:lstStyle/>
            <a:p>
              <a:pPr algn="r"/>
              <a:r>
                <a:rPr lang="en-NZ" sz="2100" b="1" dirty="0">
                  <a:solidFill>
                    <a:schemeClr val="accent1"/>
                  </a:solidFill>
                  <a:latin typeface="+mn-lt"/>
                  <a:ea typeface="+mn-ea"/>
                  <a:cs typeface="+mn-cs"/>
                </a:rPr>
                <a:t xml:space="preserve">Not within 3 years   </a:t>
              </a:r>
            </a:p>
          </p:txBody>
        </p:sp>
      </p:grpSp>
      <p:grpSp>
        <p:nvGrpSpPr>
          <p:cNvPr id="35" name="Group 35"/>
          <p:cNvGrpSpPr/>
          <p:nvPr/>
        </p:nvGrpSpPr>
        <p:grpSpPr>
          <a:xfrm>
            <a:off x="675231" y="2581275"/>
            <a:ext cx="7641138" cy="3128905"/>
            <a:chOff x="675231" y="2581275"/>
            <a:chExt cx="7641138" cy="3128905"/>
          </a:xfrm>
        </p:grpSpPr>
        <p:grpSp>
          <p:nvGrpSpPr>
            <p:cNvPr id="25" name="Group 25"/>
            <p:cNvGrpSpPr/>
            <p:nvPr/>
          </p:nvGrpSpPr>
          <p:grpSpPr>
            <a:xfrm>
              <a:off x="742950" y="2953512"/>
              <a:ext cx="7486650" cy="2756668"/>
              <a:chOff x="742950" y="2953512"/>
              <a:chExt cx="7486650" cy="2756668"/>
            </a:xfrm>
          </p:grpSpPr>
          <p:sp>
            <p:nvSpPr>
              <p:cNvPr id="15" name="Line 15"/>
              <p:cNvSpPr/>
              <p:nvPr/>
            </p:nvSpPr>
            <p:spPr>
              <a:xfrm>
                <a:off x="742950" y="3829050"/>
                <a:ext cx="7486650" cy="9525"/>
              </a:xfrm>
              <a:custGeom>
                <a:avLst/>
                <a:gdLst/>
                <a:ahLst/>
                <a:cxnLst/>
                <a:rect l="l" t="t" r="r" b="b"/>
                <a:pathLst>
                  <a:path w="7486650" h="9525">
                    <a:moveTo>
                      <a:pt x="0" y="0"/>
                    </a:moveTo>
                    <a:lnTo>
                      <a:pt x="7486650" y="0"/>
                    </a:lnTo>
                  </a:path>
                </a:pathLst>
              </a:custGeom>
              <a:noFill/>
              <a:ln w="19050">
                <a:solidFill>
                  <a:schemeClr val="accent1"/>
                </a:solidFill>
              </a:ln>
            </p:spPr>
          </p:sp>
          <p:sp>
            <p:nvSpPr>
              <p:cNvPr id="16" name="Rectangle 16"/>
              <p:cNvSpPr/>
              <p:nvPr/>
            </p:nvSpPr>
            <p:spPr>
              <a:xfrm>
                <a:off x="1009650" y="3829050"/>
                <a:ext cx="1028700" cy="1524000"/>
              </a:xfrm>
              <a:prstGeom prst="rect">
                <a:avLst/>
              </a:prstGeom>
              <a:solidFill>
                <a:srgbClr val="C43D3D"/>
              </a:solidFill>
              <a:ln>
                <a:noFill/>
              </a:ln>
            </p:spPr>
          </p:sp>
          <p:sp>
            <p:nvSpPr>
              <p:cNvPr id="17" name="Rectangle 17"/>
              <p:cNvSpPr/>
              <p:nvPr/>
            </p:nvSpPr>
            <p:spPr>
              <a:xfrm>
                <a:off x="2990850" y="3829050"/>
                <a:ext cx="1028700" cy="323850"/>
              </a:xfrm>
              <a:prstGeom prst="rect">
                <a:avLst/>
              </a:prstGeom>
              <a:solidFill>
                <a:srgbClr val="C43D3D"/>
              </a:solidFill>
              <a:ln>
                <a:noFill/>
              </a:ln>
            </p:spPr>
          </p:sp>
          <p:sp>
            <p:nvSpPr>
              <p:cNvPr id="18" name="Rectangle 18"/>
              <p:cNvSpPr/>
              <p:nvPr/>
            </p:nvSpPr>
            <p:spPr>
              <a:xfrm>
                <a:off x="4972050" y="3502152"/>
                <a:ext cx="1028700" cy="326898"/>
              </a:xfrm>
              <a:prstGeom prst="rect">
                <a:avLst/>
              </a:prstGeom>
              <a:solidFill>
                <a:schemeClr val="accent3"/>
              </a:solidFill>
              <a:ln>
                <a:noFill/>
              </a:ln>
            </p:spPr>
          </p:sp>
          <p:sp>
            <p:nvSpPr>
              <p:cNvPr id="19" name="Rectangle 19"/>
              <p:cNvSpPr/>
              <p:nvPr/>
            </p:nvSpPr>
            <p:spPr>
              <a:xfrm>
                <a:off x="6953250" y="2953512"/>
                <a:ext cx="1028700" cy="875538"/>
              </a:xfrm>
              <a:prstGeom prst="rect">
                <a:avLst/>
              </a:prstGeom>
              <a:solidFill>
                <a:schemeClr val="accent3"/>
              </a:solidFill>
              <a:ln>
                <a:noFill/>
              </a:ln>
            </p:spPr>
          </p:sp>
          <p:sp>
            <p:nvSpPr>
              <p:cNvPr id="20" name="Polyline 20"/>
              <p:cNvSpPr/>
              <p:nvPr/>
            </p:nvSpPr>
            <p:spPr>
              <a:xfrm>
                <a:off x="1524000" y="4677880"/>
                <a:ext cx="5943600" cy="975150"/>
              </a:xfrm>
              <a:custGeom>
                <a:avLst/>
                <a:gdLst/>
                <a:ahLst/>
                <a:cxnLst/>
                <a:rect l="l" t="t" r="r" b="b"/>
                <a:pathLst>
                  <a:path w="5943600" h="975150">
                    <a:moveTo>
                      <a:pt x="0" y="675170"/>
                    </a:moveTo>
                    <a:lnTo>
                      <a:pt x="1981200" y="975150"/>
                    </a:lnTo>
                    <a:lnTo>
                      <a:pt x="3962400" y="694801"/>
                    </a:lnTo>
                    <a:lnTo>
                      <a:pt x="5943600" y="0"/>
                    </a:lnTo>
                  </a:path>
                </a:pathLst>
              </a:custGeom>
              <a:noFill/>
              <a:ln w="38100">
                <a:solidFill>
                  <a:schemeClr val="accent6"/>
                </a:solidFill>
                <a:custDash>
                  <a:ds d="225000" sp="175000"/>
                </a:custDash>
              </a:ln>
            </p:spPr>
          </p:sp>
          <p:sp>
            <p:nvSpPr>
              <p:cNvPr id="21" name="Ellipse 21"/>
              <p:cNvSpPr/>
              <p:nvPr/>
            </p:nvSpPr>
            <p:spPr>
              <a:xfrm>
                <a:off x="1466850" y="5295900"/>
                <a:ext cx="114300" cy="114300"/>
              </a:xfrm>
              <a:prstGeom prst="ellipse">
                <a:avLst/>
              </a:prstGeom>
              <a:solidFill>
                <a:schemeClr val="accent6"/>
              </a:solidFill>
              <a:ln>
                <a:noFill/>
              </a:ln>
            </p:spPr>
          </p:sp>
          <p:sp>
            <p:nvSpPr>
              <p:cNvPr id="22" name="Ellipse 22"/>
              <p:cNvSpPr/>
              <p:nvPr/>
            </p:nvSpPr>
            <p:spPr>
              <a:xfrm>
                <a:off x="3448050" y="5595880"/>
                <a:ext cx="114300" cy="114300"/>
              </a:xfrm>
              <a:prstGeom prst="ellipse">
                <a:avLst/>
              </a:prstGeom>
              <a:solidFill>
                <a:schemeClr val="accent6"/>
              </a:solidFill>
              <a:ln>
                <a:noFill/>
              </a:ln>
            </p:spPr>
          </p:sp>
          <p:sp>
            <p:nvSpPr>
              <p:cNvPr id="23" name="Ellipse 23"/>
              <p:cNvSpPr/>
              <p:nvPr/>
            </p:nvSpPr>
            <p:spPr>
              <a:xfrm>
                <a:off x="5429250" y="5315531"/>
                <a:ext cx="114300" cy="114300"/>
              </a:xfrm>
              <a:prstGeom prst="ellipse">
                <a:avLst/>
              </a:prstGeom>
              <a:solidFill>
                <a:schemeClr val="accent6"/>
              </a:solidFill>
              <a:ln>
                <a:noFill/>
              </a:ln>
            </p:spPr>
          </p:sp>
          <p:sp>
            <p:nvSpPr>
              <p:cNvPr id="24" name="Ellipse 24"/>
              <p:cNvSpPr/>
              <p:nvPr/>
            </p:nvSpPr>
            <p:spPr>
              <a:xfrm>
                <a:off x="7410450" y="4620730"/>
                <a:ext cx="114300" cy="114300"/>
              </a:xfrm>
              <a:prstGeom prst="ellipse">
                <a:avLst/>
              </a:prstGeom>
              <a:solidFill>
                <a:schemeClr val="accent6"/>
              </a:solidFill>
              <a:ln>
                <a:noFill/>
              </a:ln>
            </p:spPr>
          </p:sp>
        </p:grpSp>
        <p:sp>
          <p:nvSpPr>
            <p:cNvPr id="26" name="TextBox 26"/>
            <p:cNvSpPr txBox="1"/>
            <p:nvPr/>
          </p:nvSpPr>
          <p:spPr>
            <a:xfrm>
              <a:off x="871299" y="2581275"/>
              <a:ext cx="1305401"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Time 0   </a:t>
              </a:r>
            </a:p>
          </p:txBody>
        </p:sp>
        <p:sp>
          <p:nvSpPr>
            <p:cNvPr id="27" name="TextBox 27"/>
            <p:cNvSpPr txBox="1"/>
            <p:nvPr/>
          </p:nvSpPr>
          <p:spPr>
            <a:xfrm>
              <a:off x="2847380" y="2581275"/>
              <a:ext cx="1315641"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Year 1   </a:t>
              </a:r>
            </a:p>
          </p:txBody>
        </p:sp>
        <p:sp>
          <p:nvSpPr>
            <p:cNvPr id="28" name="TextBox 28"/>
            <p:cNvSpPr txBox="1"/>
            <p:nvPr/>
          </p:nvSpPr>
          <p:spPr>
            <a:xfrm>
              <a:off x="4828580" y="2581275"/>
              <a:ext cx="1315641"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Year 2   </a:t>
              </a:r>
            </a:p>
          </p:txBody>
        </p:sp>
        <p:sp>
          <p:nvSpPr>
            <p:cNvPr id="29" name="TextBox 29"/>
            <p:cNvSpPr txBox="1"/>
            <p:nvPr/>
          </p:nvSpPr>
          <p:spPr>
            <a:xfrm>
              <a:off x="6809780" y="2581275"/>
              <a:ext cx="1315641" cy="293370"/>
            </a:xfrm>
            <a:prstGeom prst="rect">
              <a:avLst/>
            </a:prstGeom>
            <a:noFill/>
            <a:ln>
              <a:noFill/>
            </a:ln>
          </p:spPr>
          <p:txBody>
            <a:bodyPr wrap="none" lIns="0" tIns="0" rIns="0" bIns="0" anchor="t" anchorCtr="0">
              <a:spAutoFit/>
            </a:bodyPr>
            <a:lstStyle/>
            <a:p>
              <a:pPr algn="ctr"/>
              <a:r>
                <a:rPr lang="en-NZ" sz="1500" dirty="0">
                  <a:solidFill>
                    <a:schemeClr val="dk1"/>
                  </a:solidFill>
                  <a:latin typeface="+mn-lt"/>
                  <a:ea typeface="+mn-ea"/>
                  <a:cs typeface="+mn-cs"/>
                </a:rPr>
                <a:t xml:space="preserve">   Year 3   </a:t>
              </a:r>
            </a:p>
          </p:txBody>
        </p:sp>
        <p:sp>
          <p:nvSpPr>
            <p:cNvPr id="30" name="TextBox 30"/>
            <p:cNvSpPr txBox="1"/>
            <p:nvPr/>
          </p:nvSpPr>
          <p:spPr>
            <a:xfrm>
              <a:off x="675231" y="4044315"/>
              <a:ext cx="1697538" cy="352044"/>
            </a:xfrm>
            <a:prstGeom prst="rect">
              <a:avLst/>
            </a:prstGeom>
            <a:noFill/>
            <a:ln>
              <a:noFill/>
            </a:ln>
          </p:spPr>
          <p:txBody>
            <a:bodyPr wrap="none" lIns="0" tIns="0" rIns="0" bIns="0" anchor="t" anchorCtr="0">
              <a:spAutoFit/>
            </a:bodyPr>
            <a:lstStyle/>
            <a:p>
              <a:pPr algn="ctr"/>
              <a:r>
                <a:rPr lang="en-NZ" sz="1800" b="1" dirty="0">
                  <a:solidFill>
                    <a:srgbClr val="FFFFFF"/>
                  </a:solidFill>
                  <a:latin typeface="+mn-lt"/>
                  <a:ea typeface="+mn-ea"/>
                  <a:cs typeface="+mn-cs"/>
                </a:rPr>
                <a:t xml:space="preserve">   −2.000   </a:t>
              </a:r>
            </a:p>
          </p:txBody>
        </p:sp>
        <p:sp>
          <p:nvSpPr>
            <p:cNvPr id="31" name="TextBox 31"/>
            <p:cNvSpPr txBox="1"/>
            <p:nvPr/>
          </p:nvSpPr>
          <p:spPr>
            <a:xfrm>
              <a:off x="2835590" y="3903821"/>
              <a:ext cx="1339220" cy="278702"/>
            </a:xfrm>
            <a:prstGeom prst="rect">
              <a:avLst/>
            </a:prstGeom>
            <a:noFill/>
            <a:ln>
              <a:noFill/>
            </a:ln>
          </p:spPr>
          <p:txBody>
            <a:bodyPr wrap="none" lIns="0" tIns="0" rIns="0" bIns="0" anchor="t" anchorCtr="0">
              <a:spAutoFit/>
            </a:bodyPr>
            <a:lstStyle/>
            <a:p>
              <a:pPr algn="ctr"/>
              <a:r>
                <a:rPr lang="en-NZ" sz="1420" b="1" dirty="0">
                  <a:solidFill>
                    <a:srgbClr val="FFFFFF"/>
                  </a:solidFill>
                  <a:latin typeface="+mn-lt"/>
                  <a:ea typeface="+mn-ea"/>
                  <a:cs typeface="+mn-cs"/>
                </a:rPr>
                <a:t xml:space="preserve">   −0.425   </a:t>
              </a:r>
            </a:p>
          </p:txBody>
        </p:sp>
        <p:sp>
          <p:nvSpPr>
            <p:cNvPr id="32" name="TextBox 32"/>
            <p:cNvSpPr txBox="1"/>
            <p:nvPr/>
          </p:nvSpPr>
          <p:spPr>
            <a:xfrm>
              <a:off x="4816790" y="3579971"/>
              <a:ext cx="1339220" cy="278702"/>
            </a:xfrm>
            <a:prstGeom prst="rect">
              <a:avLst/>
            </a:prstGeom>
            <a:noFill/>
            <a:ln>
              <a:noFill/>
            </a:ln>
          </p:spPr>
          <p:txBody>
            <a:bodyPr wrap="none" lIns="0" tIns="0" rIns="0" bIns="0" anchor="t" anchorCtr="0">
              <a:spAutoFit/>
            </a:bodyPr>
            <a:lstStyle/>
            <a:p>
              <a:pPr algn="ctr"/>
              <a:r>
                <a:rPr lang="en-NZ" sz="1420" b="1" dirty="0">
                  <a:solidFill>
                    <a:srgbClr val="FFFFFF"/>
                  </a:solidFill>
                  <a:latin typeface="+mn-lt"/>
                  <a:ea typeface="+mn-ea"/>
                  <a:cs typeface="+mn-cs"/>
                </a:rPr>
                <a:t xml:space="preserve">   +0.429   </a:t>
              </a:r>
            </a:p>
          </p:txBody>
        </p:sp>
        <p:sp>
          <p:nvSpPr>
            <p:cNvPr id="33" name="TextBox 33"/>
            <p:cNvSpPr txBox="1"/>
            <p:nvPr/>
          </p:nvSpPr>
          <p:spPr>
            <a:xfrm>
              <a:off x="6618831" y="3187065"/>
              <a:ext cx="1697538" cy="352044"/>
            </a:xfrm>
            <a:prstGeom prst="rect">
              <a:avLst/>
            </a:prstGeom>
            <a:noFill/>
            <a:ln>
              <a:noFill/>
            </a:ln>
          </p:spPr>
          <p:txBody>
            <a:bodyPr wrap="none" lIns="0" tIns="0" rIns="0" bIns="0" anchor="t" anchorCtr="0">
              <a:spAutoFit/>
            </a:bodyPr>
            <a:lstStyle/>
            <a:p>
              <a:pPr algn="ctr"/>
              <a:r>
                <a:rPr lang="en-NZ" sz="1800" b="1" dirty="0">
                  <a:solidFill>
                    <a:srgbClr val="FFFFFF"/>
                  </a:solidFill>
                  <a:latin typeface="+mn-lt"/>
                  <a:ea typeface="+mn-ea"/>
                  <a:cs typeface="+mn-cs"/>
                </a:rPr>
                <a:t xml:space="preserve">   +1.149   </a:t>
              </a:r>
            </a:p>
          </p:txBody>
        </p:sp>
        <p:sp>
          <p:nvSpPr>
            <p:cNvPr id="34" name="TextBox 34"/>
            <p:cNvSpPr txBox="1"/>
            <p:nvPr/>
          </p:nvSpPr>
          <p:spPr>
            <a:xfrm>
              <a:off x="2601849" y="4401979"/>
              <a:ext cx="5026350" cy="308039"/>
            </a:xfrm>
            <a:prstGeom prst="rect">
              <a:avLst/>
            </a:prstGeom>
            <a:noFill/>
            <a:ln>
              <a:noFill/>
            </a:ln>
          </p:spPr>
          <p:txBody>
            <a:bodyPr wrap="none" lIns="0" tIns="0" rIns="0" bIns="0" anchor="t" anchorCtr="0">
              <a:spAutoFit/>
            </a:bodyPr>
            <a:lstStyle/>
            <a:p>
              <a:pPr algn="l"/>
              <a:r>
                <a:rPr lang="en-NZ" sz="1580" b="1" dirty="0">
                  <a:solidFill>
                    <a:srgbClr val="9B6800"/>
                  </a:solidFill>
                  <a:latin typeface="+mn-lt"/>
                  <a:ea typeface="+mn-ea"/>
                  <a:cs typeface="+mn-cs"/>
                </a:rPr>
                <a:t xml:space="preserve">Discounted cumulative cash stays negative   </a:t>
              </a:r>
            </a:p>
          </p:txBody>
        </p:sp>
      </p:grpSp>
      <p:grpSp>
        <p:nvGrpSpPr>
          <p:cNvPr id="39" name="Group 39"/>
          <p:cNvGrpSpPr/>
          <p:nvPr/>
        </p:nvGrpSpPr>
        <p:grpSpPr>
          <a:xfrm>
            <a:off x="508254" y="5947410"/>
            <a:ext cx="6530092" cy="691896"/>
            <a:chOff x="508254" y="5947410"/>
            <a:chExt cx="6530092" cy="691896"/>
          </a:xfrm>
        </p:grpSpPr>
        <p:sp>
          <p:nvSpPr>
            <p:cNvPr id="36" name="TextBox 36"/>
            <p:cNvSpPr txBox="1"/>
            <p:nvPr/>
          </p:nvSpPr>
          <p:spPr>
            <a:xfrm>
              <a:off x="508254" y="5947410"/>
              <a:ext cx="6530092" cy="234696"/>
            </a:xfrm>
            <a:prstGeom prst="rect">
              <a:avLst/>
            </a:prstGeom>
            <a:noFill/>
            <a:ln>
              <a:noFill/>
            </a:ln>
          </p:spPr>
          <p:txBody>
            <a:bodyPr wrap="none" lIns="0" tIns="0" rIns="0" bIns="0" anchor="t" anchorCtr="0">
              <a:spAutoFit/>
            </a:bodyPr>
            <a:lstStyle/>
            <a:p>
              <a:pPr algn="l"/>
              <a:r>
                <a:rPr lang="en-NZ" sz="1200" dirty="0">
                  <a:solidFill>
                    <a:srgbClr val="52606D"/>
                  </a:solidFill>
                  <a:latin typeface="+mn-lt"/>
                  <a:ea typeface="+mn-ea"/>
                  <a:cs typeface="+mn-cs"/>
                </a:rPr>
                <a:t xml:space="preserve">Annual average exposure: 12.5% / 60% / 100% · distinct from rollout gate caps   </a:t>
              </a:r>
            </a:p>
          </p:txBody>
        </p:sp>
        <p:sp>
          <p:nvSpPr>
            <p:cNvPr id="37" name="TextBox 37"/>
            <p:cNvSpPr txBox="1"/>
            <p:nvPr/>
          </p:nvSpPr>
          <p:spPr>
            <a:xfrm>
              <a:off x="508254" y="6176010"/>
              <a:ext cx="5252264" cy="234696"/>
            </a:xfrm>
            <a:prstGeom prst="rect">
              <a:avLst/>
            </a:prstGeom>
            <a:noFill/>
            <a:ln>
              <a:noFill/>
            </a:ln>
          </p:spPr>
          <p:txBody>
            <a:bodyPr wrap="none" lIns="0" tIns="0" rIns="0" bIns="0" anchor="t" anchorCtr="0">
              <a:spAutoFit/>
            </a:bodyPr>
            <a:lstStyle/>
            <a:p>
              <a:pPr algn="l"/>
              <a:r>
                <a:rPr lang="en-NZ" sz="1200" dirty="0">
                  <a:solidFill>
                    <a:srgbClr val="52606D"/>
                  </a:solidFill>
                  <a:latin typeface="+mn-lt"/>
                  <a:ea typeface="+mn-ea"/>
                  <a:cs typeface="+mn-cs"/>
                </a:rPr>
                <a:t xml:space="preserve">Assumes day-365 persistence + fully cashable contact capacity   </a:t>
              </a:r>
            </a:p>
          </p:txBody>
        </p:sp>
        <p:sp>
          <p:nvSpPr>
            <p:cNvPr id="38" name="TextBox 38"/>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17   </a:t>
              </a:r>
            </a:p>
          </p:txBody>
        </p:sp>
      </p:grpSp>
      <p:sp>
        <p:nvSpPr>
          <p:cNvPr id="40" name="Rectangle 40"/>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8.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9544622" cy="788670"/>
            <a:chOff x="499110" y="542925"/>
            <a:chExt cx="9544622" cy="788670"/>
          </a:xfrm>
        </p:grpSpPr>
        <p:sp>
          <p:nvSpPr>
            <p:cNvPr id="2" name="TextBox 2"/>
            <p:cNvSpPr/>
            <p:nvPr/>
          </p:nvSpPr>
          <p:spPr>
            <a:xfrm>
              <a:off x="499110" y="542925"/>
              <a:ext cx="9544622"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 xml:space="preserve">What changes the financial outcome   </a:t>
              </a:r>
            </a:p>
          </p:txBody>
        </p:sp>
        <p:sp>
          <p:nvSpPr>
            <p:cNvPr id="3" name="TextBox 3"/>
            <p:cNvSpPr/>
            <p:nvPr/>
          </p:nvSpPr>
          <p:spPr>
            <a:xfrm>
              <a:off x="506730" y="1038225"/>
              <a:ext cx="6763988"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 xml:space="preserve">Conditional scenarios · A2-D1, Tables 12–15 · not a Spark forecast   </a:t>
              </a:r>
            </a:p>
          </p:txBody>
        </p:sp>
      </p:grpSp>
      <p:grpSp>
        <p:nvGrpSpPr>
          <p:cNvPr id="17" name="Group 17"/>
          <p:cNvGrpSpPr/>
          <p:nvPr/>
        </p:nvGrpSpPr>
        <p:grpSpPr>
          <a:xfrm>
            <a:off x="952500" y="1405890"/>
            <a:ext cx="10560558" cy="3981069"/>
            <a:chOff x="952500" y="1405890"/>
            <a:chExt cx="10560558" cy="3981069"/>
          </a:xfrm>
        </p:grpSpPr>
        <p:grpSp>
          <p:nvGrpSpPr>
            <p:cNvPr id="9" name="Group 9"/>
            <p:cNvGrpSpPr/>
            <p:nvPr/>
          </p:nvGrpSpPr>
          <p:grpSpPr>
            <a:xfrm>
              <a:off x="952500" y="1779842"/>
              <a:ext cx="10553700" cy="3085718"/>
              <a:chOff x="952500" y="1779842"/>
              <a:chExt cx="10553700" cy="3085718"/>
            </a:xfrm>
          </p:grpSpPr>
          <p:sp>
            <p:nvSpPr>
              <p:cNvPr id="5" name="Line 5"/>
              <p:cNvSpPr/>
              <p:nvPr/>
            </p:nvSpPr>
            <p:spPr>
              <a:xfrm>
                <a:off x="952500" y="3048000"/>
                <a:ext cx="10553700" cy="9525"/>
              </a:xfrm>
              <a:custGeom>
                <a:avLst/>
                <a:gdLst/>
                <a:ahLst/>
                <a:cxnLst/>
                <a:rect l="l" t="t" r="r" b="b"/>
                <a:pathLst>
                  <a:path w="10553700" h="9525">
                    <a:moveTo>
                      <a:pt x="0" y="0"/>
                    </a:moveTo>
                    <a:lnTo>
                      <a:pt x="10553700" y="0"/>
                    </a:lnTo>
                  </a:path>
                </a:pathLst>
              </a:custGeom>
              <a:noFill/>
              <a:ln w="28575">
                <a:solidFill>
                  <a:schemeClr val="accent1"/>
                </a:solidFill>
              </a:ln>
            </p:spPr>
          </p:sp>
          <p:sp>
            <p:nvSpPr>
              <p:cNvPr id="6" name="Rectangle 6"/>
              <p:cNvSpPr/>
              <p:nvPr/>
            </p:nvSpPr>
            <p:spPr>
              <a:xfrm>
                <a:off x="1733550" y="3048000"/>
                <a:ext cx="1752600" cy="1817560"/>
              </a:xfrm>
              <a:prstGeom prst="rect">
                <a:avLst/>
              </a:prstGeom>
              <a:solidFill>
                <a:srgbClr val="C43D3D"/>
              </a:solidFill>
              <a:ln>
                <a:noFill/>
              </a:ln>
            </p:spPr>
          </p:sp>
          <p:sp>
            <p:nvSpPr>
              <p:cNvPr id="7" name="Rectangle 7"/>
              <p:cNvSpPr/>
              <p:nvPr/>
            </p:nvSpPr>
            <p:spPr>
              <a:xfrm>
                <a:off x="5029200" y="3048000"/>
                <a:ext cx="1752600" cy="742760"/>
              </a:xfrm>
              <a:prstGeom prst="rect">
                <a:avLst/>
              </a:prstGeom>
              <a:solidFill>
                <a:srgbClr val="C43D3D"/>
              </a:solidFill>
              <a:ln>
                <a:noFill/>
              </a:ln>
            </p:spPr>
          </p:sp>
          <p:sp>
            <p:nvSpPr>
              <p:cNvPr id="8" name="Rectangle 8"/>
              <p:cNvSpPr/>
              <p:nvPr/>
            </p:nvSpPr>
            <p:spPr>
              <a:xfrm>
                <a:off x="8858250" y="1779842"/>
                <a:ext cx="1752600" cy="1268158"/>
              </a:xfrm>
              <a:prstGeom prst="rect">
                <a:avLst/>
              </a:prstGeom>
              <a:solidFill>
                <a:schemeClr val="accent3"/>
              </a:solidFill>
              <a:ln>
                <a:noFill/>
              </a:ln>
            </p:spPr>
          </p:sp>
        </p:grpSp>
        <p:sp>
          <p:nvSpPr>
            <p:cNvPr id="10" name="TextBox 10"/>
            <p:cNvSpPr txBox="1"/>
            <p:nvPr/>
          </p:nvSpPr>
          <p:spPr>
            <a:xfrm>
              <a:off x="1478158" y="3236595"/>
              <a:ext cx="2263384" cy="469392"/>
            </a:xfrm>
            <a:prstGeom prst="rect">
              <a:avLst/>
            </a:prstGeom>
            <a:noFill/>
            <a:ln>
              <a:noFill/>
            </a:ln>
          </p:spPr>
          <p:txBody>
            <a:bodyPr wrap="none" lIns="0" tIns="0" rIns="0" bIns="0" anchor="t" anchorCtr="0">
              <a:spAutoFit/>
            </a:bodyPr>
            <a:lstStyle/>
            <a:p>
              <a:pPr algn="ctr"/>
              <a:r>
                <a:rPr lang="en-NZ" sz="2400" b="1" dirty="0">
                  <a:solidFill>
                    <a:srgbClr val="FFFFFF"/>
                  </a:solidFill>
                  <a:latin typeface="+mn-lt"/>
                  <a:ea typeface="+mn-ea"/>
                  <a:cs typeface="+mn-cs"/>
                </a:rPr>
                <a:t xml:space="preserve">   −2.726   </a:t>
              </a:r>
            </a:p>
          </p:txBody>
        </p:sp>
        <p:sp>
          <p:nvSpPr>
            <p:cNvPr id="11" name="TextBox 11"/>
            <p:cNvSpPr txBox="1"/>
            <p:nvPr/>
          </p:nvSpPr>
          <p:spPr>
            <a:xfrm>
              <a:off x="4773808" y="3236595"/>
              <a:ext cx="2263384" cy="469392"/>
            </a:xfrm>
            <a:prstGeom prst="rect">
              <a:avLst/>
            </a:prstGeom>
            <a:noFill/>
            <a:ln>
              <a:noFill/>
            </a:ln>
          </p:spPr>
          <p:txBody>
            <a:bodyPr wrap="none" lIns="0" tIns="0" rIns="0" bIns="0" anchor="t" anchorCtr="0">
              <a:spAutoFit/>
            </a:bodyPr>
            <a:lstStyle/>
            <a:p>
              <a:pPr algn="ctr"/>
              <a:r>
                <a:rPr lang="en-NZ" sz="2400" b="1" dirty="0">
                  <a:solidFill>
                    <a:srgbClr val="FFFFFF"/>
                  </a:solidFill>
                  <a:latin typeface="+mn-lt"/>
                  <a:ea typeface="+mn-ea"/>
                  <a:cs typeface="+mn-cs"/>
                </a:rPr>
                <a:t xml:space="preserve">   −1.114   </a:t>
              </a:r>
            </a:p>
          </p:txBody>
        </p:sp>
        <p:sp>
          <p:nvSpPr>
            <p:cNvPr id="12" name="TextBox 12"/>
            <p:cNvSpPr txBox="1"/>
            <p:nvPr/>
          </p:nvSpPr>
          <p:spPr>
            <a:xfrm>
              <a:off x="8602858" y="2093595"/>
              <a:ext cx="2263384" cy="469392"/>
            </a:xfrm>
            <a:prstGeom prst="rect">
              <a:avLst/>
            </a:prstGeom>
            <a:noFill/>
            <a:ln>
              <a:noFill/>
            </a:ln>
          </p:spPr>
          <p:txBody>
            <a:bodyPr wrap="none" lIns="0" tIns="0" rIns="0" bIns="0" anchor="t" anchorCtr="0">
              <a:spAutoFit/>
            </a:bodyPr>
            <a:lstStyle/>
            <a:p>
              <a:pPr algn="ctr"/>
              <a:r>
                <a:rPr lang="en-NZ" sz="2400" b="1" dirty="0">
                  <a:solidFill>
                    <a:srgbClr val="FFFFFF"/>
                  </a:solidFill>
                  <a:latin typeface="+mn-lt"/>
                  <a:ea typeface="+mn-ea"/>
                  <a:cs typeface="+mn-cs"/>
                </a:rPr>
                <a:t xml:space="preserve">   +1.902   </a:t>
              </a:r>
            </a:p>
          </p:txBody>
        </p:sp>
        <p:sp>
          <p:nvSpPr>
            <p:cNvPr id="13" name="TextBox 13"/>
            <p:cNvSpPr txBox="1"/>
            <p:nvPr/>
          </p:nvSpPr>
          <p:spPr>
            <a:xfrm>
              <a:off x="1426016" y="5034915"/>
              <a:ext cx="2367667" cy="352044"/>
            </a:xfrm>
            <a:prstGeom prst="rect">
              <a:avLst/>
            </a:prstGeom>
            <a:noFill/>
            <a:ln>
              <a:noFill/>
            </a:ln>
          </p:spPr>
          <p:txBody>
            <a:bodyPr wrap="none" lIns="0" tIns="0" rIns="0" bIns="0" anchor="t" anchorCtr="0">
              <a:spAutoFit/>
            </a:bodyPr>
            <a:lstStyle/>
            <a:p>
              <a:pPr algn="ctr"/>
              <a:r>
                <a:rPr lang="en-NZ" sz="1800" dirty="0">
                  <a:solidFill>
                    <a:schemeClr val="dk1"/>
                  </a:solidFill>
                  <a:latin typeface="+mn-lt"/>
                  <a:ea typeface="+mn-ea"/>
                  <a:cs typeface="+mn-cs"/>
                </a:rPr>
                <a:t xml:space="preserve">   Conservative   </a:t>
              </a:r>
            </a:p>
          </p:txBody>
        </p:sp>
        <p:sp>
          <p:nvSpPr>
            <p:cNvPr id="14" name="TextBox 14"/>
            <p:cNvSpPr txBox="1"/>
            <p:nvPr/>
          </p:nvSpPr>
          <p:spPr>
            <a:xfrm>
              <a:off x="5220557" y="3987165"/>
              <a:ext cx="1369886" cy="352044"/>
            </a:xfrm>
            <a:prstGeom prst="rect">
              <a:avLst/>
            </a:prstGeom>
            <a:noFill/>
            <a:ln>
              <a:noFill/>
            </a:ln>
          </p:spPr>
          <p:txBody>
            <a:bodyPr wrap="none" lIns="0" tIns="0" rIns="0" bIns="0" anchor="t" anchorCtr="0">
              <a:spAutoFit/>
            </a:bodyPr>
            <a:lstStyle/>
            <a:p>
              <a:pPr algn="ctr"/>
              <a:r>
                <a:rPr lang="en-NZ" sz="1800" dirty="0">
                  <a:solidFill>
                    <a:schemeClr val="dk1"/>
                  </a:solidFill>
                  <a:latin typeface="+mn-lt"/>
                  <a:ea typeface="+mn-ea"/>
                  <a:cs typeface="+mn-cs"/>
                </a:rPr>
                <a:t xml:space="preserve">   Base   </a:t>
              </a:r>
            </a:p>
          </p:txBody>
        </p:sp>
        <p:sp>
          <p:nvSpPr>
            <p:cNvPr id="15" name="TextBox 15"/>
            <p:cNvSpPr txBox="1"/>
            <p:nvPr/>
          </p:nvSpPr>
          <p:spPr>
            <a:xfrm>
              <a:off x="8948795" y="1405890"/>
              <a:ext cx="1571511" cy="352044"/>
            </a:xfrm>
            <a:prstGeom prst="rect">
              <a:avLst/>
            </a:prstGeom>
            <a:noFill/>
            <a:ln>
              <a:noFill/>
            </a:ln>
          </p:spPr>
          <p:txBody>
            <a:bodyPr wrap="none" lIns="0" tIns="0" rIns="0" bIns="0" anchor="t" anchorCtr="0">
              <a:spAutoFit/>
            </a:bodyPr>
            <a:lstStyle/>
            <a:p>
              <a:pPr algn="ctr"/>
              <a:r>
                <a:rPr lang="en-NZ" sz="1800" dirty="0">
                  <a:solidFill>
                    <a:schemeClr val="dk1"/>
                  </a:solidFill>
                  <a:latin typeface="+mn-lt"/>
                  <a:ea typeface="+mn-ea"/>
                  <a:cs typeface="+mn-cs"/>
                </a:rPr>
                <a:t xml:space="preserve">   Upside   </a:t>
              </a:r>
            </a:p>
          </p:txBody>
        </p:sp>
        <p:sp>
          <p:nvSpPr>
            <p:cNvPr id="16" name="TextBox 16"/>
            <p:cNvSpPr txBox="1"/>
            <p:nvPr/>
          </p:nvSpPr>
          <p:spPr>
            <a:xfrm>
              <a:off x="10682760" y="3149918"/>
              <a:ext cx="830298" cy="264033"/>
            </a:xfrm>
            <a:prstGeom prst="rect">
              <a:avLst/>
            </a:prstGeom>
            <a:noFill/>
            <a:ln>
              <a:noFill/>
            </a:ln>
          </p:spPr>
          <p:txBody>
            <a:bodyPr wrap="none" lIns="0" tIns="0" rIns="0" bIns="0" anchor="t" anchorCtr="0">
              <a:spAutoFit/>
            </a:bodyPr>
            <a:lstStyle/>
            <a:p>
              <a:pPr algn="r"/>
              <a:r>
                <a:rPr lang="en-NZ" sz="1350" b="1" dirty="0">
                  <a:solidFill>
                    <a:schemeClr val="accent1"/>
                  </a:solidFill>
                  <a:latin typeface="+mn-lt"/>
                  <a:ea typeface="+mn-ea"/>
                  <a:cs typeface="+mn-cs"/>
                </a:rPr>
                <a:t xml:space="preserve">ZERO   </a:t>
              </a:r>
            </a:p>
          </p:txBody>
        </p:sp>
      </p:grpSp>
      <p:grpSp>
        <p:nvGrpSpPr>
          <p:cNvPr id="19" name="Group 19"/>
          <p:cNvGrpSpPr/>
          <p:nvPr/>
        </p:nvGrpSpPr>
        <p:grpSpPr>
          <a:xfrm>
            <a:off x="507111" y="5561171"/>
            <a:ext cx="7770124" cy="278702"/>
            <a:chOff x="507111" y="5561171"/>
            <a:chExt cx="7770124" cy="278702"/>
          </a:xfrm>
        </p:grpSpPr>
        <p:sp>
          <p:nvSpPr>
            <p:cNvPr id="18" name="TextBox 18"/>
            <p:cNvSpPr txBox="1"/>
            <p:nvPr/>
          </p:nvSpPr>
          <p:spPr>
            <a:xfrm>
              <a:off x="507111" y="5561171"/>
              <a:ext cx="7770124" cy="278702"/>
            </a:xfrm>
            <a:prstGeom prst="rect">
              <a:avLst/>
            </a:prstGeom>
            <a:noFill/>
            <a:ln>
              <a:noFill/>
            </a:ln>
          </p:spPr>
          <p:txBody>
            <a:bodyPr wrap="none" lIns="0" tIns="0" rIns="0" bIns="0" anchor="t" anchorCtr="0">
              <a:spAutoFit/>
            </a:bodyPr>
            <a:lstStyle/>
            <a:p>
              <a:pPr algn="l"/>
              <a:r>
                <a:rPr lang="en-NZ" sz="1420" b="1" dirty="0">
                  <a:solidFill>
                    <a:srgbClr val="52606D"/>
                  </a:solidFill>
                  <a:latin typeface="+mn-lt"/>
                  <a:ea typeface="+mn-ea"/>
                  <a:cs typeface="+mn-cs"/>
                </a:rPr>
                <a:t xml:space="preserve">VALIDATE: volume · causal effect · contribution · persistence · cashability   </a:t>
              </a:r>
            </a:p>
          </p:txBody>
        </p:sp>
      </p:grpSp>
      <p:grpSp>
        <p:nvGrpSpPr>
          <p:cNvPr id="22" name="Group 22"/>
          <p:cNvGrpSpPr/>
          <p:nvPr/>
        </p:nvGrpSpPr>
        <p:grpSpPr>
          <a:xfrm>
            <a:off x="508254" y="5947410"/>
            <a:ext cx="6075303" cy="691896"/>
            <a:chOff x="508254" y="5947410"/>
            <a:chExt cx="6075303" cy="691896"/>
          </a:xfrm>
        </p:grpSpPr>
        <p:sp>
          <p:nvSpPr>
            <p:cNvPr id="20" name="TextBox 20"/>
            <p:cNvSpPr txBox="1"/>
            <p:nvPr/>
          </p:nvSpPr>
          <p:spPr>
            <a:xfrm>
              <a:off x="508254" y="5947410"/>
              <a:ext cx="6075303" cy="234696"/>
            </a:xfrm>
            <a:prstGeom prst="rect">
              <a:avLst/>
            </a:prstGeom>
            <a:noFill/>
            <a:ln>
              <a:noFill/>
            </a:ln>
          </p:spPr>
          <p:txBody>
            <a:bodyPr wrap="none" lIns="0" tIns="0" rIns="0" bIns="0" anchor="t" anchorCtr="0">
              <a:spAutoFit/>
            </a:bodyPr>
            <a:lstStyle/>
            <a:p>
              <a:pPr algn="l"/>
              <a:r>
                <a:rPr lang="en-NZ" sz="1200" dirty="0">
                  <a:solidFill>
                    <a:srgbClr val="52606D"/>
                  </a:solidFill>
                  <a:latin typeface="+mn-lt"/>
                  <a:ea typeface="+mn-ea"/>
                  <a:cs typeface="+mn-cs"/>
                </a:rPr>
                <a:t xml:space="preserve">NPV in NZ$m · conservative and base remain negative in the current model   </a:t>
              </a:r>
            </a:p>
          </p:txBody>
        </p:sp>
        <p:sp>
          <p:nvSpPr>
            <p:cNvPr id="21" name="TextBox 21"/>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18   </a:t>
              </a:r>
            </a:p>
          </p:txBody>
        </p:sp>
      </p:grpSp>
      <p:sp>
        <p:nvSpPr>
          <p:cNvPr id="23" name="Rectangle 23"/>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19.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99110" y="542925"/>
            <a:ext cx="11144250" cy="788670"/>
            <a:chOff x="499110" y="542925"/>
            <a:chExt cx="11144250" cy="788670"/>
          </a:xfrm>
        </p:grpSpPr>
        <p:sp>
          <p:nvSpPr>
            <p:cNvPr id="2" name="TextBox 2"/>
            <p:cNvSpPr/>
            <p:nvPr/>
          </p:nvSpPr>
          <p:spPr>
            <a:xfrm>
              <a:off x="499110" y="542925"/>
              <a:ext cx="11144250" cy="586740"/>
            </a:xfrm>
            <a:prstGeom prst="rect">
              <a:avLst/>
            </a:prstGeom>
            <a:noFill/>
            <a:ln>
              <a:noFill/>
            </a:ln>
          </p:spPr>
          <p:txBody>
            <a:bodyPr wrap="none" lIns="0" tIns="0" rIns="0" bIns="0" anchor="t" anchorCtr="0">
              <a:noAutofit/>
            </a:bodyPr>
            <a:lstStyle/>
            <a:p>
              <a:pPr algn="l"/>
              <a:r>
                <a:rPr lang="en-NZ" sz="3000" b="1" dirty="0">
                  <a:solidFill>
                    <a:srgbClr val="102A43"/>
                  </a:solidFill>
                  <a:latin typeface="Arial"/>
                  <a:ea typeface="Arial"/>
                  <a:cs typeface="Arial"/>
                </a:rPr>
                <a:t>The first two approval decisions</a:t>
              </a:r>
            </a:p>
          </p:txBody>
        </p:sp>
        <p:sp>
          <p:nvSpPr>
            <p:cNvPr id="3" name="TextBox 3"/>
            <p:cNvSpPr/>
            <p:nvPr/>
          </p:nvSpPr>
          <p:spPr>
            <a:xfrm>
              <a:off x="506730" y="1038225"/>
              <a:ext cx="11049000" cy="293370"/>
            </a:xfrm>
            <a:prstGeom prst="rect">
              <a:avLst/>
            </a:prstGeom>
            <a:noFill/>
            <a:ln>
              <a:noFill/>
            </a:ln>
          </p:spPr>
          <p:txBody>
            <a:bodyPr wrap="none" lIns="0" tIns="0" rIns="0" bIns="0" anchor="t" anchorCtr="0">
              <a:noAutofit/>
            </a:bodyPr>
            <a:lstStyle/>
            <a:p>
              <a:pPr algn="l"/>
              <a:r>
                <a:rPr lang="en-NZ" sz="1500" dirty="0">
                  <a:solidFill>
                    <a:srgbClr val="52606D"/>
                  </a:solidFill>
                  <a:latin typeface="Arial"/>
                  <a:ea typeface="Arial"/>
                  <a:cs typeface="Arial"/>
                </a:rPr>
                <a:t>Target 5 October. M1: mechanism, governance and data access.</a:t>
              </a:r>
            </a:p>
          </p:txBody>
        </p:sp>
      </p:grpSp>
      <p:grpSp>
        <p:nvGrpSpPr>
          <p:cNvPr id="22" name="Group 22"/>
          <p:cNvGrpSpPr/>
          <p:nvPr/>
        </p:nvGrpSpPr>
        <p:grpSpPr>
          <a:xfrm>
            <a:off x="514350" y="1644968"/>
            <a:ext cx="11572589" cy="2466593"/>
            <a:chOff x="514350" y="1644968"/>
            <a:chExt cx="11572589" cy="2466593"/>
          </a:xfrm>
        </p:grpSpPr>
        <p:sp>
          <p:nvSpPr>
            <p:cNvPr id="5" name="Rectangle 5"/>
            <p:cNvSpPr/>
            <p:nvPr/>
          </p:nvSpPr>
          <p:spPr>
            <a:xfrm>
              <a:off x="514350" y="1803082"/>
              <a:ext cx="3114675" cy="1423035"/>
            </a:xfrm>
            <a:prstGeom prst="roundRect">
              <a:avLst>
                <a:gd name="adj" fmla="val 21012"/>
              </a:avLst>
            </a:prstGeom>
            <a:solidFill>
              <a:schemeClr val="accent2"/>
            </a:solidFill>
            <a:ln>
              <a:noFill/>
            </a:ln>
          </p:spPr>
        </p:sp>
        <p:sp>
          <p:nvSpPr>
            <p:cNvPr id="6" name="TextBox 6"/>
            <p:cNvSpPr/>
            <p:nvPr/>
          </p:nvSpPr>
          <p:spPr>
            <a:xfrm>
              <a:off x="855535" y="2004822"/>
              <a:ext cx="1773841" cy="293370"/>
            </a:xfrm>
            <a:prstGeom prst="rect">
              <a:avLst/>
            </a:prstGeom>
            <a:noFill/>
            <a:ln>
              <a:noFill/>
            </a:ln>
          </p:spPr>
          <p:txBody>
            <a:bodyPr wrap="none" lIns="0" tIns="0" rIns="0" bIns="0" anchor="t" anchorCtr="0">
              <a:noAutofit/>
            </a:bodyPr>
            <a:lstStyle/>
            <a:p>
              <a:pPr algn="l"/>
              <a:r>
                <a:rPr lang="en-NZ" sz="1500" b="1" dirty="0">
                  <a:solidFill>
                    <a:srgbClr val="FFFFFF"/>
                  </a:solidFill>
                  <a:latin typeface="Arial"/>
                  <a:ea typeface="Arial"/>
                  <a:cs typeface="Arial"/>
                </a:rPr>
                <a:t>PHASE 0 ONLY</a:t>
              </a:r>
            </a:p>
          </p:txBody>
        </p:sp>
        <p:sp>
          <p:nvSpPr>
            <p:cNvPr id="7" name="TextBox 7"/>
            <p:cNvSpPr/>
            <p:nvPr/>
          </p:nvSpPr>
          <p:spPr>
            <a:xfrm>
              <a:off x="846392" y="2332292"/>
              <a:ext cx="2695861" cy="645414"/>
            </a:xfrm>
            <a:prstGeom prst="rect">
              <a:avLst/>
            </a:prstGeom>
            <a:noFill/>
            <a:ln>
              <a:noFill/>
            </a:ln>
          </p:spPr>
          <p:txBody>
            <a:bodyPr wrap="none" lIns="0" tIns="0" rIns="0" bIns="0" anchor="t" anchorCtr="0">
              <a:noAutofit/>
            </a:bodyPr>
            <a:lstStyle/>
            <a:p>
              <a:pPr algn="l"/>
              <a:r>
                <a:rPr lang="en-NZ" sz="3300" b="1" dirty="0">
                  <a:solidFill>
                    <a:srgbClr val="FFFFFF"/>
                  </a:solidFill>
                  <a:latin typeface="Arial"/>
                  <a:ea typeface="Arial"/>
                  <a:cs typeface="Arial"/>
                </a:rPr>
                <a:t>NZ$120k</a:t>
              </a:r>
            </a:p>
          </p:txBody>
        </p:sp>
        <p:sp>
          <p:nvSpPr>
            <p:cNvPr id="8" name="TextBox 8"/>
            <p:cNvSpPr/>
            <p:nvPr/>
          </p:nvSpPr>
          <p:spPr>
            <a:xfrm>
              <a:off x="856298" y="2843212"/>
              <a:ext cx="2896743" cy="264033"/>
            </a:xfrm>
            <a:prstGeom prst="rect">
              <a:avLst/>
            </a:prstGeom>
            <a:noFill/>
            <a:ln>
              <a:noFill/>
            </a:ln>
          </p:spPr>
          <p:txBody>
            <a:bodyPr wrap="none" lIns="0" tIns="0" rIns="0" bIns="0" anchor="t" anchorCtr="0">
              <a:noAutofit/>
            </a:bodyPr>
            <a:lstStyle/>
            <a:p>
              <a:pPr algn="l"/>
              <a:r>
                <a:rPr lang="en-NZ" sz="1350" dirty="0">
                  <a:solidFill>
                    <a:srgbClr val="FFFFFF"/>
                  </a:solidFill>
                  <a:latin typeface="Arial"/>
                  <a:ea typeface="Arial"/>
                  <a:cs typeface="Arial"/>
                </a:rPr>
                <a:t>Fees $50k / capacity ≤$70k</a:t>
              </a:r>
            </a:p>
          </p:txBody>
        </p:sp>
        <p:sp>
          <p:nvSpPr>
            <p:cNvPr id="9" name="Line 9"/>
            <p:cNvSpPr/>
            <p:nvPr/>
          </p:nvSpPr>
          <p:spPr>
            <a:xfrm>
              <a:off x="3629025" y="2514600"/>
              <a:ext cx="1096366" cy="9525"/>
            </a:xfrm>
            <a:custGeom>
              <a:avLst/>
              <a:gdLst/>
              <a:ahLst/>
              <a:cxnLst/>
              <a:rect l="l" t="t" r="r" b="b"/>
              <a:pathLst>
                <a:path w="1096366" h="9525">
                  <a:moveTo>
                    <a:pt x="0" y="0"/>
                  </a:moveTo>
                  <a:lnTo>
                    <a:pt x="1096366" y="0"/>
                  </a:lnTo>
                </a:path>
              </a:pathLst>
            </a:custGeom>
            <a:noFill/>
            <a:ln w="76200">
              <a:solidFill>
                <a:schemeClr val="accent2"/>
              </a:solidFill>
            </a:ln>
          </p:spPr>
        </p:sp>
        <p:sp>
          <p:nvSpPr>
            <p:cNvPr id="10" name="Polygon 10"/>
            <p:cNvSpPr/>
            <p:nvPr/>
          </p:nvSpPr>
          <p:spPr>
            <a:xfrm>
              <a:off x="4725391" y="2403920"/>
              <a:ext cx="348844" cy="221361"/>
            </a:xfrm>
            <a:custGeom>
              <a:avLst/>
              <a:gdLst/>
              <a:ahLst/>
              <a:cxnLst/>
              <a:rect l="l" t="t" r="r" b="b"/>
              <a:pathLst>
                <a:path w="348844" h="221361">
                  <a:moveTo>
                    <a:pt x="0" y="0"/>
                  </a:moveTo>
                  <a:lnTo>
                    <a:pt x="348844" y="110681"/>
                  </a:lnTo>
                  <a:lnTo>
                    <a:pt x="0" y="221361"/>
                  </a:lnTo>
                  <a:close/>
                </a:path>
              </a:pathLst>
            </a:custGeom>
            <a:solidFill>
              <a:schemeClr val="accent2"/>
            </a:solidFill>
            <a:ln>
              <a:noFill/>
            </a:ln>
          </p:spPr>
        </p:sp>
        <p:sp>
          <p:nvSpPr>
            <p:cNvPr id="11" name="Rectangle 11"/>
            <p:cNvSpPr/>
            <p:nvPr/>
          </p:nvSpPr>
          <p:spPr>
            <a:xfrm>
              <a:off x="5198821" y="1803082"/>
              <a:ext cx="2740914" cy="1423035"/>
            </a:xfrm>
            <a:prstGeom prst="roundRect">
              <a:avLst>
                <a:gd name="adj" fmla="val 21012"/>
              </a:avLst>
            </a:prstGeom>
            <a:solidFill>
              <a:srgbClr val="FFFFFF"/>
            </a:solidFill>
            <a:ln w="28575">
              <a:solidFill>
                <a:schemeClr val="accent1"/>
              </a:solidFill>
            </a:ln>
          </p:spPr>
        </p:sp>
        <p:sp>
          <p:nvSpPr>
            <p:cNvPr id="12" name="TextBox 12"/>
            <p:cNvSpPr/>
            <p:nvPr/>
          </p:nvSpPr>
          <p:spPr>
            <a:xfrm>
              <a:off x="5771960" y="2004822"/>
              <a:ext cx="1594675" cy="293370"/>
            </a:xfrm>
            <a:prstGeom prst="rect">
              <a:avLst/>
            </a:prstGeom>
            <a:noFill/>
            <a:ln>
              <a:noFill/>
            </a:ln>
          </p:spPr>
          <p:txBody>
            <a:bodyPr wrap="none" lIns="0" tIns="0" rIns="0" bIns="0" anchor="t" anchorCtr="0">
              <a:noAutofit/>
            </a:bodyPr>
            <a:lstStyle/>
            <a:p>
              <a:pPr algn="ctr"/>
              <a:r>
                <a:rPr lang="en-NZ" sz="1500" b="1" dirty="0">
                  <a:solidFill>
                    <a:srgbClr val="102A43"/>
                  </a:solidFill>
                  <a:latin typeface="Arial"/>
                  <a:ea typeface="Arial"/>
                  <a:cs typeface="Arial"/>
                </a:rPr>
                <a:t>M1: 23 OCT</a:t>
              </a:r>
            </a:p>
          </p:txBody>
        </p:sp>
        <p:sp>
          <p:nvSpPr>
            <p:cNvPr id="13" name="TextBox 13"/>
            <p:cNvSpPr/>
            <p:nvPr/>
          </p:nvSpPr>
          <p:spPr>
            <a:xfrm>
              <a:off x="4862512" y="2351532"/>
              <a:ext cx="3413474" cy="381381"/>
            </a:xfrm>
            <a:prstGeom prst="rect">
              <a:avLst/>
            </a:prstGeom>
            <a:noFill/>
            <a:ln>
              <a:noFill/>
            </a:ln>
          </p:spPr>
          <p:txBody>
            <a:bodyPr wrap="none" lIns="95" tIns="0" rIns="0" bIns="0" anchor="t" anchorCtr="0">
              <a:noAutofit/>
            </a:bodyPr>
            <a:lstStyle/>
            <a:p>
              <a:pPr algn="ctr"/>
              <a:r>
                <a:rPr lang="en-NZ" sz="1950" b="1" dirty="0">
                  <a:solidFill>
                    <a:srgbClr val="0F8B8D"/>
                  </a:solidFill>
                  <a:latin typeface="Arial"/>
                  <a:ea typeface="Arial"/>
                  <a:cs typeface="Arial"/>
                </a:rPr>
                <a:t>Phase 1: $280k</a:t>
              </a:r>
            </a:p>
          </p:txBody>
        </p:sp>
        <p:sp>
          <p:nvSpPr>
            <p:cNvPr id="14" name="TextBox 14"/>
            <p:cNvSpPr/>
            <p:nvPr/>
          </p:nvSpPr>
          <p:spPr>
            <a:xfrm>
              <a:off x="4914424" y="2684716"/>
              <a:ext cx="3309652" cy="293370"/>
            </a:xfrm>
            <a:prstGeom prst="rect">
              <a:avLst/>
            </a:prstGeom>
            <a:noFill/>
            <a:ln>
              <a:noFill/>
            </a:ln>
          </p:spPr>
          <p:txBody>
            <a:bodyPr wrap="none" lIns="95" tIns="0" rIns="0" bIns="0" anchor="t" anchorCtr="0">
              <a:noAutofit/>
            </a:bodyPr>
            <a:lstStyle/>
            <a:p>
              <a:pPr algn="ctr"/>
              <a:r>
                <a:rPr lang="en-NZ" sz="1500" dirty="0">
                  <a:solidFill>
                    <a:srgbClr val="243B53"/>
                  </a:solidFill>
                  <a:latin typeface="Arial"/>
                  <a:ea typeface="Arial"/>
                  <a:cs typeface="Arial"/>
                </a:rPr>
                <a:t>Separate authorisation</a:t>
              </a:r>
            </a:p>
          </p:txBody>
        </p:sp>
        <p:sp>
          <p:nvSpPr>
            <p:cNvPr id="15" name="Line 15"/>
            <p:cNvSpPr/>
            <p:nvPr/>
          </p:nvSpPr>
          <p:spPr>
            <a:xfrm>
              <a:off x="7939735" y="2514600"/>
              <a:ext cx="872109" cy="9525"/>
            </a:xfrm>
            <a:custGeom>
              <a:avLst/>
              <a:gdLst/>
              <a:ahLst/>
              <a:cxnLst/>
              <a:rect l="l" t="t" r="r" b="b"/>
              <a:pathLst>
                <a:path w="872109" h="9525">
                  <a:moveTo>
                    <a:pt x="0" y="0"/>
                  </a:moveTo>
                  <a:lnTo>
                    <a:pt x="872109" y="0"/>
                  </a:lnTo>
                </a:path>
              </a:pathLst>
            </a:custGeom>
            <a:noFill/>
            <a:ln w="47625">
              <a:solidFill>
                <a:schemeClr val="accent1"/>
              </a:solidFill>
            </a:ln>
          </p:spPr>
        </p:sp>
        <p:sp>
          <p:nvSpPr>
            <p:cNvPr id="16" name="Rectangle 16"/>
            <p:cNvSpPr/>
            <p:nvPr/>
          </p:nvSpPr>
          <p:spPr>
            <a:xfrm>
              <a:off x="9011183" y="1644968"/>
              <a:ext cx="2666162" cy="727329"/>
            </a:xfrm>
            <a:prstGeom prst="roundRect">
              <a:avLst>
                <a:gd name="adj" fmla="val 30833"/>
              </a:avLst>
            </a:prstGeom>
            <a:solidFill>
              <a:srgbClr val="E7F4EF"/>
            </a:solidFill>
            <a:ln>
              <a:noFill/>
            </a:ln>
          </p:spPr>
        </p:sp>
        <p:sp>
          <p:nvSpPr>
            <p:cNvPr id="17" name="TextBox 17"/>
            <p:cNvSpPr/>
            <p:nvPr/>
          </p:nvSpPr>
          <p:spPr>
            <a:xfrm>
              <a:off x="8805386" y="1877187"/>
              <a:ext cx="3077813" cy="381381"/>
            </a:xfrm>
            <a:prstGeom prst="rect">
              <a:avLst/>
            </a:prstGeom>
            <a:noFill/>
            <a:ln>
              <a:noFill/>
            </a:ln>
          </p:spPr>
          <p:txBody>
            <a:bodyPr wrap="none" lIns="0" tIns="0" rIns="95" bIns="0" anchor="t" anchorCtr="0">
              <a:noAutofit/>
            </a:bodyPr>
            <a:lstStyle/>
            <a:p>
              <a:pPr algn="ctr"/>
              <a:r>
                <a:rPr lang="en-NZ" sz="1950" b="1" dirty="0">
                  <a:solidFill>
                    <a:srgbClr val="0F8B8D"/>
                  </a:solidFill>
                  <a:latin typeface="Arial"/>
                  <a:ea typeface="Arial"/>
                  <a:cs typeface="Arial"/>
                </a:rPr>
                <a:t>M2: DESIGN</a:t>
              </a:r>
            </a:p>
          </p:txBody>
        </p:sp>
        <p:sp>
          <p:nvSpPr>
            <p:cNvPr id="18" name="Rectangle 18"/>
            <p:cNvSpPr/>
            <p:nvPr/>
          </p:nvSpPr>
          <p:spPr>
            <a:xfrm>
              <a:off x="9011183" y="2514600"/>
              <a:ext cx="2666162" cy="727329"/>
            </a:xfrm>
            <a:prstGeom prst="roundRect">
              <a:avLst>
                <a:gd name="adj" fmla="val 30833"/>
              </a:avLst>
            </a:prstGeom>
            <a:solidFill>
              <a:srgbClr val="FFF4E5"/>
            </a:solidFill>
            <a:ln>
              <a:noFill/>
            </a:ln>
          </p:spPr>
        </p:sp>
        <p:sp>
          <p:nvSpPr>
            <p:cNvPr id="19" name="TextBox 19"/>
            <p:cNvSpPr/>
            <p:nvPr/>
          </p:nvSpPr>
          <p:spPr>
            <a:xfrm>
              <a:off x="8601456" y="2746820"/>
              <a:ext cx="3485483" cy="381381"/>
            </a:xfrm>
            <a:prstGeom prst="rect">
              <a:avLst/>
            </a:prstGeom>
            <a:noFill/>
            <a:ln>
              <a:noFill/>
            </a:ln>
          </p:spPr>
          <p:txBody>
            <a:bodyPr wrap="none" lIns="95" tIns="0" rIns="0" bIns="0" anchor="t" anchorCtr="0">
              <a:noAutofit/>
            </a:bodyPr>
            <a:lstStyle/>
            <a:p>
              <a:pPr algn="ctr"/>
              <a:r>
                <a:rPr lang="en-NZ" sz="1950" b="1" dirty="0">
                  <a:solidFill>
                    <a:srgbClr val="9B6800"/>
                  </a:solidFill>
                  <a:latin typeface="Arial"/>
                  <a:ea typeface="Arial"/>
                  <a:cs typeface="Arial"/>
                </a:rPr>
                <a:t>REDESIGN</a:t>
              </a:r>
            </a:p>
          </p:txBody>
        </p:sp>
        <p:sp>
          <p:nvSpPr>
            <p:cNvPr id="20" name="Rectangle 20"/>
            <p:cNvSpPr/>
            <p:nvPr/>
          </p:nvSpPr>
          <p:spPr>
            <a:xfrm>
              <a:off x="9011183" y="3384232"/>
              <a:ext cx="2666162" cy="727329"/>
            </a:xfrm>
            <a:prstGeom prst="roundRect">
              <a:avLst>
                <a:gd name="adj" fmla="val 30833"/>
              </a:avLst>
            </a:prstGeom>
            <a:solidFill>
              <a:srgbClr val="FDECEC"/>
            </a:solidFill>
            <a:ln>
              <a:noFill/>
            </a:ln>
          </p:spPr>
        </p:sp>
        <p:sp>
          <p:nvSpPr>
            <p:cNvPr id="21" name="TextBox 21"/>
            <p:cNvSpPr txBox="1"/>
            <p:nvPr/>
          </p:nvSpPr>
          <p:spPr>
            <a:xfrm>
              <a:off x="9504335" y="3616452"/>
              <a:ext cx="1679859" cy="381381"/>
            </a:xfrm>
            <a:prstGeom prst="rect">
              <a:avLst/>
            </a:prstGeom>
            <a:noFill/>
            <a:ln>
              <a:noFill/>
            </a:ln>
          </p:spPr>
          <p:txBody>
            <a:bodyPr wrap="none" lIns="0" tIns="0" rIns="0" bIns="0" anchor="t" anchorCtr="0">
              <a:spAutoFit/>
            </a:bodyPr>
            <a:lstStyle/>
            <a:p>
              <a:pPr algn="ctr"/>
              <a:r>
                <a:rPr lang="en-NZ" sz="1950" b="1" dirty="0">
                  <a:solidFill>
                    <a:srgbClr val="C43D3D"/>
                  </a:solidFill>
                  <a:latin typeface="+mn-lt"/>
                  <a:ea typeface="+mn-ea"/>
                  <a:cs typeface="+mn-cs"/>
                </a:rPr>
                <a:t xml:space="preserve">   STOP   </a:t>
              </a:r>
            </a:p>
          </p:txBody>
        </p:sp>
      </p:grpSp>
      <p:grpSp>
        <p:nvGrpSpPr>
          <p:cNvPr id="25" name="Group 25"/>
          <p:cNvGrpSpPr/>
          <p:nvPr/>
        </p:nvGrpSpPr>
        <p:grpSpPr>
          <a:xfrm>
            <a:off x="508254" y="5909310"/>
            <a:ext cx="8020050" cy="729996"/>
            <a:chOff x="508254" y="5909310"/>
            <a:chExt cx="8020050" cy="729996"/>
          </a:xfrm>
        </p:grpSpPr>
        <p:sp>
          <p:nvSpPr>
            <p:cNvPr id="23" name="TextBox 23"/>
            <p:cNvSpPr/>
            <p:nvPr/>
          </p:nvSpPr>
          <p:spPr>
            <a:xfrm>
              <a:off x="508254" y="5909310"/>
              <a:ext cx="8020050" cy="381000"/>
            </a:xfrm>
            <a:prstGeom prst="rect">
              <a:avLst/>
            </a:prstGeom>
            <a:noFill/>
            <a:ln>
              <a:noFill/>
            </a:ln>
          </p:spPr>
          <p:txBody>
            <a:bodyPr wrap="none" lIns="0" tIns="0" rIns="0" bIns="0" anchor="t" anchorCtr="0">
              <a:noAutofit/>
            </a:bodyPr>
            <a:lstStyle/>
            <a:p>
              <a:pPr algn="l">
                <a:lnSpc>
                  <a:spcPts val="1440"/>
                </a:lnSpc>
              </a:pPr>
              <a:r>
                <a:rPr lang="en-NZ" sz="1200" dirty="0">
                  <a:solidFill>
                    <a:srgbClr val="52606D"/>
                  </a:solidFill>
                  <a:latin typeface="Arial"/>
                  <a:ea typeface="Arial"/>
                  <a:cs typeface="Arial"/>
                </a:rPr>
                <a:t>M2, 20 Nov: validate the process, baselines and power.</a:t>
              </a:r>
              <a:br/>
              <a:r>
                <a:rPr lang="en-NZ" sz="1200" dirty="0">
                  <a:solidFill>
                    <a:srgbClr val="52606D"/>
                  </a:solidFill>
                  <a:latin typeface="Arial"/>
                  <a:ea typeface="Arial"/>
                  <a:cs typeface="Arial"/>
                </a:rPr>
                <a:t>Finance must accept NPV ≥0 and BCR ≥1 before design.</a:t>
              </a:r>
            </a:p>
          </p:txBody>
        </p:sp>
        <p:sp>
          <p:nvSpPr>
            <p:cNvPr id="24" name="TextBox 24"/>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7B8794"/>
                  </a:solidFill>
                  <a:latin typeface="+mn-lt"/>
                  <a:ea typeface="+mn-ea"/>
                  <a:cs typeface="+mn-cs"/>
                </a:rPr>
                <a:t xml:space="preserve">19   </a:t>
              </a:r>
            </a:p>
          </p:txBody>
        </p:sp>
      </p:grpSp>
      <p:sp>
        <p:nvSpPr>
          <p:cNvPr id="26" name="Rectangle 26"/>
          <p:cNvSpPr/>
          <p:nvPr/>
        </p:nvSpPr>
        <p:spPr>
          <a:xfrm>
            <a:off x="8839200" y="4772025"/>
            <a:ext cx="2895600" cy="1628775"/>
          </a:xfrm>
          <a:prstGeom prst="roundRect">
            <a:avLst>
              <a:gd name="adj" fmla="val 9357"/>
            </a:avLst>
          </a:prstGeom>
          <a:solidFill>
            <a:schemeClr val="accent5"/>
          </a:solidFill>
          <a:ln>
            <a:noFill/>
          </a:ln>
        </p:spPr>
      </p:sp>
    </p:spTree>
  </p:cSld>
  <p:clrMapOvr>
    <a:masterClrMapping/>
  </p:clrMapOvr>
  <p:transition xmlns:p14="http://schemas.microsoft.com/office/powerpoint/2010/main" p14:dur="400" advTm="20000">
    <p:fade/>
  </p:transition>
</p:sld>
</file>

<file path=ppt/slides/slide20.xml><?xml version="1.0" encoding="utf-8"?>
<p:sld xmlns:a="http://schemas.openxmlformats.org/drawingml/2006/main" xmlns:p="http://schemas.openxmlformats.org/presentationml/2006/main" xmlns:p14="http://schemas.microsoft.com/office/powerpoint/2010/main">
  <p:cSld>
    <p:bg>
      <p:bgPr>
        <a:solidFill>
          <a:schemeClr val="accent1"/>
        </a:solidFill>
        <a:effectLst/>
      </p:bgPr>
    </p:bg>
    <p:spTree>
      <p:nvGrpSpPr>
        <p:cNvPr id="1" name=""/>
        <p:cNvGrpSpPr/>
        <p:nvPr/>
      </p:nvGrpSpPr>
      <p:grpSpPr>
        <a:xfrm>
          <a:off x="0" y="0"/>
          <a:ext cx="0" cy="0"/>
          <a:chOff x="0" y="0"/>
          <a:chExt cx="0" cy="0"/>
        </a:xfrm>
      </p:grpSpPr>
      <p:grpSp>
        <p:nvGrpSpPr>
          <p:cNvPr id="19" name="Group 19"/>
          <p:cNvGrpSpPr/>
          <p:nvPr/>
        </p:nvGrpSpPr>
        <p:grpSpPr>
          <a:xfrm>
            <a:off x="499110" y="876300"/>
            <a:ext cx="11178235" cy="4791075"/>
            <a:chOff x="499110" y="876300"/>
            <a:chExt cx="11178235" cy="4791075"/>
          </a:xfrm>
        </p:grpSpPr>
        <p:sp>
          <p:nvSpPr>
            <p:cNvPr id="2" name="TextBox 2"/>
            <p:cNvSpPr/>
            <p:nvPr/>
          </p:nvSpPr>
          <p:spPr>
            <a:xfrm>
              <a:off x="499110" y="876300"/>
              <a:ext cx="11144250" cy="586740"/>
            </a:xfrm>
            <a:prstGeom prst="rect">
              <a:avLst/>
            </a:prstGeom>
            <a:noFill/>
            <a:ln>
              <a:noFill/>
            </a:ln>
          </p:spPr>
          <p:txBody>
            <a:bodyPr wrap="none" lIns="0" tIns="0" rIns="0" bIns="0" anchor="t" anchorCtr="0">
              <a:noAutofit/>
            </a:bodyPr>
            <a:lstStyle/>
            <a:p>
              <a:pPr algn="l"/>
              <a:r>
                <a:rPr lang="en-NZ" sz="3000" b="1" dirty="0">
                  <a:solidFill>
                    <a:srgbClr val="FFFFFF"/>
                  </a:solidFill>
                  <a:latin typeface="Arial"/>
                  <a:ea typeface="Arial"/>
                  <a:cs typeface="Arial"/>
                </a:rPr>
                <a:t>Phase 0: a defined package for NZ$120k</a:t>
              </a:r>
            </a:p>
          </p:txBody>
        </p:sp>
        <p:sp>
          <p:nvSpPr>
            <p:cNvPr id="3" name="TextBox 3"/>
            <p:cNvSpPr/>
            <p:nvPr/>
          </p:nvSpPr>
          <p:spPr>
            <a:xfrm>
              <a:off x="504444" y="1523048"/>
              <a:ext cx="11049000" cy="381381"/>
            </a:xfrm>
            <a:prstGeom prst="rect">
              <a:avLst/>
            </a:prstGeom>
            <a:noFill/>
            <a:ln>
              <a:noFill/>
            </a:ln>
          </p:spPr>
          <p:txBody>
            <a:bodyPr wrap="none" lIns="0" tIns="0" rIns="0" bIns="0" anchor="t" anchorCtr="0">
              <a:noAutofit/>
            </a:bodyPr>
            <a:lstStyle/>
            <a:p>
              <a:pPr algn="l"/>
              <a:r>
                <a:rPr lang="en-NZ" sz="1950" dirty="0">
                  <a:solidFill>
                    <a:srgbClr val="D9E2EC"/>
                  </a:solidFill>
                  <a:latin typeface="Arial"/>
                  <a:ea typeface="Arial"/>
                  <a:cs typeface="Arial"/>
                </a:rPr>
                <a:t>Test the customer response and establish the delivery controls.</a:t>
              </a:r>
            </a:p>
          </p:txBody>
        </p:sp>
        <p:sp>
          <p:nvSpPr>
            <p:cNvPr id="4" name="Rectangle 4"/>
            <p:cNvSpPr/>
            <p:nvPr/>
          </p:nvSpPr>
          <p:spPr>
            <a:xfrm>
              <a:off x="514350" y="2381250"/>
              <a:ext cx="3737610" cy="1619250"/>
            </a:xfrm>
            <a:prstGeom prst="roundRect">
              <a:avLst>
                <a:gd name="adj" fmla="val 20005"/>
              </a:avLst>
            </a:prstGeom>
            <a:solidFill>
              <a:schemeClr val="accent2"/>
            </a:solidFill>
            <a:ln>
              <a:noFill/>
            </a:ln>
          </p:spPr>
        </p:sp>
        <p:sp>
          <p:nvSpPr>
            <p:cNvPr id="5" name="TextBox 5"/>
            <p:cNvSpPr/>
            <p:nvPr/>
          </p:nvSpPr>
          <p:spPr>
            <a:xfrm>
              <a:off x="880491" y="2695575"/>
              <a:ext cx="2412302" cy="293370"/>
            </a:xfrm>
            <a:prstGeom prst="rect">
              <a:avLst/>
            </a:prstGeom>
            <a:noFill/>
            <a:ln>
              <a:noFill/>
            </a:ln>
          </p:spPr>
          <p:txBody>
            <a:bodyPr wrap="none" lIns="0" tIns="0" rIns="0" bIns="0" anchor="t" anchorCtr="0">
              <a:noAutofit/>
            </a:bodyPr>
            <a:lstStyle/>
            <a:p>
              <a:pPr algn="l"/>
              <a:r>
                <a:rPr lang="en-NZ" sz="1500" b="1" dirty="0">
                  <a:solidFill>
                    <a:srgbClr val="FFFFFF"/>
                  </a:solidFill>
                  <a:latin typeface="Arial"/>
                  <a:ea typeface="Arial"/>
                  <a:cs typeface="Arial"/>
                </a:rPr>
                <a:t>APPROVE PHASE 0</a:t>
              </a:r>
            </a:p>
          </p:txBody>
        </p:sp>
        <p:sp>
          <p:nvSpPr>
            <p:cNvPr id="6" name="TextBox 6"/>
            <p:cNvSpPr/>
            <p:nvPr/>
          </p:nvSpPr>
          <p:spPr>
            <a:xfrm>
              <a:off x="869061" y="3087052"/>
              <a:ext cx="3305461" cy="790575"/>
            </a:xfrm>
            <a:prstGeom prst="rect">
              <a:avLst/>
            </a:prstGeom>
            <a:noFill/>
            <a:ln>
              <a:noFill/>
            </a:ln>
          </p:spPr>
          <p:txBody>
            <a:bodyPr wrap="none" lIns="0" tIns="0" rIns="0" bIns="0" anchor="t" anchorCtr="0">
              <a:noAutofit/>
            </a:bodyPr>
            <a:lstStyle/>
            <a:p>
              <a:pPr algn="l"/>
              <a:r>
                <a:rPr lang="en-NZ" sz="4050" b="1" dirty="0">
                  <a:solidFill>
                    <a:srgbClr val="FFFFFF"/>
                  </a:solidFill>
                  <a:latin typeface="Arial"/>
                  <a:ea typeface="Arial"/>
                  <a:cs typeface="Arial"/>
                </a:rPr>
                <a:t>NZ$120k</a:t>
              </a:r>
            </a:p>
          </p:txBody>
        </p:sp>
        <p:sp>
          <p:nvSpPr>
            <p:cNvPr id="7" name="Line 7"/>
            <p:cNvSpPr/>
            <p:nvPr/>
          </p:nvSpPr>
          <p:spPr>
            <a:xfrm>
              <a:off x="4251960" y="3190875"/>
              <a:ext cx="1171118" cy="9525"/>
            </a:xfrm>
            <a:custGeom>
              <a:avLst/>
              <a:gdLst/>
              <a:ahLst/>
              <a:cxnLst/>
              <a:rect l="l" t="t" r="r" b="b"/>
              <a:pathLst>
                <a:path w="1171118" h="9525">
                  <a:moveTo>
                    <a:pt x="0" y="0"/>
                  </a:moveTo>
                  <a:lnTo>
                    <a:pt x="1171118" y="0"/>
                  </a:lnTo>
                </a:path>
              </a:pathLst>
            </a:custGeom>
            <a:noFill/>
            <a:ln w="66675">
              <a:solidFill>
                <a:srgbClr val="FFFFFF"/>
              </a:solidFill>
            </a:ln>
          </p:spPr>
        </p:sp>
        <p:sp>
          <p:nvSpPr>
            <p:cNvPr id="8" name="Polygon 8"/>
            <p:cNvSpPr/>
            <p:nvPr/>
          </p:nvSpPr>
          <p:spPr>
            <a:xfrm>
              <a:off x="5423078" y="3057525"/>
              <a:ext cx="373761" cy="266700"/>
            </a:xfrm>
            <a:custGeom>
              <a:avLst/>
              <a:gdLst/>
              <a:ahLst/>
              <a:cxnLst/>
              <a:rect l="l" t="t" r="r" b="b"/>
              <a:pathLst>
                <a:path w="373761" h="266700">
                  <a:moveTo>
                    <a:pt x="0" y="0"/>
                  </a:moveTo>
                  <a:lnTo>
                    <a:pt x="373761" y="133350"/>
                  </a:lnTo>
                  <a:lnTo>
                    <a:pt x="0" y="266700"/>
                  </a:lnTo>
                  <a:close/>
                </a:path>
              </a:pathLst>
            </a:custGeom>
            <a:solidFill>
              <a:srgbClr val="FFFFFF"/>
            </a:solidFill>
            <a:ln>
              <a:noFill/>
            </a:ln>
          </p:spPr>
        </p:sp>
        <p:sp>
          <p:nvSpPr>
            <p:cNvPr id="9" name="Rectangle 9"/>
            <p:cNvSpPr/>
            <p:nvPr/>
          </p:nvSpPr>
          <p:spPr>
            <a:xfrm>
              <a:off x="5921426" y="2381250"/>
              <a:ext cx="1868805" cy="1619250"/>
            </a:xfrm>
            <a:prstGeom prst="roundRect">
              <a:avLst>
                <a:gd name="adj" fmla="val 20005"/>
              </a:avLst>
            </a:prstGeom>
            <a:solidFill>
              <a:srgbClr val="FFFFFF"/>
            </a:solidFill>
            <a:ln>
              <a:noFill/>
            </a:ln>
          </p:spPr>
        </p:sp>
        <p:sp>
          <p:nvSpPr>
            <p:cNvPr id="10" name="TextBox 10"/>
            <p:cNvSpPr/>
            <p:nvPr/>
          </p:nvSpPr>
          <p:spPr>
            <a:xfrm>
              <a:off x="6332982" y="2790825"/>
              <a:ext cx="1045750" cy="293370"/>
            </a:xfrm>
            <a:prstGeom prst="rect">
              <a:avLst/>
            </a:prstGeom>
            <a:noFill/>
            <a:ln>
              <a:noFill/>
            </a:ln>
          </p:spPr>
          <p:txBody>
            <a:bodyPr wrap="none" lIns="0" tIns="0" rIns="95" bIns="0" anchor="t" anchorCtr="0">
              <a:noAutofit/>
            </a:bodyPr>
            <a:lstStyle/>
            <a:p>
              <a:pPr algn="ctr"/>
              <a:r>
                <a:rPr lang="en-NZ" sz="1500" b="1" dirty="0">
                  <a:solidFill>
                    <a:srgbClr val="102A43"/>
                  </a:solidFill>
                  <a:latin typeface="Arial"/>
                  <a:ea typeface="Arial"/>
                  <a:cs typeface="Arial"/>
                </a:rPr>
                <a:t>M1</a:t>
              </a:r>
            </a:p>
          </p:txBody>
        </p:sp>
        <p:sp>
          <p:nvSpPr>
            <p:cNvPr id="11" name="TextBox 11"/>
            <p:cNvSpPr txBox="1"/>
            <p:nvPr/>
          </p:nvSpPr>
          <p:spPr>
            <a:xfrm>
              <a:off x="6019305" y="3190875"/>
              <a:ext cx="1673047" cy="293370"/>
            </a:xfrm>
            <a:prstGeom prst="rect">
              <a:avLst/>
            </a:prstGeom>
            <a:noFill/>
            <a:ln>
              <a:noFill/>
            </a:ln>
          </p:spPr>
          <p:txBody>
            <a:bodyPr wrap="none" lIns="0" tIns="0" rIns="0" bIns="0" anchor="t" anchorCtr="0">
              <a:spAutoFit/>
            </a:bodyPr>
            <a:lstStyle/>
            <a:p>
              <a:pPr algn="ctr"/>
              <a:r>
                <a:rPr lang="en-NZ" sz="1500" b="1" dirty="0">
                  <a:solidFill>
                    <a:schemeClr val="accent3"/>
                  </a:solidFill>
                  <a:latin typeface="+mn-lt"/>
                  <a:ea typeface="+mn-ea"/>
                  <a:cs typeface="+mn-cs"/>
                </a:rPr>
                <a:t xml:space="preserve">   DECISION   </a:t>
              </a:r>
            </a:p>
          </p:txBody>
        </p:sp>
        <p:sp>
          <p:nvSpPr>
            <p:cNvPr id="12" name="Rectangle 12"/>
            <p:cNvSpPr/>
            <p:nvPr/>
          </p:nvSpPr>
          <p:spPr>
            <a:xfrm>
              <a:off x="8188909" y="2190750"/>
              <a:ext cx="3488436" cy="609600"/>
            </a:xfrm>
            <a:prstGeom prst="roundRect">
              <a:avLst>
                <a:gd name="adj" fmla="val 50000"/>
              </a:avLst>
            </a:prstGeom>
            <a:solidFill>
              <a:schemeClr val="accent3"/>
            </a:solidFill>
            <a:ln>
              <a:noFill/>
            </a:ln>
          </p:spPr>
        </p:sp>
        <p:sp>
          <p:nvSpPr>
            <p:cNvPr id="13" name="TextBox 13"/>
            <p:cNvSpPr/>
            <p:nvPr/>
          </p:nvSpPr>
          <p:spPr>
            <a:xfrm>
              <a:off x="8749379" y="2409825"/>
              <a:ext cx="2367534" cy="293370"/>
            </a:xfrm>
            <a:prstGeom prst="rect">
              <a:avLst/>
            </a:prstGeom>
            <a:noFill/>
            <a:ln>
              <a:noFill/>
            </a:ln>
          </p:spPr>
          <p:txBody>
            <a:bodyPr wrap="none" lIns="0" tIns="0" rIns="0" bIns="0" anchor="t" anchorCtr="0">
              <a:noAutofit/>
            </a:bodyPr>
            <a:lstStyle/>
            <a:p>
              <a:pPr algn="ctr"/>
              <a:r>
                <a:rPr lang="en-NZ" sz="1500" b="1" dirty="0">
                  <a:solidFill>
                    <a:srgbClr val="FFFFFF"/>
                  </a:solidFill>
                  <a:latin typeface="Arial"/>
                  <a:ea typeface="Arial"/>
                  <a:cs typeface="Arial"/>
                </a:rPr>
                <a:t>RELEASE PHASE 1</a:t>
              </a:r>
            </a:p>
          </p:txBody>
        </p:sp>
        <p:sp>
          <p:nvSpPr>
            <p:cNvPr id="14" name="Rectangle 14"/>
            <p:cNvSpPr/>
            <p:nvPr/>
          </p:nvSpPr>
          <p:spPr>
            <a:xfrm>
              <a:off x="8188909" y="2990850"/>
              <a:ext cx="3488436" cy="609600"/>
            </a:xfrm>
            <a:prstGeom prst="roundRect">
              <a:avLst>
                <a:gd name="adj" fmla="val 50000"/>
              </a:avLst>
            </a:prstGeom>
            <a:solidFill>
              <a:schemeClr val="accent6"/>
            </a:solidFill>
            <a:ln>
              <a:noFill/>
            </a:ln>
          </p:spPr>
        </p:sp>
        <p:sp>
          <p:nvSpPr>
            <p:cNvPr id="15" name="TextBox 15"/>
            <p:cNvSpPr/>
            <p:nvPr/>
          </p:nvSpPr>
          <p:spPr>
            <a:xfrm>
              <a:off x="8592502" y="3209925"/>
              <a:ext cx="2681192" cy="293370"/>
            </a:xfrm>
            <a:prstGeom prst="rect">
              <a:avLst/>
            </a:prstGeom>
            <a:noFill/>
            <a:ln>
              <a:noFill/>
            </a:ln>
          </p:spPr>
          <p:txBody>
            <a:bodyPr wrap="none" lIns="95" tIns="0" rIns="0" bIns="0" anchor="t" anchorCtr="0">
              <a:noAutofit/>
            </a:bodyPr>
            <a:lstStyle/>
            <a:p>
              <a:pPr algn="ctr"/>
              <a:r>
                <a:rPr lang="en-NZ" sz="1500" b="1" dirty="0">
                  <a:solidFill>
                    <a:srgbClr val="102A43"/>
                  </a:solidFill>
                  <a:latin typeface="Arial"/>
                  <a:ea typeface="Arial"/>
                  <a:cs typeface="Arial"/>
                </a:rPr>
                <a:t>REDESIGN</a:t>
              </a:r>
            </a:p>
          </p:txBody>
        </p:sp>
        <p:sp>
          <p:nvSpPr>
            <p:cNvPr id="16" name="Rectangle 16"/>
            <p:cNvSpPr/>
            <p:nvPr/>
          </p:nvSpPr>
          <p:spPr>
            <a:xfrm>
              <a:off x="8188909" y="3790950"/>
              <a:ext cx="3488436" cy="609600"/>
            </a:xfrm>
            <a:prstGeom prst="roundRect">
              <a:avLst>
                <a:gd name="adj" fmla="val 50000"/>
              </a:avLst>
            </a:prstGeom>
            <a:solidFill>
              <a:srgbClr val="C43D3D"/>
            </a:solidFill>
            <a:ln>
              <a:noFill/>
            </a:ln>
          </p:spPr>
        </p:sp>
        <p:sp>
          <p:nvSpPr>
            <p:cNvPr id="17" name="TextBox 17"/>
            <p:cNvSpPr txBox="1"/>
            <p:nvPr/>
          </p:nvSpPr>
          <p:spPr>
            <a:xfrm>
              <a:off x="9287027" y="4010025"/>
              <a:ext cx="1292200" cy="293370"/>
            </a:xfrm>
            <a:prstGeom prst="rect">
              <a:avLst/>
            </a:prstGeom>
            <a:noFill/>
            <a:ln>
              <a:noFill/>
            </a:ln>
          </p:spPr>
          <p:txBody>
            <a:bodyPr wrap="none" lIns="0" tIns="0" rIns="0" bIns="0" anchor="t" anchorCtr="0">
              <a:spAutoFit/>
            </a:bodyPr>
            <a:lstStyle/>
            <a:p>
              <a:pPr algn="ctr"/>
              <a:r>
                <a:rPr lang="en-NZ" sz="1500" b="1" dirty="0">
                  <a:solidFill>
                    <a:srgbClr val="FFFFFF"/>
                  </a:solidFill>
                  <a:latin typeface="+mn-lt"/>
                  <a:ea typeface="+mn-ea"/>
                  <a:cs typeface="+mn-cs"/>
                </a:rPr>
                <a:t xml:space="preserve">   STOP   </a:t>
              </a:r>
            </a:p>
          </p:txBody>
        </p:sp>
        <p:sp>
          <p:nvSpPr>
            <p:cNvPr id="18" name="TextBox 18"/>
            <p:cNvSpPr/>
            <p:nvPr/>
          </p:nvSpPr>
          <p:spPr>
            <a:xfrm>
              <a:off x="503682" y="4857750"/>
              <a:ext cx="8020050" cy="809625"/>
            </a:xfrm>
            <a:prstGeom prst="rect">
              <a:avLst/>
            </a:prstGeom>
            <a:noFill/>
            <a:ln>
              <a:noFill/>
            </a:ln>
          </p:spPr>
          <p:txBody>
            <a:bodyPr wrap="none" lIns="0" tIns="1905" rIns="0" bIns="0" anchor="t" anchorCtr="0">
              <a:noAutofit/>
            </a:bodyPr>
            <a:lstStyle/>
            <a:p>
              <a:pPr algn="l">
                <a:lnSpc>
                  <a:spcPts val="2700"/>
                </a:lnSpc>
              </a:pPr>
              <a:r>
                <a:rPr lang="en-NZ" sz="2100" b="1" dirty="0">
                  <a:solidFill>
                    <a:srgbClr val="FFFFFF"/>
                  </a:solidFill>
                  <a:latin typeface="Arial"/>
                  <a:ea typeface="Arial"/>
                  <a:cs typeface="Arial"/>
                </a:rPr>
                <a:t>Customer verdict · Agreed charter</a:t>
              </a:r>
              <a:br/>
              <a:r>
                <a:rPr lang="en-NZ" sz="2100" b="1" dirty="0">
                  <a:solidFill>
                    <a:srgbClr val="FFFFFF"/>
                  </a:solidFill>
                  <a:latin typeface="Arial"/>
                  <a:ea typeface="Arial"/>
                  <a:cs typeface="Arial"/>
                </a:rPr>
                <a:t>Approved measures and controls</a:t>
              </a:r>
            </a:p>
          </p:txBody>
        </p:sp>
      </p:grpSp>
      <p:grpSp>
        <p:nvGrpSpPr>
          <p:cNvPr id="22" name="Group 22"/>
          <p:cNvGrpSpPr/>
          <p:nvPr/>
        </p:nvGrpSpPr>
        <p:grpSpPr>
          <a:xfrm>
            <a:off x="508254" y="5909310"/>
            <a:ext cx="8020050" cy="729996"/>
            <a:chOff x="508254" y="5909310"/>
            <a:chExt cx="8020050" cy="729996"/>
          </a:xfrm>
        </p:grpSpPr>
        <p:sp>
          <p:nvSpPr>
            <p:cNvPr id="20" name="TextBox 20"/>
            <p:cNvSpPr/>
            <p:nvPr/>
          </p:nvSpPr>
          <p:spPr>
            <a:xfrm>
              <a:off x="508254" y="5909310"/>
              <a:ext cx="8020050" cy="381000"/>
            </a:xfrm>
            <a:prstGeom prst="rect">
              <a:avLst/>
            </a:prstGeom>
            <a:noFill/>
            <a:ln>
              <a:noFill/>
            </a:ln>
          </p:spPr>
          <p:txBody>
            <a:bodyPr wrap="none" lIns="0" tIns="0" rIns="0" bIns="0" anchor="t" anchorCtr="0">
              <a:noAutofit/>
            </a:bodyPr>
            <a:lstStyle/>
            <a:p>
              <a:pPr algn="l"/>
              <a:r>
                <a:rPr lang="en-NZ" sz="1200" dirty="0">
                  <a:solidFill>
                    <a:srgbClr val="D9E2EC"/>
                  </a:solidFill>
                  <a:latin typeface="Arial"/>
                  <a:ea typeface="Arial"/>
                  <a:cs typeface="Arial"/>
                </a:rPr>
                <a:t>Use the M1 evidence to authorise Phase 1 separately, redesign or stop.</a:t>
              </a:r>
            </a:p>
          </p:txBody>
        </p:sp>
        <p:sp>
          <p:nvSpPr>
            <p:cNvPr id="21" name="TextBox 21"/>
            <p:cNvSpPr txBox="1"/>
            <p:nvPr/>
          </p:nvSpPr>
          <p:spPr>
            <a:xfrm>
              <a:off x="508254" y="6404610"/>
              <a:ext cx="456438" cy="234696"/>
            </a:xfrm>
            <a:prstGeom prst="rect">
              <a:avLst/>
            </a:prstGeom>
            <a:noFill/>
            <a:ln>
              <a:noFill/>
            </a:ln>
          </p:spPr>
          <p:txBody>
            <a:bodyPr wrap="none" lIns="0" tIns="0" rIns="0" bIns="0" anchor="t" anchorCtr="0">
              <a:spAutoFit/>
            </a:bodyPr>
            <a:lstStyle/>
            <a:p>
              <a:pPr algn="l"/>
              <a:r>
                <a:rPr lang="en-NZ" sz="1200" dirty="0">
                  <a:solidFill>
                    <a:srgbClr val="D9E2EC"/>
                  </a:solidFill>
                  <a:latin typeface="+mn-lt"/>
                  <a:ea typeface="+mn-ea"/>
                  <a:cs typeface="+mn-cs"/>
                </a:rPr>
                <a:t xml:space="preserve">20   </a:t>
              </a:r>
            </a:p>
          </p:txBody>
        </p:sp>
      </p:grpSp>
      <p:sp>
        <p:nvSpPr>
          <p:cNvPr id="23" name="Rectangle 23"/>
          <p:cNvSpPr/>
          <p:nvPr/>
        </p:nvSpPr>
        <p:spPr>
          <a:xfrm>
            <a:off x="8839200" y="4772025"/>
            <a:ext cx="2895600" cy="1628775"/>
          </a:xfrm>
          <a:prstGeom prst="roundRect">
            <a:avLst>
              <a:gd name="adj" fmla="val 9357"/>
            </a:avLst>
          </a:prstGeom>
          <a:solidFill>
            <a:srgbClr val="173C5E"/>
          </a:solidFill>
          <a:ln>
            <a:noFill/>
          </a:ln>
        </p:spPr>
      </p:sp>
    </p:spTree>
  </p:cSld>
  <p:clrMapOvr>
    <a:masterClrMapping/>
  </p:clrMapOvr>
  <p:transition xmlns:p14="http://schemas.microsoft.com/office/powerpoint/2010/main" p14:dur="400" advTm="20000">
    <p:fade/>
  </p:transition>
</p:sld>
</file>

<file path=ppt/theme/theme1.xml><?xml version="1.0" encoding="utf-8"?>
<a:theme xmlns:a="http://schemas.openxmlformats.org/drawingml/2006/main" name="A2-D2_PlanFit_Corner_Video_2026-09-06">
  <a:themeElements>
    <a:clrScheme name="A2-D2_PlanFit_Corner_Video_2026-09-06">
      <a:dk1>
        <a:srgbClr val="243B53"/>
      </a:dk1>
      <a:lt1>
        <a:srgbClr val="F7F9FB"/>
      </a:lt1>
      <a:dk2>
        <a:srgbClr val="1F497D"/>
      </a:dk2>
      <a:lt2>
        <a:srgbClr val="F7F9FB"/>
      </a:lt2>
      <a:accent1>
        <a:srgbClr val="102A43"/>
      </a:accent1>
      <a:accent2>
        <a:srgbClr val="1677FF"/>
      </a:accent2>
      <a:accent3>
        <a:srgbClr val="0F8B8D"/>
      </a:accent3>
      <a:accent4>
        <a:srgbClr val="102A43"/>
      </a:accent4>
      <a:accent5>
        <a:srgbClr val="EAF0F4"/>
      </a:accent5>
      <a:accent6>
        <a:srgbClr val="F4B942"/>
      </a:accent6>
      <a:hlink>
        <a:srgbClr val="1677FF"/>
      </a:hlink>
      <a:folHlink>
        <a:srgbClr val="0F8B8D"/>
      </a:folHlink>
    </a:clrScheme>
    <a:fontScheme name="A2-D2_PlanFit_Corner_Video_2026-09-06">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2-D2_PlanFit_Corner_Video_2026-09-0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2-D2_PlanFit_Corner_Video_2026-09-06">
  <a:themeElements>
    <a:clrScheme name="A2-D2_PlanFit_Corner_Video_2026-09-06">
      <a:dk1>
        <a:srgbClr val="243B53"/>
      </a:dk1>
      <a:lt1>
        <a:srgbClr val="F7F9FB"/>
      </a:lt1>
      <a:dk2>
        <a:srgbClr val="1F497D"/>
      </a:dk2>
      <a:lt2>
        <a:srgbClr val="F7F9FB"/>
      </a:lt2>
      <a:accent1>
        <a:srgbClr val="102A43"/>
      </a:accent1>
      <a:accent2>
        <a:srgbClr val="1677FF"/>
      </a:accent2>
      <a:accent3>
        <a:srgbClr val="0F8B8D"/>
      </a:accent3>
      <a:accent4>
        <a:srgbClr val="102A43"/>
      </a:accent4>
      <a:accent5>
        <a:srgbClr val="EAF0F4"/>
      </a:accent5>
      <a:accent6>
        <a:srgbClr val="F4B942"/>
      </a:accent6>
      <a:hlink>
        <a:srgbClr val="1677FF"/>
      </a:hlink>
      <a:folHlink>
        <a:srgbClr val="0F8B8D"/>
      </a:folHlink>
    </a:clrScheme>
    <a:fontScheme name="A2-D2_PlanFit_Corner_Video_2026-09-06">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2-D2_PlanFit_Corner_Video_2026-09-0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en-NZ</dc:language>
  <cp:lastModifiedBy/>
  <cp:revision>1</cp:revision>
  <dcterms:created xsi:type="dcterms:W3CDTF">2026-09-06T09:25:58Z</dcterms:created>
  <dcterms:modified xsi:type="dcterms:W3CDTF">2026-09-06T09:25:58Z</dcterms:modified>
  <cp:category/>
  <cp:contentStatus/>
</cp:coreProperties>
</file>