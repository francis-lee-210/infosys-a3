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82880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43047"/>
                </a:solidFill>
                <a:latin typeface="Avenir Next"/>
              </a:rPr>
              <a:t>The customer does the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D9B7AF"/>
                </a:solidFill>
                <a:latin typeface="Avenir Next"/>
              </a:rPr>
              <a:t>Spark should be doing for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1">
                <a:solidFill>
                  <a:srgbClr val="747985"/>
                </a:solidFill>
                <a:latin typeface="Avenir Next"/>
              </a:rPr>
              <a:t>A validated 12-month usage-and-spend snapshot — embedded, not linked.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47985"/>
                </a:solidFill>
                <a:latin typeface="Avenir Next"/>
              </a:rPr>
              <a:t>Spark New Zealand · Annual Mobile Plan Review · A2-D2 Business 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01 / 16</a:t>
            </a:r>
          </a:p>
        </p:txBody>
      </p:sp>
    </p:spTree>
  </p:cSld>
  <p:transition advClick="0" advTm="20000"/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02 —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A market under regulatory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1206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800" b="1" i="0">
                <a:solidFill>
                  <a:srgbClr val="243047"/>
                </a:solidFill>
                <a:latin typeface="Avenir Next"/>
              </a:rPr>
              <a:t>31%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43047"/>
                </a:solidFill>
                <a:latin typeface="Avenir Next"/>
              </a:rPr>
              <a:t>of mobile customers don't switch providers —</a:t>
            </a:r>
          </a:p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243047"/>
                </a:solidFill>
                <a:latin typeface="Avenir Next"/>
              </a:rPr>
              <a:t>it's too much effort.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37960" y="2331720"/>
            <a:ext cx="4983480" cy="0"/>
          </a:xfrm>
          <a:prstGeom prst="line">
            <a:avLst/>
          </a:prstGeom>
          <a:ln w="12700">
            <a:solidFill>
              <a:srgbClr val="A9BFD1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537960" y="25146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243047"/>
                </a:solidFill>
                <a:latin typeface="Avenir Next"/>
              </a:rP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3246120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747985"/>
                </a:solidFill>
                <a:latin typeface="Avenir Next"/>
              </a:rPr>
              <a:t>transparency score for Spark's own plan summary (Commerce Commission, 2024–2025).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537960" y="4434840"/>
            <a:ext cx="4983480" cy="0"/>
          </a:xfrm>
          <a:prstGeom prst="line">
            <a:avLst/>
          </a:prstGeom>
          <a:ln w="12700">
            <a:solidFill>
              <a:srgbClr val="A9BFD1"/>
            </a:solidFill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6537960" y="46177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late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5166360"/>
            <a:ext cx="48463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747985"/>
                </a:solidFill>
                <a:latin typeface="Avenir Next"/>
              </a:rPr>
              <a:t>the Commission found Spark had discontinued its usage-based recommendation feature entirely.</a:t>
            </a:r>
          </a:p>
        </p:txBody>
      </p:sp>
    </p:spTree>
  </p:cSld>
  <p:transition advClick="0" advTm="20000"/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03 — PAIN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The annual review journey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03 / 16</a:t>
            </a:r>
          </a:p>
        </p:txBody>
      </p:sp>
      <p:pic>
        <p:nvPicPr>
          <p:cNvPr id="5" name="Picture 4" descr="Figure1_ASIS.png"/>
          <p:cNvPicPr>
            <a:picLocks noChangeAspect="1"/>
          </p:cNvPicPr>
          <p:nvPr/>
        </p:nvPicPr>
        <p:blipFill>
          <a:blip r:embed="rId2"/>
          <a:srcRect l="7500" r="44000" t="54000" b="7500"/>
          <a:stretch>
            <a:fillRect/>
          </a:stretch>
        </p:blipFill>
        <p:spPr>
          <a:xfrm>
            <a:off x="502920" y="1828800"/>
            <a:ext cx="11201400" cy="3063240"/>
          </a:xfrm>
          <a:prstGeom prst="rect">
            <a:avLst/>
          </a:prstGeom>
          <a:ln>
            <a:noFill/>
          </a:ln>
        </p:spPr>
      </p:pic>
      <p:cxnSp>
        <p:nvCxnSpPr>
          <p:cNvPr id="6" name="Connector 5"/>
          <p:cNvCxnSpPr/>
          <p:nvPr/>
        </p:nvCxnSpPr>
        <p:spPr>
          <a:xfrm>
            <a:off x="3337560" y="3977639"/>
            <a:ext cx="4434840" cy="0"/>
          </a:xfrm>
          <a:prstGeom prst="line">
            <a:avLst/>
          </a:prstGeom>
          <a:ln w="25400">
            <a:solidFill>
              <a:srgbClr val="D9B7AF"/>
            </a:solidFill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640080" y="507492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243047"/>
                </a:solidFill>
                <a:latin typeface="Avenir Next"/>
              </a:rPr>
              <a:t>The customer follows a link, interprets twelve months of data, and compares plans — alone.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150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47985"/>
                </a:solidFill>
                <a:latin typeface="Avenir Next"/>
              </a:rPr>
              <a:t>Figure 1 (A2-D1), AS-IS process — customer lane, self-service branch</a:t>
            </a:r>
          </a:p>
        </p:txBody>
      </p:sp>
    </p:spTree>
  </p:cSld>
  <p:transition advClick="0" advTm="20000"/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04 —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What's actually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889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47985"/>
                </a:solidFill>
                <a:latin typeface="Avenir Next"/>
              </a:rPr>
              <a:t>SPARK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108960"/>
            <a:ext cx="3657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43047"/>
                </a:solidFill>
                <a:latin typeface="Avenir Next"/>
              </a:rPr>
              <a:t>Sends a link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4960" y="3200400"/>
            <a:ext cx="1280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 i="0">
                <a:solidFill>
                  <a:srgbClr val="D9B7AF"/>
                </a:solidFill>
                <a:latin typeface="Avenir Next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7889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47985"/>
                </a:solidFill>
                <a:latin typeface="Avenir Next"/>
              </a:rPr>
              <a:t>CUSTOMER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0" y="3108960"/>
            <a:ext cx="4206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43047"/>
                </a:solidFill>
                <a:latin typeface="Avenir Next"/>
              </a:rPr>
              <a:t>Does the analysis alone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1">
                <a:solidFill>
                  <a:srgbClr val="747985"/>
                </a:solidFill>
                <a:latin typeface="Avenir Next"/>
              </a:rPr>
              <a:t>Two exploratory responses — one human, one GenAI, same guide — converged on the same mechanism. A working hypothesis, not yet proof.</a:t>
            </a:r>
          </a:p>
        </p:txBody>
      </p:sp>
    </p:spTree>
  </p:cSld>
  <p:transition advClick="0" advTm="20000"/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05 —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Pathway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05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011680"/>
            <a:ext cx="11155680" cy="1691640"/>
          </a:xfrm>
          <a:prstGeom prst="rect">
            <a:avLst/>
          </a:prstGeom>
          <a:solidFill>
            <a:srgbClr val="F0F3F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243047"/>
                </a:solidFill>
                <a:latin typeface="Avenir Next"/>
              </a:rPr>
              <a:t>Embed a validated 12-month usage-and-spend snapshot</a:t>
            </a:r>
          </a:p>
          <a:p>
            <a:pPr algn="l">
              <a:lnSpc>
                <a:spcPct val="112000"/>
              </a:lnSpc>
            </a:pPr>
            <a:r>
              <a:rPr sz="2900" b="1" i="0">
                <a:solidFill>
                  <a:srgbClr val="243047"/>
                </a:solidFill>
                <a:latin typeface="Avenir Next"/>
              </a:rPr>
              <a:t>directly in the annual summary.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1">
                <a:solidFill>
                  <a:srgbClr val="243047"/>
                </a:solidFill>
                <a:latin typeface="Avenir Next"/>
              </a:rPr>
              <a:t>Removes the self-service analysis step entirely.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58368" y="5029200"/>
            <a:ext cx="10835640" cy="0"/>
          </a:xfrm>
          <a:prstGeom prst="line">
            <a:avLst/>
          </a:prstGeom>
          <a:ln w="9525">
            <a:solidFill>
              <a:srgbClr val="A9BFD1"/>
            </a:solidFill>
          </a:ln>
          <a:effectLst/>
        </p:spPr>
      </p:cxnSp>
      <p:sp>
        <p:nvSpPr>
          <p:cNvPr id="9" name="TextBox 8"/>
          <p:cNvSpPr txBox="1"/>
          <p:nvPr/>
        </p:nvSpPr>
        <p:spPr>
          <a:xfrm>
            <a:off x="640080" y="521208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0" i="0">
                <a:solidFill>
                  <a:srgbClr val="747985"/>
                </a:solidFill>
                <a:latin typeface="Avenir Next"/>
              </a:rPr>
              <a:t>Pathway B — personalised recommendations — deliberately deferred to a gated Phase 2.</a:t>
            </a:r>
          </a:p>
        </p:txBody>
      </p:sp>
    </p:spTree>
  </p:cSld>
  <p:transition advClick="0" advTm="20000"/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06 —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Not the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06 / 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965960"/>
          <a:ext cx="10881360" cy="30175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474720"/>
                <a:gridCol w="1851660"/>
                <a:gridCol w="1851660"/>
                <a:gridCol w="1851660"/>
                <a:gridCol w="1851660"/>
              </a:tblGrid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747985"/>
                          </a:solidFill>
                          <a:latin typeface="Avenir Next"/>
                        </a:rPr>
                        <a:t/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47985"/>
                          </a:solidFill>
                          <a:latin typeface="Avenir Next"/>
                        </a:rPr>
                        <a:t>Impact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47985"/>
                          </a:solidFill>
                          <a:latin typeface="Avenir Next"/>
                        </a:rPr>
                        <a:t>Feasibility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47985"/>
                          </a:solidFill>
                          <a:latin typeface="Avenir Next"/>
                        </a:rPr>
                        <a:t>Risk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747985"/>
                          </a:solidFill>
                          <a:latin typeface="Avenir Next"/>
                        </a:rPr>
                        <a:t>Evidence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50" b="1">
                          <a:solidFill>
                            <a:srgbClr val="243047"/>
                          </a:solidFill>
                          <a:latin typeface="Avenir Next"/>
                        </a:rPr>
                        <a:t>A — Embed snapshot</a:t>
                      </a:r>
                    </a:p>
                  </a:txBody>
                  <a:tcPr marL="109728" marR="109728" marT="54864" marB="54864" anchor="ctr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43047"/>
                          </a:solidFill>
                          <a:latin typeface="Avenir Next"/>
                        </a:rPr>
                        <a:t>High</a:t>
                      </a:r>
                    </a:p>
                  </a:txBody>
                  <a:tcPr marL="109728" marR="109728" marT="54864" marB="54864" anchor="ctr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43047"/>
                          </a:solidFill>
                          <a:latin typeface="Avenir Next"/>
                        </a:rPr>
                        <a:t>High</a:t>
                      </a:r>
                    </a:p>
                  </a:txBody>
                  <a:tcPr marL="109728" marR="109728" marT="54864" marB="54864" anchor="ctr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43047"/>
                          </a:solidFill>
                          <a:latin typeface="Avenir Next"/>
                        </a:rPr>
                        <a:t>Low</a:t>
                      </a:r>
                    </a:p>
                  </a:txBody>
                  <a:tcPr marL="109728" marR="109728" marT="54864" marB="54864" anchor="ctr">
                    <a:solidFill>
                      <a:srgbClr val="F0F3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243047"/>
                          </a:solidFill>
                          <a:latin typeface="Avenir Next"/>
                        </a:rPr>
                        <a:t>High</a:t>
                      </a:r>
                    </a:p>
                  </a:txBody>
                  <a:tcPr marL="109728" marR="109728" marT="54864" marB="54864" anchor="ctr">
                    <a:solidFill>
                      <a:srgbClr val="F0F3F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B — Personalise now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High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Low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High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Medium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C — Navigation only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Low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High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Low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Medium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D — Full transform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Med-high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Very low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Medium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243047"/>
                          </a:solidFill>
                          <a:latin typeface="Avenir Next"/>
                        </a:rPr>
                        <a:t>Low</a:t>
                      </a:r>
                    </a:p>
                  </a:txBody>
                  <a:tcPr marL="109728" marR="109728" marT="54864" marB="54864" anchor="ctr">
                    <a:solidFill>
                      <a:srgbClr val="FAF8F5"/>
                    </a:solidFill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640080" y="1965960"/>
            <a:ext cx="10881360" cy="0"/>
          </a:xfrm>
          <a:prstGeom prst="line">
            <a:avLst/>
          </a:prstGeom>
          <a:ln w="6350">
            <a:solidFill>
              <a:srgbClr val="DDD9D2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640080" y="2569464"/>
            <a:ext cx="10881360" cy="0"/>
          </a:xfrm>
          <a:prstGeom prst="line">
            <a:avLst/>
          </a:prstGeom>
          <a:ln w="6350">
            <a:solidFill>
              <a:srgbClr val="DDD9D2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>
            <a:off x="640080" y="3172968"/>
            <a:ext cx="10881360" cy="0"/>
          </a:xfrm>
          <a:prstGeom prst="line">
            <a:avLst/>
          </a:prstGeom>
          <a:ln w="6350">
            <a:solidFill>
              <a:srgbClr val="DDD9D2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640080" y="3776472"/>
            <a:ext cx="10881360" cy="0"/>
          </a:xfrm>
          <a:prstGeom prst="line">
            <a:avLst/>
          </a:prstGeom>
          <a:ln w="6350">
            <a:solidFill>
              <a:srgbClr val="DDD9D2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640080" y="4379976"/>
            <a:ext cx="10881360" cy="0"/>
          </a:xfrm>
          <a:prstGeom prst="line">
            <a:avLst/>
          </a:prstGeom>
          <a:ln w="6350">
            <a:solidFill>
              <a:srgbClr val="DDD9D2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640080" y="4983480"/>
            <a:ext cx="10881360" cy="0"/>
          </a:xfrm>
          <a:prstGeom prst="line">
            <a:avLst/>
          </a:prstGeom>
          <a:ln w="6350">
            <a:solidFill>
              <a:srgbClr val="DDD9D2"/>
            </a:solidFill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747985"/>
                </a:solidFill>
                <a:latin typeface="Avenir Next"/>
              </a:rPr>
              <a:t>A offers the strongest overall balance. Each alternative trades off at least one criterion — C is folded in as a supporting element, not rejected outright.</a:t>
            </a:r>
          </a:p>
        </p:txBody>
      </p:sp>
    </p:spTree>
  </p:cSld>
  <p:transition advClick="0" advTm="20000"/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07 — MECHANISM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The redesigned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07 / 16</a:t>
            </a:r>
          </a:p>
        </p:txBody>
      </p:sp>
      <p:pic>
        <p:nvPicPr>
          <p:cNvPr id="5" name="Picture 4" descr="Figure2_TOBE.png"/>
          <p:cNvPicPr>
            <a:picLocks noChangeAspect="1"/>
          </p:cNvPicPr>
          <p:nvPr/>
        </p:nvPicPr>
        <p:blipFill>
          <a:blip r:embed="rId2"/>
          <a:srcRect r="64750" t="8300" b="74600"/>
          <a:stretch>
            <a:fillRect/>
          </a:stretch>
        </p:blipFill>
        <p:spPr>
          <a:xfrm>
            <a:off x="502920" y="2240280"/>
            <a:ext cx="7178040" cy="2423160"/>
          </a:xfrm>
          <a:prstGeom prst="rect">
            <a:avLst/>
          </a:prstGeom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8092440" y="228600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A9BFD1"/>
                </a:solidFill>
                <a:latin typeface="Avenir Nex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28346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243047"/>
                </a:solidFill>
                <a:latin typeface="Avenir Next"/>
              </a:rPr>
              <a:t>VALIDATE BEFORE EXPOSURE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3337560"/>
            <a:ext cx="3291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243047"/>
                </a:solidFill>
                <a:latin typeface="Avenir Next"/>
              </a:rPr>
              <a:t>Only complete and fresh data can enter the customer-facing snapshot.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4617720"/>
            <a:ext cx="3291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47985"/>
                </a:solidFill>
                <a:latin typeface="Avenir Next"/>
              </a:rPr>
              <a:t>First of three linked changes, with shared evidence and outcome logging downstream.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747985"/>
                </a:solidFill>
                <a:latin typeface="Avenir Next"/>
              </a:rPr>
              <a:t>Figure 2 (A2-D1), TO-BE process — data-validity gate (excerpt)</a:t>
            </a:r>
          </a:p>
        </p:txBody>
      </p:sp>
    </p:spTree>
  </p:cSld>
  <p:transition advClick="0" advTm="20000"/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08 — SUCCESS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How we'll know it worked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08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94360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0" b="1" i="0">
                <a:solidFill>
                  <a:srgbClr val="243047"/>
                </a:solidFill>
                <a:latin typeface="Avenir Next"/>
              </a:rPr>
              <a:t>+5pp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6052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3047"/>
                </a:solidFill>
                <a:latin typeface="Avenir Next"/>
              </a:rPr>
              <a:t>Effective plan-review completion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34924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747985"/>
                </a:solidFill>
                <a:latin typeface="Avenir Next"/>
              </a:rPr>
              <a:t>Customers reaching an appropriate stay-or-change decision within 30 days, vs. a link-only control, by 30 June 2027.</a:t>
            </a:r>
          </a:p>
        </p:txBody>
      </p:sp>
    </p:spTree>
  </p:cSld>
  <p:transition advClick="0" advTm="20000"/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09 —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Guardrails, not just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09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514600"/>
            <a:ext cx="457200" cy="54864"/>
          </a:xfrm>
          <a:prstGeom prst="rect">
            <a:avLst/>
          </a:prstGeom>
          <a:solidFill>
            <a:srgbClr val="A9B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43047"/>
                </a:solidFill>
                <a:latin typeface="Avenir Next"/>
              </a:rPr>
              <a:t>Retention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2514600"/>
            <a:ext cx="457200" cy="54864"/>
          </a:xfrm>
          <a:prstGeom prst="rect">
            <a:avLst/>
          </a:prstGeom>
          <a:solidFill>
            <a:srgbClr val="D9B7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27889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43047"/>
                </a:solidFill>
                <a:latin typeface="Avenir Next"/>
              </a:rPr>
              <a:t>ARPU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0" y="2514600"/>
            <a:ext cx="457200" cy="54864"/>
          </a:xfrm>
          <a:prstGeom prst="rect">
            <a:avLst/>
          </a:prstGeom>
          <a:solidFill>
            <a:srgbClr val="C8D6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2788920"/>
            <a:ext cx="3154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 i="0">
                <a:solidFill>
                  <a:srgbClr val="243047"/>
                </a:solidFill>
                <a:latin typeface="Avenir Next"/>
              </a:rPr>
              <a:t>Complaint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07492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i="1">
                <a:solidFill>
                  <a:srgbClr val="243047"/>
                </a:solidFill>
                <a:latin typeface="Avenir Next"/>
              </a:rPr>
              <a:t>A good headline number can't be allowed to hide a bad customer outcome underneath it.</a:t>
            </a:r>
          </a:p>
        </p:txBody>
      </p:sp>
    </p:spTree>
  </p:cSld>
  <p:transition advClick="0" advTm="20000"/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10 —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Five-stage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10 / 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926080"/>
            <a:ext cx="2176272" cy="1051560"/>
          </a:xfrm>
          <a:prstGeom prst="rect">
            <a:avLst/>
          </a:prstGeom>
          <a:solidFill>
            <a:srgbClr val="A9B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27248"/>
            <a:ext cx="1901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3047"/>
                </a:solidFill>
                <a:latin typeface="Avenir Next"/>
              </a:rPr>
              <a:t>01 Diagnose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6352" y="2926080"/>
            <a:ext cx="2176272" cy="1051560"/>
          </a:xfrm>
          <a:prstGeom prst="rect">
            <a:avLst/>
          </a:prstGeom>
          <a:solidFill>
            <a:srgbClr val="D9B7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53512" y="3127248"/>
            <a:ext cx="1901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3047"/>
                </a:solidFill>
                <a:latin typeface="Avenir Next"/>
              </a:rPr>
              <a:t>02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92624" y="2926080"/>
            <a:ext cx="2176272" cy="1051560"/>
          </a:xfrm>
          <a:prstGeom prst="rect">
            <a:avLst/>
          </a:prstGeom>
          <a:solidFill>
            <a:srgbClr val="C8D6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9784" y="3127248"/>
            <a:ext cx="1901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3047"/>
                </a:solidFill>
                <a:latin typeface="Avenir Next"/>
              </a:rPr>
              <a:t>03 Build &amp; Test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68896" y="2926080"/>
            <a:ext cx="2176272" cy="1051560"/>
          </a:xfrm>
          <a:prstGeom prst="rect">
            <a:avLst/>
          </a:prstGeom>
          <a:solidFill>
            <a:srgbClr val="D7D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06056" y="3127248"/>
            <a:ext cx="1901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43047"/>
                </a:solidFill>
                <a:latin typeface="Avenir Next"/>
              </a:rPr>
              <a:t>04 Controlled Pilot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45167" y="2926080"/>
            <a:ext cx="2176272" cy="1051560"/>
          </a:xfrm>
          <a:prstGeom prst="rect">
            <a:avLst/>
          </a:prstGeom>
          <a:solidFill>
            <a:srgbClr val="243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82328" y="3127248"/>
            <a:ext cx="1901952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Avenir Next"/>
              </a:rPr>
              <a:t>05 Scale &amp; Sustain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747985"/>
                </a:solidFill>
                <a:latin typeface="Avenir Next"/>
              </a:rPr>
              <a:t>Each stage gate is a real checkpoint and nothing proceeds until evidence from the previous stage clears it.</a:t>
            </a:r>
          </a:p>
        </p:txBody>
      </p:sp>
    </p:spTree>
  </p:cSld>
  <p:transition advClick="0" advTm="20000"/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11 —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Timeline: 34 weeks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11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243047"/>
                </a:solidFill>
                <a:latin typeface="Avenir Next"/>
              </a:rPr>
              <a:t>Kick-off: 2 November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743200"/>
            <a:ext cx="1280160" cy="914400"/>
          </a:xfrm>
          <a:prstGeom prst="rect">
            <a:avLst/>
          </a:prstGeom>
          <a:solidFill>
            <a:srgbClr val="A9BF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1" y="2926080"/>
            <a:ext cx="11338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Diagnose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4w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2743200"/>
            <a:ext cx="1600200" cy="914400"/>
          </a:xfrm>
          <a:prstGeom prst="rect">
            <a:avLst/>
          </a:prstGeom>
          <a:solidFill>
            <a:srgbClr val="D9B7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2926080"/>
            <a:ext cx="14538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Design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5w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2743200"/>
            <a:ext cx="1920240" cy="914400"/>
          </a:xfrm>
          <a:prstGeom prst="rect">
            <a:avLst/>
          </a:prstGeom>
          <a:solidFill>
            <a:srgbClr val="C8D6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926080"/>
            <a:ext cx="177393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Build &amp; Test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6w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0680" y="2743200"/>
            <a:ext cx="3200400" cy="914400"/>
          </a:xfrm>
          <a:prstGeom prst="rect">
            <a:avLst/>
          </a:prstGeom>
          <a:solidFill>
            <a:srgbClr val="D7D0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13832" y="2926080"/>
            <a:ext cx="305409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Pilot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243047"/>
                </a:solidFill>
                <a:latin typeface="Avenir Next"/>
              </a:rPr>
              <a:t>10w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41080" y="2743200"/>
            <a:ext cx="2880360" cy="914400"/>
          </a:xfrm>
          <a:prstGeom prst="rect">
            <a:avLst/>
          </a:prstGeom>
          <a:solidFill>
            <a:srgbClr val="24304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14232" y="2926080"/>
            <a:ext cx="2734056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Scale</a:t>
            </a:r>
          </a:p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Avenir Next"/>
              </a:rPr>
              <a:t>9w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1">
                <a:solidFill>
                  <a:srgbClr val="747985"/>
                </a:solidFill>
                <a:latin typeface="Avenir Next"/>
              </a:rPr>
              <a:t>Phased, not big-bang — the appropriate-choice rule hasn't yet been tested against real customer outcomes.</a:t>
            </a:r>
          </a:p>
        </p:txBody>
      </p:sp>
    </p:spTree>
  </p:cSld>
  <p:transition advClick="0" advTm="20000"/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12 —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The team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12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747985"/>
                </a:solidFill>
                <a:latin typeface="Avenir Next"/>
              </a:rPr>
              <a:t>Engagement Manager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60320"/>
            <a:ext cx="7315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Rae Huang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3520440"/>
            <a:ext cx="10835640" cy="0"/>
          </a:xfrm>
          <a:prstGeom prst="line">
            <a:avLst/>
          </a:prstGeom>
          <a:ln w="9525">
            <a:solidFill>
              <a:srgbClr val="DDD9D2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640080" y="388620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43047"/>
                </a:solidFill>
                <a:latin typeface="Avenir Next"/>
              </a:rPr>
              <a:t>Senior Process &amp; Data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91363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747985"/>
                </a:solidFill>
                <a:latin typeface="Avenir Next"/>
              </a:rPr>
              <a:t>proposed, named at contracting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526280"/>
            <a:ext cx="5943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43047"/>
                </a:solidFill>
                <a:latin typeface="Avenir Next"/>
              </a:rPr>
              <a:t>Change &amp; Training Lead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4553712"/>
            <a:ext cx="4480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747985"/>
                </a:solidFill>
                <a:latin typeface="Avenir Next"/>
              </a:rPr>
              <a:t>proposed, named at contracting</a:t>
            </a:r>
          </a:p>
        </p:txBody>
      </p:sp>
    </p:spTree>
  </p:cSld>
  <p:transition advClick="0" advTm="20000"/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13 —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Managing what could go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13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3047"/>
                </a:solidFill>
                <a:latin typeface="Avenir Next"/>
              </a:rPr>
              <a:t>Data quality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788920"/>
            <a:ext cx="182880" cy="182880"/>
          </a:xfrm>
          <a:prstGeom prst="rect">
            <a:avLst/>
          </a:prstGeom>
          <a:solidFill>
            <a:srgbClr val="D9B7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7432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3047"/>
                </a:solidFill>
                <a:latin typeface="Avenir Next"/>
              </a:rPr>
              <a:t>Inherent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73405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47985"/>
                </a:solidFill>
                <a:latin typeface="Avenir Next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39" y="2788920"/>
            <a:ext cx="182880" cy="182880"/>
          </a:xfrm>
          <a:prstGeom prst="rect">
            <a:avLst/>
          </a:prstGeom>
          <a:solidFill>
            <a:srgbClr val="C8D6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27432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3047"/>
                </a:solidFill>
                <a:latin typeface="Avenir Next"/>
              </a:rPr>
              <a:t>Residual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099815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47985"/>
                </a:solidFill>
                <a:latin typeface="Avenir Next"/>
              </a:rPr>
              <a:t>(residual = after mitigation)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65760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747985"/>
                </a:solidFill>
                <a:latin typeface="Avenir Next"/>
              </a:rPr>
              <a:t>Validation gate before any snapshot reaches a customer.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3047"/>
                </a:solidFill>
                <a:latin typeface="Avenir Next"/>
              </a:rPr>
              <a:t>Process ownership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19088" y="2788920"/>
            <a:ext cx="182880" cy="182880"/>
          </a:xfrm>
          <a:prstGeom prst="rect">
            <a:avLst/>
          </a:prstGeom>
          <a:solidFill>
            <a:srgbClr val="D9B7A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27432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3047"/>
                </a:solidFill>
                <a:latin typeface="Avenir Next"/>
              </a:rPr>
              <a:t>Inherent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734056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747985"/>
                </a:solidFill>
                <a:latin typeface="Avenir Next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66760" y="2788920"/>
            <a:ext cx="182880" cy="182880"/>
          </a:xfrm>
          <a:prstGeom prst="rect">
            <a:avLst/>
          </a:prstGeom>
          <a:solidFill>
            <a:srgbClr val="C8D6C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743200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243047"/>
                </a:solidFill>
                <a:latin typeface="Avenir Next"/>
              </a:rPr>
              <a:t>Residual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99815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47985"/>
                </a:solidFill>
                <a:latin typeface="Avenir Next"/>
              </a:rPr>
              <a:t>(residual = after mitigation)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57600"/>
            <a:ext cx="53035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1">
                <a:solidFill>
                  <a:srgbClr val="747985"/>
                </a:solidFill>
                <a:latin typeface="Avenir Next"/>
              </a:rPr>
              <a:t>Named owner required as a hard condition of kick-off.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47985"/>
                </a:solidFill>
                <a:latin typeface="Avenir Next"/>
              </a:rPr>
              <a:t>Seven risks are actively managed across the register — these two are the highest-severity.</a:t>
            </a:r>
          </a:p>
        </p:txBody>
      </p:sp>
    </p:spTree>
  </p:cSld>
  <p:transition advClick="0" advTm="20000"/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14 —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The financial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12064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 i="0">
                <a:solidFill>
                  <a:srgbClr val="243047"/>
                </a:solidFill>
                <a:latin typeface="Avenir Next"/>
              </a:rPr>
              <a:t>$576k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546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747985"/>
                </a:solidFill>
                <a:latin typeface="Avenir Next"/>
              </a:rPr>
              <a:t>illustrative annual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204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747985"/>
                </a:solidFill>
                <a:latin typeface="Avenir Next"/>
              </a:rPr>
              <a:t>$144k avoided Care cost + $432k retained margin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965960"/>
            <a:ext cx="5212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243047"/>
                </a:solidFill>
                <a:latin typeface="Avenir Next"/>
              </a:rPr>
              <a:t>$160k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78892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747985"/>
                </a:solidFill>
                <a:latin typeface="Avenir Next"/>
              </a:rPr>
              <a:t>illustrative professional-services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383280"/>
            <a:ext cx="2377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3047"/>
                </a:solidFill>
                <a:latin typeface="Avenir Next"/>
              </a:rPr>
              <a:t>3.6×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3931920"/>
            <a:ext cx="2377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47985"/>
                </a:solidFill>
                <a:latin typeface="Avenir Next"/>
              </a:rPr>
              <a:t>benefit-cost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3383280"/>
            <a:ext cx="27432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43047"/>
                </a:solidFill>
                <a:latin typeface="Avenir Next"/>
              </a:rPr>
              <a:t>≈4 months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3931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747985"/>
                </a:solidFill>
                <a:latin typeface="Avenir Next"/>
              </a:rPr>
              <a:t>simple payback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58368" y="4663440"/>
            <a:ext cx="10835640" cy="0"/>
          </a:xfrm>
          <a:prstGeom prst="line">
            <a:avLst/>
          </a:prstGeom>
          <a:ln w="9525">
            <a:solidFill>
              <a:srgbClr val="A9BFD1"/>
            </a:solidFill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640080" y="4846320"/>
            <a:ext cx="10881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1">
                <a:solidFill>
                  <a:srgbClr val="747985"/>
                </a:solidFill>
                <a:latin typeface="Avenir Next"/>
              </a:rPr>
              <a:t>Every input is a Stage-1-to-be-confirmed assumption, not observed Spark data — this is not a cash-flow model from kick-off.</a:t>
            </a:r>
          </a:p>
        </p:txBody>
      </p:sp>
    </p:spTree>
  </p:cSld>
  <p:transition advClick="0" advTm="20000"/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A9BFD1"/>
                </a:solidFill>
                <a:latin typeface="Avenir Next"/>
              </a:rPr>
              <a:t>15 —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41248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000" b="1" i="0">
                <a:solidFill>
                  <a:srgbClr val="243047"/>
                </a:solidFill>
                <a:latin typeface="Avenir Next"/>
              </a:rPr>
              <a:t>What we need from Spark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92840" y="649224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747985"/>
                </a:solidFill>
                <a:latin typeface="Avenir Next"/>
              </a:rPr>
              <a:t>15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BFD1"/>
                </a:solidFill>
                <a:latin typeface="Avenir Nex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43047"/>
                </a:solidFill>
                <a:latin typeface="Avenir Next"/>
              </a:rPr>
              <a:t>A named process owner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BFD1"/>
                </a:solidFill>
                <a:latin typeface="Avenir Nex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67004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43047"/>
                </a:solidFill>
                <a:latin typeface="Avenir Next"/>
              </a:rPr>
              <a:t>Access to usage &amp; spend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36976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BFD1"/>
                </a:solidFill>
                <a:latin typeface="Avenir Next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23697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43047"/>
                </a:solidFill>
                <a:latin typeface="Avenir Next"/>
              </a:rPr>
              <a:t>Business SMEs for design workshops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03904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BFD1"/>
                </a:solidFill>
                <a:latin typeface="Avenir Next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03904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43047"/>
                </a:solidFill>
                <a:latin typeface="Avenir Next"/>
              </a:rPr>
              <a:t>A change-and-training resource for Care briefing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370832"/>
            <a:ext cx="502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A9BFD1"/>
                </a:solidFill>
                <a:latin typeface="Avenir Next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370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243047"/>
                </a:solidFill>
                <a:latin typeface="Avenir Next"/>
              </a:rPr>
              <a:t>Two timely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95604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>
                <a:solidFill>
                  <a:srgbClr val="747985"/>
                </a:solidFill>
                <a:latin typeface="Avenir Next"/>
              </a:rPr>
              <a:t>appropriate-choice rule sign-off · pilot go/no-go</a:t>
            </a:r>
          </a:p>
        </p:txBody>
      </p:sp>
    </p:spTree>
  </p:cSld>
  <p:transition advClick="0" advTm="20000"/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6916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243047"/>
                </a:solidFill>
                <a:latin typeface="Avenir Next"/>
              </a:rPr>
              <a:t>The next step is simple.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468880"/>
            <a:ext cx="640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3047"/>
                </a:solidFill>
                <a:latin typeface="Avenir Nex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2468880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3047"/>
                </a:solidFill>
                <a:latin typeface="Avenir Next"/>
              </a:rPr>
              <a:t>Confirm acceptance.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82112"/>
            <a:ext cx="640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3047"/>
                </a:solidFill>
                <a:latin typeface="Avenir Next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3182112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3047"/>
                </a:solidFill>
                <a:latin typeface="Avenir Next"/>
              </a:rPr>
              <a:t>Nominate an owner.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95344"/>
            <a:ext cx="6400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243047"/>
                </a:solidFill>
                <a:latin typeface="Avenir Next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895344"/>
            <a:ext cx="8686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243047"/>
                </a:solidFill>
                <a:latin typeface="Avenir Next"/>
              </a:rPr>
              <a:t>Kick off 2 November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578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 i="1">
                <a:solidFill>
                  <a:srgbClr val="243047"/>
                </a:solidFill>
                <a:latin typeface="Avenir Next"/>
              </a:rPr>
              <a:t>Limited cost, manageable risk, and ongoing regulatory exposure — the case for deciding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243047"/>
                </a:solidFill>
                <a:latin typeface="Avenir Next"/>
              </a:rPr>
              <a:t>16 / 16</a:t>
            </a:r>
          </a:p>
        </p:txBody>
      </p:sp>
    </p:spTree>
  </p:cSld>
  <p:transition advClick="0" advTm="20000"/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