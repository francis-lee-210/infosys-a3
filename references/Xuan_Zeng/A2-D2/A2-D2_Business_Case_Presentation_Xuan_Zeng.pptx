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3.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4.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2A3B"/>
                </a:solidFill>
                <a:latin typeface="Calibri"/>
              </a:defRPr>
            </a:pPr>
            <a:r>
              <a:rPr sz="1400" b="0" i="0" u="none" strike="noStrike">
                <a:solidFill>
                  <a:srgbClr val="0E2A3B"/>
                </a:solidFill>
                <a:latin typeface="Calibri"/>
              </a:rPr>
              <a:t>Estimated annual capability leakage (NZ$m)</a:t>
            </a:r>
          </a:p>
        </c:rich>
      </c:tx>
      <c:layout/>
      <c:overlay val="0"/>
    </c:title>
    <c:autoTitleDeleted val="0"/>
    <c:plotArea>
      <c:layout/>
      <c:barChart>
        <c:barDir val="col"/>
        <c:grouping val="clustered"/>
        <c:varyColors val="0"/>
        <c:ser>
          <c:idx val="0"/>
          <c:order val="0"/>
          <c:tx>
            <c:strRef>
              <c:f>Sheet1!$B$1</c:f>
              <c:strCache>
                <c:ptCount val="1"/>
                <c:pt idx="0">
                  <c:v>Annual leakage (NZ$m)</c:v>
                </c:pt>
              </c:strCache>
            </c:strRef>
          </c:tx>
          <c:spPr>
            <a:solidFill>
              <a:srgbClr val="9CC3C8"/>
            </a:solidFill>
            <a:effectLst/>
          </c:spPr>
          <c:invertIfNegative val="0"/>
          <c:dLbls>
            <c:numFmt formatCode="&quot;NZ$&quot;0.0&quot;m&quot;" sourceLinked="0"/>
            <c:txPr>
              <a:bodyPr/>
              <a:lstStyle/>
              <a:p>
                <a:pPr>
                  <a:defRPr b="1" i="0" strike="noStrike" sz="1600" u="none">
                    <a:solidFill>
                      <a:srgbClr val="0E2A3B"/>
                    </a:solidFill>
                    <a:latin typeface="Arial"/>
                  </a:defRPr>
                </a:pPr>
              </a:p>
            </c:txPr>
            <c:showLegendKey val="0"/>
            <c:showVal val="1"/>
            <c:showCatName val="0"/>
            <c:showSerName val="0"/>
            <c:showPercent val="0"/>
            <c:showBubbleSize val="0"/>
            <c:showLeaderLines val="0"/>
          </c:dLbls>
          <c:dPt>
            <c:idx val="0"/>
            <c:invertIfNegative val="0"/>
            <c:bubble3D val="0"/>
            <c:spPr>
              <a:solidFill>
                <a:srgbClr val="9CC3C8"/>
              </a:solidFill>
              <a:effectLst/>
            </c:spPr>
          </c:dPt>
          <c:dPt>
            <c:idx val="1"/>
            <c:invertIfNegative val="0"/>
            <c:bubble3D val="0"/>
            <c:spPr>
              <a:solidFill>
                <a:srgbClr val="1F6F78"/>
              </a:solidFill>
              <a:effectLst/>
            </c:spPr>
          </c:dPt>
          <c:dPt>
            <c:idx val="2"/>
            <c:invertIfNegative val="0"/>
            <c:bubble3D val="0"/>
            <c:spPr>
              <a:solidFill>
                <a:srgbClr val="B8432F"/>
              </a:solidFill>
              <a:effectLst/>
            </c:spPr>
          </c:dPt>
          <c:cat>
            <c:multiLvlStrRef>
              <c:f>Sheet1!$A$2:$A$4</c:f>
              <c:multiLvlStrCache>
                <c:ptCount val="3"/>
                <c:lvl>
                  <c:pt idx="0">
                    <c:v>Low case</c:v>
                  </c:pt>
                  <c:pt idx="1">
                    <c:v>Base case</c:v>
                  </c:pt>
                  <c:pt idx="2">
                    <c:v>High case</c:v>
                  </c:pt>
                </c:lvl>
              </c:multiLvlStrCache>
            </c:multiLvlStrRef>
          </c:cat>
          <c:val>
            <c:numRef>
              <c:f>Sheet1!$B$2:$B$4</c:f>
              <c:numCache>
                <c:formatCode>General</c:formatCode>
                <c:ptCount val="3"/>
                <c:pt idx="0">
                  <c:v>1.1</c:v>
                </c:pt>
                <c:pt idx="1">
                  <c:v>2.4</c:v>
                </c:pt>
                <c:pt idx="2">
                  <c:v>4</c:v>
                </c:pt>
              </c:numCache>
            </c:numRef>
          </c:val>
        </c:ser>
        <c:dLbls>
          <c:numFmt formatCode="&quot;NZ$&quot;0.0&quot;m&quot;" sourceLinked="0"/>
          <c:txPr>
            <a:bodyPr/>
            <a:lstStyle/>
            <a:p>
              <a:pPr>
                <a:defRPr b="1" i="0" strike="noStrike" sz="1600" u="none">
                  <a:solidFill>
                    <a:srgbClr val="0E2A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E2A3B"/>
                </a:solidFill>
                <a:latin typeface="Arial"/>
              </a:defRPr>
            </a:pPr>
            <a:endParaRPr lang="en-US"/>
          </a:p>
        </c:txPr>
        <c:crossAx val="2094734552"/>
        <c:crosses val="autoZero"/>
        <c:auto val="1"/>
        <c:lblAlgn val="ctr"/>
        <c:noMultiLvlLbl val="1"/>
      </c:catAx>
      <c:valAx>
        <c:axId val="2094734552"/>
        <c:scaling>
          <c:orientation val="minMax"/>
          <c:max val="4.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2A3B"/>
                </a:solidFill>
                <a:latin typeface="Calibri"/>
              </a:defRPr>
            </a:pPr>
            <a:r>
              <a:rPr sz="1400" b="0" i="0" u="none" strike="noStrike">
                <a:solidFill>
                  <a:srgbClr val="0E2A3B"/>
                </a:solidFill>
                <a:latin typeface="Calibri"/>
              </a:rPr>
              <a:t>Verified Handover Completion Rate (VHCR)</a:t>
            </a:r>
          </a:p>
        </c:rich>
      </c:tx>
      <c:layout/>
      <c:overlay val="0"/>
    </c:title>
    <c:autoTitleDeleted val="0"/>
    <c:plotArea>
      <c:layout/>
      <c:barChart>
        <c:barDir val="col"/>
        <c:grouping val="clustered"/>
        <c:varyColors val="0"/>
        <c:ser>
          <c:idx val="0"/>
          <c:order val="0"/>
          <c:tx>
            <c:strRef>
              <c:f>Sheet1!$B$1</c:f>
              <c:strCache>
                <c:ptCount val="1"/>
                <c:pt idx="0">
                  <c:v>VHCR target</c:v>
                </c:pt>
              </c:strCache>
            </c:strRef>
          </c:tx>
          <c:spPr>
            <a:solidFill>
              <a:srgbClr val="B7C4CA"/>
            </a:solidFill>
            <a:effectLst/>
          </c:spPr>
          <c:invertIfNegative val="0"/>
          <c:dLbls>
            <c:numFmt formatCode="0&quot;%&quot;" sourceLinked="0"/>
            <c:txPr>
              <a:bodyPr/>
              <a:lstStyle/>
              <a:p>
                <a:pPr>
                  <a:defRPr b="1" i="0" strike="noStrike" sz="1600" u="none">
                    <a:solidFill>
                      <a:srgbClr val="0E2A3B"/>
                    </a:solidFill>
                    <a:latin typeface="Arial"/>
                  </a:defRPr>
                </a:pPr>
              </a:p>
            </c:txPr>
            <c:showLegendKey val="0"/>
            <c:showVal val="1"/>
            <c:showCatName val="0"/>
            <c:showSerName val="0"/>
            <c:showPercent val="0"/>
            <c:showBubbleSize val="0"/>
            <c:showLeaderLines val="0"/>
          </c:dLbls>
          <c:dPt>
            <c:idx val="0"/>
            <c:invertIfNegative val="0"/>
            <c:bubble3D val="0"/>
            <c:spPr>
              <a:solidFill>
                <a:srgbClr val="B7C4CA"/>
              </a:solidFill>
              <a:effectLst/>
            </c:spPr>
          </c:dPt>
          <c:dPt>
            <c:idx val="1"/>
            <c:invertIfNegative val="0"/>
            <c:bubble3D val="0"/>
            <c:spPr>
              <a:solidFill>
                <a:srgbClr val="9CC3C8"/>
              </a:solidFill>
              <a:effectLst/>
            </c:spPr>
          </c:dPt>
          <c:dPt>
            <c:idx val="2"/>
            <c:invertIfNegative val="0"/>
            <c:bubble3D val="0"/>
            <c:spPr>
              <a:solidFill>
                <a:srgbClr val="4E9AA2"/>
              </a:solidFill>
              <a:effectLst/>
            </c:spPr>
          </c:dPt>
          <c:dPt>
            <c:idx val="3"/>
            <c:invertIfNegative val="0"/>
            <c:bubble3D val="0"/>
            <c:spPr>
              <a:solidFill>
                <a:srgbClr val="1F6F78"/>
              </a:solidFill>
              <a:effectLst/>
            </c:spPr>
          </c:dPt>
          <c:cat>
            <c:multiLvlStrRef>
              <c:f>Sheet1!$A$2:$A$5</c:f>
              <c:multiLvlStrCache>
                <c:ptCount val="4"/>
                <c:lvl>
                  <c:pt idx="0">
                    <c:v>Baseline</c:v>
                  </c:pt>
                  <c:pt idx="1">
                    <c:v>Week 20</c:v>
                  </c:pt>
                  <c:pt idx="2">
                    <c:v>Week 32</c:v>
                  </c:pt>
                  <c:pt idx="3">
                    <c:v>Week 52</c:v>
                  </c:pt>
                </c:lvl>
              </c:multiLvlStrCache>
            </c:multiLvlStrRef>
          </c:cat>
          <c:val>
            <c:numRef>
              <c:f>Sheet1!$B$2:$B$5</c:f>
              <c:numCache>
                <c:formatCode>General</c:formatCode>
                <c:ptCount val="4"/>
                <c:pt idx="0">
                  <c:v>50</c:v>
                </c:pt>
                <c:pt idx="1">
                  <c:v>60</c:v>
                </c:pt>
                <c:pt idx="2">
                  <c:v>75</c:v>
                </c:pt>
                <c:pt idx="3">
                  <c:v>90</c:v>
                </c:pt>
              </c:numCache>
            </c:numRef>
          </c:val>
        </c:ser>
        <c:dLbls>
          <c:numFmt formatCode="0&quot;%&quot;" sourceLinked="0"/>
          <c:txPr>
            <a:bodyPr/>
            <a:lstStyle/>
            <a:p>
              <a:pPr>
                <a:defRPr b="1" i="0" strike="noStrike" sz="1600" u="none">
                  <a:solidFill>
                    <a:srgbClr val="0E2A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E2A3B"/>
                </a:solidFill>
                <a:latin typeface="Arial"/>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2A3B"/>
                </a:solidFill>
                <a:latin typeface="Calibri"/>
              </a:defRPr>
            </a:pPr>
            <a:r>
              <a:rPr sz="1400" b="0" i="0" u="none" strike="noStrike">
                <a:solidFill>
                  <a:srgbClr val="0E2A3B"/>
                </a:solidFill>
                <a:latin typeface="Calibri"/>
              </a:rPr>
              <a:t>Benefit vs cost (NZ$ thousands)</a:t>
            </a:r>
          </a:p>
        </c:rich>
      </c:tx>
      <c:layout/>
      <c:overlay val="0"/>
    </c:title>
    <c:autoTitleDeleted val="0"/>
    <c:plotArea>
      <c:layout/>
      <c:barChart>
        <c:barDir val="col"/>
        <c:grouping val="clustered"/>
        <c:varyColors val="0"/>
        <c:ser>
          <c:idx val="0"/>
          <c:order val="0"/>
          <c:tx>
            <c:strRef>
              <c:f>Sheet1!$B$1</c:f>
              <c:strCache>
                <c:ptCount val="1"/>
                <c:pt idx="0">
                  <c:v>Recovered cost</c:v>
                </c:pt>
              </c:strCache>
            </c:strRef>
          </c:tx>
          <c:spPr>
            <a:solidFill>
              <a:srgbClr val="1F6F78"/>
            </a:solidFill>
            <a:effectLst/>
          </c:spPr>
          <c:invertIfNegative val="0"/>
          <c:dLbls>
            <c:numFmt formatCode="&quot;$&quot;#,##0&quot;k&quot;" sourceLinked="0"/>
            <c:txPr>
              <a:bodyPr/>
              <a:lstStyle/>
              <a:p>
                <a:pPr>
                  <a:defRPr b="0" i="0" strike="noStrike" sz="1200" u="none">
                    <a:solidFill>
                      <a:srgbClr val="0E2A3B"/>
                    </a:solidFill>
                    <a:latin typeface="Arial"/>
                  </a:defRPr>
                </a:pPr>
              </a:p>
            </c:txPr>
            <c:showLegendKey val="0"/>
            <c:showVal val="1"/>
            <c:showCatName val="0"/>
            <c:showSerName val="0"/>
            <c:showPercent val="0"/>
            <c:showBubbleSize val="0"/>
            <c:showLeaderLines val="0"/>
          </c:dLbls>
          <c:cat>
            <c:multiLvlStrRef>
              <c:f>Sheet1!$A$2:$A$4</c:f>
              <c:multiLvlStrCache>
                <c:ptCount val="3"/>
                <c:lvl>
                  <c:pt idx="0">
                    <c:v>Year 1</c:v>
                  </c:pt>
                  <c:pt idx="1">
                    <c:v>Year 2</c:v>
                  </c:pt>
                  <c:pt idx="2">
                    <c:v>Year 3</c:v>
                  </c:pt>
                </c:lvl>
              </c:multiLvlStrCache>
            </c:multiLvlStrRef>
          </c:cat>
          <c:val>
            <c:numRef>
              <c:f>Sheet1!$B$2:$B$4</c:f>
              <c:numCache>
                <c:formatCode>General</c:formatCode>
                <c:ptCount val="3"/>
                <c:pt idx="0">
                  <c:v>700</c:v>
                </c:pt>
                <c:pt idx="1">
                  <c:v>1400</c:v>
                </c:pt>
                <c:pt idx="2">
                  <c:v>1400</c:v>
                </c:pt>
              </c:numCache>
            </c:numRef>
          </c:val>
        </c:ser>
        <c:ser>
          <c:idx val="1"/>
          <c:order val="1"/>
          <c:tx>
            <c:strRef>
              <c:f>Sheet1!$C$1</c:f>
              <c:strCache>
                <c:ptCount val="1"/>
                <c:pt idx="0">
                  <c:v>Fee and assurance</c:v>
                </c:pt>
              </c:strCache>
            </c:strRef>
          </c:tx>
          <c:spPr>
            <a:solidFill>
              <a:srgbClr val="E8A33D"/>
            </a:solidFill>
            <a:effectLst/>
          </c:spPr>
          <c:invertIfNegative val="0"/>
          <c:dLbls>
            <c:numFmt formatCode="&quot;$&quot;#,##0&quot;k&quot;" sourceLinked="0"/>
            <c:txPr>
              <a:bodyPr/>
              <a:lstStyle/>
              <a:p>
                <a:pPr>
                  <a:defRPr b="0" i="0" strike="noStrike" sz="1200" u="none">
                    <a:solidFill>
                      <a:srgbClr val="0E2A3B"/>
                    </a:solidFill>
                    <a:latin typeface="Arial"/>
                  </a:defRPr>
                </a:pPr>
              </a:p>
            </c:txPr>
            <c:showLegendKey val="0"/>
            <c:showVal val="1"/>
            <c:showCatName val="0"/>
            <c:showSerName val="0"/>
            <c:showPercent val="0"/>
            <c:showBubbleSize val="0"/>
            <c:showLeaderLines val="0"/>
          </c:dLbls>
          <c:cat>
            <c:multiLvlStrRef>
              <c:f>Sheet1!$A$2:$A$4</c:f>
              <c:multiLvlStrCache>
                <c:ptCount val="3"/>
                <c:lvl>
                  <c:pt idx="0">
                    <c:v>Year 1</c:v>
                  </c:pt>
                  <c:pt idx="1">
                    <c:v>Year 2</c:v>
                  </c:pt>
                  <c:pt idx="2">
                    <c:v>Year 3</c:v>
                  </c:pt>
                </c:lvl>
              </c:multiLvlStrCache>
            </c:multiLvlStrRef>
          </c:cat>
          <c:val>
            <c:numRef>
              <c:f>Sheet1!$C$2:$C$4</c:f>
              <c:numCache>
                <c:formatCode>General</c:formatCode>
                <c:ptCount val="3"/>
                <c:pt idx="0">
                  <c:v>97.35</c:v>
                </c:pt>
                <c:pt idx="1">
                  <c:v>30</c:v>
                </c:pt>
                <c:pt idx="2">
                  <c:v>30</c:v>
                </c:pt>
              </c:numCache>
            </c:numRef>
          </c:val>
        </c:ser>
        <c:dLbls>
          <c:numFmt formatCode="&quot;$&quot;#,##0&quot;k&quot;" sourceLinked="0"/>
          <c:txPr>
            <a:bodyPr/>
            <a:lstStyle/>
            <a:p>
              <a:pPr>
                <a:defRPr b="0" i="0" strike="noStrike" sz="1200" u="none">
                  <a:solidFill>
                    <a:srgbClr val="0E2A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E2A3B"/>
                </a:solidFill>
                <a:latin typeface="Arial"/>
              </a:defRPr>
            </a:pPr>
            <a:endParaRPr lang="en-US"/>
          </a:p>
        </c:txPr>
        <c:crossAx val="2094734552"/>
        <c:crosses val="autoZero"/>
        <c:auto val="1"/>
        <c:lblAlgn val="ctr"/>
        <c:noMultiLvlLbl val="1"/>
      </c:catAx>
      <c:valAx>
        <c:axId val="2094734552"/>
        <c:scaling>
          <c:orientation val="minMax"/>
          <c:max val="16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E2A3B"/>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2A3B"/>
                </a:solidFill>
                <a:latin typeface="Calibri"/>
              </a:defRPr>
            </a:pPr>
            <a:r>
              <a:rPr sz="1400" b="0" i="0" u="none" strike="noStrike">
                <a:solidFill>
                  <a:srgbClr val="0E2A3B"/>
                </a:solidFill>
                <a:latin typeface="Calibri"/>
              </a:rPr>
              <a:t>Fee by phase (NZD, 59 consulting days)</a:t>
            </a:r>
          </a:p>
        </c:rich>
      </c:tx>
      <c:layout/>
      <c:overlay val="0"/>
    </c:title>
    <c:autoTitleDeleted val="0"/>
    <c:plotArea>
      <c:layout/>
      <c:barChart>
        <c:barDir val="bar"/>
        <c:grouping val="clustered"/>
        <c:varyColors val="0"/>
        <c:ser>
          <c:idx val="0"/>
          <c:order val="0"/>
          <c:tx>
            <c:strRef>
              <c:f>Sheet1!$B$1</c:f>
              <c:strCache>
                <c:ptCount val="1"/>
                <c:pt idx="0">
                  <c:v>Fee</c:v>
                </c:pt>
              </c:strCache>
            </c:strRef>
          </c:tx>
          <c:spPr>
            <a:solidFill>
              <a:srgbClr val="1F6F78"/>
            </a:solidFill>
            <a:effectLst/>
          </c:spPr>
          <c:invertIfNegative val="0"/>
          <c:dLbls>
            <c:numFmt formatCode="&quot;$&quot;#,##0" sourceLinked="0"/>
            <c:txPr>
              <a:bodyPr/>
              <a:lstStyle/>
              <a:p>
                <a:pPr>
                  <a:defRPr b="0" i="0" strike="noStrike" sz="1200" u="none">
                    <a:solidFill>
                      <a:srgbClr val="0E2A3B"/>
                    </a:solidFill>
                    <a:latin typeface="Arial"/>
                  </a:defRPr>
                </a:pPr>
              </a:p>
            </c:txPr>
            <c:showLegendKey val="0"/>
            <c:showVal val="1"/>
            <c:showCatName val="0"/>
            <c:showSerName val="0"/>
            <c:showPercent val="0"/>
            <c:showBubbleSize val="0"/>
            <c:showLeaderLines val="0"/>
          </c:dLbls>
          <c:cat>
            <c:multiLvlStrRef>
              <c:f>Sheet1!$A$2:$A$8</c:f>
              <c:multiLvlStrCache>
                <c:ptCount val="7"/>
                <c:lvl>
                  <c:pt idx="0">
                    <c:v>0 Validate</c:v>
                  </c:pt>
                  <c:pt idx="1">
                    <c:v>Mobilise</c:v>
                  </c:pt>
                  <c:pt idx="2">
                    <c:v>1 Configure</c:v>
                  </c:pt>
                  <c:pt idx="3">
                    <c:v>2 Pilot</c:v>
                  </c:pt>
                  <c:pt idx="4">
                    <c:v>3 Extend</c:v>
                  </c:pt>
                  <c:pt idx="5">
                    <c:v>4 Embed</c:v>
                  </c:pt>
                  <c:pt idx="6">
                    <c:v>Contingency 10%</c:v>
                  </c:pt>
                </c:lvl>
              </c:multiLvlStrCache>
            </c:multiLvlStrRef>
          </c:cat>
          <c:val>
            <c:numRef>
              <c:f>Sheet1!$B$2:$B$8</c:f>
              <c:numCache>
                <c:formatCode>General</c:formatCode>
                <c:ptCount val="7"/>
                <c:pt idx="0">
                  <c:v>22500</c:v>
                </c:pt>
                <c:pt idx="1">
                  <c:v>13500</c:v>
                </c:pt>
                <c:pt idx="2">
                  <c:v>18000</c:v>
                </c:pt>
                <c:pt idx="3">
                  <c:v>15000</c:v>
                </c:pt>
                <c:pt idx="4">
                  <c:v>10500</c:v>
                </c:pt>
                <c:pt idx="5">
                  <c:v>9000</c:v>
                </c:pt>
                <c:pt idx="6">
                  <c:v>8850</c:v>
                </c:pt>
              </c:numCache>
            </c:numRef>
          </c:val>
        </c:ser>
        <c:dLbls>
          <c:numFmt formatCode="&quot;$&quot;#,##0" sourceLinked="0"/>
          <c:txPr>
            <a:bodyPr/>
            <a:lstStyle/>
            <a:p>
              <a:pPr>
                <a:defRPr b="0" i="0" strike="noStrike" sz="1200" u="none">
                  <a:solidFill>
                    <a:srgbClr val="0E2A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E2A3B"/>
                </a:solidFill>
                <a:latin typeface="Arial"/>
              </a:defRPr>
            </a:pPr>
            <a:endParaRPr lang="en-US"/>
          </a:p>
        </c:txPr>
        <c:crossAx val="2094734552"/>
        <c:crosses val="autoZero"/>
        <c:auto val="1"/>
        <c:lblAlgn val="ctr"/>
        <c:noMultiLvlLbl val="1"/>
      </c:catAx>
      <c:valAx>
        <c:axId val="2094734552"/>
        <c:scaling>
          <c:orientation val="minMax"/>
          <c:max val="27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 20 seconds | 40 words]
Good morning. I'm Xuan Zeng. Spark has cut costs, and those savings matter. Today I will show you how to protect them. My idea is simple: when people in key roles leave, we make sure their knowledge stays with Spark.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 | 20 seconds | 46 words]
Here is my request. I suggest a fifty-two-week trial, done in small steps. It starts with a four-week check that costs twenty-two thousand five hundred dollars. The full fee is about ninety-seven thousand dollars. The goal is to save one point four million dollars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 | 20 seconds | 47 words]
Spark is New Zealand's biggest telco. Its SPK 30 plan needs a strong network and happy customers. Spark has cut about thirteen hundred jobs to save fifty million dollars. In July, it also split into two parts. More change is coming, so now is the right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[4/20 | 20 seconds | 45 words]
Here is the problem. When people leave, Spark checks pay, laptops and system access. But no one checks if their knowledge has passed to the next person. There is no standard, no sign-off and no measure. So problems only show up after people have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[5/20 | 20 seconds | 46 words]
This is how it works today. The manager confirms the exit. The employee writes a handover in their own way. HR finishes a checklist, and access is closed. Only then does the new team find what is missing. This leads to rework, delays and costly contractors.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 | 20 seconds | 47 words]
So what does this cost? Less than half of handovers are checked by the person taking over. Other steps are not measured at all. We think this hidden cost is one point one to four million dollars a year. Our middle estimate is two point four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[7/20 | 20 seconds | 42 words]
The plan has four goals. First, make every key handover provable. Second, find key roles within five working days. Third, cut rework and extra contractor costs. And fourth, build a process Spark can reuse later, for job moves and role changes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[8/20 | 20 seconds | 45 words]
We will measure success with clear numbers. Checked handovers will grow to sixty, then seventy-five, then ninety percent by week fifty-two. Every exit will get a risk check. Checks will finish five days before the last day. And repeat problems will drop by a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[9/20 | 20 seconds | 47 words]
Our idea is simple. We believe knowledge is lost because no one has to prove it was passed on. So for each problem, we add one control and one piece of proof. For example, if there is no clear receiver, we name one person to take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[10/20 | 20 seconds | 44 words]
This is the new process. It adds six steps: a risk check, a named receiver, a standard handover pack, a test on real tasks, a clear exception route, and a monthly report. Security is never delayed. Access is still closed on the last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[11/20 | 20 seconds | 42 words]
We will deliver this in five stages: validate, configure, pilot, extend and embed. Each stage ends with a clear decision, so Spark only moves on when the results are good. SAP tools like Signavio, LeanIX and Analytics Cloud can support this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[12/20 | 20 seconds | 47 words]
Here is the timeline. In weeks one to four, we check the data. In weeks five to eight, we set up the process. Then we test it in Connectivity, extend it to Digital Services, and make it part of daily work. There are five key decision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[13/20 | 20 seconds | 45 words]
The team is small, because we are improving a process, not buying new software. I will lead the analysis, the design and the reviews. Spark will name a sponsor, a process owner, a finance lead, a systems analyst, a security adviser and two change leads.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[14/20 | 20 seconds | 45 words]
For change, I suggest a step-by-step approach. Changing everything at once is too risky. Running many parts at the same time would overload staff. So we start with Connectivity and learn first. Staff get training time, weekly support, and a feedback check after forty-five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[15/20 | 20 seconds | 46 words]
Using the Scott and Vessey model, we found nine risks. Only one is red: people may skip the test and use exceptions instead. To stop this, every exception needs a named approver and is reported to the sponsor. Seven risks are amber, and one is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[16/20 | 20 seconds | 42 words]
Now the value. Even if we count only half the savings in year one, three-year savings reach three point five million dollars. The total cost is only one hundred and fifty-seven thousand dollars. So every dollar spent brings back about twenty-two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[17/20 | 20 seconds | 45 words]
The value is not just money. It protects the network and customer service. It cuts rework. And it makes someone clearly responsible for knowledge. On this chart, the handover test, the risk check and the named receiver give the most value, so they come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[18/20 | 20 seconds | 47 words]
To make this work, we need Spark's help. Please name a sponsor and a process owner, give us safe access to data in week one, and give staff time for training. We will meet every month. By week fifty-two, Spark will run the process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[19/20 | 20 seconds | 47 words]
The fee is fixed for each stage. The total is ninety-seven thousand, three hundred and fifty dollars, plus GST, including a ten percent buffer. Spark does not need to buy new systems. Spark pays after each stage is accepted, and any extra work must be approved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[20/20 | 20 seconds | 38 words]
So my request is simple. Please approve the four-week check, for twenty-two thousand five hundred dollars. We can start within one week of approval, and report back in week four. Let's make sure Spark's savings last.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3B"/>
        </a:solidFill>
      </p:bgPr>
    </p:bg>
    <p:spTree>
      <p:nvGrpSpPr>
        <p:cNvPr id="1" name=""/>
        <p:cNvGrpSpPr/>
        <p:nvPr/>
      </p:nvGrpSpPr>
      <p:grpSpPr>
        <a:xfrm>
          <a:off x="0" y="0"/>
          <a:ext cx="0" cy="0"/>
          <a:chOff x="0" y="0"/>
          <a:chExt cx="0" cy="0"/>
        </a:xfrm>
      </p:grpSpPr>
      <p:sp>
        <p:nvSpPr>
          <p:cNvPr id="2" name="Text 0"/>
          <p:cNvSpPr txBox="1"/>
          <p:nvPr/>
        </p:nvSpPr>
        <p:spPr>
          <a:xfrm>
            <a:off x="548640" y="548640"/>
            <a:ext cx="7315200" cy="320040"/>
          </a:xfrm>
          <a:prstGeom prst="rect">
            <a:avLst/>
          </a:prstGeom>
          <a:noFill/>
          <a:ln/>
        </p:spPr>
        <p:txBody>
          <a:bodyPr wrap="square" lIns="0" tIns="0" rIns="0" bIns="0" rtlCol="0" anchor="t"/>
          <a:lstStyle/>
          <a:p>
            <a:pPr indent="0" marL="0">
              <a:buNone/>
            </a:pPr>
            <a:r>
              <a:rPr lang="en-US" sz="1300" b="1" spc="200" kern="0" dirty="0">
                <a:solidFill>
                  <a:srgbClr val="E8A33D"/>
                </a:solidFill>
                <a:latin typeface="Calibri" pitchFamily="34" charset="0"/>
                <a:ea typeface="Calibri" pitchFamily="34" charset="-122"/>
                <a:cs typeface="Calibri" pitchFamily="34" charset="-120"/>
              </a:rPr>
              <a:t>BUSINESS CASE  |  SPARK NEW ZEALAND</a:t>
            </a:r>
            <a:endParaRPr lang="en-US" sz="1300" dirty="0"/>
          </a:p>
        </p:txBody>
      </p:sp>
      <p:sp>
        <p:nvSpPr>
          <p:cNvPr id="3" name="Text 1"/>
          <p:cNvSpPr txBox="1"/>
          <p:nvPr/>
        </p:nvSpPr>
        <p:spPr>
          <a:xfrm>
            <a:off x="548640" y="1188720"/>
            <a:ext cx="6949440" cy="182880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When people leave,</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keep what they know</a:t>
            </a:r>
            <a:endParaRPr lang="en-US" sz="4400" dirty="0"/>
          </a:p>
        </p:txBody>
      </p:sp>
      <p:sp>
        <p:nvSpPr>
          <p:cNvPr id="4" name="Text 2"/>
          <p:cNvSpPr txBox="1"/>
          <p:nvPr/>
        </p:nvSpPr>
        <p:spPr>
          <a:xfrm>
            <a:off x="548640" y="3154680"/>
            <a:ext cx="6766560" cy="822960"/>
          </a:xfrm>
          <a:prstGeom prst="rect">
            <a:avLst/>
          </a:prstGeom>
          <a:noFill/>
          <a:ln/>
        </p:spPr>
        <p:txBody>
          <a:bodyPr wrap="square" lIns="0" tIns="0" rIns="0" bIns="0" rtlCol="0" anchor="t"/>
          <a:lstStyle/>
          <a:p>
            <a:pPr indent="0" marL="0">
              <a:buNone/>
            </a:pPr>
            <a:r>
              <a:rPr lang="en-US" sz="2000" dirty="0">
                <a:solidFill>
                  <a:srgbClr val="CFE0E6"/>
                </a:solidFill>
                <a:latin typeface="Calibri" pitchFamily="34" charset="0"/>
                <a:ea typeface="Calibri" pitchFamily="34" charset="-122"/>
                <a:cs typeface="Calibri" pitchFamily="34" charset="-120"/>
              </a:rPr>
              <a:t>A gated knowledge handover for knowledge-critical role exits</a:t>
            </a:r>
            <a:endParaRPr lang="en-US" sz="2000" dirty="0"/>
          </a:p>
        </p:txBody>
      </p:sp>
      <p:sp>
        <p:nvSpPr>
          <p:cNvPr id="5" name="Text 3"/>
          <p:cNvSpPr txBox="1"/>
          <p:nvPr/>
        </p:nvSpPr>
        <p:spPr>
          <a:xfrm>
            <a:off x="548640" y="5120640"/>
            <a:ext cx="7315200" cy="822960"/>
          </a:xfrm>
          <a:prstGeom prst="rect">
            <a:avLst/>
          </a:prstGeom>
          <a:noFill/>
          <a:ln/>
        </p:spPr>
        <p:txBody>
          <a:bodyPr wrap="square" lIns="0" tIns="0" rIns="0" bIns="0" rtlCol="0" anchor="t"/>
          <a:lstStyle/>
          <a:p>
            <a:pPr indent="0" marL="0">
              <a:buNone/>
            </a:pPr>
            <a:r>
              <a:rPr lang="en-US" sz="1400" dirty="0">
                <a:solidFill>
                  <a:srgbClr val="9FB3BF"/>
                </a:solidFill>
                <a:latin typeface="Calibri" pitchFamily="34" charset="0"/>
                <a:ea typeface="Calibri" pitchFamily="34" charset="-122"/>
                <a:cs typeface="Calibri" pitchFamily="34" charset="-120"/>
              </a:rPr>
              <a:t>Presented to the Chief Executive Officer</a:t>
            </a:r>
            <a:endParaRPr lang="en-US" sz="1400" dirty="0"/>
          </a:p>
          <a:p>
            <a:pPr indent="0" marL="0">
              <a:buNone/>
            </a:pPr>
            <a:r>
              <a:rPr lang="en-US" sz="1400" dirty="0">
                <a:solidFill>
                  <a:srgbClr val="9FB3BF"/>
                </a:solidFill>
                <a:latin typeface="Calibri" pitchFamily="34" charset="0"/>
                <a:ea typeface="Calibri" pitchFamily="34" charset="-122"/>
                <a:cs typeface="Calibri" pitchFamily="34" charset="-120"/>
              </a:rPr>
              <a:t>Xuan Zeng  |  INFOSYS 704  |  A2-D2  |  September 2026</a:t>
            </a:r>
            <a:endParaRPr lang="en-US" sz="1400" dirty="0"/>
          </a:p>
        </p:txBody>
      </p:sp>
      <p:sp>
        <p:nvSpPr>
          <p:cNvPr id="6" name="Shape 4"/>
          <p:cNvSpPr/>
          <p:nvPr/>
        </p:nvSpPr>
        <p:spPr>
          <a:xfrm>
            <a:off x="7955280" y="1371600"/>
            <a:ext cx="1188720" cy="1188720"/>
          </a:xfrm>
          <a:prstGeom prst="ellipse">
            <a:avLst/>
          </a:prstGeom>
          <a:solidFill>
            <a:srgbClr val="2E5566"/>
          </a:solidFill>
          <a:ln w="12700">
            <a:solidFill>
              <a:srgbClr val="2E5566"/>
            </a:solidFill>
            <a:prstDash val="solid"/>
          </a:ln>
        </p:spPr>
      </p:sp>
      <p:pic>
        <p:nvPicPr>
          <p:cNvPr id="7" name="Image 0" descr="preencoded.png">    </p:cNvPr>
          <p:cNvPicPr>
            <a:picLocks noChangeAspect="1"/>
          </p:cNvPicPr>
          <p:nvPr/>
        </p:nvPicPr>
        <p:blipFill>
          <a:blip r:embed="rId1"/>
          <a:stretch>
            <a:fillRect/>
          </a:stretch>
        </p:blipFill>
        <p:spPr>
          <a:xfrm>
            <a:off x="8288122" y="1704442"/>
            <a:ext cx="523037" cy="523037"/>
          </a:xfrm>
          <a:prstGeom prst="rect">
            <a:avLst/>
          </a:prstGeom>
        </p:spPr>
      </p:pic>
      <p:sp>
        <p:nvSpPr>
          <p:cNvPr id="8" name="Shape 5"/>
          <p:cNvSpPr/>
          <p:nvPr/>
        </p:nvSpPr>
        <p:spPr>
          <a:xfrm>
            <a:off x="10424160" y="1371600"/>
            <a:ext cx="1188720" cy="1188720"/>
          </a:xfrm>
          <a:prstGeom prst="ellipse">
            <a:avLst/>
          </a:prstGeom>
          <a:solidFill>
            <a:srgbClr val="1F6F78"/>
          </a:solidFill>
          <a:ln w="12700">
            <a:solidFill>
              <a:srgbClr val="1F6F78"/>
            </a:solidFill>
            <a:prstDash val="solid"/>
          </a:ln>
        </p:spPr>
      </p:sp>
      <p:pic>
        <p:nvPicPr>
          <p:cNvPr id="9" name="Image 1" descr="preencoded.png">    </p:cNvPr>
          <p:cNvPicPr>
            <a:picLocks noChangeAspect="1"/>
          </p:cNvPicPr>
          <p:nvPr/>
        </p:nvPicPr>
        <p:blipFill>
          <a:blip r:embed="rId2"/>
          <a:stretch>
            <a:fillRect/>
          </a:stretch>
        </p:blipFill>
        <p:spPr>
          <a:xfrm>
            <a:off x="10757002" y="1704442"/>
            <a:ext cx="523037" cy="523037"/>
          </a:xfrm>
          <a:prstGeom prst="rect">
            <a:avLst/>
          </a:prstGeom>
        </p:spPr>
      </p:pic>
      <p:sp>
        <p:nvSpPr>
          <p:cNvPr id="10" name="Shape 6"/>
          <p:cNvSpPr/>
          <p:nvPr/>
        </p:nvSpPr>
        <p:spPr>
          <a:xfrm>
            <a:off x="9189720" y="1965960"/>
            <a:ext cx="1188720" cy="0"/>
          </a:xfrm>
          <a:prstGeom prst="line">
            <a:avLst/>
          </a:prstGeom>
          <a:noFill/>
          <a:ln w="38100">
            <a:solidFill>
              <a:srgbClr val="E8A33D"/>
            </a:solidFill>
            <a:prstDash val="solid"/>
            <a:tailEnd type="triangle"/>
          </a:ln>
        </p:spPr>
      </p:sp>
      <p:sp>
        <p:nvSpPr>
          <p:cNvPr id="11" name="Shape 7"/>
          <p:cNvSpPr/>
          <p:nvPr/>
        </p:nvSpPr>
        <p:spPr>
          <a:xfrm>
            <a:off x="9482328" y="2395728"/>
            <a:ext cx="594360" cy="594360"/>
          </a:xfrm>
          <a:prstGeom prst="ellipse">
            <a:avLst/>
          </a:prstGeom>
          <a:solidFill>
            <a:srgbClr val="E8A33D"/>
          </a:solidFill>
          <a:ln w="12700">
            <a:solidFill>
              <a:srgbClr val="E8A33D"/>
            </a:solidFill>
            <a:prstDash val="solid"/>
          </a:ln>
        </p:spPr>
      </p:sp>
      <p:pic>
        <p:nvPicPr>
          <p:cNvPr id="12" name="Image 2" descr="preencoded.png">    </p:cNvPr>
          <p:cNvPicPr>
            <a:picLocks noChangeAspect="1"/>
          </p:cNvPicPr>
          <p:nvPr/>
        </p:nvPicPr>
        <p:blipFill>
          <a:blip r:embed="rId3"/>
          <a:stretch>
            <a:fillRect/>
          </a:stretch>
        </p:blipFill>
        <p:spPr>
          <a:xfrm>
            <a:off x="9648749" y="2562149"/>
            <a:ext cx="261518" cy="261518"/>
          </a:xfrm>
          <a:prstGeom prst="rect">
            <a:avLst/>
          </a:prstGeom>
        </p:spPr>
      </p:pic>
      <p:sp>
        <p:nvSpPr>
          <p:cNvPr id="13" name="Text 8"/>
          <p:cNvSpPr txBox="1"/>
          <p:nvPr/>
        </p:nvSpPr>
        <p:spPr>
          <a:xfrm>
            <a:off x="7726680" y="2697480"/>
            <a:ext cx="1645920" cy="640080"/>
          </a:xfrm>
          <a:prstGeom prst="rect">
            <a:avLst/>
          </a:prstGeom>
          <a:noFill/>
          <a:ln/>
        </p:spPr>
        <p:txBody>
          <a:bodyPr wrap="square" lIns="0" tIns="0" rIns="0" bIns="0" rtlCol="0" anchor="t"/>
          <a:lstStyle/>
          <a:p>
            <a:pPr algn="ctr" indent="0" marL="0">
              <a:buNone/>
            </a:pPr>
            <a:r>
              <a:rPr lang="en-US" sz="1200" dirty="0">
                <a:solidFill>
                  <a:srgbClr val="CFE0E6"/>
                </a:solidFill>
                <a:latin typeface="Calibri" pitchFamily="34" charset="0"/>
                <a:ea typeface="Calibri" pitchFamily="34" charset="-122"/>
                <a:cs typeface="Calibri" pitchFamily="34" charset="-120"/>
              </a:rPr>
              <a:t>Departing</a:t>
            </a:r>
            <a:endParaRPr lang="en-US" sz="1200" dirty="0"/>
          </a:p>
          <a:p>
            <a:pPr algn="ctr" indent="0" marL="0">
              <a:buNone/>
            </a:pPr>
            <a:r>
              <a:rPr lang="en-US" sz="1200" dirty="0">
                <a:solidFill>
                  <a:srgbClr val="CFE0E6"/>
                </a:solidFill>
                <a:latin typeface="Calibri" pitchFamily="34" charset="0"/>
                <a:ea typeface="Calibri" pitchFamily="34" charset="-122"/>
                <a:cs typeface="Calibri" pitchFamily="34" charset="-120"/>
              </a:rPr>
              <a:t>employee</a:t>
            </a:r>
            <a:endParaRPr lang="en-US" sz="1200" dirty="0"/>
          </a:p>
        </p:txBody>
      </p:sp>
      <p:sp>
        <p:nvSpPr>
          <p:cNvPr id="14" name="Text 9"/>
          <p:cNvSpPr txBox="1"/>
          <p:nvPr/>
        </p:nvSpPr>
        <p:spPr>
          <a:xfrm>
            <a:off x="10195560" y="2697480"/>
            <a:ext cx="1645920" cy="640080"/>
          </a:xfrm>
          <a:prstGeom prst="rect">
            <a:avLst/>
          </a:prstGeom>
          <a:noFill/>
          <a:ln/>
        </p:spPr>
        <p:txBody>
          <a:bodyPr wrap="square" lIns="0" tIns="0" rIns="0" bIns="0" rtlCol="0" anchor="t"/>
          <a:lstStyle/>
          <a:p>
            <a:pPr algn="ctr" indent="0" marL="0">
              <a:buNone/>
            </a:pPr>
            <a:r>
              <a:rPr lang="en-US" sz="1200" dirty="0">
                <a:solidFill>
                  <a:srgbClr val="CFE0E6"/>
                </a:solidFill>
                <a:latin typeface="Calibri" pitchFamily="34" charset="0"/>
                <a:ea typeface="Calibri" pitchFamily="34" charset="-122"/>
                <a:cs typeface="Calibri" pitchFamily="34" charset="-120"/>
              </a:rPr>
              <a:t>Receiving</a:t>
            </a:r>
            <a:endParaRPr lang="en-US" sz="1200" dirty="0"/>
          </a:p>
          <a:p>
            <a:pPr algn="ctr" indent="0" marL="0">
              <a:buNone/>
            </a:pPr>
            <a:r>
              <a:rPr lang="en-US" sz="1200" dirty="0">
                <a:solidFill>
                  <a:srgbClr val="CFE0E6"/>
                </a:solidFill>
                <a:latin typeface="Calibri" pitchFamily="34" charset="0"/>
                <a:ea typeface="Calibri" pitchFamily="34" charset="-122"/>
                <a:cs typeface="Calibri" pitchFamily="34" charset="-120"/>
              </a:rPr>
              <a:t>owner</a:t>
            </a:r>
            <a:endParaRPr lang="en-US" sz="1200" dirty="0"/>
          </a:p>
        </p:txBody>
      </p:sp>
      <p:sp>
        <p:nvSpPr>
          <p:cNvPr id="15" name="Text 10"/>
          <p:cNvSpPr txBox="1"/>
          <p:nvPr/>
        </p:nvSpPr>
        <p:spPr>
          <a:xfrm>
            <a:off x="9052560" y="3063240"/>
            <a:ext cx="1463040" cy="320040"/>
          </a:xfrm>
          <a:prstGeom prst="rect">
            <a:avLst/>
          </a:prstGeom>
          <a:noFill/>
          <a:ln/>
        </p:spPr>
        <p:txBody>
          <a:bodyPr wrap="square" lIns="0" tIns="0" rIns="0" bIns="0" rtlCol="0" anchor="t"/>
          <a:lstStyle/>
          <a:p>
            <a:pPr algn="ctr" indent="0" marL="0">
              <a:buNone/>
            </a:pPr>
            <a:r>
              <a:rPr lang="en-US" sz="1100" i="1" dirty="0">
                <a:solidFill>
                  <a:srgbClr val="E8A33D"/>
                </a:solidFill>
                <a:latin typeface="Calibri" pitchFamily="34" charset="0"/>
                <a:ea typeface="Calibri" pitchFamily="34" charset="-122"/>
                <a:cs typeface="Calibri" pitchFamily="34" charset="-120"/>
              </a:rPr>
              <a:t>verified gate</a:t>
            </a:r>
            <a:endParaRPr lang="en-US" sz="1100" dirty="0"/>
          </a:p>
        </p:txBody>
      </p:sp>
    </p:spTree>
  </p:cSld>
  <p:clrMapOvr>
    <a:masterClrMapping/>
  </p:clrMapOvr>
  <p:transition spd="med" advTm="20000">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EXECUTIVE SUMMARY</a:t>
            </a:r>
            <a:endParaRPr lang="en-US" sz="1200" dirty="0"/>
          </a:p>
        </p:txBody>
      </p:sp>
      <p:sp>
        <p:nvSpPr>
          <p:cNvPr id="3" name="Text 1"/>
          <p:cNvSpPr txBox="1"/>
          <p:nvPr/>
        </p:nvSpPr>
        <p:spPr>
          <a:xfrm>
            <a:off x="10241280" y="320040"/>
            <a:ext cx="1371600" cy="274320"/>
          </a:xfrm>
          <a:prstGeom prst="rect">
            <a:avLst/>
          </a:prstGeom>
          <a:noFill/>
          <a:ln/>
        </p:spPr>
        <p:txBody>
          <a:bodyPr wrap="square" lIns="0" tIns="0" rIns="0" bIns="0" rtlCol="0" anchor="ctr"/>
          <a:lstStyle/>
          <a:p>
            <a:pPr algn="r" indent="0" marL="0">
              <a:buNone/>
            </a:pPr>
            <a:r>
              <a:rPr lang="en-US" sz="1100" dirty="0">
                <a:solidFill>
                  <a:srgbClr val="5B6B75"/>
                </a:solidFill>
                <a:latin typeface="Calibri" pitchFamily="34" charset="0"/>
                <a:ea typeface="Calibri" pitchFamily="34" charset="-122"/>
                <a:cs typeface="Calibri" pitchFamily="34" charset="-120"/>
              </a:rPr>
              <a:t>02 / 20</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0E2A3B"/>
                </a:solidFill>
                <a:latin typeface="Cambria" pitchFamily="34" charset="0"/>
                <a:ea typeface="Cambria" pitchFamily="34" charset="-122"/>
                <a:cs typeface="Cambria" pitchFamily="34" charset="-120"/>
              </a:rPr>
              <a:t>The decision: approve a four-week validation phase</a:t>
            </a:r>
            <a:endParaRPr lang="en-US" sz="3000" dirty="0"/>
          </a:p>
        </p:txBody>
      </p:sp>
      <p:sp>
        <p:nvSpPr>
          <p:cNvPr id="5" name="Shape 3"/>
          <p:cNvSpPr/>
          <p:nvPr/>
        </p:nvSpPr>
        <p:spPr>
          <a:xfrm>
            <a:off x="548640" y="1600200"/>
            <a:ext cx="3474720" cy="2514600"/>
          </a:xfrm>
          <a:prstGeom prst="roundRect">
            <a:avLst>
              <a:gd name="adj" fmla="val 2909"/>
            </a:avLst>
          </a:prstGeom>
          <a:solidFill>
            <a:srgbClr val="FCF1DE"/>
          </a:solidFill>
          <a:ln w="9525">
            <a:solidFill>
              <a:srgbClr val="FCF1DE"/>
            </a:solidFill>
            <a:prstDash val="solid"/>
          </a:ln>
        </p:spPr>
      </p:sp>
      <p:sp>
        <p:nvSpPr>
          <p:cNvPr id="6" name="Text 4"/>
          <p:cNvSpPr txBox="1"/>
          <p:nvPr/>
        </p:nvSpPr>
        <p:spPr>
          <a:xfrm>
            <a:off x="822960" y="1828800"/>
            <a:ext cx="3017520" cy="914400"/>
          </a:xfrm>
          <a:prstGeom prst="rect">
            <a:avLst/>
          </a:prstGeom>
          <a:noFill/>
          <a:ln/>
        </p:spPr>
        <p:txBody>
          <a:bodyPr wrap="square" lIns="0" tIns="0" rIns="0" bIns="0" rtlCol="0" anchor="t"/>
          <a:lstStyle/>
          <a:p>
            <a:pPr indent="0" marL="0">
              <a:buNone/>
            </a:pPr>
            <a:r>
              <a:rPr lang="en-US" sz="4400" b="1" dirty="0">
                <a:solidFill>
                  <a:srgbClr val="E8A33D"/>
                </a:solidFill>
                <a:latin typeface="Cambria" pitchFamily="34" charset="0"/>
                <a:ea typeface="Cambria" pitchFamily="34" charset="-122"/>
                <a:cs typeface="Cambria" pitchFamily="34" charset="-120"/>
              </a:rPr>
              <a:t>NZ$22,500</a:t>
            </a:r>
            <a:endParaRPr lang="en-US" sz="4400" dirty="0"/>
          </a:p>
        </p:txBody>
      </p:sp>
      <p:sp>
        <p:nvSpPr>
          <p:cNvPr id="7" name="Text 5"/>
          <p:cNvSpPr txBox="1"/>
          <p:nvPr/>
        </p:nvSpPr>
        <p:spPr>
          <a:xfrm>
            <a:off x="822960" y="2834640"/>
            <a:ext cx="3017520" cy="914400"/>
          </a:xfrm>
          <a:prstGeom prst="rect">
            <a:avLst/>
          </a:prstGeom>
          <a:noFill/>
          <a:ln/>
        </p:spPr>
        <p:txBody>
          <a:bodyPr wrap="square" lIns="0" tIns="0" rIns="0" bIns="0" rtlCol="0" anchor="t"/>
          <a:lstStyle/>
          <a:p>
            <a:pPr indent="0" marL="0">
              <a:buNone/>
            </a:pPr>
            <a:r>
              <a:rPr lang="en-US" sz="1500" dirty="0">
                <a:solidFill>
                  <a:srgbClr val="0E2A3B"/>
                </a:solidFill>
                <a:latin typeface="Calibri" pitchFamily="34" charset="0"/>
                <a:ea typeface="Calibri" pitchFamily="34" charset="-122"/>
                <a:cs typeface="Calibri" pitchFamily="34" charset="-120"/>
              </a:rPr>
              <a:t>Phase 0 validation</a:t>
            </a:r>
            <a:endParaRPr lang="en-US" sz="1500" dirty="0"/>
          </a:p>
          <a:p>
            <a:pPr indent="0" marL="0">
              <a:buNone/>
            </a:pPr>
            <a:r>
              <a:rPr lang="en-US" sz="1500" dirty="0">
                <a:solidFill>
                  <a:srgbClr val="0E2A3B"/>
                </a:solidFill>
                <a:latin typeface="Calibri" pitchFamily="34" charset="0"/>
                <a:ea typeface="Calibri" pitchFamily="34" charset="-122"/>
                <a:cs typeface="Calibri" pitchFamily="34" charset="-120"/>
              </a:rPr>
              <a:t>4 weeks, low-risk first step</a:t>
            </a:r>
            <a:endParaRPr lang="en-US" sz="1500" dirty="0"/>
          </a:p>
        </p:txBody>
      </p:sp>
      <p:sp>
        <p:nvSpPr>
          <p:cNvPr id="8" name="Shape 6"/>
          <p:cNvSpPr/>
          <p:nvPr/>
        </p:nvSpPr>
        <p:spPr>
          <a:xfrm>
            <a:off x="4297680" y="1600200"/>
            <a:ext cx="3474720" cy="2514600"/>
          </a:xfrm>
          <a:prstGeom prst="roundRect">
            <a:avLst>
              <a:gd name="adj" fmla="val 2909"/>
            </a:avLst>
          </a:prstGeom>
          <a:solidFill>
            <a:srgbClr val="E6F1F2"/>
          </a:solidFill>
          <a:ln w="9525">
            <a:solidFill>
              <a:srgbClr val="E6F1F2"/>
            </a:solidFill>
            <a:prstDash val="solid"/>
          </a:ln>
        </p:spPr>
      </p:sp>
      <p:sp>
        <p:nvSpPr>
          <p:cNvPr id="9" name="Text 7"/>
          <p:cNvSpPr txBox="1"/>
          <p:nvPr/>
        </p:nvSpPr>
        <p:spPr>
          <a:xfrm>
            <a:off x="4572000" y="1828800"/>
            <a:ext cx="3017520" cy="914400"/>
          </a:xfrm>
          <a:prstGeom prst="rect">
            <a:avLst/>
          </a:prstGeom>
          <a:noFill/>
          <a:ln/>
        </p:spPr>
        <p:txBody>
          <a:bodyPr wrap="square" lIns="0" tIns="0" rIns="0" bIns="0" rtlCol="0" anchor="t"/>
          <a:lstStyle/>
          <a:p>
            <a:pPr indent="0" marL="0">
              <a:buNone/>
            </a:pPr>
            <a:r>
              <a:rPr lang="en-US" sz="4400" b="1" dirty="0">
                <a:solidFill>
                  <a:srgbClr val="1F6F78"/>
                </a:solidFill>
                <a:latin typeface="Cambria" pitchFamily="34" charset="0"/>
                <a:ea typeface="Cambria" pitchFamily="34" charset="-122"/>
                <a:cs typeface="Cambria" pitchFamily="34" charset="-120"/>
              </a:rPr>
              <a:t>52 weeks</a:t>
            </a:r>
            <a:endParaRPr lang="en-US" sz="4400" dirty="0"/>
          </a:p>
        </p:txBody>
      </p:sp>
      <p:sp>
        <p:nvSpPr>
          <p:cNvPr id="10" name="Text 8"/>
          <p:cNvSpPr txBox="1"/>
          <p:nvPr/>
        </p:nvSpPr>
        <p:spPr>
          <a:xfrm>
            <a:off x="4572000" y="2834640"/>
            <a:ext cx="3017520" cy="914400"/>
          </a:xfrm>
          <a:prstGeom prst="rect">
            <a:avLst/>
          </a:prstGeom>
          <a:noFill/>
          <a:ln/>
        </p:spPr>
        <p:txBody>
          <a:bodyPr wrap="square" lIns="0" tIns="0" rIns="0" bIns="0" rtlCol="0" anchor="t"/>
          <a:lstStyle/>
          <a:p>
            <a:pPr indent="0" marL="0">
              <a:buNone/>
            </a:pPr>
            <a:r>
              <a:rPr lang="en-US" sz="1500" dirty="0">
                <a:solidFill>
                  <a:srgbClr val="0E2A3B"/>
                </a:solidFill>
                <a:latin typeface="Calibri" pitchFamily="34" charset="0"/>
                <a:ea typeface="Calibri" pitchFamily="34" charset="-122"/>
                <a:cs typeface="Calibri" pitchFamily="34" charset="-120"/>
              </a:rPr>
              <a:t>Phased trial</a:t>
            </a:r>
            <a:endParaRPr lang="en-US" sz="1500" dirty="0"/>
          </a:p>
          <a:p>
            <a:pPr indent="0" marL="0">
              <a:buNone/>
            </a:pPr>
            <a:r>
              <a:rPr lang="en-US" sz="1500" dirty="0">
                <a:solidFill>
                  <a:srgbClr val="0E2A3B"/>
                </a:solidFill>
                <a:latin typeface="Calibri" pitchFamily="34" charset="0"/>
                <a:ea typeface="Calibri" pitchFamily="34" charset="-122"/>
                <a:cs typeface="Calibri" pitchFamily="34" charset="-120"/>
              </a:rPr>
              <a:t>validate, pilot, extend, embed</a:t>
            </a:r>
            <a:endParaRPr lang="en-US" sz="1500" dirty="0"/>
          </a:p>
        </p:txBody>
      </p:sp>
      <p:sp>
        <p:nvSpPr>
          <p:cNvPr id="11" name="Shape 9"/>
          <p:cNvSpPr/>
          <p:nvPr/>
        </p:nvSpPr>
        <p:spPr>
          <a:xfrm>
            <a:off x="8046720" y="1600200"/>
            <a:ext cx="3474720" cy="2514600"/>
          </a:xfrm>
          <a:prstGeom prst="roundRect">
            <a:avLst>
              <a:gd name="adj" fmla="val 2909"/>
            </a:avLst>
          </a:prstGeom>
          <a:solidFill>
            <a:srgbClr val="E2F0E6"/>
          </a:solidFill>
          <a:ln w="9525">
            <a:solidFill>
              <a:srgbClr val="E2F0E6"/>
            </a:solidFill>
            <a:prstDash val="solid"/>
          </a:ln>
        </p:spPr>
      </p:sp>
      <p:sp>
        <p:nvSpPr>
          <p:cNvPr id="12" name="Text 10"/>
          <p:cNvSpPr txBox="1"/>
          <p:nvPr/>
        </p:nvSpPr>
        <p:spPr>
          <a:xfrm>
            <a:off x="8321040" y="1828800"/>
            <a:ext cx="3017520" cy="914400"/>
          </a:xfrm>
          <a:prstGeom prst="rect">
            <a:avLst/>
          </a:prstGeom>
          <a:noFill/>
          <a:ln/>
        </p:spPr>
        <p:txBody>
          <a:bodyPr wrap="square" lIns="0" tIns="0" rIns="0" bIns="0" rtlCol="0" anchor="t"/>
          <a:lstStyle/>
          <a:p>
            <a:pPr indent="0" marL="0">
              <a:buNone/>
            </a:pPr>
            <a:r>
              <a:rPr lang="en-US" sz="4400" b="1" dirty="0">
                <a:solidFill>
                  <a:srgbClr val="3C8D5A"/>
                </a:solidFill>
                <a:latin typeface="Cambria" pitchFamily="34" charset="0"/>
                <a:ea typeface="Cambria" pitchFamily="34" charset="-122"/>
                <a:cs typeface="Cambria" pitchFamily="34" charset="-120"/>
              </a:rPr>
              <a:t>NZ$1.4m</a:t>
            </a:r>
            <a:endParaRPr lang="en-US" sz="4400" dirty="0"/>
          </a:p>
        </p:txBody>
      </p:sp>
      <p:sp>
        <p:nvSpPr>
          <p:cNvPr id="13" name="Text 11"/>
          <p:cNvSpPr txBox="1"/>
          <p:nvPr/>
        </p:nvSpPr>
        <p:spPr>
          <a:xfrm>
            <a:off x="8321040" y="2834640"/>
            <a:ext cx="3017520" cy="914400"/>
          </a:xfrm>
          <a:prstGeom prst="rect">
            <a:avLst/>
          </a:prstGeom>
          <a:noFill/>
          <a:ln/>
        </p:spPr>
        <p:txBody>
          <a:bodyPr wrap="square" lIns="0" tIns="0" rIns="0" bIns="0" rtlCol="0" anchor="t"/>
          <a:lstStyle/>
          <a:p>
            <a:pPr indent="0" marL="0">
              <a:buNone/>
            </a:pPr>
            <a:r>
              <a:rPr lang="en-US" sz="1500" dirty="0">
                <a:solidFill>
                  <a:srgbClr val="0E2A3B"/>
                </a:solidFill>
                <a:latin typeface="Calibri" pitchFamily="34" charset="0"/>
                <a:ea typeface="Calibri" pitchFamily="34" charset="-122"/>
                <a:cs typeface="Calibri" pitchFamily="34" charset="-120"/>
              </a:rPr>
              <a:t>Target annual recovery</a:t>
            </a:r>
            <a:endParaRPr lang="en-US" sz="1500" dirty="0"/>
          </a:p>
          <a:p>
            <a:pPr indent="0" marL="0">
              <a:buNone/>
            </a:pPr>
            <a:r>
              <a:rPr lang="en-US" sz="1500" dirty="0">
                <a:solidFill>
                  <a:srgbClr val="0E2A3B"/>
                </a:solidFill>
                <a:latin typeface="Calibri" pitchFamily="34" charset="0"/>
                <a:ea typeface="Calibri" pitchFamily="34" charset="-122"/>
                <a:cs typeface="Calibri" pitchFamily="34" charset="-120"/>
              </a:rPr>
              <a:t>from rework and contractors</a:t>
            </a:r>
            <a:endParaRPr lang="en-US" sz="1500" dirty="0"/>
          </a:p>
        </p:txBody>
      </p:sp>
      <p:sp>
        <p:nvSpPr>
          <p:cNvPr id="14" name="Text 12"/>
          <p:cNvSpPr txBox="1"/>
          <p:nvPr/>
        </p:nvSpPr>
        <p:spPr>
          <a:xfrm>
            <a:off x="548640" y="4572000"/>
            <a:ext cx="8046720" cy="1280160"/>
          </a:xfrm>
          <a:prstGeom prst="rect">
            <a:avLst/>
          </a:prstGeom>
          <a:noFill/>
          <a:ln/>
        </p:spPr>
        <p:txBody>
          <a:bodyPr wrap="square" lIns="0" tIns="0" rIns="0" bIns="0" rtlCol="0" anchor="t"/>
          <a:lstStyle/>
          <a:p>
            <a:pPr indent="0" marL="0">
              <a:spcAft>
                <a:spcPts val="600"/>
              </a:spcAft>
              <a:buNone/>
            </a:pPr>
            <a:r>
              <a:rPr lang="en-US" sz="1800" b="1" dirty="0">
                <a:solidFill>
                  <a:srgbClr val="0E2A3B"/>
                </a:solidFill>
                <a:latin typeface="Calibri" pitchFamily="34" charset="0"/>
                <a:ea typeface="Calibri" pitchFamily="34" charset="-122"/>
                <a:cs typeface="Calibri" pitchFamily="34" charset="-120"/>
              </a:rPr>
              <a:t>Full fee NZ$97,350</a:t>
            </a:r>
            <a:endParaRPr lang="en-US" sz="1800" dirty="0"/>
          </a:p>
          <a:p>
            <a:pPr indent="0" marL="0">
              <a:spcAft>
                <a:spcPts val="600"/>
              </a:spcAft>
              <a:buNone/>
            </a:pPr>
            <a:r>
              <a:rPr lang="en-US" sz="1800" dirty="0">
                <a:solidFill>
                  <a:srgbClr val="0E2A3B"/>
                </a:solidFill>
                <a:latin typeface="Calibri" pitchFamily="34" charset="0"/>
                <a:ea typeface="Calibri" pitchFamily="34" charset="-122"/>
                <a:cs typeface="Calibri" pitchFamily="34" charset="-120"/>
              </a:rPr>
              <a:t>Three-year net benefit NZ$3.34m  |  Benefit-cost ratio 22.2</a:t>
            </a:r>
            <a:endParaRPr lang="en-US" sz="1800" dirty="0"/>
          </a:p>
          <a:p>
            <a:pPr indent="0" marL="0">
              <a:spcAft>
                <a:spcPts val="600"/>
              </a:spcAft>
              <a:buNone/>
            </a:pPr>
            <a:r>
              <a:rPr lang="en-US" sz="1800" b="1" dirty="0">
                <a:solidFill>
                  <a:srgbClr val="1F6F78"/>
                </a:solidFill>
                <a:latin typeface="Calibri" pitchFamily="34" charset="0"/>
                <a:ea typeface="Calibri" pitchFamily="34" charset="-122"/>
                <a:cs typeface="Calibri" pitchFamily="34" charset="-120"/>
              </a:rPr>
              <a:t>Proposed kick-off: within one week of approval</a:t>
            </a:r>
            <a:endParaRPr lang="en-US" sz="1800" dirty="0"/>
          </a:p>
        </p:txBody>
      </p:sp>
      <p:sp>
        <p:nvSpPr>
          <p:cNvPr id="15" name="Text 13"/>
          <p:cNvSpPr txBox="1"/>
          <p:nvPr/>
        </p:nvSpPr>
        <p:spPr>
          <a:xfrm>
            <a:off x="548640" y="6400800"/>
            <a:ext cx="8046720" cy="274320"/>
          </a:xfrm>
          <a:prstGeom prst="rect">
            <a:avLst/>
          </a:prstGeom>
          <a:noFill/>
          <a:ln/>
        </p:spPr>
        <p:txBody>
          <a:bodyPr wrap="square" lIns="0" tIns="0" rIns="0" bIns="0" rtlCol="0" anchor="ctr"/>
          <a:lstStyle/>
          <a:p>
            <a:pPr indent="0" marL="0">
              <a:buNone/>
            </a:pPr>
            <a:r>
              <a:rPr lang="en-US" sz="900" dirty="0">
                <a:solidFill>
                  <a:srgbClr val="5B6B75"/>
                </a:solidFill>
                <a:latin typeface="Calibri" pitchFamily="34" charset="0"/>
                <a:ea typeface="Calibri" pitchFamily="34" charset="-122"/>
                <a:cs typeface="Calibri" pitchFamily="34" charset="-120"/>
              </a:rPr>
              <a:t>Source: A2-D1 Consulting Proposal, Sections 1, 10 and 12. Figures are working estimates to be validated in Phase 0.</a:t>
            </a:r>
            <a:endParaRPr lang="en-US" sz="900" dirty="0"/>
          </a:p>
        </p:txBody>
      </p:sp>
    </p:spTree>
  </p:cSld>
  <p:clrMapOvr>
    <a:masterClrMapping/>
  </p:clrMapOvr>
  <p:transition spd="med" advTm="20000">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CLIENT CONTEXT AND URGENCY</a:t>
            </a:r>
            <a:endParaRPr lang="en-US" sz="1200" dirty="0"/>
          </a:p>
        </p:txBody>
      </p:sp>
      <p:sp>
        <p:nvSpPr>
          <p:cNvPr id="3" name="Text 1"/>
          <p:cNvSpPr txBox="1"/>
          <p:nvPr/>
        </p:nvSpPr>
        <p:spPr>
          <a:xfrm>
            <a:off x="10241280" y="320040"/>
            <a:ext cx="1371600" cy="274320"/>
          </a:xfrm>
          <a:prstGeom prst="rect">
            <a:avLst/>
          </a:prstGeom>
          <a:noFill/>
          <a:ln/>
        </p:spPr>
        <p:txBody>
          <a:bodyPr wrap="square" lIns="0" tIns="0" rIns="0" bIns="0" rtlCol="0" anchor="ctr"/>
          <a:lstStyle/>
          <a:p>
            <a:pPr algn="r" indent="0" marL="0">
              <a:buNone/>
            </a:pPr>
            <a:r>
              <a:rPr lang="en-US" sz="1100" dirty="0">
                <a:solidFill>
                  <a:srgbClr val="5B6B75"/>
                </a:solidFill>
                <a:latin typeface="Calibri" pitchFamily="34" charset="0"/>
                <a:ea typeface="Calibri" pitchFamily="34" charset="-122"/>
                <a:cs typeface="Calibri" pitchFamily="34" charset="-120"/>
              </a:rPr>
              <a:t>03 / 20</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0E2A3B"/>
                </a:solidFill>
                <a:latin typeface="Cambria" pitchFamily="34" charset="0"/>
                <a:ea typeface="Cambria" pitchFamily="34" charset="-122"/>
                <a:cs typeface="Cambria" pitchFamily="34" charset="-120"/>
              </a:rPr>
              <a:t>Spark is cutting cost while its structure changes</a:t>
            </a:r>
            <a:endParaRPr lang="en-US" sz="3000" dirty="0"/>
          </a:p>
        </p:txBody>
      </p:sp>
      <p:sp>
        <p:nvSpPr>
          <p:cNvPr id="5" name="Shape 3"/>
          <p:cNvSpPr/>
          <p:nvPr/>
        </p:nvSpPr>
        <p:spPr>
          <a:xfrm>
            <a:off x="548640" y="1554480"/>
            <a:ext cx="3794760" cy="1874520"/>
          </a:xfrm>
          <a:prstGeom prst="roundRect">
            <a:avLst>
              <a:gd name="adj" fmla="val 3902"/>
            </a:avLst>
          </a:prstGeom>
          <a:solidFill>
            <a:srgbClr val="E6F1F2"/>
          </a:solidFill>
          <a:ln w="9525">
            <a:solidFill>
              <a:srgbClr val="E6F1F2"/>
            </a:solidFill>
            <a:prstDash val="solid"/>
          </a:ln>
        </p:spPr>
      </p:sp>
      <p:sp>
        <p:nvSpPr>
          <p:cNvPr id="6" name="Text 4"/>
          <p:cNvSpPr txBox="1"/>
          <p:nvPr/>
        </p:nvSpPr>
        <p:spPr>
          <a:xfrm>
            <a:off x="822960" y="1783080"/>
            <a:ext cx="3291840" cy="822960"/>
          </a:xfrm>
          <a:prstGeom prst="rect">
            <a:avLst/>
          </a:prstGeom>
          <a:noFill/>
          <a:ln/>
        </p:spPr>
        <p:txBody>
          <a:bodyPr wrap="square" lIns="0" tIns="0" rIns="0" bIns="0" rtlCol="0" anchor="t"/>
          <a:lstStyle/>
          <a:p>
            <a:pPr indent="0" marL="0">
              <a:buNone/>
            </a:pPr>
            <a:r>
              <a:rPr lang="en-US" sz="4000" b="1" dirty="0">
                <a:solidFill>
                  <a:srgbClr val="1F6F78"/>
                </a:solidFill>
                <a:latin typeface="Cambria" pitchFamily="34" charset="0"/>
                <a:ea typeface="Cambria" pitchFamily="34" charset="-122"/>
                <a:cs typeface="Cambria" pitchFamily="34" charset="-120"/>
              </a:rPr>
              <a:t>3,847</a:t>
            </a:r>
            <a:endParaRPr lang="en-US" sz="4000" dirty="0"/>
          </a:p>
        </p:txBody>
      </p:sp>
      <p:sp>
        <p:nvSpPr>
          <p:cNvPr id="7" name="Text 5"/>
          <p:cNvSpPr txBox="1"/>
          <p:nvPr/>
        </p:nvSpPr>
        <p:spPr>
          <a:xfrm>
            <a:off x="822960" y="2651760"/>
            <a:ext cx="3291840" cy="640080"/>
          </a:xfrm>
          <a:prstGeom prst="rect">
            <a:avLst/>
          </a:prstGeom>
          <a:noFill/>
          <a:ln/>
        </p:spPr>
        <p:txBody>
          <a:bodyPr wrap="square" lIns="0" tIns="0" rIns="0" bIns="0" rtlCol="0" anchor="t"/>
          <a:lstStyle/>
          <a:p>
            <a:pPr indent="0" marL="0">
              <a:buNone/>
            </a:pPr>
            <a:r>
              <a:rPr lang="en-US" sz="1400" dirty="0">
                <a:solidFill>
                  <a:srgbClr val="0E2A3B"/>
                </a:solidFill>
                <a:latin typeface="Calibri" pitchFamily="34" charset="0"/>
                <a:ea typeface="Calibri" pitchFamily="34" charset="-122"/>
                <a:cs typeface="Calibri" pitchFamily="34" charset="-120"/>
              </a:rPr>
              <a:t>FTE employees at 30 June 2025</a:t>
            </a:r>
            <a:endParaRPr lang="en-US" sz="1400" dirty="0"/>
          </a:p>
        </p:txBody>
      </p:sp>
      <p:sp>
        <p:nvSpPr>
          <p:cNvPr id="8" name="Shape 6"/>
          <p:cNvSpPr/>
          <p:nvPr/>
        </p:nvSpPr>
        <p:spPr>
          <a:xfrm>
            <a:off x="4617720" y="1554480"/>
            <a:ext cx="3794760" cy="1874520"/>
          </a:xfrm>
          <a:prstGeom prst="roundRect">
            <a:avLst>
              <a:gd name="adj" fmla="val 3902"/>
            </a:avLst>
          </a:prstGeom>
          <a:solidFill>
            <a:srgbClr val="E6F1F2"/>
          </a:solidFill>
          <a:ln w="9525">
            <a:solidFill>
              <a:srgbClr val="E6F1F2"/>
            </a:solidFill>
            <a:prstDash val="solid"/>
          </a:ln>
        </p:spPr>
      </p:sp>
      <p:sp>
        <p:nvSpPr>
          <p:cNvPr id="9" name="Text 7"/>
          <p:cNvSpPr txBox="1"/>
          <p:nvPr/>
        </p:nvSpPr>
        <p:spPr>
          <a:xfrm>
            <a:off x="4892040" y="1783080"/>
            <a:ext cx="3291840" cy="822960"/>
          </a:xfrm>
          <a:prstGeom prst="rect">
            <a:avLst/>
          </a:prstGeom>
          <a:noFill/>
          <a:ln/>
        </p:spPr>
        <p:txBody>
          <a:bodyPr wrap="square" lIns="0" tIns="0" rIns="0" bIns="0" rtlCol="0" anchor="t"/>
          <a:lstStyle/>
          <a:p>
            <a:pPr indent="0" marL="0">
              <a:buNone/>
            </a:pPr>
            <a:r>
              <a:rPr lang="en-US" sz="4000" b="1" dirty="0">
                <a:solidFill>
                  <a:srgbClr val="1F6F78"/>
                </a:solidFill>
                <a:latin typeface="Cambria" pitchFamily="34" charset="0"/>
                <a:ea typeface="Cambria" pitchFamily="34" charset="-122"/>
                <a:cs typeface="Cambria" pitchFamily="34" charset="-120"/>
              </a:rPr>
              <a:t>~1,300</a:t>
            </a:r>
            <a:endParaRPr lang="en-US" sz="4000" dirty="0"/>
          </a:p>
        </p:txBody>
      </p:sp>
      <p:sp>
        <p:nvSpPr>
          <p:cNvPr id="10" name="Text 8"/>
          <p:cNvSpPr txBox="1"/>
          <p:nvPr/>
        </p:nvSpPr>
        <p:spPr>
          <a:xfrm>
            <a:off x="4892040" y="2651760"/>
            <a:ext cx="3291840" cy="640080"/>
          </a:xfrm>
          <a:prstGeom prst="rect">
            <a:avLst/>
          </a:prstGeom>
          <a:noFill/>
          <a:ln/>
        </p:spPr>
        <p:txBody>
          <a:bodyPr wrap="square" lIns="0" tIns="0" rIns="0" bIns="0" rtlCol="0" anchor="t"/>
          <a:lstStyle/>
          <a:p>
            <a:pPr indent="0" marL="0">
              <a:buNone/>
            </a:pPr>
            <a:r>
              <a:rPr lang="en-US" sz="1400" dirty="0">
                <a:solidFill>
                  <a:srgbClr val="0E2A3B"/>
                </a:solidFill>
                <a:latin typeface="Calibri" pitchFamily="34" charset="0"/>
                <a:ea typeface="Calibri" pitchFamily="34" charset="-122"/>
                <a:cs typeface="Calibri" pitchFamily="34" charset="-120"/>
              </a:rPr>
              <a:t>full-time roles reduced</a:t>
            </a:r>
            <a:endParaRPr lang="en-US" sz="1400" dirty="0"/>
          </a:p>
        </p:txBody>
      </p:sp>
      <p:sp>
        <p:nvSpPr>
          <p:cNvPr id="11" name="Shape 9"/>
          <p:cNvSpPr/>
          <p:nvPr/>
        </p:nvSpPr>
        <p:spPr>
          <a:xfrm>
            <a:off x="548640" y="3703320"/>
            <a:ext cx="3794760" cy="1874520"/>
          </a:xfrm>
          <a:prstGeom prst="roundRect">
            <a:avLst>
              <a:gd name="adj" fmla="val 3902"/>
            </a:avLst>
          </a:prstGeom>
          <a:solidFill>
            <a:srgbClr val="E6F1F2"/>
          </a:solidFill>
          <a:ln w="9525">
            <a:solidFill>
              <a:srgbClr val="E6F1F2"/>
            </a:solidFill>
            <a:prstDash val="solid"/>
          </a:ln>
        </p:spPr>
      </p:sp>
      <p:sp>
        <p:nvSpPr>
          <p:cNvPr id="12" name="Text 10"/>
          <p:cNvSpPr txBox="1"/>
          <p:nvPr/>
        </p:nvSpPr>
        <p:spPr>
          <a:xfrm>
            <a:off x="822960" y="3931920"/>
            <a:ext cx="3291840" cy="822960"/>
          </a:xfrm>
          <a:prstGeom prst="rect">
            <a:avLst/>
          </a:prstGeom>
          <a:noFill/>
          <a:ln/>
        </p:spPr>
        <p:txBody>
          <a:bodyPr wrap="square" lIns="0" tIns="0" rIns="0" bIns="0" rtlCol="0" anchor="t"/>
          <a:lstStyle/>
          <a:p>
            <a:pPr indent="0" marL="0">
              <a:buNone/>
            </a:pPr>
            <a:r>
              <a:rPr lang="en-US" sz="4000" b="1" dirty="0">
                <a:solidFill>
                  <a:srgbClr val="1F6F78"/>
                </a:solidFill>
                <a:latin typeface="Cambria" pitchFamily="34" charset="0"/>
                <a:ea typeface="Cambria" pitchFamily="34" charset="-122"/>
                <a:cs typeface="Cambria" pitchFamily="34" charset="-120"/>
              </a:rPr>
              <a:t>NZ$50m</a:t>
            </a:r>
            <a:endParaRPr lang="en-US" sz="4000" dirty="0"/>
          </a:p>
        </p:txBody>
      </p:sp>
      <p:sp>
        <p:nvSpPr>
          <p:cNvPr id="13" name="Text 11"/>
          <p:cNvSpPr txBox="1"/>
          <p:nvPr/>
        </p:nvSpPr>
        <p:spPr>
          <a:xfrm>
            <a:off x="822960" y="4800600"/>
            <a:ext cx="3291840" cy="640080"/>
          </a:xfrm>
          <a:prstGeom prst="rect">
            <a:avLst/>
          </a:prstGeom>
          <a:noFill/>
          <a:ln/>
        </p:spPr>
        <p:txBody>
          <a:bodyPr wrap="square" lIns="0" tIns="0" rIns="0" bIns="0" rtlCol="0" anchor="t"/>
          <a:lstStyle/>
          <a:p>
            <a:pPr indent="0" marL="0">
              <a:buNone/>
            </a:pPr>
            <a:r>
              <a:rPr lang="en-US" sz="1400" dirty="0">
                <a:solidFill>
                  <a:srgbClr val="0E2A3B"/>
                </a:solidFill>
                <a:latin typeface="Calibri" pitchFamily="34" charset="0"/>
                <a:ea typeface="Calibri" pitchFamily="34" charset="-122"/>
                <a:cs typeface="Calibri" pitchFamily="34" charset="-120"/>
              </a:rPr>
              <a:t>labour cost reduction plan</a:t>
            </a:r>
            <a:endParaRPr lang="en-US" sz="1400" dirty="0"/>
          </a:p>
        </p:txBody>
      </p:sp>
      <p:sp>
        <p:nvSpPr>
          <p:cNvPr id="14" name="Shape 12"/>
          <p:cNvSpPr/>
          <p:nvPr/>
        </p:nvSpPr>
        <p:spPr>
          <a:xfrm>
            <a:off x="4617720" y="3703320"/>
            <a:ext cx="3794760" cy="1874520"/>
          </a:xfrm>
          <a:prstGeom prst="roundRect">
            <a:avLst>
              <a:gd name="adj" fmla="val 3902"/>
            </a:avLst>
          </a:prstGeom>
          <a:solidFill>
            <a:srgbClr val="F7E3DF"/>
          </a:solidFill>
          <a:ln w="9525">
            <a:solidFill>
              <a:srgbClr val="F7E3DF"/>
            </a:solidFill>
            <a:prstDash val="solid"/>
          </a:ln>
        </p:spPr>
      </p:sp>
      <p:sp>
        <p:nvSpPr>
          <p:cNvPr id="15" name="Text 13"/>
          <p:cNvSpPr txBox="1"/>
          <p:nvPr/>
        </p:nvSpPr>
        <p:spPr>
          <a:xfrm>
            <a:off x="4892040" y="3931920"/>
            <a:ext cx="3291840" cy="822960"/>
          </a:xfrm>
          <a:prstGeom prst="rect">
            <a:avLst/>
          </a:prstGeom>
          <a:noFill/>
          <a:ln/>
        </p:spPr>
        <p:txBody>
          <a:bodyPr wrap="square" lIns="0" tIns="0" rIns="0" bIns="0" rtlCol="0" anchor="t"/>
          <a:lstStyle/>
          <a:p>
            <a:pPr indent="0" marL="0">
              <a:buNone/>
            </a:pPr>
            <a:r>
              <a:rPr lang="en-US" sz="4000" b="1" dirty="0">
                <a:solidFill>
                  <a:srgbClr val="B8432F"/>
                </a:solidFill>
                <a:latin typeface="Cambria" pitchFamily="34" charset="0"/>
                <a:ea typeface="Cambria" pitchFamily="34" charset="-122"/>
                <a:cs typeface="Cambria" pitchFamily="34" charset="-120"/>
              </a:rPr>
              <a:t>63%</a:t>
            </a:r>
            <a:endParaRPr lang="en-US" sz="4000" dirty="0"/>
          </a:p>
        </p:txBody>
      </p:sp>
      <p:sp>
        <p:nvSpPr>
          <p:cNvPr id="16" name="Text 14"/>
          <p:cNvSpPr txBox="1"/>
          <p:nvPr/>
        </p:nvSpPr>
        <p:spPr>
          <a:xfrm>
            <a:off x="4892040" y="4800600"/>
            <a:ext cx="3291840" cy="640080"/>
          </a:xfrm>
          <a:prstGeom prst="rect">
            <a:avLst/>
          </a:prstGeom>
          <a:noFill/>
          <a:ln/>
        </p:spPr>
        <p:txBody>
          <a:bodyPr wrap="square" lIns="0" tIns="0" rIns="0" bIns="0" rtlCol="0" anchor="t"/>
          <a:lstStyle/>
          <a:p>
            <a:pPr indent="0" marL="0">
              <a:buNone/>
            </a:pPr>
            <a:r>
              <a:rPr lang="en-US" sz="1400" dirty="0">
                <a:solidFill>
                  <a:srgbClr val="0E2A3B"/>
                </a:solidFill>
                <a:latin typeface="Calibri" pitchFamily="34" charset="0"/>
                <a:ea typeface="Calibri" pitchFamily="34" charset="-122"/>
                <a:cs typeface="Calibri" pitchFamily="34" charset="-120"/>
              </a:rPr>
              <a:t>Spark mobile satisfaction, near the bottom of providers</a:t>
            </a:r>
            <a:endParaRPr lang="en-US" sz="1400" dirty="0"/>
          </a:p>
        </p:txBody>
      </p:sp>
      <p:sp>
        <p:nvSpPr>
          <p:cNvPr id="17" name="Shape 15"/>
          <p:cNvSpPr/>
          <p:nvPr/>
        </p:nvSpPr>
        <p:spPr>
          <a:xfrm>
            <a:off x="8915400" y="1554480"/>
            <a:ext cx="2697480" cy="2606040"/>
          </a:xfrm>
          <a:prstGeom prst="roundRect">
            <a:avLst>
              <a:gd name="adj" fmla="val 2807"/>
            </a:avLst>
          </a:prstGeom>
          <a:solidFill>
            <a:srgbClr val="0E2A3B"/>
          </a:solidFill>
          <a:ln w="9525">
            <a:solidFill>
              <a:srgbClr val="0E2A3B"/>
            </a:solidFill>
            <a:prstDash val="solid"/>
          </a:ln>
        </p:spPr>
      </p:sp>
      <p:sp>
        <p:nvSpPr>
          <p:cNvPr id="18" name="Shape 16"/>
          <p:cNvSpPr/>
          <p:nvPr/>
        </p:nvSpPr>
        <p:spPr>
          <a:xfrm>
            <a:off x="9144000" y="1783080"/>
            <a:ext cx="548640" cy="548640"/>
          </a:xfrm>
          <a:prstGeom prst="ellipse">
            <a:avLst/>
          </a:prstGeom>
          <a:solidFill>
            <a:srgbClr val="E8A33D"/>
          </a:solidFill>
          <a:ln w="12700">
            <a:solidFill>
              <a:srgbClr val="E8A33D"/>
            </a:solidFill>
            <a:prstDash val="solid"/>
          </a:ln>
        </p:spPr>
      </p:sp>
      <p:pic>
        <p:nvPicPr>
          <p:cNvPr id="19" name="Image 0" descr="preencoded.png">    </p:cNvPr>
          <p:cNvPicPr>
            <a:picLocks noChangeAspect="1"/>
          </p:cNvPicPr>
          <p:nvPr/>
        </p:nvPicPr>
        <p:blipFill>
          <a:blip r:embed="rId1"/>
          <a:stretch>
            <a:fillRect/>
          </a:stretch>
        </p:blipFill>
        <p:spPr>
          <a:xfrm>
            <a:off x="9297619" y="1936699"/>
            <a:ext cx="241402" cy="241402"/>
          </a:xfrm>
          <a:prstGeom prst="rect">
            <a:avLst/>
          </a:prstGeom>
        </p:spPr>
      </p:pic>
      <p:sp>
        <p:nvSpPr>
          <p:cNvPr id="20" name="Text 17"/>
          <p:cNvSpPr txBox="1"/>
          <p:nvPr/>
        </p:nvSpPr>
        <p:spPr>
          <a:xfrm>
            <a:off x="9784080" y="1874520"/>
            <a:ext cx="1737360" cy="365760"/>
          </a:xfrm>
          <a:prstGeom prst="rect">
            <a:avLst/>
          </a:prstGeom>
          <a:noFill/>
          <a:ln/>
        </p:spPr>
        <p:txBody>
          <a:bodyPr wrap="square" lIns="0" tIns="0" rIns="0" bIns="0" rtlCol="0" anchor="t"/>
          <a:lstStyle/>
          <a:p>
            <a:pPr indent="0" marL="0">
              <a:buNone/>
            </a:pPr>
            <a:r>
              <a:rPr lang="en-US" sz="1500" b="1" dirty="0">
                <a:solidFill>
                  <a:srgbClr val="E8A33D"/>
                </a:solidFill>
                <a:latin typeface="Calibri" pitchFamily="34" charset="0"/>
                <a:ea typeface="Calibri" pitchFamily="34" charset="-122"/>
                <a:cs typeface="Calibri" pitchFamily="34" charset="-120"/>
              </a:rPr>
              <a:t>July 2026</a:t>
            </a:r>
            <a:endParaRPr lang="en-US" sz="1500" dirty="0"/>
          </a:p>
        </p:txBody>
      </p:sp>
      <p:sp>
        <p:nvSpPr>
          <p:cNvPr id="21" name="Text 18"/>
          <p:cNvSpPr txBox="1"/>
          <p:nvPr/>
        </p:nvSpPr>
        <p:spPr>
          <a:xfrm>
            <a:off x="9144000" y="2468880"/>
            <a:ext cx="2286000" cy="16459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Connectivity separated from Digital Services. SPK 30 depends on network quality and customer experience, and more roles will change.</a:t>
            </a:r>
            <a:endParaRPr lang="en-US" sz="1300" dirty="0"/>
          </a:p>
        </p:txBody>
      </p:sp>
      <p:sp>
        <p:nvSpPr>
          <p:cNvPr id="22" name="Text 19"/>
          <p:cNvSpPr txBox="1"/>
          <p:nvPr/>
        </p:nvSpPr>
        <p:spPr>
          <a:xfrm>
            <a:off x="548640" y="6400800"/>
            <a:ext cx="8046720" cy="274320"/>
          </a:xfrm>
          <a:prstGeom prst="rect">
            <a:avLst/>
          </a:prstGeom>
          <a:noFill/>
          <a:ln/>
        </p:spPr>
        <p:txBody>
          <a:bodyPr wrap="square" lIns="0" tIns="0" rIns="0" bIns="0" rtlCol="0" anchor="ctr"/>
          <a:lstStyle/>
          <a:p>
            <a:pPr indent="0" marL="0">
              <a:buNone/>
            </a:pPr>
            <a:r>
              <a:rPr lang="en-US" sz="900" dirty="0">
                <a:solidFill>
                  <a:srgbClr val="5B6B75"/>
                </a:solidFill>
                <a:latin typeface="Calibri" pitchFamily="34" charset="0"/>
                <a:ea typeface="Calibri" pitchFamily="34" charset="-122"/>
                <a:cs typeface="Calibri" pitchFamily="34" charset="-120"/>
              </a:rPr>
              <a:t>Sources: Spark New Zealand (2025a, 2025b, 2026); Pelletier (2024); Harvey (2025); Bennett (2026).</a:t>
            </a:r>
            <a:endParaRPr lang="en-US" sz="900" dirty="0"/>
          </a:p>
        </p:txBody>
      </p:sp>
    </p:spTree>
  </p:cSld>
  <p:clrMapOvr>
    <a:masterClrMapping/>
  </p:clrMapOvr>
  <p:transition spd="med" advTm="20000">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PROBLEM STATEMENT</a:t>
            </a:r>
            <a:endParaRPr lang="en-US" sz="1200" dirty="0"/>
          </a:p>
        </p:txBody>
      </p:sp>
      <p:sp>
        <p:nvSpPr>
          <p:cNvPr id="3" name="Text 1"/>
          <p:cNvSpPr txBox="1"/>
          <p:nvPr/>
        </p:nvSpPr>
        <p:spPr>
          <a:xfrm>
            <a:off x="10241280" y="320040"/>
            <a:ext cx="1371600" cy="274320"/>
          </a:xfrm>
          <a:prstGeom prst="rect">
            <a:avLst/>
          </a:prstGeom>
          <a:noFill/>
          <a:ln/>
        </p:spPr>
        <p:txBody>
          <a:bodyPr wrap="square" lIns="0" tIns="0" rIns="0" bIns="0" rtlCol="0" anchor="ctr"/>
          <a:lstStyle/>
          <a:p>
            <a:pPr algn="r" indent="0" marL="0">
              <a:buNone/>
            </a:pPr>
            <a:r>
              <a:rPr lang="en-US" sz="1100" dirty="0">
                <a:solidFill>
                  <a:srgbClr val="5B6B75"/>
                </a:solidFill>
                <a:latin typeface="Calibri" pitchFamily="34" charset="0"/>
                <a:ea typeface="Calibri" pitchFamily="34" charset="-122"/>
                <a:cs typeface="Calibri" pitchFamily="34" charset="-120"/>
              </a:rPr>
              <a:t>04 / 20</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0E2A3B"/>
                </a:solidFill>
                <a:latin typeface="Cambria" pitchFamily="34" charset="0"/>
                <a:ea typeface="Cambria" pitchFamily="34" charset="-122"/>
                <a:cs typeface="Cambria" pitchFamily="34" charset="-120"/>
              </a:rPr>
              <a:t>The exit process controls everything except knowledge</a:t>
            </a:r>
            <a:endParaRPr lang="en-US" sz="3000" dirty="0"/>
          </a:p>
        </p:txBody>
      </p:sp>
      <p:sp>
        <p:nvSpPr>
          <p:cNvPr id="5" name="Shape 3"/>
          <p:cNvSpPr/>
          <p:nvPr/>
        </p:nvSpPr>
        <p:spPr>
          <a:xfrm>
            <a:off x="548640" y="1600200"/>
            <a:ext cx="5120640" cy="713232"/>
          </a:xfrm>
          <a:prstGeom prst="roundRect">
            <a:avLst>
              <a:gd name="adj" fmla="val 10256"/>
            </a:avLst>
          </a:prstGeom>
          <a:solidFill>
            <a:srgbClr val="F3F6F7"/>
          </a:solidFill>
          <a:ln w="9525">
            <a:solidFill>
              <a:srgbClr val="F3F6F7"/>
            </a:solidFill>
            <a:prstDash val="solid"/>
          </a:ln>
        </p:spPr>
      </p:sp>
      <p:sp>
        <p:nvSpPr>
          <p:cNvPr id="6" name="Shape 4"/>
          <p:cNvSpPr/>
          <p:nvPr/>
        </p:nvSpPr>
        <p:spPr>
          <a:xfrm>
            <a:off x="731520" y="1728216"/>
            <a:ext cx="457200" cy="457200"/>
          </a:xfrm>
          <a:prstGeom prst="ellipse">
            <a:avLst/>
          </a:prstGeom>
          <a:solidFill>
            <a:srgbClr val="3C8D5A"/>
          </a:solidFill>
          <a:ln w="12700">
            <a:solidFill>
              <a:srgbClr val="3C8D5A"/>
            </a:solidFill>
            <a:prstDash val="solid"/>
          </a:ln>
        </p:spPr>
      </p:sp>
      <p:pic>
        <p:nvPicPr>
          <p:cNvPr id="7" name="Image 0" descr="preencoded.png">    </p:cNvPr>
          <p:cNvPicPr>
            <a:picLocks noChangeAspect="1"/>
          </p:cNvPicPr>
          <p:nvPr/>
        </p:nvPicPr>
        <p:blipFill>
          <a:blip r:embed="rId1"/>
          <a:stretch>
            <a:fillRect/>
          </a:stretch>
        </p:blipFill>
        <p:spPr>
          <a:xfrm>
            <a:off x="859536" y="1856232"/>
            <a:ext cx="201168" cy="201168"/>
          </a:xfrm>
          <a:prstGeom prst="rect">
            <a:avLst/>
          </a:prstGeom>
        </p:spPr>
      </p:pic>
      <p:sp>
        <p:nvSpPr>
          <p:cNvPr id="8" name="Text 5"/>
          <p:cNvSpPr txBox="1"/>
          <p:nvPr/>
        </p:nvSpPr>
        <p:spPr>
          <a:xfrm>
            <a:off x="1371600" y="1783080"/>
            <a:ext cx="4114800" cy="365760"/>
          </a:xfrm>
          <a:prstGeom prst="rect">
            <a:avLst/>
          </a:prstGeom>
          <a:noFill/>
          <a:ln/>
        </p:spPr>
        <p:txBody>
          <a:bodyPr wrap="square" lIns="0" tIns="0" rIns="0" bIns="0" rtlCol="0" anchor="t"/>
          <a:lstStyle/>
          <a:p>
            <a:pPr indent="0" marL="0">
              <a:buNone/>
            </a:pPr>
            <a:r>
              <a:rPr lang="en-US" sz="1700" dirty="0">
                <a:solidFill>
                  <a:srgbClr val="0E2A3B"/>
                </a:solidFill>
                <a:latin typeface="Calibri" pitchFamily="34" charset="0"/>
                <a:ea typeface="Calibri" pitchFamily="34" charset="-122"/>
                <a:cs typeface="Calibri" pitchFamily="34" charset="-120"/>
              </a:rPr>
              <a:t>Payroll finalised</a:t>
            </a:r>
            <a:endParaRPr lang="en-US" sz="1700" dirty="0"/>
          </a:p>
        </p:txBody>
      </p:sp>
      <p:sp>
        <p:nvSpPr>
          <p:cNvPr id="9" name="Shape 6"/>
          <p:cNvSpPr/>
          <p:nvPr/>
        </p:nvSpPr>
        <p:spPr>
          <a:xfrm>
            <a:off x="548640" y="2468880"/>
            <a:ext cx="5120640" cy="713232"/>
          </a:xfrm>
          <a:prstGeom prst="roundRect">
            <a:avLst>
              <a:gd name="adj" fmla="val 10256"/>
            </a:avLst>
          </a:prstGeom>
          <a:solidFill>
            <a:srgbClr val="F3F6F7"/>
          </a:solidFill>
          <a:ln w="9525">
            <a:solidFill>
              <a:srgbClr val="F3F6F7"/>
            </a:solidFill>
            <a:prstDash val="solid"/>
          </a:ln>
        </p:spPr>
      </p:sp>
      <p:sp>
        <p:nvSpPr>
          <p:cNvPr id="10" name="Shape 7"/>
          <p:cNvSpPr/>
          <p:nvPr/>
        </p:nvSpPr>
        <p:spPr>
          <a:xfrm>
            <a:off x="731520" y="2596896"/>
            <a:ext cx="457200" cy="457200"/>
          </a:xfrm>
          <a:prstGeom prst="ellipse">
            <a:avLst/>
          </a:prstGeom>
          <a:solidFill>
            <a:srgbClr val="3C8D5A"/>
          </a:solidFill>
          <a:ln w="12700">
            <a:solidFill>
              <a:srgbClr val="3C8D5A"/>
            </a:solidFill>
            <a:prstDash val="solid"/>
          </a:ln>
        </p:spPr>
      </p:sp>
      <p:pic>
        <p:nvPicPr>
          <p:cNvPr id="11" name="Image 1" descr="preencoded.png">    </p:cNvPr>
          <p:cNvPicPr>
            <a:picLocks noChangeAspect="1"/>
          </p:cNvPicPr>
          <p:nvPr/>
        </p:nvPicPr>
        <p:blipFill>
          <a:blip r:embed="rId2"/>
          <a:stretch>
            <a:fillRect/>
          </a:stretch>
        </p:blipFill>
        <p:spPr>
          <a:xfrm>
            <a:off x="859536" y="2724912"/>
            <a:ext cx="201168" cy="201168"/>
          </a:xfrm>
          <a:prstGeom prst="rect">
            <a:avLst/>
          </a:prstGeom>
        </p:spPr>
      </p:pic>
      <p:sp>
        <p:nvSpPr>
          <p:cNvPr id="12" name="Text 8"/>
          <p:cNvSpPr txBox="1"/>
          <p:nvPr/>
        </p:nvSpPr>
        <p:spPr>
          <a:xfrm>
            <a:off x="1371600" y="2651760"/>
            <a:ext cx="4114800" cy="365760"/>
          </a:xfrm>
          <a:prstGeom prst="rect">
            <a:avLst/>
          </a:prstGeom>
          <a:noFill/>
          <a:ln/>
        </p:spPr>
        <p:txBody>
          <a:bodyPr wrap="square" lIns="0" tIns="0" rIns="0" bIns="0" rtlCol="0" anchor="t"/>
          <a:lstStyle/>
          <a:p>
            <a:pPr indent="0" marL="0">
              <a:buNone/>
            </a:pPr>
            <a:r>
              <a:rPr lang="en-US" sz="1700" dirty="0">
                <a:solidFill>
                  <a:srgbClr val="0E2A3B"/>
                </a:solidFill>
                <a:latin typeface="Calibri" pitchFamily="34" charset="0"/>
                <a:ea typeface="Calibri" pitchFamily="34" charset="-122"/>
                <a:cs typeface="Calibri" pitchFamily="34" charset="-120"/>
              </a:rPr>
              <a:t>Assets returned</a:t>
            </a:r>
            <a:endParaRPr lang="en-US" sz="1700" dirty="0"/>
          </a:p>
        </p:txBody>
      </p:sp>
      <p:sp>
        <p:nvSpPr>
          <p:cNvPr id="13" name="Shape 9"/>
          <p:cNvSpPr/>
          <p:nvPr/>
        </p:nvSpPr>
        <p:spPr>
          <a:xfrm>
            <a:off x="548640" y="3337560"/>
            <a:ext cx="5120640" cy="713232"/>
          </a:xfrm>
          <a:prstGeom prst="roundRect">
            <a:avLst>
              <a:gd name="adj" fmla="val 10256"/>
            </a:avLst>
          </a:prstGeom>
          <a:solidFill>
            <a:srgbClr val="F3F6F7"/>
          </a:solidFill>
          <a:ln w="9525">
            <a:solidFill>
              <a:srgbClr val="F3F6F7"/>
            </a:solidFill>
            <a:prstDash val="solid"/>
          </a:ln>
        </p:spPr>
      </p:sp>
      <p:sp>
        <p:nvSpPr>
          <p:cNvPr id="14" name="Shape 10"/>
          <p:cNvSpPr/>
          <p:nvPr/>
        </p:nvSpPr>
        <p:spPr>
          <a:xfrm>
            <a:off x="731520" y="3465576"/>
            <a:ext cx="457200" cy="457200"/>
          </a:xfrm>
          <a:prstGeom prst="ellipse">
            <a:avLst/>
          </a:prstGeom>
          <a:solidFill>
            <a:srgbClr val="3C8D5A"/>
          </a:solidFill>
          <a:ln w="12700">
            <a:solidFill>
              <a:srgbClr val="3C8D5A"/>
            </a:solidFill>
            <a:prstDash val="solid"/>
          </a:ln>
        </p:spPr>
      </p:sp>
      <p:pic>
        <p:nvPicPr>
          <p:cNvPr id="15" name="Image 2" descr="preencoded.png">    </p:cNvPr>
          <p:cNvPicPr>
            <a:picLocks noChangeAspect="1"/>
          </p:cNvPicPr>
          <p:nvPr/>
        </p:nvPicPr>
        <p:blipFill>
          <a:blip r:embed="rId3"/>
          <a:stretch>
            <a:fillRect/>
          </a:stretch>
        </p:blipFill>
        <p:spPr>
          <a:xfrm>
            <a:off x="859536" y="3593592"/>
            <a:ext cx="201168" cy="201168"/>
          </a:xfrm>
          <a:prstGeom prst="rect">
            <a:avLst/>
          </a:prstGeom>
        </p:spPr>
      </p:pic>
      <p:sp>
        <p:nvSpPr>
          <p:cNvPr id="16" name="Text 11"/>
          <p:cNvSpPr txBox="1"/>
          <p:nvPr/>
        </p:nvSpPr>
        <p:spPr>
          <a:xfrm>
            <a:off x="1371600" y="3520440"/>
            <a:ext cx="4114800" cy="365760"/>
          </a:xfrm>
          <a:prstGeom prst="rect">
            <a:avLst/>
          </a:prstGeom>
          <a:noFill/>
          <a:ln/>
        </p:spPr>
        <p:txBody>
          <a:bodyPr wrap="square" lIns="0" tIns="0" rIns="0" bIns="0" rtlCol="0" anchor="t"/>
          <a:lstStyle/>
          <a:p>
            <a:pPr indent="0" marL="0">
              <a:buNone/>
            </a:pPr>
            <a:r>
              <a:rPr lang="en-US" sz="1700" dirty="0">
                <a:solidFill>
                  <a:srgbClr val="0E2A3B"/>
                </a:solidFill>
                <a:latin typeface="Calibri" pitchFamily="34" charset="0"/>
                <a:ea typeface="Calibri" pitchFamily="34" charset="-122"/>
                <a:cs typeface="Calibri" pitchFamily="34" charset="-120"/>
              </a:rPr>
              <a:t>System access revoked</a:t>
            </a:r>
            <a:endParaRPr lang="en-US" sz="1700" dirty="0"/>
          </a:p>
        </p:txBody>
      </p:sp>
      <p:sp>
        <p:nvSpPr>
          <p:cNvPr id="17" name="Shape 12"/>
          <p:cNvSpPr/>
          <p:nvPr/>
        </p:nvSpPr>
        <p:spPr>
          <a:xfrm>
            <a:off x="548640" y="4206240"/>
            <a:ext cx="5120640" cy="713232"/>
          </a:xfrm>
          <a:prstGeom prst="roundRect">
            <a:avLst>
              <a:gd name="adj" fmla="val 10256"/>
            </a:avLst>
          </a:prstGeom>
          <a:solidFill>
            <a:srgbClr val="F7E3DF"/>
          </a:solidFill>
          <a:ln w="9525">
            <a:solidFill>
              <a:srgbClr val="F7E3DF"/>
            </a:solidFill>
            <a:prstDash val="solid"/>
          </a:ln>
        </p:spPr>
      </p:sp>
      <p:sp>
        <p:nvSpPr>
          <p:cNvPr id="18" name="Shape 13"/>
          <p:cNvSpPr/>
          <p:nvPr/>
        </p:nvSpPr>
        <p:spPr>
          <a:xfrm>
            <a:off x="731520" y="4334256"/>
            <a:ext cx="457200" cy="457200"/>
          </a:xfrm>
          <a:prstGeom prst="ellipse">
            <a:avLst/>
          </a:prstGeom>
          <a:solidFill>
            <a:srgbClr val="B8432F"/>
          </a:solidFill>
          <a:ln w="12700">
            <a:solidFill>
              <a:srgbClr val="B8432F"/>
            </a:solidFill>
            <a:prstDash val="solid"/>
          </a:ln>
        </p:spPr>
      </p:sp>
      <p:pic>
        <p:nvPicPr>
          <p:cNvPr id="19" name="Image 3" descr="preencoded.png">    </p:cNvPr>
          <p:cNvPicPr>
            <a:picLocks noChangeAspect="1"/>
          </p:cNvPicPr>
          <p:nvPr/>
        </p:nvPicPr>
        <p:blipFill>
          <a:blip r:embed="rId4"/>
          <a:stretch>
            <a:fillRect/>
          </a:stretch>
        </p:blipFill>
        <p:spPr>
          <a:xfrm>
            <a:off x="859536" y="4462272"/>
            <a:ext cx="201168" cy="201168"/>
          </a:xfrm>
          <a:prstGeom prst="rect">
            <a:avLst/>
          </a:prstGeom>
        </p:spPr>
      </p:pic>
      <p:sp>
        <p:nvSpPr>
          <p:cNvPr id="20" name="Text 14"/>
          <p:cNvSpPr txBox="1"/>
          <p:nvPr/>
        </p:nvSpPr>
        <p:spPr>
          <a:xfrm>
            <a:off x="1371600" y="4389120"/>
            <a:ext cx="4114800" cy="365760"/>
          </a:xfrm>
          <a:prstGeom prst="rect">
            <a:avLst/>
          </a:prstGeom>
          <a:noFill/>
          <a:ln/>
        </p:spPr>
        <p:txBody>
          <a:bodyPr wrap="square" lIns="0" tIns="0" rIns="0" bIns="0" rtlCol="0" anchor="t"/>
          <a:lstStyle/>
          <a:p>
            <a:pPr indent="0" marL="0">
              <a:buNone/>
            </a:pPr>
            <a:r>
              <a:rPr lang="en-US" sz="1700" b="1" dirty="0">
                <a:solidFill>
                  <a:srgbClr val="B8432F"/>
                </a:solidFill>
                <a:latin typeface="Calibri" pitchFamily="34" charset="0"/>
                <a:ea typeface="Calibri" pitchFamily="34" charset="-122"/>
                <a:cs typeface="Calibri" pitchFamily="34" charset="-120"/>
              </a:rPr>
              <a:t>Knowledge reached the receiver</a:t>
            </a:r>
            <a:endParaRPr lang="en-US" sz="1700" dirty="0"/>
          </a:p>
        </p:txBody>
      </p:sp>
      <p:sp>
        <p:nvSpPr>
          <p:cNvPr id="21" name="Shape 15"/>
          <p:cNvSpPr/>
          <p:nvPr/>
        </p:nvSpPr>
        <p:spPr>
          <a:xfrm>
            <a:off x="6217920" y="1691640"/>
            <a:ext cx="502920" cy="502920"/>
          </a:xfrm>
          <a:prstGeom prst="ellipse">
            <a:avLst/>
          </a:prstGeom>
          <a:solidFill>
            <a:srgbClr val="E8A33D"/>
          </a:solidFill>
          <a:ln w="12700">
            <a:solidFill>
              <a:srgbClr val="E8A33D"/>
            </a:solidFill>
            <a:prstDash val="solid"/>
          </a:ln>
        </p:spPr>
      </p:sp>
      <p:sp>
        <p:nvSpPr>
          <p:cNvPr id="22" name="Text 16"/>
          <p:cNvSpPr txBox="1"/>
          <p:nvPr/>
        </p:nvSpPr>
        <p:spPr>
          <a:xfrm>
            <a:off x="6217920" y="1691640"/>
            <a:ext cx="502920" cy="502920"/>
          </a:xfrm>
          <a:prstGeom prst="rect">
            <a:avLst/>
          </a:prstGeom>
          <a:noFill/>
          <a:ln/>
        </p:spPr>
        <p:txBody>
          <a:bodyPr wrap="square" lIns="0" tIns="0" rIns="0" bIns="0" rtlCol="0" anchor="ctr"/>
          <a:lstStyle/>
          <a:p>
            <a:pPr algn="ctr" indent="0" marL="0">
              <a:buNone/>
            </a:pPr>
            <a:r>
              <a:rPr lang="en-US" sz="1400" b="1" dirty="0">
                <a:solidFill>
                  <a:srgbClr val="0E2A3B"/>
                </a:solidFill>
                <a:latin typeface="Calibri" pitchFamily="34" charset="0"/>
                <a:ea typeface="Calibri" pitchFamily="34" charset="-122"/>
                <a:cs typeface="Calibri" pitchFamily="34" charset="-120"/>
              </a:rPr>
              <a:t>1</a:t>
            </a:r>
            <a:endParaRPr lang="en-US" sz="1400" dirty="0"/>
          </a:p>
        </p:txBody>
      </p:sp>
      <p:sp>
        <p:nvSpPr>
          <p:cNvPr id="23" name="Text 17"/>
          <p:cNvSpPr txBox="1"/>
          <p:nvPr/>
        </p:nvSpPr>
        <p:spPr>
          <a:xfrm>
            <a:off x="6903720" y="1645920"/>
            <a:ext cx="4663440" cy="320040"/>
          </a:xfrm>
          <a:prstGeom prst="rect">
            <a:avLst/>
          </a:prstGeom>
          <a:noFill/>
          <a:ln/>
        </p:spPr>
        <p:txBody>
          <a:bodyPr wrap="square" lIns="0" tIns="0" rIns="0" bIns="0" rtlCol="0" anchor="t"/>
          <a:lstStyle/>
          <a:p>
            <a:pPr indent="0" marL="0">
              <a:buNone/>
            </a:pPr>
            <a:r>
              <a:rPr lang="en-US" sz="1600" b="1" dirty="0">
                <a:solidFill>
                  <a:srgbClr val="0E2A3B"/>
                </a:solidFill>
                <a:latin typeface="Calibri" pitchFamily="34" charset="0"/>
                <a:ea typeface="Calibri" pitchFamily="34" charset="-122"/>
                <a:cs typeface="Calibri" pitchFamily="34" charset="-120"/>
              </a:rPr>
              <a:t>No evidence standard</a:t>
            </a:r>
            <a:endParaRPr lang="en-US" sz="1600" dirty="0"/>
          </a:p>
        </p:txBody>
      </p:sp>
      <p:sp>
        <p:nvSpPr>
          <p:cNvPr id="24" name="Text 18"/>
          <p:cNvSpPr txBox="1"/>
          <p:nvPr/>
        </p:nvSpPr>
        <p:spPr>
          <a:xfrm>
            <a:off x="6903720" y="1984248"/>
            <a:ext cx="4663440" cy="320040"/>
          </a:xfrm>
          <a:prstGeom prst="rect">
            <a:avLst/>
          </a:prstGeom>
          <a:noFill/>
          <a:ln/>
        </p:spPr>
        <p:txBody>
          <a:bodyPr wrap="square" lIns="0" tIns="0" rIns="0" bIns="0" rtlCol="0" anchor="t"/>
          <a:lstStyle/>
          <a:p>
            <a:pPr indent="0" marL="0">
              <a:buNone/>
            </a:pPr>
            <a:r>
              <a:rPr lang="en-US" sz="1300" dirty="0">
                <a:solidFill>
                  <a:srgbClr val="5B6B75"/>
                </a:solidFill>
                <a:latin typeface="Calibri" pitchFamily="34" charset="0"/>
                <a:ea typeface="Calibri" pitchFamily="34" charset="-122"/>
                <a:cs typeface="Calibri" pitchFamily="34" charset="-120"/>
              </a:rPr>
              <a:t>Nothing defines what a complete handover is</a:t>
            </a:r>
            <a:endParaRPr lang="en-US" sz="1300" dirty="0"/>
          </a:p>
        </p:txBody>
      </p:sp>
      <p:sp>
        <p:nvSpPr>
          <p:cNvPr id="25" name="Shape 19"/>
          <p:cNvSpPr/>
          <p:nvPr/>
        </p:nvSpPr>
        <p:spPr>
          <a:xfrm>
            <a:off x="6217920" y="2606040"/>
            <a:ext cx="502920" cy="502920"/>
          </a:xfrm>
          <a:prstGeom prst="ellipse">
            <a:avLst/>
          </a:prstGeom>
          <a:solidFill>
            <a:srgbClr val="E8A33D"/>
          </a:solidFill>
          <a:ln w="12700">
            <a:solidFill>
              <a:srgbClr val="E8A33D"/>
            </a:solidFill>
            <a:prstDash val="solid"/>
          </a:ln>
        </p:spPr>
      </p:sp>
      <p:sp>
        <p:nvSpPr>
          <p:cNvPr id="26" name="Text 20"/>
          <p:cNvSpPr txBox="1"/>
          <p:nvPr/>
        </p:nvSpPr>
        <p:spPr>
          <a:xfrm>
            <a:off x="6217920" y="2606040"/>
            <a:ext cx="502920" cy="502920"/>
          </a:xfrm>
          <a:prstGeom prst="rect">
            <a:avLst/>
          </a:prstGeom>
          <a:noFill/>
          <a:ln/>
        </p:spPr>
        <p:txBody>
          <a:bodyPr wrap="square" lIns="0" tIns="0" rIns="0" bIns="0" rtlCol="0" anchor="ctr"/>
          <a:lstStyle/>
          <a:p>
            <a:pPr algn="ctr" indent="0" marL="0">
              <a:buNone/>
            </a:pPr>
            <a:r>
              <a:rPr lang="en-US" sz="1400" b="1" dirty="0">
                <a:solidFill>
                  <a:srgbClr val="0E2A3B"/>
                </a:solidFill>
                <a:latin typeface="Calibri" pitchFamily="34" charset="0"/>
                <a:ea typeface="Calibri" pitchFamily="34" charset="-122"/>
                <a:cs typeface="Calibri" pitchFamily="34" charset="-120"/>
              </a:rPr>
              <a:t>2</a:t>
            </a:r>
            <a:endParaRPr lang="en-US" sz="1400" dirty="0"/>
          </a:p>
        </p:txBody>
      </p:sp>
      <p:sp>
        <p:nvSpPr>
          <p:cNvPr id="27" name="Text 21"/>
          <p:cNvSpPr txBox="1"/>
          <p:nvPr/>
        </p:nvSpPr>
        <p:spPr>
          <a:xfrm>
            <a:off x="6903720" y="2560320"/>
            <a:ext cx="4663440" cy="320040"/>
          </a:xfrm>
          <a:prstGeom prst="rect">
            <a:avLst/>
          </a:prstGeom>
          <a:noFill/>
          <a:ln/>
        </p:spPr>
        <p:txBody>
          <a:bodyPr wrap="square" lIns="0" tIns="0" rIns="0" bIns="0" rtlCol="0" anchor="t"/>
          <a:lstStyle/>
          <a:p>
            <a:pPr indent="0" marL="0">
              <a:buNone/>
            </a:pPr>
            <a:r>
              <a:rPr lang="en-US" sz="1600" b="1" dirty="0">
                <a:solidFill>
                  <a:srgbClr val="0E2A3B"/>
                </a:solidFill>
                <a:latin typeface="Calibri" pitchFamily="34" charset="0"/>
                <a:ea typeface="Calibri" pitchFamily="34" charset="-122"/>
                <a:cs typeface="Calibri" pitchFamily="34" charset="-120"/>
              </a:rPr>
              <a:t>No receiver sign-off</a:t>
            </a:r>
            <a:endParaRPr lang="en-US" sz="1600" dirty="0"/>
          </a:p>
        </p:txBody>
      </p:sp>
      <p:sp>
        <p:nvSpPr>
          <p:cNvPr id="28" name="Text 22"/>
          <p:cNvSpPr txBox="1"/>
          <p:nvPr/>
        </p:nvSpPr>
        <p:spPr>
          <a:xfrm>
            <a:off x="6903720" y="2898648"/>
            <a:ext cx="4663440" cy="320040"/>
          </a:xfrm>
          <a:prstGeom prst="rect">
            <a:avLst/>
          </a:prstGeom>
          <a:noFill/>
          <a:ln/>
        </p:spPr>
        <p:txBody>
          <a:bodyPr wrap="square" lIns="0" tIns="0" rIns="0" bIns="0" rtlCol="0" anchor="t"/>
          <a:lstStyle/>
          <a:p>
            <a:pPr indent="0" marL="0">
              <a:buNone/>
            </a:pPr>
            <a:r>
              <a:rPr lang="en-US" sz="1300" dirty="0">
                <a:solidFill>
                  <a:srgbClr val="5B6B75"/>
                </a:solidFill>
                <a:latin typeface="Calibri" pitchFamily="34" charset="0"/>
                <a:ea typeface="Calibri" pitchFamily="34" charset="-122"/>
                <a:cs typeface="Calibri" pitchFamily="34" charset="-120"/>
              </a:rPr>
              <a:t>The person taking over never confirms</a:t>
            </a:r>
            <a:endParaRPr lang="en-US" sz="1300" dirty="0"/>
          </a:p>
        </p:txBody>
      </p:sp>
      <p:sp>
        <p:nvSpPr>
          <p:cNvPr id="29" name="Shape 23"/>
          <p:cNvSpPr/>
          <p:nvPr/>
        </p:nvSpPr>
        <p:spPr>
          <a:xfrm>
            <a:off x="6217920" y="3520440"/>
            <a:ext cx="502920" cy="502920"/>
          </a:xfrm>
          <a:prstGeom prst="ellipse">
            <a:avLst/>
          </a:prstGeom>
          <a:solidFill>
            <a:srgbClr val="E8A33D"/>
          </a:solidFill>
          <a:ln w="12700">
            <a:solidFill>
              <a:srgbClr val="E8A33D"/>
            </a:solidFill>
            <a:prstDash val="solid"/>
          </a:ln>
        </p:spPr>
      </p:sp>
      <p:sp>
        <p:nvSpPr>
          <p:cNvPr id="30" name="Text 24"/>
          <p:cNvSpPr txBox="1"/>
          <p:nvPr/>
        </p:nvSpPr>
        <p:spPr>
          <a:xfrm>
            <a:off x="6217920" y="3520440"/>
            <a:ext cx="502920" cy="502920"/>
          </a:xfrm>
          <a:prstGeom prst="rect">
            <a:avLst/>
          </a:prstGeom>
          <a:noFill/>
          <a:ln/>
        </p:spPr>
        <p:txBody>
          <a:bodyPr wrap="square" lIns="0" tIns="0" rIns="0" bIns="0" rtlCol="0" anchor="ctr"/>
          <a:lstStyle/>
          <a:p>
            <a:pPr algn="ctr" indent="0" marL="0">
              <a:buNone/>
            </a:pPr>
            <a:r>
              <a:rPr lang="en-US" sz="1400" b="1" dirty="0">
                <a:solidFill>
                  <a:srgbClr val="0E2A3B"/>
                </a:solidFill>
                <a:latin typeface="Calibri" pitchFamily="34" charset="0"/>
                <a:ea typeface="Calibri" pitchFamily="34" charset="-122"/>
                <a:cs typeface="Calibri" pitchFamily="34" charset="-120"/>
              </a:rPr>
              <a:t>3</a:t>
            </a:r>
            <a:endParaRPr lang="en-US" sz="1400" dirty="0"/>
          </a:p>
        </p:txBody>
      </p:sp>
      <p:sp>
        <p:nvSpPr>
          <p:cNvPr id="31" name="Text 25"/>
          <p:cNvSpPr txBox="1"/>
          <p:nvPr/>
        </p:nvSpPr>
        <p:spPr>
          <a:xfrm>
            <a:off x="6903720" y="3474720"/>
            <a:ext cx="4663440" cy="320040"/>
          </a:xfrm>
          <a:prstGeom prst="rect">
            <a:avLst/>
          </a:prstGeom>
          <a:noFill/>
          <a:ln/>
        </p:spPr>
        <p:txBody>
          <a:bodyPr wrap="square" lIns="0" tIns="0" rIns="0" bIns="0" rtlCol="0" anchor="t"/>
          <a:lstStyle/>
          <a:p>
            <a:pPr indent="0" marL="0">
              <a:buNone/>
            </a:pPr>
            <a:r>
              <a:rPr lang="en-US" sz="1600" b="1" dirty="0">
                <a:solidFill>
                  <a:srgbClr val="0E2A3B"/>
                </a:solidFill>
                <a:latin typeface="Calibri" pitchFamily="34" charset="0"/>
                <a:ea typeface="Calibri" pitchFamily="34" charset="-122"/>
                <a:cs typeface="Calibri" pitchFamily="34" charset="-120"/>
              </a:rPr>
              <a:t>No completion measure</a:t>
            </a:r>
            <a:endParaRPr lang="en-US" sz="1600" dirty="0"/>
          </a:p>
        </p:txBody>
      </p:sp>
      <p:sp>
        <p:nvSpPr>
          <p:cNvPr id="32" name="Text 26"/>
          <p:cNvSpPr txBox="1"/>
          <p:nvPr/>
        </p:nvSpPr>
        <p:spPr>
          <a:xfrm>
            <a:off x="6903720" y="3813048"/>
            <a:ext cx="4663440" cy="320040"/>
          </a:xfrm>
          <a:prstGeom prst="rect">
            <a:avLst/>
          </a:prstGeom>
          <a:noFill/>
          <a:ln/>
        </p:spPr>
        <p:txBody>
          <a:bodyPr wrap="square" lIns="0" tIns="0" rIns="0" bIns="0" rtlCol="0" anchor="t"/>
          <a:lstStyle/>
          <a:p>
            <a:pPr indent="0" marL="0">
              <a:buNone/>
            </a:pPr>
            <a:r>
              <a:rPr lang="en-US" sz="1300" dirty="0">
                <a:solidFill>
                  <a:srgbClr val="5B6B75"/>
                </a:solidFill>
                <a:latin typeface="Calibri" pitchFamily="34" charset="0"/>
                <a:ea typeface="Calibri" pitchFamily="34" charset="-122"/>
                <a:cs typeface="Calibri" pitchFamily="34" charset="-120"/>
              </a:rPr>
              <a:t>Nobody can see if it worked</a:t>
            </a:r>
            <a:endParaRPr lang="en-US" sz="1300" dirty="0"/>
          </a:p>
        </p:txBody>
      </p:sp>
      <p:sp>
        <p:nvSpPr>
          <p:cNvPr id="33" name="Text 27"/>
          <p:cNvSpPr txBox="1"/>
          <p:nvPr/>
        </p:nvSpPr>
        <p:spPr>
          <a:xfrm>
            <a:off x="548640" y="5349240"/>
            <a:ext cx="8138160" cy="822960"/>
          </a:xfrm>
          <a:prstGeom prst="rect">
            <a:avLst/>
          </a:prstGeom>
          <a:noFill/>
          <a:ln/>
        </p:spPr>
        <p:txBody>
          <a:bodyPr wrap="square" lIns="0" tIns="0" rIns="0" bIns="0" rtlCol="0" anchor="t"/>
          <a:lstStyle/>
          <a:p>
            <a:pPr indent="0" marL="0">
              <a:buNone/>
            </a:pPr>
            <a:r>
              <a:rPr lang="en-US" sz="1500" b="1" dirty="0">
                <a:solidFill>
                  <a:srgbClr val="B8432F"/>
                </a:solidFill>
                <a:latin typeface="Calibri" pitchFamily="34" charset="0"/>
                <a:ea typeface="Calibri" pitchFamily="34" charset="-122"/>
                <a:cs typeface="Calibri" pitchFamily="34" charset="-120"/>
              </a:rPr>
              <a:t>Result: </a:t>
            </a:r>
            <a:pPr indent="0" marL="0">
              <a:buNone/>
            </a:pPr>
            <a:r>
              <a:rPr lang="en-US" sz="1500" dirty="0">
                <a:solidFill>
                  <a:srgbClr val="0E2A3B"/>
                </a:solidFill>
                <a:latin typeface="Calibri" pitchFamily="34" charset="0"/>
                <a:ea typeface="Calibri" pitchFamily="34" charset="-122"/>
                <a:cs typeface="Calibri" pitchFamily="34" charset="-120"/>
              </a:rPr>
              <a:t>rework, slower fault resolution and unplanned contractor spend that erode the savings from the cost programme.</a:t>
            </a:r>
            <a:endParaRPr lang="en-US" sz="1500" dirty="0"/>
          </a:p>
        </p:txBody>
      </p:sp>
    </p:spTree>
  </p:cSld>
  <p:clrMapOvr>
    <a:masterClrMapping/>
  </p:clrMapOvr>
  <p:transition spd="med" advTm="20000">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CURRENT (AS-IS) PROCESS</a:t>
            </a:r>
            <a:endParaRPr lang="en-US" sz="1200" dirty="0"/>
          </a:p>
        </p:txBody>
      </p:sp>
      <p:sp>
        <p:nvSpPr>
          <p:cNvPr id="3" name="Text 1"/>
          <p:cNvSpPr txBox="1"/>
          <p:nvPr/>
        </p:nvSpPr>
        <p:spPr>
          <a:xfrm>
            <a:off x="10241280" y="320040"/>
            <a:ext cx="1371600" cy="274320"/>
          </a:xfrm>
          <a:prstGeom prst="rect">
            <a:avLst/>
          </a:prstGeom>
          <a:noFill/>
          <a:ln/>
        </p:spPr>
        <p:txBody>
          <a:bodyPr wrap="square" lIns="0" tIns="0" rIns="0" bIns="0" rtlCol="0" anchor="ctr"/>
          <a:lstStyle/>
          <a:p>
            <a:pPr algn="r" indent="0" marL="0">
              <a:buNone/>
            </a:pPr>
            <a:r>
              <a:rPr lang="en-US" sz="1100" dirty="0">
                <a:solidFill>
                  <a:srgbClr val="5B6B75"/>
                </a:solidFill>
                <a:latin typeface="Calibri" pitchFamily="34" charset="0"/>
                <a:ea typeface="Calibri" pitchFamily="34" charset="-122"/>
                <a:cs typeface="Calibri" pitchFamily="34" charset="-120"/>
              </a:rPr>
              <a:t>05 / 20</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0E2A3B"/>
                </a:solidFill>
                <a:latin typeface="Cambria" pitchFamily="34" charset="0"/>
                <a:ea typeface="Cambria" pitchFamily="34" charset="-122"/>
                <a:cs typeface="Cambria" pitchFamily="34" charset="-120"/>
              </a:rPr>
              <a:t>Today, the gap appears after the employee has left</a:t>
            </a:r>
            <a:endParaRPr lang="en-US" sz="3000" dirty="0"/>
          </a:p>
        </p:txBody>
      </p:sp>
      <p:sp>
        <p:nvSpPr>
          <p:cNvPr id="5" name="Shape 3"/>
          <p:cNvSpPr/>
          <p:nvPr/>
        </p:nvSpPr>
        <p:spPr>
          <a:xfrm>
            <a:off x="548640" y="1645920"/>
            <a:ext cx="2057400" cy="1097280"/>
          </a:xfrm>
          <a:prstGeom prst="roundRect">
            <a:avLst>
              <a:gd name="adj" fmla="val 6667"/>
            </a:avLst>
          </a:prstGeom>
          <a:solidFill>
            <a:srgbClr val="1F6F78"/>
          </a:solidFill>
          <a:ln w="9525">
            <a:solidFill>
              <a:srgbClr val="1F6F78"/>
            </a:solidFill>
            <a:prstDash val="solid"/>
          </a:ln>
        </p:spPr>
      </p:sp>
      <p:sp>
        <p:nvSpPr>
          <p:cNvPr id="6" name="Text 4"/>
          <p:cNvSpPr txBox="1"/>
          <p:nvPr/>
        </p:nvSpPr>
        <p:spPr>
          <a:xfrm>
            <a:off x="685800" y="1645920"/>
            <a:ext cx="1783080" cy="10972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Manager confirms exit</a:t>
            </a:r>
            <a:endParaRPr lang="en-US" sz="1500" dirty="0"/>
          </a:p>
        </p:txBody>
      </p:sp>
      <p:sp>
        <p:nvSpPr>
          <p:cNvPr id="7" name="Shape 5"/>
          <p:cNvSpPr/>
          <p:nvPr/>
        </p:nvSpPr>
        <p:spPr>
          <a:xfrm>
            <a:off x="2615184" y="2194560"/>
            <a:ext cx="164592" cy="0"/>
          </a:xfrm>
          <a:prstGeom prst="line">
            <a:avLst/>
          </a:prstGeom>
          <a:noFill/>
          <a:ln w="19050">
            <a:solidFill>
              <a:srgbClr val="5B6B75"/>
            </a:solidFill>
            <a:prstDash val="solid"/>
            <a:tailEnd type="triangle"/>
          </a:ln>
        </p:spPr>
      </p:sp>
      <p:sp>
        <p:nvSpPr>
          <p:cNvPr id="8" name="Shape 6"/>
          <p:cNvSpPr/>
          <p:nvPr/>
        </p:nvSpPr>
        <p:spPr>
          <a:xfrm>
            <a:off x="548640" y="2971800"/>
            <a:ext cx="2057400" cy="1234440"/>
          </a:xfrm>
          <a:prstGeom prst="roundRect">
            <a:avLst>
              <a:gd name="adj" fmla="val 5926"/>
            </a:avLst>
          </a:prstGeom>
          <a:solidFill>
            <a:srgbClr val="F3F6F7"/>
          </a:solidFill>
          <a:ln w="9525">
            <a:solidFill>
              <a:srgbClr val="F3F6F7"/>
            </a:solidFill>
            <a:prstDash val="solid"/>
          </a:ln>
        </p:spPr>
      </p:sp>
      <p:sp>
        <p:nvSpPr>
          <p:cNvPr id="9" name="Text 7"/>
          <p:cNvSpPr txBox="1"/>
          <p:nvPr/>
        </p:nvSpPr>
        <p:spPr>
          <a:xfrm>
            <a:off x="685800" y="3063240"/>
            <a:ext cx="1783080" cy="1051560"/>
          </a:xfrm>
          <a:prstGeom prst="rect">
            <a:avLst/>
          </a:prstGeom>
          <a:noFill/>
          <a:ln/>
        </p:spPr>
        <p:txBody>
          <a:bodyPr wrap="square" lIns="0" tIns="0" rIns="0" bIns="0" rtlCol="0" anchor="t"/>
          <a:lstStyle/>
          <a:p>
            <a:pPr indent="0" marL="0">
              <a:buNone/>
            </a:pPr>
            <a:r>
              <a:rPr lang="en-US" sz="1250" dirty="0">
                <a:solidFill>
                  <a:srgbClr val="0E2A3B"/>
                </a:solidFill>
                <a:latin typeface="Calibri" pitchFamily="34" charset="0"/>
                <a:ea typeface="Calibri" pitchFamily="34" charset="-122"/>
                <a:cs typeface="Calibri" pitchFamily="34" charset="-120"/>
              </a:rPr>
              <a:t>No criticality check (CAC not measured)</a:t>
            </a:r>
            <a:endParaRPr lang="en-US" sz="1250" dirty="0"/>
          </a:p>
        </p:txBody>
      </p:sp>
      <p:sp>
        <p:nvSpPr>
          <p:cNvPr id="10" name="Shape 8"/>
          <p:cNvSpPr/>
          <p:nvPr/>
        </p:nvSpPr>
        <p:spPr>
          <a:xfrm>
            <a:off x="2788920" y="1645920"/>
            <a:ext cx="2057400" cy="1097280"/>
          </a:xfrm>
          <a:prstGeom prst="roundRect">
            <a:avLst>
              <a:gd name="adj" fmla="val 6667"/>
            </a:avLst>
          </a:prstGeom>
          <a:solidFill>
            <a:srgbClr val="1F6F78"/>
          </a:solidFill>
          <a:ln w="9525">
            <a:solidFill>
              <a:srgbClr val="1F6F78"/>
            </a:solidFill>
            <a:prstDash val="solid"/>
          </a:ln>
        </p:spPr>
      </p:sp>
      <p:sp>
        <p:nvSpPr>
          <p:cNvPr id="11" name="Text 9"/>
          <p:cNvSpPr txBox="1"/>
          <p:nvPr/>
        </p:nvSpPr>
        <p:spPr>
          <a:xfrm>
            <a:off x="2926080" y="1645920"/>
            <a:ext cx="1783080" cy="10972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Employee prepares handover</a:t>
            </a:r>
            <a:endParaRPr lang="en-US" sz="1500" dirty="0"/>
          </a:p>
        </p:txBody>
      </p:sp>
      <p:sp>
        <p:nvSpPr>
          <p:cNvPr id="12" name="Shape 10"/>
          <p:cNvSpPr/>
          <p:nvPr/>
        </p:nvSpPr>
        <p:spPr>
          <a:xfrm>
            <a:off x="4855464" y="2194560"/>
            <a:ext cx="164592" cy="0"/>
          </a:xfrm>
          <a:prstGeom prst="line">
            <a:avLst/>
          </a:prstGeom>
          <a:noFill/>
          <a:ln w="19050">
            <a:solidFill>
              <a:srgbClr val="5B6B75"/>
            </a:solidFill>
            <a:prstDash val="solid"/>
            <a:tailEnd type="triangle"/>
          </a:ln>
        </p:spPr>
      </p:sp>
      <p:sp>
        <p:nvSpPr>
          <p:cNvPr id="13" name="Shape 11"/>
          <p:cNvSpPr/>
          <p:nvPr/>
        </p:nvSpPr>
        <p:spPr>
          <a:xfrm>
            <a:off x="2788920" y="2971800"/>
            <a:ext cx="2057400" cy="1234440"/>
          </a:xfrm>
          <a:prstGeom prst="roundRect">
            <a:avLst>
              <a:gd name="adj" fmla="val 5926"/>
            </a:avLst>
          </a:prstGeom>
          <a:solidFill>
            <a:srgbClr val="F3F6F7"/>
          </a:solidFill>
          <a:ln w="9525">
            <a:solidFill>
              <a:srgbClr val="F3F6F7"/>
            </a:solidFill>
            <a:prstDash val="solid"/>
          </a:ln>
        </p:spPr>
      </p:sp>
      <p:sp>
        <p:nvSpPr>
          <p:cNvPr id="14" name="Text 12"/>
          <p:cNvSpPr txBox="1"/>
          <p:nvPr/>
        </p:nvSpPr>
        <p:spPr>
          <a:xfrm>
            <a:off x="2926080" y="3063240"/>
            <a:ext cx="1783080" cy="1051560"/>
          </a:xfrm>
          <a:prstGeom prst="rect">
            <a:avLst/>
          </a:prstGeom>
          <a:noFill/>
          <a:ln/>
        </p:spPr>
        <p:txBody>
          <a:bodyPr wrap="square" lIns="0" tIns="0" rIns="0" bIns="0" rtlCol="0" anchor="t"/>
          <a:lstStyle/>
          <a:p>
            <a:pPr indent="0" marL="0">
              <a:buNone/>
            </a:pPr>
            <a:r>
              <a:rPr lang="en-US" sz="1250" dirty="0">
                <a:solidFill>
                  <a:srgbClr val="0E2A3B"/>
                </a:solidFill>
                <a:latin typeface="Calibri" pitchFamily="34" charset="0"/>
                <a:ea typeface="Calibri" pitchFamily="34" charset="-122"/>
                <a:cs typeface="Calibri" pitchFamily="34" charset="-120"/>
              </a:rPr>
              <a:t>Own discretion, no template (VHCR not measured)</a:t>
            </a:r>
            <a:endParaRPr lang="en-US" sz="1250" dirty="0"/>
          </a:p>
        </p:txBody>
      </p:sp>
      <p:sp>
        <p:nvSpPr>
          <p:cNvPr id="15" name="Shape 13"/>
          <p:cNvSpPr/>
          <p:nvPr/>
        </p:nvSpPr>
        <p:spPr>
          <a:xfrm>
            <a:off x="5029200" y="1645920"/>
            <a:ext cx="2057400" cy="1097280"/>
          </a:xfrm>
          <a:prstGeom prst="roundRect">
            <a:avLst>
              <a:gd name="adj" fmla="val 6667"/>
            </a:avLst>
          </a:prstGeom>
          <a:solidFill>
            <a:srgbClr val="1F6F78"/>
          </a:solidFill>
          <a:ln w="9525">
            <a:solidFill>
              <a:srgbClr val="1F6F78"/>
            </a:solidFill>
            <a:prstDash val="solid"/>
          </a:ln>
        </p:spPr>
      </p:sp>
      <p:sp>
        <p:nvSpPr>
          <p:cNvPr id="16" name="Text 14"/>
          <p:cNvSpPr txBox="1"/>
          <p:nvPr/>
        </p:nvSpPr>
        <p:spPr>
          <a:xfrm>
            <a:off x="5166360" y="1645920"/>
            <a:ext cx="1783080" cy="10972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People admin checklist</a:t>
            </a:r>
            <a:endParaRPr lang="en-US" sz="1500" dirty="0"/>
          </a:p>
        </p:txBody>
      </p:sp>
      <p:sp>
        <p:nvSpPr>
          <p:cNvPr id="17" name="Shape 15"/>
          <p:cNvSpPr/>
          <p:nvPr/>
        </p:nvSpPr>
        <p:spPr>
          <a:xfrm>
            <a:off x="7095744" y="2194560"/>
            <a:ext cx="164592" cy="0"/>
          </a:xfrm>
          <a:prstGeom prst="line">
            <a:avLst/>
          </a:prstGeom>
          <a:noFill/>
          <a:ln w="19050">
            <a:solidFill>
              <a:srgbClr val="5B6B75"/>
            </a:solidFill>
            <a:prstDash val="solid"/>
            <a:tailEnd type="triangle"/>
          </a:ln>
        </p:spPr>
      </p:sp>
      <p:sp>
        <p:nvSpPr>
          <p:cNvPr id="18" name="Shape 16"/>
          <p:cNvSpPr/>
          <p:nvPr/>
        </p:nvSpPr>
        <p:spPr>
          <a:xfrm>
            <a:off x="5029200" y="2971800"/>
            <a:ext cx="2057400" cy="1234440"/>
          </a:xfrm>
          <a:prstGeom prst="roundRect">
            <a:avLst>
              <a:gd name="adj" fmla="val 5926"/>
            </a:avLst>
          </a:prstGeom>
          <a:solidFill>
            <a:srgbClr val="F3F6F7"/>
          </a:solidFill>
          <a:ln w="9525">
            <a:solidFill>
              <a:srgbClr val="F3F6F7"/>
            </a:solidFill>
            <a:prstDash val="solid"/>
          </a:ln>
        </p:spPr>
      </p:sp>
      <p:sp>
        <p:nvSpPr>
          <p:cNvPr id="19" name="Text 17"/>
          <p:cNvSpPr txBox="1"/>
          <p:nvPr/>
        </p:nvSpPr>
        <p:spPr>
          <a:xfrm>
            <a:off x="5166360" y="3063240"/>
            <a:ext cx="1783080" cy="1051560"/>
          </a:xfrm>
          <a:prstGeom prst="rect">
            <a:avLst/>
          </a:prstGeom>
          <a:noFill/>
          <a:ln/>
        </p:spPr>
        <p:txBody>
          <a:bodyPr wrap="square" lIns="0" tIns="0" rIns="0" bIns="0" rtlCol="0" anchor="t"/>
          <a:lstStyle/>
          <a:p>
            <a:pPr indent="0" marL="0">
              <a:buNone/>
            </a:pPr>
            <a:r>
              <a:rPr lang="en-US" sz="1250" dirty="0">
                <a:solidFill>
                  <a:srgbClr val="0E2A3B"/>
                </a:solidFill>
                <a:latin typeface="Calibri" pitchFamily="34" charset="0"/>
                <a:ea typeface="Calibri" pitchFamily="34" charset="-122"/>
                <a:cs typeface="Calibri" pitchFamily="34" charset="-120"/>
              </a:rPr>
              <a:t>Covers admin, not readiness</a:t>
            </a:r>
            <a:endParaRPr lang="en-US" sz="1250" dirty="0"/>
          </a:p>
        </p:txBody>
      </p:sp>
      <p:sp>
        <p:nvSpPr>
          <p:cNvPr id="20" name="Shape 18"/>
          <p:cNvSpPr/>
          <p:nvPr/>
        </p:nvSpPr>
        <p:spPr>
          <a:xfrm>
            <a:off x="7269480" y="1645920"/>
            <a:ext cx="2057400" cy="1097280"/>
          </a:xfrm>
          <a:prstGeom prst="roundRect">
            <a:avLst>
              <a:gd name="adj" fmla="val 6667"/>
            </a:avLst>
          </a:prstGeom>
          <a:solidFill>
            <a:srgbClr val="1F6F78"/>
          </a:solidFill>
          <a:ln w="9525">
            <a:solidFill>
              <a:srgbClr val="1F6F78"/>
            </a:solidFill>
            <a:prstDash val="solid"/>
          </a:ln>
        </p:spPr>
      </p:sp>
      <p:sp>
        <p:nvSpPr>
          <p:cNvPr id="21" name="Text 19"/>
          <p:cNvSpPr txBox="1"/>
          <p:nvPr/>
        </p:nvSpPr>
        <p:spPr>
          <a:xfrm>
            <a:off x="7406640" y="1645920"/>
            <a:ext cx="1783080" cy="10972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Access revoked on final day</a:t>
            </a:r>
            <a:endParaRPr lang="en-US" sz="1500" dirty="0"/>
          </a:p>
        </p:txBody>
      </p:sp>
      <p:sp>
        <p:nvSpPr>
          <p:cNvPr id="22" name="Shape 20"/>
          <p:cNvSpPr/>
          <p:nvPr/>
        </p:nvSpPr>
        <p:spPr>
          <a:xfrm>
            <a:off x="9336024" y="2194560"/>
            <a:ext cx="164592" cy="0"/>
          </a:xfrm>
          <a:prstGeom prst="line">
            <a:avLst/>
          </a:prstGeom>
          <a:noFill/>
          <a:ln w="19050">
            <a:solidFill>
              <a:srgbClr val="5B6B75"/>
            </a:solidFill>
            <a:prstDash val="solid"/>
            <a:tailEnd type="triangle"/>
          </a:ln>
        </p:spPr>
      </p:sp>
      <p:sp>
        <p:nvSpPr>
          <p:cNvPr id="23" name="Shape 21"/>
          <p:cNvSpPr/>
          <p:nvPr/>
        </p:nvSpPr>
        <p:spPr>
          <a:xfrm>
            <a:off x="7269480" y="2971800"/>
            <a:ext cx="2057400" cy="1234440"/>
          </a:xfrm>
          <a:prstGeom prst="roundRect">
            <a:avLst>
              <a:gd name="adj" fmla="val 5926"/>
            </a:avLst>
          </a:prstGeom>
          <a:solidFill>
            <a:srgbClr val="F3F6F7"/>
          </a:solidFill>
          <a:ln w="9525">
            <a:solidFill>
              <a:srgbClr val="F3F6F7"/>
            </a:solidFill>
            <a:prstDash val="solid"/>
          </a:ln>
        </p:spPr>
      </p:sp>
      <p:sp>
        <p:nvSpPr>
          <p:cNvPr id="24" name="Text 22"/>
          <p:cNvSpPr txBox="1"/>
          <p:nvPr/>
        </p:nvSpPr>
        <p:spPr>
          <a:xfrm>
            <a:off x="7406640" y="3063240"/>
            <a:ext cx="1783080" cy="1051560"/>
          </a:xfrm>
          <a:prstGeom prst="rect">
            <a:avLst/>
          </a:prstGeom>
          <a:noFill/>
          <a:ln/>
        </p:spPr>
        <p:txBody>
          <a:bodyPr wrap="square" lIns="0" tIns="0" rIns="0" bIns="0" rtlCol="0" anchor="t"/>
          <a:lstStyle/>
          <a:p>
            <a:pPr indent="0" marL="0">
              <a:buNone/>
            </a:pPr>
            <a:r>
              <a:rPr lang="en-US" sz="1250" dirty="0">
                <a:solidFill>
                  <a:srgbClr val="0E2A3B"/>
                </a:solidFill>
                <a:latin typeface="Calibri" pitchFamily="34" charset="0"/>
                <a:ea typeface="Calibri" pitchFamily="34" charset="-122"/>
                <a:cs typeface="Calibri" pitchFamily="34" charset="-120"/>
              </a:rPr>
              <a:t>Notice period can expire first (HVLT not measured)</a:t>
            </a:r>
            <a:endParaRPr lang="en-US" sz="1250" dirty="0"/>
          </a:p>
        </p:txBody>
      </p:sp>
      <p:sp>
        <p:nvSpPr>
          <p:cNvPr id="25" name="Shape 23"/>
          <p:cNvSpPr/>
          <p:nvPr/>
        </p:nvSpPr>
        <p:spPr>
          <a:xfrm>
            <a:off x="9509760" y="1645920"/>
            <a:ext cx="2057400" cy="1097280"/>
          </a:xfrm>
          <a:prstGeom prst="roundRect">
            <a:avLst>
              <a:gd name="adj" fmla="val 6667"/>
            </a:avLst>
          </a:prstGeom>
          <a:solidFill>
            <a:srgbClr val="B8432F"/>
          </a:solidFill>
          <a:ln w="9525">
            <a:solidFill>
              <a:srgbClr val="B8432F"/>
            </a:solidFill>
            <a:prstDash val="solid"/>
          </a:ln>
        </p:spPr>
      </p:sp>
      <p:sp>
        <p:nvSpPr>
          <p:cNvPr id="26" name="Text 24"/>
          <p:cNvSpPr txBox="1"/>
          <p:nvPr/>
        </p:nvSpPr>
        <p:spPr>
          <a:xfrm>
            <a:off x="9646920" y="1645920"/>
            <a:ext cx="1783080" cy="10972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Receiving team finds gaps</a:t>
            </a:r>
            <a:endParaRPr lang="en-US" sz="1500" dirty="0"/>
          </a:p>
        </p:txBody>
      </p:sp>
      <p:sp>
        <p:nvSpPr>
          <p:cNvPr id="27" name="Shape 25"/>
          <p:cNvSpPr/>
          <p:nvPr/>
        </p:nvSpPr>
        <p:spPr>
          <a:xfrm>
            <a:off x="9509760" y="2971800"/>
            <a:ext cx="2057400" cy="1234440"/>
          </a:xfrm>
          <a:prstGeom prst="roundRect">
            <a:avLst>
              <a:gd name="adj" fmla="val 5926"/>
            </a:avLst>
          </a:prstGeom>
          <a:solidFill>
            <a:srgbClr val="F7E3DF"/>
          </a:solidFill>
          <a:ln w="9525">
            <a:solidFill>
              <a:srgbClr val="F7E3DF"/>
            </a:solidFill>
            <a:prstDash val="solid"/>
          </a:ln>
        </p:spPr>
      </p:sp>
      <p:sp>
        <p:nvSpPr>
          <p:cNvPr id="28" name="Text 26"/>
          <p:cNvSpPr txBox="1"/>
          <p:nvPr/>
        </p:nvSpPr>
        <p:spPr>
          <a:xfrm>
            <a:off x="9646920" y="3063240"/>
            <a:ext cx="1783080" cy="1051560"/>
          </a:xfrm>
          <a:prstGeom prst="rect">
            <a:avLst/>
          </a:prstGeom>
          <a:noFill/>
          <a:ln/>
        </p:spPr>
        <p:txBody>
          <a:bodyPr wrap="square" lIns="0" tIns="0" rIns="0" bIns="0" rtlCol="0" anchor="t"/>
          <a:lstStyle/>
          <a:p>
            <a:pPr indent="0" marL="0">
              <a:buNone/>
            </a:pPr>
            <a:r>
              <a:rPr lang="en-US" sz="1250" dirty="0">
                <a:solidFill>
                  <a:srgbClr val="B8432F"/>
                </a:solidFill>
                <a:latin typeface="Calibri" pitchFamily="34" charset="0"/>
                <a:ea typeface="Calibri" pitchFamily="34" charset="-122"/>
                <a:cs typeface="Calibri" pitchFamily="34" charset="-120"/>
              </a:rPr>
              <a:t>Rework, escalation, premium contractors</a:t>
            </a:r>
            <a:endParaRPr lang="en-US" sz="1250" dirty="0"/>
          </a:p>
        </p:txBody>
      </p:sp>
      <p:sp>
        <p:nvSpPr>
          <p:cNvPr id="29" name="Shape 27"/>
          <p:cNvSpPr/>
          <p:nvPr/>
        </p:nvSpPr>
        <p:spPr>
          <a:xfrm>
            <a:off x="548640" y="4754880"/>
            <a:ext cx="548640" cy="548640"/>
          </a:xfrm>
          <a:prstGeom prst="ellipse">
            <a:avLst/>
          </a:prstGeom>
          <a:solidFill>
            <a:srgbClr val="B8432F"/>
          </a:solidFill>
          <a:ln w="12700">
            <a:solidFill>
              <a:srgbClr val="B8432F"/>
            </a:solidFill>
            <a:prstDash val="solid"/>
          </a:ln>
        </p:spPr>
      </p:sp>
      <p:pic>
        <p:nvPicPr>
          <p:cNvPr id="30" name="Image 0" descr="preencoded.png">    </p:cNvPr>
          <p:cNvPicPr>
            <a:picLocks noChangeAspect="1"/>
          </p:cNvPicPr>
          <p:nvPr/>
        </p:nvPicPr>
        <p:blipFill>
          <a:blip r:embed="rId1"/>
          <a:stretch>
            <a:fillRect/>
          </a:stretch>
        </p:blipFill>
        <p:spPr>
          <a:xfrm>
            <a:off x="702259" y="4908499"/>
            <a:ext cx="241402" cy="241402"/>
          </a:xfrm>
          <a:prstGeom prst="rect">
            <a:avLst/>
          </a:prstGeom>
        </p:spPr>
      </p:pic>
      <p:sp>
        <p:nvSpPr>
          <p:cNvPr id="31" name="Text 28"/>
          <p:cNvSpPr txBox="1"/>
          <p:nvPr/>
        </p:nvSpPr>
        <p:spPr>
          <a:xfrm>
            <a:off x="1280160" y="4754880"/>
            <a:ext cx="7315200" cy="822960"/>
          </a:xfrm>
          <a:prstGeom prst="rect">
            <a:avLst/>
          </a:prstGeom>
          <a:noFill/>
          <a:ln/>
        </p:spPr>
        <p:txBody>
          <a:bodyPr wrap="square" lIns="0" tIns="0" rIns="0" bIns="0" rtlCol="0" anchor="t"/>
          <a:lstStyle/>
          <a:p>
            <a:pPr indent="0" marL="0">
              <a:buNone/>
            </a:pPr>
            <a:r>
              <a:rPr lang="en-US" sz="1500" dirty="0">
                <a:solidFill>
                  <a:srgbClr val="0E2A3B"/>
                </a:solidFill>
                <a:latin typeface="Calibri" pitchFamily="34" charset="0"/>
                <a:ea typeface="Calibri" pitchFamily="34" charset="-122"/>
                <a:cs typeface="Calibri" pitchFamily="34" charset="-120"/>
              </a:rPr>
              <a:t>The administrative process ends when access is revoked.</a:t>
            </a:r>
            <a:endParaRPr lang="en-US" sz="1500" dirty="0"/>
          </a:p>
          <a:p>
            <a:pPr indent="0" marL="0">
              <a:buNone/>
            </a:pPr>
            <a:r>
              <a:rPr lang="en-US" sz="1500" dirty="0">
                <a:solidFill>
                  <a:srgbClr val="0E2A3B"/>
                </a:solidFill>
                <a:latin typeface="Calibri" pitchFamily="34" charset="0"/>
                <a:ea typeface="Calibri" pitchFamily="34" charset="-122"/>
                <a:cs typeface="Calibri" pitchFamily="34" charset="-120"/>
              </a:rPr>
              <a:t>Knowledge rebuilding starts after that point and nobody controls it.</a:t>
            </a:r>
            <a:endParaRPr lang="en-US" sz="1500" dirty="0"/>
          </a:p>
        </p:txBody>
      </p:sp>
      <p:sp>
        <p:nvSpPr>
          <p:cNvPr id="32" name="Text 29"/>
          <p:cNvSpPr txBox="1"/>
          <p:nvPr/>
        </p:nvSpPr>
        <p:spPr>
          <a:xfrm>
            <a:off x="548640" y="6400800"/>
            <a:ext cx="8046720" cy="274320"/>
          </a:xfrm>
          <a:prstGeom prst="rect">
            <a:avLst/>
          </a:prstGeom>
          <a:noFill/>
          <a:ln/>
        </p:spPr>
        <p:txBody>
          <a:bodyPr wrap="square" lIns="0" tIns="0" rIns="0" bIns="0" rtlCol="0" anchor="ctr"/>
          <a:lstStyle/>
          <a:p>
            <a:pPr indent="0" marL="0">
              <a:buNone/>
            </a:pPr>
            <a:r>
              <a:rPr lang="en-US" sz="900" dirty="0">
                <a:solidFill>
                  <a:srgbClr val="5B6B75"/>
                </a:solidFill>
                <a:latin typeface="Calibri" pitchFamily="34" charset="0"/>
                <a:ea typeface="Calibri" pitchFamily="34" charset="-122"/>
                <a:cs typeface="Calibri" pitchFamily="34" charset="-120"/>
              </a:rPr>
              <a:t>Simplified from Figure 1, AS-IS BPMN model (A2-D1).</a:t>
            </a:r>
            <a:endParaRPr lang="en-US" sz="900" dirty="0"/>
          </a:p>
        </p:txBody>
      </p:sp>
    </p:spTree>
  </p:cSld>
  <p:clrMapOvr>
    <a:masterClrMapping/>
  </p:clrMapOvr>
  <p:transition spd="med" advTm="20000">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COST OF INACTION</a:t>
            </a:r>
            <a:endParaRPr lang="en-US" sz="1200" dirty="0"/>
          </a:p>
        </p:txBody>
      </p:sp>
      <p:sp>
        <p:nvSpPr>
          <p:cNvPr id="3" name="Text 1"/>
          <p:cNvSpPr txBox="1"/>
          <p:nvPr/>
        </p:nvSpPr>
        <p:spPr>
          <a:xfrm>
            <a:off x="10241280" y="320040"/>
            <a:ext cx="1371600" cy="274320"/>
          </a:xfrm>
          <a:prstGeom prst="rect">
            <a:avLst/>
          </a:prstGeom>
          <a:noFill/>
          <a:ln/>
        </p:spPr>
        <p:txBody>
          <a:bodyPr wrap="square" lIns="0" tIns="0" rIns="0" bIns="0" rtlCol="0" anchor="ctr"/>
          <a:lstStyle/>
          <a:p>
            <a:pPr algn="r" indent="0" marL="0">
              <a:buNone/>
            </a:pPr>
            <a:r>
              <a:rPr lang="en-US" sz="1100" dirty="0">
                <a:solidFill>
                  <a:srgbClr val="5B6B75"/>
                </a:solidFill>
                <a:latin typeface="Calibri" pitchFamily="34" charset="0"/>
                <a:ea typeface="Calibri" pitchFamily="34" charset="-122"/>
                <a:cs typeface="Calibri" pitchFamily="34" charset="-120"/>
              </a:rPr>
              <a:t>06 / 20</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0E2A3B"/>
                </a:solidFill>
                <a:latin typeface="Cambria" pitchFamily="34" charset="0"/>
                <a:ea typeface="Cambria" pitchFamily="34" charset="-122"/>
                <a:cs typeface="Cambria" pitchFamily="34" charset="-120"/>
              </a:rPr>
              <a:t>The hidden cost: up to NZ$4.0m every year</a:t>
            </a:r>
            <a:endParaRPr lang="en-US" sz="3000" dirty="0"/>
          </a:p>
        </p:txBody>
      </p:sp>
      <p:graphicFrame>
        <p:nvGraphicFramePr>
          <p:cNvPr id="5" name="Chart 0" descr=""/>
          <p:cNvGraphicFramePr/>
          <p:nvPr/>
        </p:nvGraphicFramePr>
        <p:xfrm>
          <a:off x="548640" y="1463040"/>
          <a:ext cx="5669280" cy="47548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675120" y="1554480"/>
            <a:ext cx="4846320" cy="365760"/>
          </a:xfrm>
          <a:prstGeom prst="rect">
            <a:avLst/>
          </a:prstGeom>
          <a:noFill/>
          <a:ln/>
        </p:spPr>
        <p:txBody>
          <a:bodyPr wrap="square" lIns="0" tIns="0" rIns="0" bIns="0" rtlCol="0" anchor="t"/>
          <a:lstStyle/>
          <a:p>
            <a:pPr indent="0" marL="0">
              <a:buNone/>
            </a:pPr>
            <a:r>
              <a:rPr lang="en-US" sz="1600" b="1" dirty="0">
                <a:solidFill>
                  <a:srgbClr val="1F6F78"/>
                </a:solidFill>
                <a:latin typeface="Calibri" pitchFamily="34" charset="0"/>
                <a:ea typeface="Calibri" pitchFamily="34" charset="-122"/>
                <a:cs typeface="Calibri" pitchFamily="34" charset="-120"/>
              </a:rPr>
              <a:t>Current baseline</a:t>
            </a:r>
            <a:endParaRPr lang="en-US" sz="1600" dirty="0"/>
          </a:p>
        </p:txBody>
      </p:sp>
      <p:sp>
        <p:nvSpPr>
          <p:cNvPr id="7" name="Shape 4"/>
          <p:cNvSpPr/>
          <p:nvPr/>
        </p:nvSpPr>
        <p:spPr>
          <a:xfrm>
            <a:off x="6675120" y="2121408"/>
            <a:ext cx="256032" cy="256032"/>
          </a:xfrm>
          <a:prstGeom prst="ellipse">
            <a:avLst/>
          </a:prstGeom>
          <a:solidFill>
            <a:srgbClr val="B8432F"/>
          </a:solidFill>
          <a:ln w="12700">
            <a:solidFill>
              <a:srgbClr val="B8432F"/>
            </a:solidFill>
            <a:prstDash val="solid"/>
          </a:ln>
        </p:spPr>
      </p:sp>
      <p:sp>
        <p:nvSpPr>
          <p:cNvPr id="8" name="Text 5"/>
          <p:cNvSpPr txBox="1"/>
          <p:nvPr/>
        </p:nvSpPr>
        <p:spPr>
          <a:xfrm>
            <a:off x="7086600" y="2011680"/>
            <a:ext cx="4480560" cy="274320"/>
          </a:xfrm>
          <a:prstGeom prst="rect">
            <a:avLst/>
          </a:prstGeom>
          <a:noFill/>
          <a:ln/>
        </p:spPr>
        <p:txBody>
          <a:bodyPr wrap="square" lIns="0" tIns="0" rIns="0" bIns="0" rtlCol="0" anchor="t"/>
          <a:lstStyle/>
          <a:p>
            <a:pPr indent="0" marL="0">
              <a:buNone/>
            </a:pPr>
            <a:r>
              <a:rPr lang="en-US" sz="1400" b="1" dirty="0">
                <a:solidFill>
                  <a:srgbClr val="0E2A3B"/>
                </a:solidFill>
                <a:latin typeface="Calibri" pitchFamily="34" charset="0"/>
                <a:ea typeface="Calibri" pitchFamily="34" charset="-122"/>
                <a:cs typeface="Calibri" pitchFamily="34" charset="-120"/>
              </a:rPr>
              <a:t>Verified handover completion</a:t>
            </a:r>
            <a:endParaRPr lang="en-US" sz="1400" dirty="0"/>
          </a:p>
        </p:txBody>
      </p:sp>
      <p:sp>
        <p:nvSpPr>
          <p:cNvPr id="9" name="Text 6"/>
          <p:cNvSpPr txBox="1"/>
          <p:nvPr/>
        </p:nvSpPr>
        <p:spPr>
          <a:xfrm>
            <a:off x="7086600" y="2304288"/>
            <a:ext cx="4480560" cy="274320"/>
          </a:xfrm>
          <a:prstGeom prst="rect">
            <a:avLst/>
          </a:prstGeom>
          <a:noFill/>
          <a:ln/>
        </p:spPr>
        <p:txBody>
          <a:bodyPr wrap="square" lIns="0" tIns="0" rIns="0" bIns="0" rtlCol="0" anchor="t"/>
          <a:lstStyle/>
          <a:p>
            <a:pPr indent="0" marL="0">
              <a:buNone/>
            </a:pPr>
            <a:r>
              <a:rPr lang="en-US" sz="1300" dirty="0">
                <a:solidFill>
                  <a:srgbClr val="5B6B75"/>
                </a:solidFill>
                <a:latin typeface="Calibri" pitchFamily="34" charset="0"/>
                <a:ea typeface="Calibri" pitchFamily="34" charset="-122"/>
                <a:cs typeface="Calibri" pitchFamily="34" charset="-120"/>
              </a:rPr>
              <a:t>Below 50% (estimate)</a:t>
            </a:r>
            <a:endParaRPr lang="en-US" sz="1300" dirty="0"/>
          </a:p>
        </p:txBody>
      </p:sp>
      <p:sp>
        <p:nvSpPr>
          <p:cNvPr id="10" name="Shape 7"/>
          <p:cNvSpPr/>
          <p:nvPr/>
        </p:nvSpPr>
        <p:spPr>
          <a:xfrm>
            <a:off x="6675120" y="2852928"/>
            <a:ext cx="256032" cy="256032"/>
          </a:xfrm>
          <a:prstGeom prst="ellipse">
            <a:avLst/>
          </a:prstGeom>
          <a:solidFill>
            <a:srgbClr val="E8A33D"/>
          </a:solidFill>
          <a:ln w="12700">
            <a:solidFill>
              <a:srgbClr val="E8A33D"/>
            </a:solidFill>
            <a:prstDash val="solid"/>
          </a:ln>
        </p:spPr>
      </p:sp>
      <p:sp>
        <p:nvSpPr>
          <p:cNvPr id="11" name="Text 8"/>
          <p:cNvSpPr txBox="1"/>
          <p:nvPr/>
        </p:nvSpPr>
        <p:spPr>
          <a:xfrm>
            <a:off x="7086600" y="2743200"/>
            <a:ext cx="4480560" cy="274320"/>
          </a:xfrm>
          <a:prstGeom prst="rect">
            <a:avLst/>
          </a:prstGeom>
          <a:noFill/>
          <a:ln/>
        </p:spPr>
        <p:txBody>
          <a:bodyPr wrap="square" lIns="0" tIns="0" rIns="0" bIns="0" rtlCol="0" anchor="t"/>
          <a:lstStyle/>
          <a:p>
            <a:pPr indent="0" marL="0">
              <a:buNone/>
            </a:pPr>
            <a:r>
              <a:rPr lang="en-US" sz="1400" b="1" dirty="0">
                <a:solidFill>
                  <a:srgbClr val="0E2A3B"/>
                </a:solidFill>
                <a:latin typeface="Calibri" pitchFamily="34" charset="0"/>
                <a:ea typeface="Calibri" pitchFamily="34" charset="-122"/>
                <a:cs typeface="Calibri" pitchFamily="34" charset="-120"/>
              </a:rPr>
              <a:t>Criticality assessment coverage</a:t>
            </a:r>
            <a:endParaRPr lang="en-US" sz="1400" dirty="0"/>
          </a:p>
        </p:txBody>
      </p:sp>
      <p:sp>
        <p:nvSpPr>
          <p:cNvPr id="12" name="Text 9"/>
          <p:cNvSpPr txBox="1"/>
          <p:nvPr/>
        </p:nvSpPr>
        <p:spPr>
          <a:xfrm>
            <a:off x="7086600" y="3035808"/>
            <a:ext cx="4480560" cy="274320"/>
          </a:xfrm>
          <a:prstGeom prst="rect">
            <a:avLst/>
          </a:prstGeom>
          <a:noFill/>
          <a:ln/>
        </p:spPr>
        <p:txBody>
          <a:bodyPr wrap="square" lIns="0" tIns="0" rIns="0" bIns="0" rtlCol="0" anchor="t"/>
          <a:lstStyle/>
          <a:p>
            <a:pPr indent="0" marL="0">
              <a:buNone/>
            </a:pPr>
            <a:r>
              <a:rPr lang="en-US" sz="1300" dirty="0">
                <a:solidFill>
                  <a:srgbClr val="5B6B75"/>
                </a:solidFill>
                <a:latin typeface="Calibri" pitchFamily="34" charset="0"/>
                <a:ea typeface="Calibri" pitchFamily="34" charset="-122"/>
                <a:cs typeface="Calibri" pitchFamily="34" charset="-120"/>
              </a:rPr>
              <a:t>Not measured</a:t>
            </a:r>
            <a:endParaRPr lang="en-US" sz="1300" dirty="0"/>
          </a:p>
        </p:txBody>
      </p:sp>
      <p:sp>
        <p:nvSpPr>
          <p:cNvPr id="13" name="Shape 10"/>
          <p:cNvSpPr/>
          <p:nvPr/>
        </p:nvSpPr>
        <p:spPr>
          <a:xfrm>
            <a:off x="6675120" y="3584448"/>
            <a:ext cx="256032" cy="256032"/>
          </a:xfrm>
          <a:prstGeom prst="ellipse">
            <a:avLst/>
          </a:prstGeom>
          <a:solidFill>
            <a:srgbClr val="E8A33D"/>
          </a:solidFill>
          <a:ln w="12700">
            <a:solidFill>
              <a:srgbClr val="E8A33D"/>
            </a:solidFill>
            <a:prstDash val="solid"/>
          </a:ln>
        </p:spPr>
      </p:sp>
      <p:sp>
        <p:nvSpPr>
          <p:cNvPr id="14" name="Text 11"/>
          <p:cNvSpPr txBox="1"/>
          <p:nvPr/>
        </p:nvSpPr>
        <p:spPr>
          <a:xfrm>
            <a:off x="7086600" y="3474720"/>
            <a:ext cx="4480560" cy="274320"/>
          </a:xfrm>
          <a:prstGeom prst="rect">
            <a:avLst/>
          </a:prstGeom>
          <a:noFill/>
          <a:ln/>
        </p:spPr>
        <p:txBody>
          <a:bodyPr wrap="square" lIns="0" tIns="0" rIns="0" bIns="0" rtlCol="0" anchor="t"/>
          <a:lstStyle/>
          <a:p>
            <a:pPr indent="0" marL="0">
              <a:buNone/>
            </a:pPr>
            <a:r>
              <a:rPr lang="en-US" sz="1400" b="1" dirty="0">
                <a:solidFill>
                  <a:srgbClr val="0E2A3B"/>
                </a:solidFill>
                <a:latin typeface="Calibri" pitchFamily="34" charset="0"/>
                <a:ea typeface="Calibri" pitchFamily="34" charset="-122"/>
                <a:cs typeface="Calibri" pitchFamily="34" charset="-120"/>
              </a:rPr>
              <a:t>Verification lead time</a:t>
            </a:r>
            <a:endParaRPr lang="en-US" sz="1400" dirty="0"/>
          </a:p>
        </p:txBody>
      </p:sp>
      <p:sp>
        <p:nvSpPr>
          <p:cNvPr id="15" name="Text 12"/>
          <p:cNvSpPr txBox="1"/>
          <p:nvPr/>
        </p:nvSpPr>
        <p:spPr>
          <a:xfrm>
            <a:off x="7086600" y="3767328"/>
            <a:ext cx="4480560" cy="274320"/>
          </a:xfrm>
          <a:prstGeom prst="rect">
            <a:avLst/>
          </a:prstGeom>
          <a:noFill/>
          <a:ln/>
        </p:spPr>
        <p:txBody>
          <a:bodyPr wrap="square" lIns="0" tIns="0" rIns="0" bIns="0" rtlCol="0" anchor="t"/>
          <a:lstStyle/>
          <a:p>
            <a:pPr indent="0" marL="0">
              <a:buNone/>
            </a:pPr>
            <a:r>
              <a:rPr lang="en-US" sz="1300" dirty="0">
                <a:solidFill>
                  <a:srgbClr val="5B6B75"/>
                </a:solidFill>
                <a:latin typeface="Calibri" pitchFamily="34" charset="0"/>
                <a:ea typeface="Calibri" pitchFamily="34" charset="-122"/>
                <a:cs typeface="Calibri" pitchFamily="34" charset="-120"/>
              </a:rPr>
              <a:t>Not measured</a:t>
            </a:r>
            <a:endParaRPr lang="en-US" sz="1300" dirty="0"/>
          </a:p>
        </p:txBody>
      </p:sp>
      <p:sp>
        <p:nvSpPr>
          <p:cNvPr id="16" name="Text 13"/>
          <p:cNvSpPr txBox="1"/>
          <p:nvPr/>
        </p:nvSpPr>
        <p:spPr>
          <a:xfrm>
            <a:off x="548640" y="6400800"/>
            <a:ext cx="8046720" cy="274320"/>
          </a:xfrm>
          <a:prstGeom prst="rect">
            <a:avLst/>
          </a:prstGeom>
          <a:noFill/>
          <a:ln/>
        </p:spPr>
        <p:txBody>
          <a:bodyPr wrap="square" lIns="0" tIns="0" rIns="0" bIns="0" rtlCol="0" anchor="ctr"/>
          <a:lstStyle/>
          <a:p>
            <a:pPr indent="0" marL="0">
              <a:buNone/>
            </a:pPr>
            <a:r>
              <a:rPr lang="en-US" sz="900" dirty="0">
                <a:solidFill>
                  <a:srgbClr val="5B6B75"/>
                </a:solidFill>
                <a:latin typeface="Calibri" pitchFamily="34" charset="0"/>
                <a:ea typeface="Calibri" pitchFamily="34" charset="-122"/>
                <a:cs typeface="Calibri" pitchFamily="34" charset="-120"/>
              </a:rPr>
              <a:t>Source: A1-D2 sensitivity analysis, restated in A2-D1 Table 1 and Section 10.1.</a:t>
            </a:r>
            <a:endParaRPr lang="en-US" sz="900" dirty="0"/>
          </a:p>
        </p:txBody>
      </p:sp>
    </p:spTree>
  </p:cSld>
  <p:clrMapOvr>
    <a:masterClrMapping/>
  </p:clrMapOvr>
  <p:transition spd="med" advTm="20000">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OBJECTIVES</a:t>
            </a:r>
            <a:endParaRPr lang="en-US" sz="1200" dirty="0"/>
          </a:p>
        </p:txBody>
      </p:sp>
      <p:sp>
        <p:nvSpPr>
          <p:cNvPr id="3" name="Text 1"/>
          <p:cNvSpPr txBox="1"/>
          <p:nvPr/>
        </p:nvSpPr>
        <p:spPr>
          <a:xfrm>
            <a:off x="10241280" y="320040"/>
            <a:ext cx="1371600" cy="274320"/>
          </a:xfrm>
          <a:prstGeom prst="rect">
            <a:avLst/>
          </a:prstGeom>
          <a:noFill/>
          <a:ln/>
        </p:spPr>
        <p:txBody>
          <a:bodyPr wrap="square" lIns="0" tIns="0" rIns="0" bIns="0" rtlCol="0" anchor="ctr"/>
          <a:lstStyle/>
          <a:p>
            <a:pPr algn="r" indent="0" marL="0">
              <a:buNone/>
            </a:pPr>
            <a:r>
              <a:rPr lang="en-US" sz="1100" dirty="0">
                <a:solidFill>
                  <a:srgbClr val="5B6B75"/>
                </a:solidFill>
                <a:latin typeface="Calibri" pitchFamily="34" charset="0"/>
                <a:ea typeface="Calibri" pitchFamily="34" charset="-122"/>
                <a:cs typeface="Calibri" pitchFamily="34" charset="-120"/>
              </a:rPr>
              <a:t>07 / 20</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0E2A3B"/>
                </a:solidFill>
                <a:latin typeface="Cambria" pitchFamily="34" charset="0"/>
                <a:ea typeface="Cambria" pitchFamily="34" charset="-122"/>
                <a:cs typeface="Cambria" pitchFamily="34" charset="-120"/>
              </a:rPr>
              <a:t>Four objectives protect capability and keep cost discipline</a:t>
            </a:r>
            <a:endParaRPr lang="en-US" sz="3000" dirty="0"/>
          </a:p>
        </p:txBody>
      </p:sp>
      <p:sp>
        <p:nvSpPr>
          <p:cNvPr id="5" name="Shape 3"/>
          <p:cNvSpPr/>
          <p:nvPr/>
        </p:nvSpPr>
        <p:spPr>
          <a:xfrm>
            <a:off x="548640" y="1600200"/>
            <a:ext cx="2606040" cy="2651760"/>
          </a:xfrm>
          <a:prstGeom prst="roundRect">
            <a:avLst>
              <a:gd name="adj" fmla="val 2807"/>
            </a:avLst>
          </a:prstGeom>
          <a:solidFill>
            <a:srgbClr val="F3F6F7"/>
          </a:solidFill>
          <a:ln w="9525">
            <a:solidFill>
              <a:srgbClr val="F3F6F7"/>
            </a:solidFill>
            <a:prstDash val="solid"/>
          </a:ln>
        </p:spPr>
      </p:sp>
      <p:sp>
        <p:nvSpPr>
          <p:cNvPr id="6" name="Shape 4"/>
          <p:cNvSpPr/>
          <p:nvPr/>
        </p:nvSpPr>
        <p:spPr>
          <a:xfrm>
            <a:off x="822960" y="1828800"/>
            <a:ext cx="685800" cy="685800"/>
          </a:xfrm>
          <a:prstGeom prst="ellipse">
            <a:avLst/>
          </a:prstGeom>
          <a:solidFill>
            <a:srgbClr val="0E2A3B"/>
          </a:solidFill>
          <a:ln w="12700">
            <a:solidFill>
              <a:srgbClr val="0E2A3B"/>
            </a:solidFill>
            <a:prstDash val="solid"/>
          </a:ln>
        </p:spPr>
      </p:sp>
      <p:pic>
        <p:nvPicPr>
          <p:cNvPr id="7" name="Image 0" descr="preencoded.png">    </p:cNvPr>
          <p:cNvPicPr>
            <a:picLocks noChangeAspect="1"/>
          </p:cNvPicPr>
          <p:nvPr/>
        </p:nvPicPr>
        <p:blipFill>
          <a:blip r:embed="rId1"/>
          <a:stretch>
            <a:fillRect/>
          </a:stretch>
        </p:blipFill>
        <p:spPr>
          <a:xfrm>
            <a:off x="1014984" y="2020824"/>
            <a:ext cx="301752" cy="301752"/>
          </a:xfrm>
          <a:prstGeom prst="rect">
            <a:avLst/>
          </a:prstGeom>
        </p:spPr>
      </p:pic>
      <p:sp>
        <p:nvSpPr>
          <p:cNvPr id="8" name="Text 5"/>
          <p:cNvSpPr txBox="1"/>
          <p:nvPr/>
        </p:nvSpPr>
        <p:spPr>
          <a:xfrm>
            <a:off x="822960" y="2651760"/>
            <a:ext cx="2103120" cy="411480"/>
          </a:xfrm>
          <a:prstGeom prst="rect">
            <a:avLst/>
          </a:prstGeom>
          <a:noFill/>
          <a:ln/>
        </p:spPr>
        <p:txBody>
          <a:bodyPr wrap="square" lIns="0" tIns="0" rIns="0" bIns="0" rtlCol="0" anchor="t"/>
          <a:lstStyle/>
          <a:p>
            <a:pPr indent="0" marL="0">
              <a:buNone/>
            </a:pPr>
            <a:r>
              <a:rPr lang="en-US" sz="2200" b="1" dirty="0">
                <a:solidFill>
                  <a:srgbClr val="0E2A3B"/>
                </a:solidFill>
                <a:latin typeface="Cambria" pitchFamily="34" charset="0"/>
                <a:ea typeface="Cambria" pitchFamily="34" charset="-122"/>
                <a:cs typeface="Cambria" pitchFamily="34" charset="-120"/>
              </a:rPr>
              <a:t>Verify</a:t>
            </a:r>
            <a:endParaRPr lang="en-US" sz="2200" dirty="0"/>
          </a:p>
        </p:txBody>
      </p:sp>
      <p:sp>
        <p:nvSpPr>
          <p:cNvPr id="9" name="Text 6"/>
          <p:cNvSpPr txBox="1"/>
          <p:nvPr/>
        </p:nvSpPr>
        <p:spPr>
          <a:xfrm>
            <a:off x="822960" y="3108960"/>
            <a:ext cx="2148840" cy="1097280"/>
          </a:xfrm>
          <a:prstGeom prst="rect">
            <a:avLst/>
          </a:prstGeom>
          <a:noFill/>
          <a:ln/>
        </p:spPr>
        <p:txBody>
          <a:bodyPr wrap="square" lIns="0" tIns="0" rIns="0" bIns="0" rtlCol="0" anchor="t"/>
          <a:lstStyle/>
          <a:p>
            <a:pPr indent="0" marL="0">
              <a:buNone/>
            </a:pPr>
            <a:r>
              <a:rPr lang="en-US" sz="1350" dirty="0">
                <a:solidFill>
                  <a:srgbClr val="0E2A3B"/>
                </a:solidFill>
                <a:latin typeface="Calibri" pitchFamily="34" charset="0"/>
                <a:ea typeface="Calibri" pitchFamily="34" charset="-122"/>
                <a:cs typeface="Calibri" pitchFamily="34" charset="-120"/>
              </a:rPr>
              <a:t>A provable completion condition for every knowledge-critical exit</a:t>
            </a:r>
            <a:endParaRPr lang="en-US" sz="1350" dirty="0"/>
          </a:p>
        </p:txBody>
      </p:sp>
      <p:sp>
        <p:nvSpPr>
          <p:cNvPr id="10" name="Shape 7"/>
          <p:cNvSpPr/>
          <p:nvPr/>
        </p:nvSpPr>
        <p:spPr>
          <a:xfrm>
            <a:off x="3364992" y="1600200"/>
            <a:ext cx="2606040" cy="2651760"/>
          </a:xfrm>
          <a:prstGeom prst="roundRect">
            <a:avLst>
              <a:gd name="adj" fmla="val 2807"/>
            </a:avLst>
          </a:prstGeom>
          <a:solidFill>
            <a:srgbClr val="E6F1F2"/>
          </a:solidFill>
          <a:ln w="9525">
            <a:solidFill>
              <a:srgbClr val="E6F1F2"/>
            </a:solidFill>
            <a:prstDash val="solid"/>
          </a:ln>
        </p:spPr>
      </p:sp>
      <p:sp>
        <p:nvSpPr>
          <p:cNvPr id="11" name="Shape 8"/>
          <p:cNvSpPr/>
          <p:nvPr/>
        </p:nvSpPr>
        <p:spPr>
          <a:xfrm>
            <a:off x="3639312" y="1828800"/>
            <a:ext cx="685800" cy="685800"/>
          </a:xfrm>
          <a:prstGeom prst="ellipse">
            <a:avLst/>
          </a:prstGeom>
          <a:solidFill>
            <a:srgbClr val="1F6F78"/>
          </a:solidFill>
          <a:ln w="12700">
            <a:solidFill>
              <a:srgbClr val="1F6F78"/>
            </a:solidFill>
            <a:prstDash val="solid"/>
          </a:ln>
        </p:spPr>
      </p:sp>
      <p:pic>
        <p:nvPicPr>
          <p:cNvPr id="12" name="Image 1" descr="preencoded.png">    </p:cNvPr>
          <p:cNvPicPr>
            <a:picLocks noChangeAspect="1"/>
          </p:cNvPicPr>
          <p:nvPr/>
        </p:nvPicPr>
        <p:blipFill>
          <a:blip r:embed="rId2"/>
          <a:stretch>
            <a:fillRect/>
          </a:stretch>
        </p:blipFill>
        <p:spPr>
          <a:xfrm>
            <a:off x="3831336" y="2020824"/>
            <a:ext cx="301752" cy="301752"/>
          </a:xfrm>
          <a:prstGeom prst="rect">
            <a:avLst/>
          </a:prstGeom>
        </p:spPr>
      </p:pic>
      <p:sp>
        <p:nvSpPr>
          <p:cNvPr id="13" name="Text 9"/>
          <p:cNvSpPr txBox="1"/>
          <p:nvPr/>
        </p:nvSpPr>
        <p:spPr>
          <a:xfrm>
            <a:off x="3639312" y="2651760"/>
            <a:ext cx="2103120" cy="411480"/>
          </a:xfrm>
          <a:prstGeom prst="rect">
            <a:avLst/>
          </a:prstGeom>
          <a:noFill/>
          <a:ln/>
        </p:spPr>
        <p:txBody>
          <a:bodyPr wrap="square" lIns="0" tIns="0" rIns="0" bIns="0" rtlCol="0" anchor="t"/>
          <a:lstStyle/>
          <a:p>
            <a:pPr indent="0" marL="0">
              <a:buNone/>
            </a:pPr>
            <a:r>
              <a:rPr lang="en-US" sz="2200" b="1" dirty="0">
                <a:solidFill>
                  <a:srgbClr val="1F6F78"/>
                </a:solidFill>
                <a:latin typeface="Cambria" pitchFamily="34" charset="0"/>
                <a:ea typeface="Cambria" pitchFamily="34" charset="-122"/>
                <a:cs typeface="Cambria" pitchFamily="34" charset="-120"/>
              </a:rPr>
              <a:t>Detect</a:t>
            </a:r>
            <a:endParaRPr lang="en-US" sz="2200" dirty="0"/>
          </a:p>
        </p:txBody>
      </p:sp>
      <p:sp>
        <p:nvSpPr>
          <p:cNvPr id="14" name="Text 10"/>
          <p:cNvSpPr txBox="1"/>
          <p:nvPr/>
        </p:nvSpPr>
        <p:spPr>
          <a:xfrm>
            <a:off x="3639312" y="3108960"/>
            <a:ext cx="2148840" cy="1097280"/>
          </a:xfrm>
          <a:prstGeom prst="rect">
            <a:avLst/>
          </a:prstGeom>
          <a:noFill/>
          <a:ln/>
        </p:spPr>
        <p:txBody>
          <a:bodyPr wrap="square" lIns="0" tIns="0" rIns="0" bIns="0" rtlCol="0" anchor="t"/>
          <a:lstStyle/>
          <a:p>
            <a:pPr indent="0" marL="0">
              <a:buNone/>
            </a:pPr>
            <a:r>
              <a:rPr lang="en-US" sz="1350" dirty="0">
                <a:solidFill>
                  <a:srgbClr val="0E2A3B"/>
                </a:solidFill>
                <a:latin typeface="Calibri" pitchFamily="34" charset="0"/>
                <a:ea typeface="Calibri" pitchFamily="34" charset="-122"/>
                <a:cs typeface="Calibri" pitchFamily="34" charset="-120"/>
              </a:rPr>
              <a:t>Identify critical roles within five working days of exit confirmation</a:t>
            </a:r>
            <a:endParaRPr lang="en-US" sz="1350" dirty="0"/>
          </a:p>
        </p:txBody>
      </p:sp>
      <p:sp>
        <p:nvSpPr>
          <p:cNvPr id="15" name="Shape 11"/>
          <p:cNvSpPr/>
          <p:nvPr/>
        </p:nvSpPr>
        <p:spPr>
          <a:xfrm>
            <a:off x="6181344" y="1600200"/>
            <a:ext cx="2606040" cy="2651760"/>
          </a:xfrm>
          <a:prstGeom prst="roundRect">
            <a:avLst>
              <a:gd name="adj" fmla="val 2807"/>
            </a:avLst>
          </a:prstGeom>
          <a:solidFill>
            <a:srgbClr val="F3F6F7"/>
          </a:solidFill>
          <a:ln w="9525">
            <a:solidFill>
              <a:srgbClr val="F3F6F7"/>
            </a:solidFill>
            <a:prstDash val="solid"/>
          </a:ln>
        </p:spPr>
      </p:sp>
      <p:sp>
        <p:nvSpPr>
          <p:cNvPr id="16" name="Shape 12"/>
          <p:cNvSpPr/>
          <p:nvPr/>
        </p:nvSpPr>
        <p:spPr>
          <a:xfrm>
            <a:off x="6455664" y="1828800"/>
            <a:ext cx="685800" cy="685800"/>
          </a:xfrm>
          <a:prstGeom prst="ellipse">
            <a:avLst/>
          </a:prstGeom>
          <a:solidFill>
            <a:srgbClr val="0E2A3B"/>
          </a:solidFill>
          <a:ln w="12700">
            <a:solidFill>
              <a:srgbClr val="0E2A3B"/>
            </a:solidFill>
            <a:prstDash val="solid"/>
          </a:ln>
        </p:spPr>
      </p:sp>
      <p:pic>
        <p:nvPicPr>
          <p:cNvPr id="17" name="Image 2" descr="preencoded.png">    </p:cNvPr>
          <p:cNvPicPr>
            <a:picLocks noChangeAspect="1"/>
          </p:cNvPicPr>
          <p:nvPr/>
        </p:nvPicPr>
        <p:blipFill>
          <a:blip r:embed="rId3"/>
          <a:stretch>
            <a:fillRect/>
          </a:stretch>
        </p:blipFill>
        <p:spPr>
          <a:xfrm>
            <a:off x="6647688" y="2020824"/>
            <a:ext cx="301752" cy="301752"/>
          </a:xfrm>
          <a:prstGeom prst="rect">
            <a:avLst/>
          </a:prstGeom>
        </p:spPr>
      </p:pic>
      <p:sp>
        <p:nvSpPr>
          <p:cNvPr id="18" name="Text 13"/>
          <p:cNvSpPr txBox="1"/>
          <p:nvPr/>
        </p:nvSpPr>
        <p:spPr>
          <a:xfrm>
            <a:off x="6455664" y="2651760"/>
            <a:ext cx="2103120" cy="411480"/>
          </a:xfrm>
          <a:prstGeom prst="rect">
            <a:avLst/>
          </a:prstGeom>
          <a:noFill/>
          <a:ln/>
        </p:spPr>
        <p:txBody>
          <a:bodyPr wrap="square" lIns="0" tIns="0" rIns="0" bIns="0" rtlCol="0" anchor="t"/>
          <a:lstStyle/>
          <a:p>
            <a:pPr indent="0" marL="0">
              <a:buNone/>
            </a:pPr>
            <a:r>
              <a:rPr lang="en-US" sz="2200" b="1" dirty="0">
                <a:solidFill>
                  <a:srgbClr val="0E2A3B"/>
                </a:solidFill>
                <a:latin typeface="Cambria" pitchFamily="34" charset="0"/>
                <a:ea typeface="Cambria" pitchFamily="34" charset="-122"/>
                <a:cs typeface="Cambria" pitchFamily="34" charset="-120"/>
              </a:rPr>
              <a:t>Reduce</a:t>
            </a:r>
            <a:endParaRPr lang="en-US" sz="2200" dirty="0"/>
          </a:p>
        </p:txBody>
      </p:sp>
      <p:sp>
        <p:nvSpPr>
          <p:cNvPr id="19" name="Text 14"/>
          <p:cNvSpPr txBox="1"/>
          <p:nvPr/>
        </p:nvSpPr>
        <p:spPr>
          <a:xfrm>
            <a:off x="6455664" y="3108960"/>
            <a:ext cx="2148840" cy="1097280"/>
          </a:xfrm>
          <a:prstGeom prst="rect">
            <a:avLst/>
          </a:prstGeom>
          <a:noFill/>
          <a:ln/>
        </p:spPr>
        <p:txBody>
          <a:bodyPr wrap="square" lIns="0" tIns="0" rIns="0" bIns="0" rtlCol="0" anchor="t"/>
          <a:lstStyle/>
          <a:p>
            <a:pPr indent="0" marL="0">
              <a:buNone/>
            </a:pPr>
            <a:r>
              <a:rPr lang="en-US" sz="1350" dirty="0">
                <a:solidFill>
                  <a:srgbClr val="0E2A3B"/>
                </a:solidFill>
                <a:latin typeface="Calibri" pitchFamily="34" charset="0"/>
                <a:ea typeface="Calibri" pitchFamily="34" charset="-122"/>
                <a:cs typeface="Calibri" pitchFamily="34" charset="-120"/>
              </a:rPr>
              <a:t>Cut post-exit rework, escalation and unplanned recovery cost</a:t>
            </a:r>
            <a:endParaRPr lang="en-US" sz="1350" dirty="0"/>
          </a:p>
        </p:txBody>
      </p:sp>
      <p:sp>
        <p:nvSpPr>
          <p:cNvPr id="20" name="Shape 15"/>
          <p:cNvSpPr/>
          <p:nvPr/>
        </p:nvSpPr>
        <p:spPr>
          <a:xfrm>
            <a:off x="8997696" y="1600200"/>
            <a:ext cx="2606040" cy="2651760"/>
          </a:xfrm>
          <a:prstGeom prst="roundRect">
            <a:avLst>
              <a:gd name="adj" fmla="val 2807"/>
            </a:avLst>
          </a:prstGeom>
          <a:solidFill>
            <a:srgbClr val="E6F1F2"/>
          </a:solidFill>
          <a:ln w="9525">
            <a:solidFill>
              <a:srgbClr val="E6F1F2"/>
            </a:solidFill>
            <a:prstDash val="solid"/>
          </a:ln>
        </p:spPr>
      </p:sp>
      <p:sp>
        <p:nvSpPr>
          <p:cNvPr id="21" name="Shape 16"/>
          <p:cNvSpPr/>
          <p:nvPr/>
        </p:nvSpPr>
        <p:spPr>
          <a:xfrm>
            <a:off x="9272016" y="1828800"/>
            <a:ext cx="685800" cy="685800"/>
          </a:xfrm>
          <a:prstGeom prst="ellipse">
            <a:avLst/>
          </a:prstGeom>
          <a:solidFill>
            <a:srgbClr val="1F6F78"/>
          </a:solidFill>
          <a:ln w="12700">
            <a:solidFill>
              <a:srgbClr val="1F6F78"/>
            </a:solidFill>
            <a:prstDash val="solid"/>
          </a:ln>
        </p:spPr>
      </p:sp>
      <p:pic>
        <p:nvPicPr>
          <p:cNvPr id="22" name="Image 3" descr="preencoded.png">    </p:cNvPr>
          <p:cNvPicPr>
            <a:picLocks noChangeAspect="1"/>
          </p:cNvPicPr>
          <p:nvPr/>
        </p:nvPicPr>
        <p:blipFill>
          <a:blip r:embed="rId4"/>
          <a:stretch>
            <a:fillRect/>
          </a:stretch>
        </p:blipFill>
        <p:spPr>
          <a:xfrm>
            <a:off x="9464040" y="2020824"/>
            <a:ext cx="301752" cy="301752"/>
          </a:xfrm>
          <a:prstGeom prst="rect">
            <a:avLst/>
          </a:prstGeom>
        </p:spPr>
      </p:pic>
      <p:sp>
        <p:nvSpPr>
          <p:cNvPr id="23" name="Text 17"/>
          <p:cNvSpPr txBox="1"/>
          <p:nvPr/>
        </p:nvSpPr>
        <p:spPr>
          <a:xfrm>
            <a:off x="9272016" y="2651760"/>
            <a:ext cx="2103120" cy="411480"/>
          </a:xfrm>
          <a:prstGeom prst="rect">
            <a:avLst/>
          </a:prstGeom>
          <a:noFill/>
          <a:ln/>
        </p:spPr>
        <p:txBody>
          <a:bodyPr wrap="square" lIns="0" tIns="0" rIns="0" bIns="0" rtlCol="0" anchor="t"/>
          <a:lstStyle/>
          <a:p>
            <a:pPr indent="0" marL="0">
              <a:buNone/>
            </a:pPr>
            <a:r>
              <a:rPr lang="en-US" sz="2200" b="1" dirty="0">
                <a:solidFill>
                  <a:srgbClr val="1F6F78"/>
                </a:solidFill>
                <a:latin typeface="Cambria" pitchFamily="34" charset="0"/>
                <a:ea typeface="Cambria" pitchFamily="34" charset="-122"/>
                <a:cs typeface="Cambria" pitchFamily="34" charset="-120"/>
              </a:rPr>
              <a:t>Repeat</a:t>
            </a:r>
            <a:endParaRPr lang="en-US" sz="2200" dirty="0"/>
          </a:p>
        </p:txBody>
      </p:sp>
      <p:sp>
        <p:nvSpPr>
          <p:cNvPr id="24" name="Text 18"/>
          <p:cNvSpPr txBox="1"/>
          <p:nvPr/>
        </p:nvSpPr>
        <p:spPr>
          <a:xfrm>
            <a:off x="9272016" y="3108960"/>
            <a:ext cx="2148840" cy="1097280"/>
          </a:xfrm>
          <a:prstGeom prst="rect">
            <a:avLst/>
          </a:prstGeom>
          <a:noFill/>
          <a:ln/>
        </p:spPr>
        <p:txBody>
          <a:bodyPr wrap="square" lIns="0" tIns="0" rIns="0" bIns="0" rtlCol="0" anchor="t"/>
          <a:lstStyle/>
          <a:p>
            <a:pPr indent="0" marL="0">
              <a:buNone/>
            </a:pPr>
            <a:r>
              <a:rPr lang="en-US" sz="1350" dirty="0">
                <a:solidFill>
                  <a:srgbClr val="0E2A3B"/>
                </a:solidFill>
                <a:latin typeface="Calibri" pitchFamily="34" charset="0"/>
                <a:ea typeface="Calibri" pitchFamily="34" charset="-122"/>
                <a:cs typeface="Calibri" pitchFamily="34" charset="-120"/>
              </a:rPr>
              <a:t>A reusable control for internal transfers and role redesigns</a:t>
            </a:r>
            <a:endParaRPr lang="en-US" sz="1350" dirty="0"/>
          </a:p>
        </p:txBody>
      </p:sp>
      <p:sp>
        <p:nvSpPr>
          <p:cNvPr id="25" name="Shape 19"/>
          <p:cNvSpPr/>
          <p:nvPr/>
        </p:nvSpPr>
        <p:spPr>
          <a:xfrm>
            <a:off x="548640" y="4754880"/>
            <a:ext cx="8046720" cy="1097280"/>
          </a:xfrm>
          <a:prstGeom prst="roundRect">
            <a:avLst>
              <a:gd name="adj" fmla="val 6667"/>
            </a:avLst>
          </a:prstGeom>
          <a:solidFill>
            <a:srgbClr val="FCF1DE"/>
          </a:solidFill>
          <a:ln w="9525">
            <a:solidFill>
              <a:srgbClr val="FCF1DE"/>
            </a:solidFill>
            <a:prstDash val="solid"/>
          </a:ln>
        </p:spPr>
      </p:sp>
      <p:sp>
        <p:nvSpPr>
          <p:cNvPr id="26" name="Shape 20"/>
          <p:cNvSpPr/>
          <p:nvPr/>
        </p:nvSpPr>
        <p:spPr>
          <a:xfrm>
            <a:off x="777240" y="4965192"/>
            <a:ext cx="658368" cy="658368"/>
          </a:xfrm>
          <a:prstGeom prst="ellipse">
            <a:avLst/>
          </a:prstGeom>
          <a:solidFill>
            <a:srgbClr val="E8A33D"/>
          </a:solidFill>
          <a:ln w="12700">
            <a:solidFill>
              <a:srgbClr val="E8A33D"/>
            </a:solidFill>
            <a:prstDash val="solid"/>
          </a:ln>
        </p:spPr>
      </p:sp>
      <p:pic>
        <p:nvPicPr>
          <p:cNvPr id="27" name="Image 4" descr="preencoded.png">    </p:cNvPr>
          <p:cNvPicPr>
            <a:picLocks noChangeAspect="1"/>
          </p:cNvPicPr>
          <p:nvPr/>
        </p:nvPicPr>
        <p:blipFill>
          <a:blip r:embed="rId5"/>
          <a:stretch>
            <a:fillRect/>
          </a:stretch>
        </p:blipFill>
        <p:spPr>
          <a:xfrm>
            <a:off x="961583" y="5149535"/>
            <a:ext cx="289682" cy="289682"/>
          </a:xfrm>
          <a:prstGeom prst="rect">
            <a:avLst/>
          </a:prstGeom>
        </p:spPr>
      </p:pic>
      <p:sp>
        <p:nvSpPr>
          <p:cNvPr id="28" name="Text 21"/>
          <p:cNvSpPr txBox="1"/>
          <p:nvPr/>
        </p:nvSpPr>
        <p:spPr>
          <a:xfrm>
            <a:off x="1645920" y="4892040"/>
            <a:ext cx="6766560" cy="868680"/>
          </a:xfrm>
          <a:prstGeom prst="rect">
            <a:avLst/>
          </a:prstGeom>
          <a:noFill/>
          <a:ln/>
        </p:spPr>
        <p:txBody>
          <a:bodyPr wrap="square" lIns="0" tIns="0" rIns="0" bIns="0" rtlCol="0" anchor="ctr"/>
          <a:lstStyle/>
          <a:p>
            <a:pPr indent="0" marL="0">
              <a:buNone/>
            </a:pPr>
            <a:r>
              <a:rPr lang="en-US" sz="1450" b="1" dirty="0">
                <a:solidFill>
                  <a:srgbClr val="0E2A3B"/>
                </a:solidFill>
                <a:latin typeface="Calibri" pitchFamily="34" charset="0"/>
                <a:ea typeface="Calibri" pitchFamily="34" charset="-122"/>
                <a:cs typeface="Calibri" pitchFamily="34" charset="-120"/>
              </a:rPr>
              <a:t>12-month target  </a:t>
            </a:r>
            <a:pPr indent="0" marL="0">
              <a:buNone/>
            </a:pPr>
            <a:r>
              <a:rPr lang="en-US" sz="1450" dirty="0">
                <a:solidFill>
                  <a:srgbClr val="0E2A3B"/>
                </a:solidFill>
                <a:latin typeface="Calibri" pitchFamily="34" charset="0"/>
                <a:ea typeface="Calibri" pitchFamily="34" charset="-122"/>
                <a:cs typeface="Calibri" pitchFamily="34" charset="-120"/>
              </a:rPr>
              <a:t>At least 90% verified handovers and a supported route to NZ$1.4m annual savings, against a validated FY26 baseline.</a:t>
            </a:r>
            <a:endParaRPr lang="en-US" sz="1450" dirty="0"/>
          </a:p>
        </p:txBody>
      </p:sp>
    </p:spTree>
  </p:cSld>
  <p:clrMapOvr>
    <a:masterClrMapping/>
  </p:clrMapOvr>
  <p:transition spd="med" advTm="20000">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SUCCESS CRITERIA</a:t>
            </a:r>
            <a:endParaRPr lang="en-US" sz="1200" dirty="0"/>
          </a:p>
        </p:txBody>
      </p:sp>
      <p:sp>
        <p:nvSpPr>
          <p:cNvPr id="3" name="Text 1"/>
          <p:cNvSpPr txBox="1"/>
          <p:nvPr/>
        </p:nvSpPr>
        <p:spPr>
          <a:xfrm>
            <a:off x="10241280" y="320040"/>
            <a:ext cx="1371600" cy="274320"/>
          </a:xfrm>
          <a:prstGeom prst="rect">
            <a:avLst/>
          </a:prstGeom>
          <a:noFill/>
          <a:ln/>
        </p:spPr>
        <p:txBody>
          <a:bodyPr wrap="square" lIns="0" tIns="0" rIns="0" bIns="0" rtlCol="0" anchor="ctr"/>
          <a:lstStyle/>
          <a:p>
            <a:pPr algn="r" indent="0" marL="0">
              <a:buNone/>
            </a:pPr>
            <a:r>
              <a:rPr lang="en-US" sz="1100" dirty="0">
                <a:solidFill>
                  <a:srgbClr val="5B6B75"/>
                </a:solidFill>
                <a:latin typeface="Calibri" pitchFamily="34" charset="0"/>
                <a:ea typeface="Calibri" pitchFamily="34" charset="-122"/>
                <a:cs typeface="Calibri" pitchFamily="34" charset="-120"/>
              </a:rPr>
              <a:t>08 / 20</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0E2A3B"/>
                </a:solidFill>
                <a:latin typeface="Cambria" pitchFamily="34" charset="0"/>
                <a:ea typeface="Cambria" pitchFamily="34" charset="-122"/>
                <a:cs typeface="Cambria" pitchFamily="34" charset="-120"/>
              </a:rPr>
              <a:t>Success is measured, not assumed</a:t>
            </a:r>
            <a:endParaRPr lang="en-US" sz="3000" dirty="0"/>
          </a:p>
        </p:txBody>
      </p:sp>
      <p:graphicFrame>
        <p:nvGraphicFramePr>
          <p:cNvPr id="5" name="Chart 0" descr=""/>
          <p:cNvGraphicFramePr/>
          <p:nvPr/>
        </p:nvGraphicFramePr>
        <p:xfrm>
          <a:off x="548640" y="1463040"/>
          <a:ext cx="5303520" cy="47548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31520" y="6172200"/>
            <a:ext cx="4937760" cy="274320"/>
          </a:xfrm>
          <a:prstGeom prst="rect">
            <a:avLst/>
          </a:prstGeom>
          <a:noFill/>
          <a:ln/>
        </p:spPr>
        <p:txBody>
          <a:bodyPr wrap="square" lIns="0" tIns="0" rIns="0" bIns="0" rtlCol="0" anchor="t"/>
          <a:lstStyle/>
          <a:p>
            <a:pPr indent="0" marL="0">
              <a:buNone/>
            </a:pPr>
            <a:r>
              <a:rPr lang="en-US" sz="1000" dirty="0">
                <a:solidFill>
                  <a:srgbClr val="5B6B75"/>
                </a:solidFill>
                <a:latin typeface="Calibri" pitchFamily="34" charset="0"/>
                <a:ea typeface="Calibri" pitchFamily="34" charset="-122"/>
                <a:cs typeface="Calibri" pitchFamily="34" charset="-120"/>
              </a:rPr>
              <a:t>Baseline is an estimate (below 50%)</a:t>
            </a:r>
            <a:endParaRPr lang="en-US" sz="1000" dirty="0"/>
          </a:p>
        </p:txBody>
      </p:sp>
      <p:sp>
        <p:nvSpPr>
          <p:cNvPr id="7" name="Shape 4"/>
          <p:cNvSpPr/>
          <p:nvPr/>
        </p:nvSpPr>
        <p:spPr>
          <a:xfrm>
            <a:off x="6309360" y="1554480"/>
            <a:ext cx="5303520" cy="576072"/>
          </a:xfrm>
          <a:prstGeom prst="roundRect">
            <a:avLst>
              <a:gd name="adj" fmla="val 12698"/>
            </a:avLst>
          </a:prstGeom>
          <a:solidFill>
            <a:srgbClr val="F3F6F7"/>
          </a:solidFill>
          <a:ln w="9525">
            <a:solidFill>
              <a:srgbClr val="D5DEE2"/>
            </a:solidFill>
            <a:prstDash val="solid"/>
          </a:ln>
        </p:spPr>
      </p:sp>
      <p:sp>
        <p:nvSpPr>
          <p:cNvPr id="8" name="Text 5"/>
          <p:cNvSpPr txBox="1"/>
          <p:nvPr/>
        </p:nvSpPr>
        <p:spPr>
          <a:xfrm>
            <a:off x="6446520" y="1682496"/>
            <a:ext cx="960120" cy="320040"/>
          </a:xfrm>
          <a:prstGeom prst="rect">
            <a:avLst/>
          </a:prstGeom>
          <a:noFill/>
          <a:ln/>
        </p:spPr>
        <p:txBody>
          <a:bodyPr wrap="square" lIns="0" tIns="0" rIns="0" bIns="0" rtlCol="0" anchor="t"/>
          <a:lstStyle/>
          <a:p>
            <a:pPr indent="0" marL="0">
              <a:buNone/>
            </a:pPr>
            <a:r>
              <a:rPr lang="en-US" sz="1400" b="1" dirty="0">
                <a:solidFill>
                  <a:srgbClr val="1F6F78"/>
                </a:solidFill>
                <a:latin typeface="Calibri" pitchFamily="34" charset="0"/>
                <a:ea typeface="Calibri" pitchFamily="34" charset="-122"/>
                <a:cs typeface="Calibri" pitchFamily="34" charset="-120"/>
              </a:rPr>
              <a:t>CAC</a:t>
            </a:r>
            <a:endParaRPr lang="en-US" sz="1400" dirty="0"/>
          </a:p>
        </p:txBody>
      </p:sp>
      <p:sp>
        <p:nvSpPr>
          <p:cNvPr id="9" name="Text 6"/>
          <p:cNvSpPr txBox="1"/>
          <p:nvPr/>
        </p:nvSpPr>
        <p:spPr>
          <a:xfrm>
            <a:off x="7406640" y="1700784"/>
            <a:ext cx="2377440" cy="320040"/>
          </a:xfrm>
          <a:prstGeom prst="rect">
            <a:avLst/>
          </a:prstGeom>
          <a:noFill/>
          <a:ln/>
        </p:spPr>
        <p:txBody>
          <a:bodyPr wrap="square" lIns="0" tIns="0" rIns="0" bIns="0" rtlCol="0" anchor="t"/>
          <a:lstStyle/>
          <a:p>
            <a:pPr indent="0" marL="0">
              <a:buNone/>
            </a:pPr>
            <a:r>
              <a:rPr lang="en-US" sz="1250" dirty="0">
                <a:solidFill>
                  <a:srgbClr val="0E2A3B"/>
                </a:solidFill>
                <a:latin typeface="Calibri" pitchFamily="34" charset="0"/>
                <a:ea typeface="Calibri" pitchFamily="34" charset="-122"/>
                <a:cs typeface="Calibri" pitchFamily="34" charset="-120"/>
              </a:rPr>
              <a:t>Criticality assessment coverage</a:t>
            </a:r>
            <a:endParaRPr lang="en-US" sz="1250" dirty="0"/>
          </a:p>
        </p:txBody>
      </p:sp>
      <p:sp>
        <p:nvSpPr>
          <p:cNvPr id="10" name="Text 7"/>
          <p:cNvSpPr txBox="1"/>
          <p:nvPr/>
        </p:nvSpPr>
        <p:spPr>
          <a:xfrm>
            <a:off x="9692640" y="1682496"/>
            <a:ext cx="1828800" cy="320040"/>
          </a:xfrm>
          <a:prstGeom prst="rect">
            <a:avLst/>
          </a:prstGeom>
          <a:noFill/>
          <a:ln/>
        </p:spPr>
        <p:txBody>
          <a:bodyPr wrap="square" lIns="0" tIns="0" rIns="0" bIns="0" rtlCol="0" anchor="t"/>
          <a:lstStyle/>
          <a:p>
            <a:pPr algn="r" indent="0" marL="0">
              <a:buNone/>
            </a:pPr>
            <a:r>
              <a:rPr lang="en-US" sz="1300" b="1" dirty="0">
                <a:solidFill>
                  <a:srgbClr val="0E2A3B"/>
                </a:solidFill>
                <a:latin typeface="Calibri" pitchFamily="34" charset="0"/>
                <a:ea typeface="Calibri" pitchFamily="34" charset="-122"/>
                <a:cs typeface="Calibri" pitchFamily="34" charset="-120"/>
              </a:rPr>
              <a:t>100% by week 32</a:t>
            </a:r>
            <a:endParaRPr lang="en-US" sz="1300" dirty="0"/>
          </a:p>
        </p:txBody>
      </p:sp>
      <p:sp>
        <p:nvSpPr>
          <p:cNvPr id="11" name="Shape 8"/>
          <p:cNvSpPr/>
          <p:nvPr/>
        </p:nvSpPr>
        <p:spPr>
          <a:xfrm>
            <a:off x="6309360" y="2240280"/>
            <a:ext cx="5303520" cy="576072"/>
          </a:xfrm>
          <a:prstGeom prst="roundRect">
            <a:avLst>
              <a:gd name="adj" fmla="val 12698"/>
            </a:avLst>
          </a:prstGeom>
          <a:solidFill>
            <a:srgbClr val="FFFFFF"/>
          </a:solidFill>
          <a:ln w="9525">
            <a:solidFill>
              <a:srgbClr val="D5DEE2"/>
            </a:solidFill>
            <a:prstDash val="solid"/>
          </a:ln>
        </p:spPr>
      </p:sp>
      <p:sp>
        <p:nvSpPr>
          <p:cNvPr id="12" name="Text 9"/>
          <p:cNvSpPr txBox="1"/>
          <p:nvPr/>
        </p:nvSpPr>
        <p:spPr>
          <a:xfrm>
            <a:off x="6446520" y="2368296"/>
            <a:ext cx="960120" cy="320040"/>
          </a:xfrm>
          <a:prstGeom prst="rect">
            <a:avLst/>
          </a:prstGeom>
          <a:noFill/>
          <a:ln/>
        </p:spPr>
        <p:txBody>
          <a:bodyPr wrap="square" lIns="0" tIns="0" rIns="0" bIns="0" rtlCol="0" anchor="t"/>
          <a:lstStyle/>
          <a:p>
            <a:pPr indent="0" marL="0">
              <a:buNone/>
            </a:pPr>
            <a:r>
              <a:rPr lang="en-US" sz="1400" b="1" dirty="0">
                <a:solidFill>
                  <a:srgbClr val="1F6F78"/>
                </a:solidFill>
                <a:latin typeface="Calibri" pitchFamily="34" charset="0"/>
                <a:ea typeface="Calibri" pitchFamily="34" charset="-122"/>
                <a:cs typeface="Calibri" pitchFamily="34" charset="-120"/>
              </a:rPr>
              <a:t>HVLT</a:t>
            </a:r>
            <a:endParaRPr lang="en-US" sz="1400" dirty="0"/>
          </a:p>
        </p:txBody>
      </p:sp>
      <p:sp>
        <p:nvSpPr>
          <p:cNvPr id="13" name="Text 10"/>
          <p:cNvSpPr txBox="1"/>
          <p:nvPr/>
        </p:nvSpPr>
        <p:spPr>
          <a:xfrm>
            <a:off x="7406640" y="2386584"/>
            <a:ext cx="2377440" cy="320040"/>
          </a:xfrm>
          <a:prstGeom prst="rect">
            <a:avLst/>
          </a:prstGeom>
          <a:noFill/>
          <a:ln/>
        </p:spPr>
        <p:txBody>
          <a:bodyPr wrap="square" lIns="0" tIns="0" rIns="0" bIns="0" rtlCol="0" anchor="t"/>
          <a:lstStyle/>
          <a:p>
            <a:pPr indent="0" marL="0">
              <a:buNone/>
            </a:pPr>
            <a:r>
              <a:rPr lang="en-US" sz="1250" dirty="0">
                <a:solidFill>
                  <a:srgbClr val="0E2A3B"/>
                </a:solidFill>
                <a:latin typeface="Calibri" pitchFamily="34" charset="0"/>
                <a:ea typeface="Calibri" pitchFamily="34" charset="-122"/>
                <a:cs typeface="Calibri" pitchFamily="34" charset="-120"/>
              </a:rPr>
              <a:t>Verification lead time</a:t>
            </a:r>
            <a:endParaRPr lang="en-US" sz="1250" dirty="0"/>
          </a:p>
        </p:txBody>
      </p:sp>
      <p:sp>
        <p:nvSpPr>
          <p:cNvPr id="14" name="Text 11"/>
          <p:cNvSpPr txBox="1"/>
          <p:nvPr/>
        </p:nvSpPr>
        <p:spPr>
          <a:xfrm>
            <a:off x="9692640" y="2368296"/>
            <a:ext cx="1828800" cy="320040"/>
          </a:xfrm>
          <a:prstGeom prst="rect">
            <a:avLst/>
          </a:prstGeom>
          <a:noFill/>
          <a:ln/>
        </p:spPr>
        <p:txBody>
          <a:bodyPr wrap="square" lIns="0" tIns="0" rIns="0" bIns="0" rtlCol="0" anchor="t"/>
          <a:lstStyle/>
          <a:p>
            <a:pPr algn="r" indent="0" marL="0">
              <a:buNone/>
            </a:pPr>
            <a:r>
              <a:rPr lang="en-US" sz="1300" b="1" dirty="0">
                <a:solidFill>
                  <a:srgbClr val="0E2A3B"/>
                </a:solidFill>
                <a:latin typeface="Calibri" pitchFamily="34" charset="0"/>
                <a:ea typeface="Calibri" pitchFamily="34" charset="-122"/>
                <a:cs typeface="Calibri" pitchFamily="34" charset="-120"/>
              </a:rPr>
              <a:t>5+ days before last day</a:t>
            </a:r>
            <a:endParaRPr lang="en-US" sz="1300" dirty="0"/>
          </a:p>
        </p:txBody>
      </p:sp>
      <p:sp>
        <p:nvSpPr>
          <p:cNvPr id="15" name="Shape 12"/>
          <p:cNvSpPr/>
          <p:nvPr/>
        </p:nvSpPr>
        <p:spPr>
          <a:xfrm>
            <a:off x="6309360" y="2926080"/>
            <a:ext cx="5303520" cy="576072"/>
          </a:xfrm>
          <a:prstGeom prst="roundRect">
            <a:avLst>
              <a:gd name="adj" fmla="val 12698"/>
            </a:avLst>
          </a:prstGeom>
          <a:solidFill>
            <a:srgbClr val="F3F6F7"/>
          </a:solidFill>
          <a:ln w="9525">
            <a:solidFill>
              <a:srgbClr val="D5DEE2"/>
            </a:solidFill>
            <a:prstDash val="solid"/>
          </a:ln>
        </p:spPr>
      </p:sp>
      <p:sp>
        <p:nvSpPr>
          <p:cNvPr id="16" name="Text 13"/>
          <p:cNvSpPr txBox="1"/>
          <p:nvPr/>
        </p:nvSpPr>
        <p:spPr>
          <a:xfrm>
            <a:off x="6446520" y="3054096"/>
            <a:ext cx="960120" cy="320040"/>
          </a:xfrm>
          <a:prstGeom prst="rect">
            <a:avLst/>
          </a:prstGeom>
          <a:noFill/>
          <a:ln/>
        </p:spPr>
        <p:txBody>
          <a:bodyPr wrap="square" lIns="0" tIns="0" rIns="0" bIns="0" rtlCol="0" anchor="t"/>
          <a:lstStyle/>
          <a:p>
            <a:pPr indent="0" marL="0">
              <a:buNone/>
            </a:pPr>
            <a:r>
              <a:rPr lang="en-US" sz="1400" b="1" dirty="0">
                <a:solidFill>
                  <a:srgbClr val="1F6F78"/>
                </a:solidFill>
                <a:latin typeface="Calibri" pitchFamily="34" charset="0"/>
                <a:ea typeface="Calibri" pitchFamily="34" charset="-122"/>
                <a:cs typeface="Calibri" pitchFamily="34" charset="-120"/>
              </a:rPr>
              <a:t>Cost</a:t>
            </a:r>
            <a:endParaRPr lang="en-US" sz="1400" dirty="0"/>
          </a:p>
        </p:txBody>
      </p:sp>
      <p:sp>
        <p:nvSpPr>
          <p:cNvPr id="17" name="Text 14"/>
          <p:cNvSpPr txBox="1"/>
          <p:nvPr/>
        </p:nvSpPr>
        <p:spPr>
          <a:xfrm>
            <a:off x="7406640" y="3072384"/>
            <a:ext cx="2377440" cy="320040"/>
          </a:xfrm>
          <a:prstGeom prst="rect">
            <a:avLst/>
          </a:prstGeom>
          <a:noFill/>
          <a:ln/>
        </p:spPr>
        <p:txBody>
          <a:bodyPr wrap="square" lIns="0" tIns="0" rIns="0" bIns="0" rtlCol="0" anchor="t"/>
          <a:lstStyle/>
          <a:p>
            <a:pPr indent="0" marL="0">
              <a:buNone/>
            </a:pPr>
            <a:r>
              <a:rPr lang="en-US" sz="1250" dirty="0">
                <a:solidFill>
                  <a:srgbClr val="0E2A3B"/>
                </a:solidFill>
                <a:latin typeface="Calibri" pitchFamily="34" charset="0"/>
                <a:ea typeface="Calibri" pitchFamily="34" charset="-122"/>
                <a:cs typeface="Calibri" pitchFamily="34" charset="-120"/>
              </a:rPr>
              <a:t>Capability recovery cost</a:t>
            </a:r>
            <a:endParaRPr lang="en-US" sz="1250" dirty="0"/>
          </a:p>
        </p:txBody>
      </p:sp>
      <p:sp>
        <p:nvSpPr>
          <p:cNvPr id="18" name="Text 15"/>
          <p:cNvSpPr txBox="1"/>
          <p:nvPr/>
        </p:nvSpPr>
        <p:spPr>
          <a:xfrm>
            <a:off x="9692640" y="3054096"/>
            <a:ext cx="1828800" cy="320040"/>
          </a:xfrm>
          <a:prstGeom prst="rect">
            <a:avLst/>
          </a:prstGeom>
          <a:noFill/>
          <a:ln/>
        </p:spPr>
        <p:txBody>
          <a:bodyPr wrap="square" lIns="0" tIns="0" rIns="0" bIns="0" rtlCol="0" anchor="t"/>
          <a:lstStyle/>
          <a:p>
            <a:pPr algn="r" indent="0" marL="0">
              <a:buNone/>
            </a:pPr>
            <a:r>
              <a:rPr lang="en-US" sz="1300" b="1" dirty="0">
                <a:solidFill>
                  <a:srgbClr val="0E2A3B"/>
                </a:solidFill>
                <a:latin typeface="Calibri" pitchFamily="34" charset="0"/>
                <a:ea typeface="Calibri" pitchFamily="34" charset="-122"/>
                <a:cs typeface="Calibri" pitchFamily="34" charset="-120"/>
              </a:rPr>
              <a:t>NZ$1.4m run-rate cut</a:t>
            </a:r>
            <a:endParaRPr lang="en-US" sz="1300" dirty="0"/>
          </a:p>
        </p:txBody>
      </p:sp>
      <p:sp>
        <p:nvSpPr>
          <p:cNvPr id="19" name="Shape 16"/>
          <p:cNvSpPr/>
          <p:nvPr/>
        </p:nvSpPr>
        <p:spPr>
          <a:xfrm>
            <a:off x="6309360" y="3611880"/>
            <a:ext cx="5303520" cy="576072"/>
          </a:xfrm>
          <a:prstGeom prst="roundRect">
            <a:avLst>
              <a:gd name="adj" fmla="val 12698"/>
            </a:avLst>
          </a:prstGeom>
          <a:solidFill>
            <a:srgbClr val="FFFFFF"/>
          </a:solidFill>
          <a:ln w="9525">
            <a:solidFill>
              <a:srgbClr val="D5DEE2"/>
            </a:solidFill>
            <a:prstDash val="solid"/>
          </a:ln>
        </p:spPr>
      </p:sp>
      <p:sp>
        <p:nvSpPr>
          <p:cNvPr id="20" name="Text 17"/>
          <p:cNvSpPr txBox="1"/>
          <p:nvPr/>
        </p:nvSpPr>
        <p:spPr>
          <a:xfrm>
            <a:off x="6446520" y="3739896"/>
            <a:ext cx="960120" cy="320040"/>
          </a:xfrm>
          <a:prstGeom prst="rect">
            <a:avLst/>
          </a:prstGeom>
          <a:noFill/>
          <a:ln/>
        </p:spPr>
        <p:txBody>
          <a:bodyPr wrap="square" lIns="0" tIns="0" rIns="0" bIns="0" rtlCol="0" anchor="t"/>
          <a:lstStyle/>
          <a:p>
            <a:pPr indent="0" marL="0">
              <a:buNone/>
            </a:pPr>
            <a:r>
              <a:rPr lang="en-US" sz="1400" b="1" dirty="0">
                <a:solidFill>
                  <a:srgbClr val="1F6F78"/>
                </a:solidFill>
                <a:latin typeface="Calibri" pitchFamily="34" charset="0"/>
                <a:ea typeface="Calibri" pitchFamily="34" charset="-122"/>
                <a:cs typeface="Calibri" pitchFamily="34" charset="-120"/>
              </a:rPr>
              <a:t>Reopen</a:t>
            </a:r>
            <a:endParaRPr lang="en-US" sz="1400" dirty="0"/>
          </a:p>
        </p:txBody>
      </p:sp>
      <p:sp>
        <p:nvSpPr>
          <p:cNvPr id="21" name="Text 18"/>
          <p:cNvSpPr txBox="1"/>
          <p:nvPr/>
        </p:nvSpPr>
        <p:spPr>
          <a:xfrm>
            <a:off x="7406640" y="3758184"/>
            <a:ext cx="2377440" cy="320040"/>
          </a:xfrm>
          <a:prstGeom prst="rect">
            <a:avLst/>
          </a:prstGeom>
          <a:noFill/>
          <a:ln/>
        </p:spPr>
        <p:txBody>
          <a:bodyPr wrap="square" lIns="0" tIns="0" rIns="0" bIns="0" rtlCol="0" anchor="t"/>
          <a:lstStyle/>
          <a:p>
            <a:pPr indent="0" marL="0">
              <a:buNone/>
            </a:pPr>
            <a:r>
              <a:rPr lang="en-US" sz="1250" dirty="0">
                <a:solidFill>
                  <a:srgbClr val="0E2A3B"/>
                </a:solidFill>
                <a:latin typeface="Calibri" pitchFamily="34" charset="0"/>
                <a:ea typeface="Calibri" pitchFamily="34" charset="-122"/>
                <a:cs typeface="Calibri" pitchFamily="34" charset="-120"/>
              </a:rPr>
              <a:t>90-day knowledge escalations</a:t>
            </a:r>
            <a:endParaRPr lang="en-US" sz="1250" dirty="0"/>
          </a:p>
        </p:txBody>
      </p:sp>
      <p:sp>
        <p:nvSpPr>
          <p:cNvPr id="22" name="Text 19"/>
          <p:cNvSpPr txBox="1"/>
          <p:nvPr/>
        </p:nvSpPr>
        <p:spPr>
          <a:xfrm>
            <a:off x="9692640" y="3739896"/>
            <a:ext cx="1828800" cy="320040"/>
          </a:xfrm>
          <a:prstGeom prst="rect">
            <a:avLst/>
          </a:prstGeom>
          <a:noFill/>
          <a:ln/>
        </p:spPr>
        <p:txBody>
          <a:bodyPr wrap="square" lIns="0" tIns="0" rIns="0" bIns="0" rtlCol="0" anchor="t"/>
          <a:lstStyle/>
          <a:p>
            <a:pPr algn="r" indent="0" marL="0">
              <a:buNone/>
            </a:pPr>
            <a:r>
              <a:rPr lang="en-US" sz="1300" b="1" dirty="0">
                <a:solidFill>
                  <a:srgbClr val="0E2A3B"/>
                </a:solidFill>
                <a:latin typeface="Calibri" pitchFamily="34" charset="0"/>
                <a:ea typeface="Calibri" pitchFamily="34" charset="-122"/>
                <a:cs typeface="Calibri" pitchFamily="34" charset="-120"/>
              </a:rPr>
              <a:t>25% reduction</a:t>
            </a:r>
            <a:endParaRPr lang="en-US" sz="1300" dirty="0"/>
          </a:p>
        </p:txBody>
      </p:sp>
    </p:spTree>
  </p:cSld>
  <p:clrMapOvr>
    <a:masterClrMapping/>
  </p:clrMapOvr>
  <p:transition spd="med" advTm="20000">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PROPOSED APPROACH</a:t>
            </a:r>
            <a:endParaRPr lang="en-US" sz="1200" dirty="0"/>
          </a:p>
        </p:txBody>
      </p:sp>
      <p:sp>
        <p:nvSpPr>
          <p:cNvPr id="3" name="Text 1"/>
          <p:cNvSpPr txBox="1"/>
          <p:nvPr/>
        </p:nvSpPr>
        <p:spPr>
          <a:xfrm>
            <a:off x="10241280" y="320040"/>
            <a:ext cx="1371600" cy="274320"/>
          </a:xfrm>
          <a:prstGeom prst="rect">
            <a:avLst/>
          </a:prstGeom>
          <a:noFill/>
          <a:ln/>
        </p:spPr>
        <p:txBody>
          <a:bodyPr wrap="square" lIns="0" tIns="0" rIns="0" bIns="0" rtlCol="0" anchor="ctr"/>
          <a:lstStyle/>
          <a:p>
            <a:pPr algn="r" indent="0" marL="0">
              <a:buNone/>
            </a:pPr>
            <a:r>
              <a:rPr lang="en-US" sz="1100" dirty="0">
                <a:solidFill>
                  <a:srgbClr val="5B6B75"/>
                </a:solidFill>
                <a:latin typeface="Calibri" pitchFamily="34" charset="0"/>
                <a:ea typeface="Calibri" pitchFamily="34" charset="-122"/>
                <a:cs typeface="Calibri" pitchFamily="34" charset="-120"/>
              </a:rPr>
              <a:t>09 / 20</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0E2A3B"/>
                </a:solidFill>
                <a:latin typeface="Cambria" pitchFamily="34" charset="0"/>
                <a:ea typeface="Cambria" pitchFamily="34" charset="-122"/>
                <a:cs typeface="Cambria" pitchFamily="34" charset="-120"/>
              </a:rPr>
              <a:t>Hypothesis: knowledge is lost because nothing requires it</a:t>
            </a:r>
            <a:endParaRPr lang="en-US" sz="3000" dirty="0"/>
          </a:p>
        </p:txBody>
      </p:sp>
      <p:sp>
        <p:nvSpPr>
          <p:cNvPr id="5" name="Shape 3"/>
          <p:cNvSpPr/>
          <p:nvPr/>
        </p:nvSpPr>
        <p:spPr>
          <a:xfrm>
            <a:off x="548640" y="1463040"/>
            <a:ext cx="11064240" cy="777240"/>
          </a:xfrm>
          <a:prstGeom prst="roundRect">
            <a:avLst>
              <a:gd name="adj" fmla="val 9412"/>
            </a:avLst>
          </a:prstGeom>
          <a:solidFill>
            <a:srgbClr val="0E2A3B"/>
          </a:solidFill>
          <a:ln w="9525">
            <a:solidFill>
              <a:srgbClr val="0E2A3B"/>
            </a:solidFill>
            <a:prstDash val="solid"/>
          </a:ln>
        </p:spPr>
      </p:sp>
      <p:sp>
        <p:nvSpPr>
          <p:cNvPr id="6" name="Text 4"/>
          <p:cNvSpPr txBox="1"/>
          <p:nvPr/>
        </p:nvSpPr>
        <p:spPr>
          <a:xfrm>
            <a:off x="822960" y="1463040"/>
            <a:ext cx="10515600" cy="777240"/>
          </a:xfrm>
          <a:prstGeom prst="rect">
            <a:avLst/>
          </a:prstGeom>
          <a:noFill/>
          <a:ln/>
        </p:spPr>
        <p:txBody>
          <a:bodyPr wrap="square" lIns="0" tIns="0" rIns="0" bIns="0" rtlCol="0" anchor="ctr"/>
          <a:lstStyle/>
          <a:p>
            <a:pPr indent="0" marL="0">
              <a:buNone/>
            </a:pPr>
            <a:r>
              <a:rPr lang="en-US" sz="1700" i="1" dirty="0">
                <a:solidFill>
                  <a:srgbClr val="FFFFFF"/>
                </a:solidFill>
                <a:latin typeface="Calibri" pitchFamily="34" charset="0"/>
                <a:ea typeface="Calibri" pitchFamily="34" charset="-122"/>
                <a:cs typeface="Calibri" pitchFamily="34" charset="-120"/>
              </a:rPr>
              <a:t>If the receiving owner must confirm completion, handover quality improves and recovery costs fall.</a:t>
            </a:r>
            <a:endParaRPr lang="en-US" sz="17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514600"/>
          <a:ext cx="8138160" cy="914400"/>
        </p:xfrm>
        <a:graphic>
          <a:graphicData uri="http://schemas.openxmlformats.org/drawingml/2006/table">
            <a:tbl>
              <a:tblPr/>
              <a:tblGrid>
                <a:gridCol w="2194560"/>
                <a:gridCol w="3840480"/>
                <a:gridCol w="210312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Observed failure</a:t>
                      </a:r>
                      <a:endParaRPr lang="en-US" sz="1300" dirty="0">
                        <a:latin typeface="Calibri" charset="0"/>
                        <a:ea typeface="Calibri" charset="0"/>
                        <a:cs typeface="Calibri" charset="0"/>
                      </a:endParaRPr>
                    </a:p>
                  </a:txBody>
                  <a:tcPr marL="73152" marR="73152" marT="73152" marB="7315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1F6F7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Proposed control</a:t>
                      </a:r>
                      <a:endParaRPr lang="en-US" sz="1300" dirty="0">
                        <a:latin typeface="Calibri" charset="0"/>
                        <a:ea typeface="Calibri" charset="0"/>
                        <a:cs typeface="Calibri" charset="0"/>
                      </a:endParaRPr>
                    </a:p>
                  </a:txBody>
                  <a:tcPr marL="73152" marR="73152" marT="73152" marB="7315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1F6F7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Evidence generated</a:t>
                      </a:r>
                      <a:endParaRPr lang="en-US" sz="1300" dirty="0">
                        <a:latin typeface="Calibri" charset="0"/>
                        <a:ea typeface="Calibri" charset="0"/>
                        <a:cs typeface="Calibri" charset="0"/>
                      </a:endParaRPr>
                    </a:p>
                  </a:txBody>
                  <a:tcPr marL="73152" marR="73152" marT="73152" marB="7315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1F6F78"/>
                    </a:solidFill>
                  </a:tcPr>
                </a:tc>
              </a:tr>
              <a:tr h="475488">
                <a:tc>
                  <a:txBody>
                    <a:bodyPr/>
                    <a:lstStyle/>
                    <a:p>
                      <a:pPr indent="0" marL="0">
                        <a:buNone/>
                      </a:pPr>
                      <a:r>
                        <a:rPr lang="en-US" sz="1300" b="1" dirty="0">
                          <a:solidFill>
                            <a:srgbClr val="B8432F"/>
                          </a:solidFill>
                          <a:latin typeface="Calibri" pitchFamily="34" charset="0"/>
                          <a:ea typeface="Calibri" pitchFamily="34" charset="-122"/>
                          <a:cs typeface="Calibri" pitchFamily="34" charset="-120"/>
                        </a:rPr>
                        <a:t>No criticality test</a:t>
                      </a:r>
                      <a:endParaRPr lang="en-US" sz="1300" dirty="0">
                        <a:latin typeface="Calibri" charset="0"/>
                        <a:ea typeface="Calibri" charset="0"/>
                        <a:cs typeface="Calibri" charset="0"/>
                      </a:endParaRPr>
                    </a:p>
                  </a:txBody>
                  <a:tcPr marL="73152" marR="73152" marT="73152" marB="7315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0E2A3B"/>
                          </a:solidFill>
                          <a:latin typeface="Calibri" pitchFamily="34" charset="0"/>
                          <a:ea typeface="Calibri" pitchFamily="34" charset="-122"/>
                          <a:cs typeface="Calibri" pitchFamily="34" charset="-120"/>
                        </a:rPr>
                        <a:t>Rules-based triage (role, access, tenure, systems)</a:t>
                      </a:r>
                      <a:endParaRPr lang="en-US" sz="1300" dirty="0">
                        <a:latin typeface="Calibri" charset="0"/>
                        <a:ea typeface="Calibri" charset="0"/>
                        <a:cs typeface="Calibri" charset="0"/>
                      </a:endParaRPr>
                    </a:p>
                  </a:txBody>
                  <a:tcPr marL="73152" marR="73152" marT="73152" marB="7315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0E2A3B"/>
                          </a:solidFill>
                          <a:latin typeface="Calibri" pitchFamily="34" charset="0"/>
                          <a:ea typeface="Calibri" pitchFamily="34" charset="-122"/>
                          <a:cs typeface="Calibri" pitchFamily="34" charset="-120"/>
                        </a:rPr>
                        <a:t>CAC and overrides</a:t>
                      </a:r>
                      <a:endParaRPr lang="en-US" sz="1300" dirty="0">
                        <a:latin typeface="Calibri" charset="0"/>
                        <a:ea typeface="Calibri" charset="0"/>
                        <a:cs typeface="Calibri" charset="0"/>
                      </a:endParaRPr>
                    </a:p>
                  </a:txBody>
                  <a:tcPr marL="73152" marR="73152" marT="73152" marB="7315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B8432F"/>
                          </a:solidFill>
                          <a:latin typeface="Calibri" pitchFamily="34" charset="0"/>
                          <a:ea typeface="Calibri" pitchFamily="34" charset="-122"/>
                          <a:cs typeface="Calibri" pitchFamily="34" charset="-120"/>
                        </a:rPr>
                        <a:t>No accountable receiver</a:t>
                      </a:r>
                      <a:endParaRPr lang="en-US" sz="1300" dirty="0">
                        <a:latin typeface="Calibri" charset="0"/>
                        <a:ea typeface="Calibri" charset="0"/>
                        <a:cs typeface="Calibri" charset="0"/>
                      </a:endParaRPr>
                    </a:p>
                  </a:txBody>
                  <a:tcPr marL="73152" marR="73152" marT="73152" marB="7315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3F6F7"/>
                    </a:solidFill>
                  </a:tcPr>
                </a:tc>
                <a:tc>
                  <a:txBody>
                    <a:bodyPr/>
                    <a:lstStyle/>
                    <a:p>
                      <a:pPr indent="0" marL="0">
                        <a:buNone/>
                      </a:pPr>
                      <a:r>
                        <a:rPr lang="en-US" sz="1300" dirty="0">
                          <a:solidFill>
                            <a:srgbClr val="0E2A3B"/>
                          </a:solidFill>
                          <a:latin typeface="Calibri" pitchFamily="34" charset="0"/>
                          <a:ea typeface="Calibri" pitchFamily="34" charset="-122"/>
                          <a:cs typeface="Calibri" pitchFamily="34" charset="-120"/>
                        </a:rPr>
                        <a:t>Named receiving owner at exit confirmation</a:t>
                      </a:r>
                      <a:endParaRPr lang="en-US" sz="1300" dirty="0">
                        <a:latin typeface="Calibri" charset="0"/>
                        <a:ea typeface="Calibri" charset="0"/>
                        <a:cs typeface="Calibri" charset="0"/>
                      </a:endParaRPr>
                    </a:p>
                  </a:txBody>
                  <a:tcPr marL="73152" marR="73152" marT="73152" marB="7315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3F6F7"/>
                    </a:solidFill>
                  </a:tcPr>
                </a:tc>
                <a:tc>
                  <a:txBody>
                    <a:bodyPr/>
                    <a:lstStyle/>
                    <a:p>
                      <a:pPr indent="0" marL="0">
                        <a:buNone/>
                      </a:pPr>
                      <a:r>
                        <a:rPr lang="en-US" sz="1300" dirty="0">
                          <a:solidFill>
                            <a:srgbClr val="0E2A3B"/>
                          </a:solidFill>
                          <a:latin typeface="Calibri" pitchFamily="34" charset="0"/>
                          <a:ea typeface="Calibri" pitchFamily="34" charset="-122"/>
                          <a:cs typeface="Calibri" pitchFamily="34" charset="-120"/>
                        </a:rPr>
                        <a:t>Owner and exception log</a:t>
                      </a:r>
                      <a:endParaRPr lang="en-US" sz="1300" dirty="0">
                        <a:latin typeface="Calibri" charset="0"/>
                        <a:ea typeface="Calibri" charset="0"/>
                        <a:cs typeface="Calibri" charset="0"/>
                      </a:endParaRPr>
                    </a:p>
                  </a:txBody>
                  <a:tcPr marL="73152" marR="73152" marT="73152" marB="7315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3F6F7"/>
                    </a:solidFill>
                  </a:tcPr>
                </a:tc>
              </a:tr>
              <a:tr h="475488">
                <a:tc>
                  <a:txBody>
                    <a:bodyPr/>
                    <a:lstStyle/>
                    <a:p>
                      <a:pPr indent="0" marL="0">
                        <a:buNone/>
                      </a:pPr>
                      <a:r>
                        <a:rPr lang="en-US" sz="1300" b="1" dirty="0">
                          <a:solidFill>
                            <a:srgbClr val="B8432F"/>
                          </a:solidFill>
                          <a:latin typeface="Calibri" pitchFamily="34" charset="0"/>
                          <a:ea typeface="Calibri" pitchFamily="34" charset="-122"/>
                          <a:cs typeface="Calibri" pitchFamily="34" charset="-120"/>
                        </a:rPr>
                        <a:t>Unstructured capture</a:t>
                      </a:r>
                      <a:endParaRPr lang="en-US" sz="1300" dirty="0">
                        <a:latin typeface="Calibri" charset="0"/>
                        <a:ea typeface="Calibri" charset="0"/>
                        <a:cs typeface="Calibri" charset="0"/>
                      </a:endParaRPr>
                    </a:p>
                  </a:txBody>
                  <a:tcPr marL="73152" marR="73152" marT="73152" marB="7315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0E2A3B"/>
                          </a:solidFill>
                          <a:latin typeface="Calibri" pitchFamily="34" charset="0"/>
                          <a:ea typeface="Calibri" pitchFamily="34" charset="-122"/>
                          <a:cs typeface="Calibri" pitchFamily="34" charset="-120"/>
                        </a:rPr>
                        <a:t>Standard pack driven by receiver needs</a:t>
                      </a:r>
                      <a:endParaRPr lang="en-US" sz="1300" dirty="0">
                        <a:latin typeface="Calibri" charset="0"/>
                        <a:ea typeface="Calibri" charset="0"/>
                        <a:cs typeface="Calibri" charset="0"/>
                      </a:endParaRPr>
                    </a:p>
                  </a:txBody>
                  <a:tcPr marL="73152" marR="73152" marT="73152" marB="7315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0E2A3B"/>
                          </a:solidFill>
                          <a:latin typeface="Calibri" pitchFamily="34" charset="0"/>
                          <a:ea typeface="Calibri" pitchFamily="34" charset="-122"/>
                          <a:cs typeface="Calibri" pitchFamily="34" charset="-120"/>
                        </a:rPr>
                        <a:t>Comparable artefact</a:t>
                      </a:r>
                      <a:endParaRPr lang="en-US" sz="1300" dirty="0">
                        <a:latin typeface="Calibri" charset="0"/>
                        <a:ea typeface="Calibri" charset="0"/>
                        <a:cs typeface="Calibri" charset="0"/>
                      </a:endParaRPr>
                    </a:p>
                  </a:txBody>
                  <a:tcPr marL="73152" marR="73152" marT="73152" marB="7315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B8432F"/>
                          </a:solidFill>
                          <a:latin typeface="Calibri" pitchFamily="34" charset="0"/>
                          <a:ea typeface="Calibri" pitchFamily="34" charset="-122"/>
                          <a:cs typeface="Calibri" pitchFamily="34" charset="-120"/>
                        </a:rPr>
                        <a:t>No quality gate</a:t>
                      </a:r>
                      <a:endParaRPr lang="en-US" sz="1300" dirty="0">
                        <a:latin typeface="Calibri" charset="0"/>
                        <a:ea typeface="Calibri" charset="0"/>
                        <a:cs typeface="Calibri" charset="0"/>
                      </a:endParaRPr>
                    </a:p>
                  </a:txBody>
                  <a:tcPr marL="73152" marR="73152" marT="73152" marB="7315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3F6F7"/>
                    </a:solidFill>
                  </a:tcPr>
                </a:tc>
                <a:tc>
                  <a:txBody>
                    <a:bodyPr/>
                    <a:lstStyle/>
                    <a:p>
                      <a:pPr indent="0" marL="0">
                        <a:buNone/>
                      </a:pPr>
                      <a:r>
                        <a:rPr lang="en-US" sz="1300" dirty="0">
                          <a:solidFill>
                            <a:srgbClr val="0E2A3B"/>
                          </a:solidFill>
                          <a:latin typeface="Calibri" pitchFamily="34" charset="0"/>
                          <a:ea typeface="Calibri" pitchFamily="34" charset="-122"/>
                          <a:cs typeface="Calibri" pitchFamily="34" charset="-120"/>
                        </a:rPr>
                        <a:t>Competence check on 2 to 3 real tasks</a:t>
                      </a:r>
                      <a:endParaRPr lang="en-US" sz="1300" dirty="0">
                        <a:latin typeface="Calibri" charset="0"/>
                        <a:ea typeface="Calibri" charset="0"/>
                        <a:cs typeface="Calibri" charset="0"/>
                      </a:endParaRPr>
                    </a:p>
                  </a:txBody>
                  <a:tcPr marL="73152" marR="73152" marT="73152" marB="7315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3F6F7"/>
                    </a:solidFill>
                  </a:tcPr>
                </a:tc>
                <a:tc>
                  <a:txBody>
                    <a:bodyPr/>
                    <a:lstStyle/>
                    <a:p>
                      <a:pPr indent="0" marL="0">
                        <a:buNone/>
                      </a:pPr>
                      <a:r>
                        <a:rPr lang="en-US" sz="1300" dirty="0">
                          <a:solidFill>
                            <a:srgbClr val="0E2A3B"/>
                          </a:solidFill>
                          <a:latin typeface="Calibri" pitchFamily="34" charset="0"/>
                          <a:ea typeface="Calibri" pitchFamily="34" charset="-122"/>
                          <a:cs typeface="Calibri" pitchFamily="34" charset="-120"/>
                        </a:rPr>
                        <a:t>VHCR and remediation</a:t>
                      </a:r>
                      <a:endParaRPr lang="en-US" sz="1300" dirty="0">
                        <a:latin typeface="Calibri" charset="0"/>
                        <a:ea typeface="Calibri" charset="0"/>
                        <a:cs typeface="Calibri" charset="0"/>
                      </a:endParaRPr>
                    </a:p>
                  </a:txBody>
                  <a:tcPr marL="73152" marR="73152" marT="73152" marB="7315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3F6F7"/>
                    </a:solidFill>
                  </a:tcPr>
                </a:tc>
              </a:tr>
              <a:tr h="475488">
                <a:tc>
                  <a:txBody>
                    <a:bodyPr/>
                    <a:lstStyle/>
                    <a:p>
                      <a:pPr indent="0" marL="0">
                        <a:buNone/>
                      </a:pPr>
                      <a:r>
                        <a:rPr lang="en-US" sz="1300" b="1" dirty="0">
                          <a:solidFill>
                            <a:srgbClr val="B8432F"/>
                          </a:solidFill>
                          <a:latin typeface="Calibri" pitchFamily="34" charset="0"/>
                          <a:ea typeface="Calibri" pitchFamily="34" charset="-122"/>
                          <a:cs typeface="Calibri" pitchFamily="34" charset="-120"/>
                        </a:rPr>
                        <a:t>Costs stay invisible</a:t>
                      </a:r>
                      <a:endParaRPr lang="en-US" sz="1300" dirty="0">
                        <a:latin typeface="Calibri" charset="0"/>
                        <a:ea typeface="Calibri" charset="0"/>
                        <a:cs typeface="Calibri" charset="0"/>
                      </a:endParaRPr>
                    </a:p>
                  </a:txBody>
                  <a:tcPr marL="73152" marR="73152" marT="73152" marB="7315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0E2A3B"/>
                          </a:solidFill>
                          <a:latin typeface="Calibri" pitchFamily="34" charset="0"/>
                          <a:ea typeface="Calibri" pitchFamily="34" charset="-122"/>
                          <a:cs typeface="Calibri" pitchFamily="34" charset="-120"/>
                        </a:rPr>
                        <a:t>Link exit, ITSM and finance records</a:t>
                      </a:r>
                      <a:endParaRPr lang="en-US" sz="1300" dirty="0">
                        <a:latin typeface="Calibri" charset="0"/>
                        <a:ea typeface="Calibri" charset="0"/>
                        <a:cs typeface="Calibri" charset="0"/>
                      </a:endParaRPr>
                    </a:p>
                  </a:txBody>
                  <a:tcPr marL="73152" marR="73152" marT="73152" marB="7315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c>
                  <a:txBody>
                    <a:bodyPr/>
                    <a:lstStyle/>
                    <a:p>
                      <a:pPr indent="0" marL="0">
                        <a:buNone/>
                      </a:pPr>
                      <a:r>
                        <a:rPr lang="en-US" sz="1300" dirty="0">
                          <a:solidFill>
                            <a:srgbClr val="0E2A3B"/>
                          </a:solidFill>
                          <a:latin typeface="Calibri" pitchFamily="34" charset="0"/>
                          <a:ea typeface="Calibri" pitchFamily="34" charset="-122"/>
                          <a:cs typeface="Calibri" pitchFamily="34" charset="-120"/>
                        </a:rPr>
                        <a:t>Benefit tracking</a:t>
                      </a:r>
                      <a:endParaRPr lang="en-US" sz="1300" dirty="0">
                        <a:latin typeface="Calibri" charset="0"/>
                        <a:ea typeface="Calibri" charset="0"/>
                        <a:cs typeface="Calibri" charset="0"/>
                      </a:endParaRPr>
                    </a:p>
                  </a:txBody>
                  <a:tcPr marL="73152" marR="73152" marT="73152" marB="73152" anchor="ctr">
                    <a:lnL w="6350" cap="flat" cmpd="sng" algn="ctr">
                      <a:solidFill>
                        <a:srgbClr val="D5DEE2"/>
                      </a:solidFill>
                      <a:prstDash val="solid"/>
                      <a:round/>
                      <a:headEnd type="none" w="med" len="med"/>
                      <a:tailEnd type="none" w="med" len="med"/>
                    </a:lnL>
                    <a:lnR w="6350" cap="flat" cmpd="sng" algn="ctr">
                      <a:solidFill>
                        <a:srgbClr val="D5DEE2"/>
                      </a:solidFill>
                      <a:prstDash val="solid"/>
                      <a:round/>
                      <a:headEnd type="none" w="med" len="med"/>
                      <a:tailEnd type="none" w="med" len="med"/>
                    </a:lnR>
                    <a:lnT w="6350" cap="flat" cmpd="sng" algn="ctr">
                      <a:solidFill>
                        <a:srgbClr val="D5DEE2"/>
                      </a:solidFill>
                      <a:prstDash val="solid"/>
                      <a:round/>
                      <a:headEnd type="none" w="med" len="med"/>
                      <a:tailEnd type="none" w="med" len="med"/>
                    </a:lnT>
                    <a:lnB w="6350" cap="flat" cmpd="sng" algn="ctr">
                      <a:solidFill>
                        <a:srgbClr val="D5DEE2"/>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48640" y="6400800"/>
            <a:ext cx="8046720" cy="274320"/>
          </a:xfrm>
          <a:prstGeom prst="rect">
            <a:avLst/>
          </a:prstGeom>
          <a:noFill/>
          <a:ln/>
        </p:spPr>
        <p:txBody>
          <a:bodyPr wrap="square" lIns="0" tIns="0" rIns="0" bIns="0" rtlCol="0" anchor="ctr"/>
          <a:lstStyle/>
          <a:p>
            <a:pPr indent="0" marL="0">
              <a:buNone/>
            </a:pPr>
            <a:r>
              <a:rPr lang="en-US" sz="900" dirty="0">
                <a:solidFill>
                  <a:srgbClr val="5B6B75"/>
                </a:solidFill>
                <a:latin typeface="Calibri" pitchFamily="34" charset="0"/>
                <a:ea typeface="Calibri" pitchFamily="34" charset="-122"/>
                <a:cs typeface="Calibri" pitchFamily="34" charset="-120"/>
              </a:rPr>
              <a:t>Links A1-D1 and A1-D2 findings to controls; process models kept understandable to business owners (Rosemann, 2006).</a:t>
            </a:r>
            <a:endParaRPr lang="en-US" sz="900" dirty="0"/>
          </a:p>
        </p:txBody>
      </p:sp>
    </p:spTree>
  </p:cSld>
  <p:clrMapOvr>
    <a:masterClrMapping/>
  </p:clrMapOvr>
  <p:transition spd="med" advTm="20000">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FUTURE (TO-BE) PROCESS</a:t>
            </a:r>
            <a:endParaRPr lang="en-US" sz="1200" dirty="0"/>
          </a:p>
        </p:txBody>
      </p:sp>
      <p:sp>
        <p:nvSpPr>
          <p:cNvPr id="3" name="Text 1"/>
          <p:cNvSpPr txBox="1"/>
          <p:nvPr/>
        </p:nvSpPr>
        <p:spPr>
          <a:xfrm>
            <a:off x="10241280" y="320040"/>
            <a:ext cx="1371600" cy="274320"/>
          </a:xfrm>
          <a:prstGeom prst="rect">
            <a:avLst/>
          </a:prstGeom>
          <a:noFill/>
          <a:ln/>
        </p:spPr>
        <p:txBody>
          <a:bodyPr wrap="square" lIns="0" tIns="0" rIns="0" bIns="0" rtlCol="0" anchor="ctr"/>
          <a:lstStyle/>
          <a:p>
            <a:pPr algn="r" indent="0" marL="0">
              <a:buNone/>
            </a:pPr>
            <a:r>
              <a:rPr lang="en-US" sz="1100" dirty="0">
                <a:solidFill>
                  <a:srgbClr val="5B6B75"/>
                </a:solidFill>
                <a:latin typeface="Calibri" pitchFamily="34" charset="0"/>
                <a:ea typeface="Calibri" pitchFamily="34" charset="-122"/>
                <a:cs typeface="Calibri" pitchFamily="34" charset="-120"/>
              </a:rPr>
              <a:t>10 / 20</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0E2A3B"/>
                </a:solidFill>
                <a:latin typeface="Cambria" pitchFamily="34" charset="0"/>
                <a:ea typeface="Cambria" pitchFamily="34" charset="-122"/>
                <a:cs typeface="Cambria" pitchFamily="34" charset="-120"/>
              </a:rPr>
              <a:t>Tomorrow, a gate proves the receiver can do the work</a:t>
            </a:r>
            <a:endParaRPr lang="en-US" sz="3000" dirty="0"/>
          </a:p>
        </p:txBody>
      </p:sp>
      <p:sp>
        <p:nvSpPr>
          <p:cNvPr id="5" name="Shape 3"/>
          <p:cNvSpPr/>
          <p:nvPr/>
        </p:nvSpPr>
        <p:spPr>
          <a:xfrm>
            <a:off x="548640" y="1554480"/>
            <a:ext cx="1691640" cy="1920240"/>
          </a:xfrm>
          <a:prstGeom prst="roundRect">
            <a:avLst>
              <a:gd name="adj" fmla="val 4324"/>
            </a:avLst>
          </a:prstGeom>
          <a:solidFill>
            <a:srgbClr val="E6F1F2"/>
          </a:solidFill>
          <a:ln w="9525">
            <a:solidFill>
              <a:srgbClr val="E6F1F2"/>
            </a:solidFill>
            <a:prstDash val="solid"/>
          </a:ln>
        </p:spPr>
      </p:sp>
      <p:sp>
        <p:nvSpPr>
          <p:cNvPr id="6" name="Shape 4"/>
          <p:cNvSpPr/>
          <p:nvPr/>
        </p:nvSpPr>
        <p:spPr>
          <a:xfrm>
            <a:off x="731520" y="1719072"/>
            <a:ext cx="457200" cy="457200"/>
          </a:xfrm>
          <a:prstGeom prst="ellipse">
            <a:avLst/>
          </a:prstGeom>
          <a:solidFill>
            <a:srgbClr val="1F6F78"/>
          </a:solidFill>
          <a:ln w="12700">
            <a:solidFill>
              <a:srgbClr val="1F6F78"/>
            </a:solidFill>
            <a:prstDash val="solid"/>
          </a:ln>
        </p:spPr>
      </p:sp>
      <p:sp>
        <p:nvSpPr>
          <p:cNvPr id="7" name="Text 5"/>
          <p:cNvSpPr txBox="1"/>
          <p:nvPr/>
        </p:nvSpPr>
        <p:spPr>
          <a:xfrm>
            <a:off x="731520" y="17190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731520" y="2331720"/>
            <a:ext cx="1371600" cy="1005840"/>
          </a:xfrm>
          <a:prstGeom prst="rect">
            <a:avLst/>
          </a:prstGeom>
          <a:noFill/>
          <a:ln/>
        </p:spPr>
        <p:txBody>
          <a:bodyPr wrap="square" lIns="0" tIns="0" rIns="0" bIns="0" rtlCol="0" anchor="t"/>
          <a:lstStyle/>
          <a:p>
            <a:pPr indent="0" marL="0">
              <a:buNone/>
            </a:pPr>
            <a:r>
              <a:rPr lang="en-US" sz="1450" b="1" dirty="0">
                <a:solidFill>
                  <a:srgbClr val="0E2A3B"/>
                </a:solidFill>
                <a:latin typeface="Calibri" pitchFamily="34" charset="0"/>
                <a:ea typeface="Calibri" pitchFamily="34" charset="-122"/>
                <a:cs typeface="Calibri" pitchFamily="34" charset="-120"/>
              </a:rPr>
              <a:t>Criticality triage</a:t>
            </a:r>
            <a:endParaRPr lang="en-US" sz="1450" dirty="0"/>
          </a:p>
        </p:txBody>
      </p:sp>
      <p:sp>
        <p:nvSpPr>
          <p:cNvPr id="9" name="Shape 7"/>
          <p:cNvSpPr/>
          <p:nvPr/>
        </p:nvSpPr>
        <p:spPr>
          <a:xfrm>
            <a:off x="2249424" y="2514600"/>
            <a:ext cx="164592" cy="0"/>
          </a:xfrm>
          <a:prstGeom prst="line">
            <a:avLst/>
          </a:prstGeom>
          <a:noFill/>
          <a:ln w="19050">
            <a:solidFill>
              <a:srgbClr val="5B6B75"/>
            </a:solidFill>
            <a:prstDash val="solid"/>
            <a:tailEnd type="triangle"/>
          </a:ln>
        </p:spPr>
      </p:sp>
      <p:sp>
        <p:nvSpPr>
          <p:cNvPr id="10" name="Shape 8"/>
          <p:cNvSpPr/>
          <p:nvPr/>
        </p:nvSpPr>
        <p:spPr>
          <a:xfrm>
            <a:off x="2423160" y="1554480"/>
            <a:ext cx="1691640" cy="1920240"/>
          </a:xfrm>
          <a:prstGeom prst="roundRect">
            <a:avLst>
              <a:gd name="adj" fmla="val 4324"/>
            </a:avLst>
          </a:prstGeom>
          <a:solidFill>
            <a:srgbClr val="E6F1F2"/>
          </a:solidFill>
          <a:ln w="9525">
            <a:solidFill>
              <a:srgbClr val="E6F1F2"/>
            </a:solidFill>
            <a:prstDash val="solid"/>
          </a:ln>
        </p:spPr>
      </p:sp>
      <p:sp>
        <p:nvSpPr>
          <p:cNvPr id="11" name="Shape 9"/>
          <p:cNvSpPr/>
          <p:nvPr/>
        </p:nvSpPr>
        <p:spPr>
          <a:xfrm>
            <a:off x="2606040" y="1719072"/>
            <a:ext cx="457200" cy="457200"/>
          </a:xfrm>
          <a:prstGeom prst="ellipse">
            <a:avLst/>
          </a:prstGeom>
          <a:solidFill>
            <a:srgbClr val="1F6F78"/>
          </a:solidFill>
          <a:ln w="12700">
            <a:solidFill>
              <a:srgbClr val="1F6F78"/>
            </a:solidFill>
            <a:prstDash val="solid"/>
          </a:ln>
        </p:spPr>
      </p:sp>
      <p:sp>
        <p:nvSpPr>
          <p:cNvPr id="12" name="Text 10"/>
          <p:cNvSpPr txBox="1"/>
          <p:nvPr/>
        </p:nvSpPr>
        <p:spPr>
          <a:xfrm>
            <a:off x="2606040" y="17190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2606040" y="2331720"/>
            <a:ext cx="1371600" cy="1005840"/>
          </a:xfrm>
          <a:prstGeom prst="rect">
            <a:avLst/>
          </a:prstGeom>
          <a:noFill/>
          <a:ln/>
        </p:spPr>
        <p:txBody>
          <a:bodyPr wrap="square" lIns="0" tIns="0" rIns="0" bIns="0" rtlCol="0" anchor="t"/>
          <a:lstStyle/>
          <a:p>
            <a:pPr indent="0" marL="0">
              <a:buNone/>
            </a:pPr>
            <a:r>
              <a:rPr lang="en-US" sz="1450" b="1" dirty="0">
                <a:solidFill>
                  <a:srgbClr val="0E2A3B"/>
                </a:solidFill>
                <a:latin typeface="Calibri" pitchFamily="34" charset="0"/>
                <a:ea typeface="Calibri" pitchFamily="34" charset="-122"/>
                <a:cs typeface="Calibri" pitchFamily="34" charset="-120"/>
              </a:rPr>
              <a:t>Named receiving owner</a:t>
            </a:r>
            <a:endParaRPr lang="en-US" sz="1450" dirty="0"/>
          </a:p>
        </p:txBody>
      </p:sp>
      <p:sp>
        <p:nvSpPr>
          <p:cNvPr id="14" name="Shape 12"/>
          <p:cNvSpPr/>
          <p:nvPr/>
        </p:nvSpPr>
        <p:spPr>
          <a:xfrm>
            <a:off x="4123944" y="2514600"/>
            <a:ext cx="164592" cy="0"/>
          </a:xfrm>
          <a:prstGeom prst="line">
            <a:avLst/>
          </a:prstGeom>
          <a:noFill/>
          <a:ln w="19050">
            <a:solidFill>
              <a:srgbClr val="5B6B75"/>
            </a:solidFill>
            <a:prstDash val="solid"/>
            <a:tailEnd type="triangle"/>
          </a:ln>
        </p:spPr>
      </p:sp>
      <p:sp>
        <p:nvSpPr>
          <p:cNvPr id="15" name="Shape 13"/>
          <p:cNvSpPr/>
          <p:nvPr/>
        </p:nvSpPr>
        <p:spPr>
          <a:xfrm>
            <a:off x="4297680" y="1554480"/>
            <a:ext cx="1691640" cy="1920240"/>
          </a:xfrm>
          <a:prstGeom prst="roundRect">
            <a:avLst>
              <a:gd name="adj" fmla="val 4324"/>
            </a:avLst>
          </a:prstGeom>
          <a:solidFill>
            <a:srgbClr val="E6F1F2"/>
          </a:solidFill>
          <a:ln w="9525">
            <a:solidFill>
              <a:srgbClr val="E6F1F2"/>
            </a:solidFill>
            <a:prstDash val="solid"/>
          </a:ln>
        </p:spPr>
      </p:sp>
      <p:sp>
        <p:nvSpPr>
          <p:cNvPr id="16" name="Shape 14"/>
          <p:cNvSpPr/>
          <p:nvPr/>
        </p:nvSpPr>
        <p:spPr>
          <a:xfrm>
            <a:off x="4480560" y="1719072"/>
            <a:ext cx="457200" cy="457200"/>
          </a:xfrm>
          <a:prstGeom prst="ellipse">
            <a:avLst/>
          </a:prstGeom>
          <a:solidFill>
            <a:srgbClr val="1F6F78"/>
          </a:solidFill>
          <a:ln w="12700">
            <a:solidFill>
              <a:srgbClr val="1F6F78"/>
            </a:solidFill>
            <a:prstDash val="solid"/>
          </a:ln>
        </p:spPr>
      </p:sp>
      <p:sp>
        <p:nvSpPr>
          <p:cNvPr id="17" name="Text 15"/>
          <p:cNvSpPr txBox="1"/>
          <p:nvPr/>
        </p:nvSpPr>
        <p:spPr>
          <a:xfrm>
            <a:off x="4480560" y="17190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4480560" y="2331720"/>
            <a:ext cx="1371600" cy="1005840"/>
          </a:xfrm>
          <a:prstGeom prst="rect">
            <a:avLst/>
          </a:prstGeom>
          <a:noFill/>
          <a:ln/>
        </p:spPr>
        <p:txBody>
          <a:bodyPr wrap="square" lIns="0" tIns="0" rIns="0" bIns="0" rtlCol="0" anchor="t"/>
          <a:lstStyle/>
          <a:p>
            <a:pPr indent="0" marL="0">
              <a:buNone/>
            </a:pPr>
            <a:r>
              <a:rPr lang="en-US" sz="1450" b="1" dirty="0">
                <a:solidFill>
                  <a:srgbClr val="0E2A3B"/>
                </a:solidFill>
                <a:latin typeface="Calibri" pitchFamily="34" charset="0"/>
                <a:ea typeface="Calibri" pitchFamily="34" charset="-122"/>
                <a:cs typeface="Calibri" pitchFamily="34" charset="-120"/>
              </a:rPr>
              <a:t>Standard handover pack</a:t>
            </a:r>
            <a:endParaRPr lang="en-US" sz="1450" dirty="0"/>
          </a:p>
        </p:txBody>
      </p:sp>
      <p:sp>
        <p:nvSpPr>
          <p:cNvPr id="19" name="Shape 17"/>
          <p:cNvSpPr/>
          <p:nvPr/>
        </p:nvSpPr>
        <p:spPr>
          <a:xfrm>
            <a:off x="5998464" y="2514600"/>
            <a:ext cx="164592" cy="0"/>
          </a:xfrm>
          <a:prstGeom prst="line">
            <a:avLst/>
          </a:prstGeom>
          <a:noFill/>
          <a:ln w="19050">
            <a:solidFill>
              <a:srgbClr val="5B6B75"/>
            </a:solidFill>
            <a:prstDash val="solid"/>
            <a:tailEnd type="triangle"/>
          </a:ln>
        </p:spPr>
      </p:sp>
      <p:sp>
        <p:nvSpPr>
          <p:cNvPr id="20" name="Shape 18"/>
          <p:cNvSpPr/>
          <p:nvPr/>
        </p:nvSpPr>
        <p:spPr>
          <a:xfrm>
            <a:off x="6172200" y="1554480"/>
            <a:ext cx="1691640" cy="1920240"/>
          </a:xfrm>
          <a:prstGeom prst="roundRect">
            <a:avLst>
              <a:gd name="adj" fmla="val 4324"/>
            </a:avLst>
          </a:prstGeom>
          <a:solidFill>
            <a:srgbClr val="FCF1DE"/>
          </a:solidFill>
          <a:ln w="19050">
            <a:solidFill>
              <a:srgbClr val="E8A33D"/>
            </a:solidFill>
            <a:prstDash val="solid"/>
          </a:ln>
        </p:spPr>
      </p:sp>
      <p:sp>
        <p:nvSpPr>
          <p:cNvPr id="21" name="Shape 19"/>
          <p:cNvSpPr/>
          <p:nvPr/>
        </p:nvSpPr>
        <p:spPr>
          <a:xfrm>
            <a:off x="6355080" y="1719072"/>
            <a:ext cx="457200" cy="457200"/>
          </a:xfrm>
          <a:prstGeom prst="ellipse">
            <a:avLst/>
          </a:prstGeom>
          <a:solidFill>
            <a:srgbClr val="E8A33D"/>
          </a:solidFill>
          <a:ln w="12700">
            <a:solidFill>
              <a:srgbClr val="E8A33D"/>
            </a:solidFill>
            <a:prstDash val="solid"/>
          </a:ln>
        </p:spPr>
      </p:sp>
      <p:sp>
        <p:nvSpPr>
          <p:cNvPr id="22" name="Text 20"/>
          <p:cNvSpPr txBox="1"/>
          <p:nvPr/>
        </p:nvSpPr>
        <p:spPr>
          <a:xfrm>
            <a:off x="6355080" y="1719072"/>
            <a:ext cx="457200" cy="457200"/>
          </a:xfrm>
          <a:prstGeom prst="rect">
            <a:avLst/>
          </a:prstGeom>
          <a:noFill/>
          <a:ln/>
        </p:spPr>
        <p:txBody>
          <a:bodyPr wrap="square" lIns="0" tIns="0" rIns="0" bIns="0" rtlCol="0" anchor="ctr"/>
          <a:lstStyle/>
          <a:p>
            <a:pPr algn="ctr" indent="0" marL="0">
              <a:buNone/>
            </a:pPr>
            <a:r>
              <a:rPr lang="en-US" sz="1400" b="1" dirty="0">
                <a:solidFill>
                  <a:srgbClr val="0E2A3B"/>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6355080" y="2331720"/>
            <a:ext cx="1371600" cy="1005840"/>
          </a:xfrm>
          <a:prstGeom prst="rect">
            <a:avLst/>
          </a:prstGeom>
          <a:noFill/>
          <a:ln/>
        </p:spPr>
        <p:txBody>
          <a:bodyPr wrap="square" lIns="0" tIns="0" rIns="0" bIns="0" rtlCol="0" anchor="t"/>
          <a:lstStyle/>
          <a:p>
            <a:pPr indent="0" marL="0">
              <a:buNone/>
            </a:pPr>
            <a:r>
              <a:rPr lang="en-US" sz="1450" b="1" dirty="0">
                <a:solidFill>
                  <a:srgbClr val="0E2A3B"/>
                </a:solidFill>
                <a:latin typeface="Calibri" pitchFamily="34" charset="0"/>
                <a:ea typeface="Calibri" pitchFamily="34" charset="-122"/>
                <a:cs typeface="Calibri" pitchFamily="34" charset="-120"/>
              </a:rPr>
              <a:t>Competence check on real tasks</a:t>
            </a:r>
            <a:endParaRPr lang="en-US" sz="1450" dirty="0"/>
          </a:p>
        </p:txBody>
      </p:sp>
      <p:sp>
        <p:nvSpPr>
          <p:cNvPr id="24" name="Shape 22"/>
          <p:cNvSpPr/>
          <p:nvPr/>
        </p:nvSpPr>
        <p:spPr>
          <a:xfrm>
            <a:off x="7872984" y="2514600"/>
            <a:ext cx="164592" cy="0"/>
          </a:xfrm>
          <a:prstGeom prst="line">
            <a:avLst/>
          </a:prstGeom>
          <a:noFill/>
          <a:ln w="19050">
            <a:solidFill>
              <a:srgbClr val="5B6B75"/>
            </a:solidFill>
            <a:prstDash val="solid"/>
            <a:tailEnd type="triangle"/>
          </a:ln>
        </p:spPr>
      </p:sp>
      <p:sp>
        <p:nvSpPr>
          <p:cNvPr id="25" name="Shape 23"/>
          <p:cNvSpPr/>
          <p:nvPr/>
        </p:nvSpPr>
        <p:spPr>
          <a:xfrm>
            <a:off x="8046720" y="1554480"/>
            <a:ext cx="1691640" cy="1920240"/>
          </a:xfrm>
          <a:prstGeom prst="roundRect">
            <a:avLst>
              <a:gd name="adj" fmla="val 4324"/>
            </a:avLst>
          </a:prstGeom>
          <a:solidFill>
            <a:srgbClr val="E6F1F2"/>
          </a:solidFill>
          <a:ln w="9525">
            <a:solidFill>
              <a:srgbClr val="E6F1F2"/>
            </a:solidFill>
            <a:prstDash val="solid"/>
          </a:ln>
        </p:spPr>
      </p:sp>
      <p:sp>
        <p:nvSpPr>
          <p:cNvPr id="26" name="Shape 24"/>
          <p:cNvSpPr/>
          <p:nvPr/>
        </p:nvSpPr>
        <p:spPr>
          <a:xfrm>
            <a:off x="8229600" y="1719072"/>
            <a:ext cx="457200" cy="457200"/>
          </a:xfrm>
          <a:prstGeom prst="ellipse">
            <a:avLst/>
          </a:prstGeom>
          <a:solidFill>
            <a:srgbClr val="1F6F78"/>
          </a:solidFill>
          <a:ln w="12700">
            <a:solidFill>
              <a:srgbClr val="1F6F78"/>
            </a:solidFill>
            <a:prstDash val="solid"/>
          </a:ln>
        </p:spPr>
      </p:sp>
      <p:sp>
        <p:nvSpPr>
          <p:cNvPr id="27" name="Text 25"/>
          <p:cNvSpPr txBox="1"/>
          <p:nvPr/>
        </p:nvSpPr>
        <p:spPr>
          <a:xfrm>
            <a:off x="8229600" y="17190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8" name="Text 26"/>
          <p:cNvSpPr txBox="1"/>
          <p:nvPr/>
        </p:nvSpPr>
        <p:spPr>
          <a:xfrm>
            <a:off x="8229600" y="2331720"/>
            <a:ext cx="1371600" cy="1005840"/>
          </a:xfrm>
          <a:prstGeom prst="rect">
            <a:avLst/>
          </a:prstGeom>
          <a:noFill/>
          <a:ln/>
        </p:spPr>
        <p:txBody>
          <a:bodyPr wrap="square" lIns="0" tIns="0" rIns="0" bIns="0" rtlCol="0" anchor="t"/>
          <a:lstStyle/>
          <a:p>
            <a:pPr indent="0" marL="0">
              <a:buNone/>
            </a:pPr>
            <a:r>
              <a:rPr lang="en-US" sz="1450" b="1" dirty="0">
                <a:solidFill>
                  <a:srgbClr val="0E2A3B"/>
                </a:solidFill>
                <a:latin typeface="Calibri" pitchFamily="34" charset="0"/>
                <a:ea typeface="Calibri" pitchFamily="34" charset="-122"/>
                <a:cs typeface="Calibri" pitchFamily="34" charset="-120"/>
              </a:rPr>
              <a:t>Managed exception route</a:t>
            </a:r>
            <a:endParaRPr lang="en-US" sz="1450" dirty="0"/>
          </a:p>
        </p:txBody>
      </p:sp>
      <p:sp>
        <p:nvSpPr>
          <p:cNvPr id="29" name="Shape 27"/>
          <p:cNvSpPr/>
          <p:nvPr/>
        </p:nvSpPr>
        <p:spPr>
          <a:xfrm>
            <a:off x="9747504" y="2514600"/>
            <a:ext cx="164592" cy="0"/>
          </a:xfrm>
          <a:prstGeom prst="line">
            <a:avLst/>
          </a:prstGeom>
          <a:noFill/>
          <a:ln w="19050">
            <a:solidFill>
              <a:srgbClr val="5B6B75"/>
            </a:solidFill>
            <a:prstDash val="solid"/>
            <a:tailEnd type="triangle"/>
          </a:ln>
        </p:spPr>
      </p:sp>
      <p:sp>
        <p:nvSpPr>
          <p:cNvPr id="30" name="Shape 28"/>
          <p:cNvSpPr/>
          <p:nvPr/>
        </p:nvSpPr>
        <p:spPr>
          <a:xfrm>
            <a:off x="9921240" y="1554480"/>
            <a:ext cx="1691640" cy="1920240"/>
          </a:xfrm>
          <a:prstGeom prst="roundRect">
            <a:avLst>
              <a:gd name="adj" fmla="val 4324"/>
            </a:avLst>
          </a:prstGeom>
          <a:solidFill>
            <a:srgbClr val="E6F1F2"/>
          </a:solidFill>
          <a:ln w="9525">
            <a:solidFill>
              <a:srgbClr val="E6F1F2"/>
            </a:solidFill>
            <a:prstDash val="solid"/>
          </a:ln>
        </p:spPr>
      </p:sp>
      <p:sp>
        <p:nvSpPr>
          <p:cNvPr id="31" name="Shape 29"/>
          <p:cNvSpPr/>
          <p:nvPr/>
        </p:nvSpPr>
        <p:spPr>
          <a:xfrm>
            <a:off x="10104120" y="1719072"/>
            <a:ext cx="457200" cy="457200"/>
          </a:xfrm>
          <a:prstGeom prst="ellipse">
            <a:avLst/>
          </a:prstGeom>
          <a:solidFill>
            <a:srgbClr val="1F6F78"/>
          </a:solidFill>
          <a:ln w="12700">
            <a:solidFill>
              <a:srgbClr val="1F6F78"/>
            </a:solidFill>
            <a:prstDash val="solid"/>
          </a:ln>
        </p:spPr>
      </p:sp>
      <p:sp>
        <p:nvSpPr>
          <p:cNvPr id="32" name="Text 30"/>
          <p:cNvSpPr txBox="1"/>
          <p:nvPr/>
        </p:nvSpPr>
        <p:spPr>
          <a:xfrm>
            <a:off x="10104120" y="17190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3" name="Text 31"/>
          <p:cNvSpPr txBox="1"/>
          <p:nvPr/>
        </p:nvSpPr>
        <p:spPr>
          <a:xfrm>
            <a:off x="10104120" y="2331720"/>
            <a:ext cx="1371600" cy="1005840"/>
          </a:xfrm>
          <a:prstGeom prst="rect">
            <a:avLst/>
          </a:prstGeom>
          <a:noFill/>
          <a:ln/>
        </p:spPr>
        <p:txBody>
          <a:bodyPr wrap="square" lIns="0" tIns="0" rIns="0" bIns="0" rtlCol="0" anchor="t"/>
          <a:lstStyle/>
          <a:p>
            <a:pPr indent="0" marL="0">
              <a:buNone/>
            </a:pPr>
            <a:r>
              <a:rPr lang="en-US" sz="1450" b="1" dirty="0">
                <a:solidFill>
                  <a:srgbClr val="0E2A3B"/>
                </a:solidFill>
                <a:latin typeface="Calibri" pitchFamily="34" charset="0"/>
                <a:ea typeface="Calibri" pitchFamily="34" charset="-122"/>
                <a:cs typeface="Calibri" pitchFamily="34" charset="-120"/>
              </a:rPr>
              <a:t>Monthly KPI reporting</a:t>
            </a:r>
            <a:endParaRPr lang="en-US" sz="1450" dirty="0"/>
          </a:p>
        </p:txBody>
      </p:sp>
      <p:sp>
        <p:nvSpPr>
          <p:cNvPr id="34" name="Text 32"/>
          <p:cNvSpPr txBox="1"/>
          <p:nvPr/>
        </p:nvSpPr>
        <p:spPr>
          <a:xfrm>
            <a:off x="548640" y="3794760"/>
            <a:ext cx="3840480" cy="320040"/>
          </a:xfrm>
          <a:prstGeom prst="rect">
            <a:avLst/>
          </a:prstGeom>
          <a:noFill/>
          <a:ln/>
        </p:spPr>
        <p:txBody>
          <a:bodyPr wrap="square" lIns="0" tIns="0" rIns="0" bIns="0" rtlCol="0" anchor="t"/>
          <a:lstStyle/>
          <a:p>
            <a:pPr indent="0" marL="0">
              <a:buNone/>
            </a:pPr>
            <a:r>
              <a:rPr lang="en-US" sz="1400" b="1" dirty="0">
                <a:solidFill>
                  <a:srgbClr val="0E2A3B"/>
                </a:solidFill>
                <a:latin typeface="Calibri" pitchFamily="34" charset="0"/>
                <a:ea typeface="Calibri" pitchFamily="34" charset="-122"/>
                <a:cs typeface="Calibri" pitchFamily="34" charset="-120"/>
              </a:rPr>
              <a:t>Competence check passed?</a:t>
            </a:r>
            <a:endParaRPr lang="en-US" sz="1400" dirty="0"/>
          </a:p>
        </p:txBody>
      </p:sp>
      <p:sp>
        <p:nvSpPr>
          <p:cNvPr id="35" name="Shape 33"/>
          <p:cNvSpPr/>
          <p:nvPr/>
        </p:nvSpPr>
        <p:spPr>
          <a:xfrm>
            <a:off x="548640" y="4206240"/>
            <a:ext cx="3931920" cy="685800"/>
          </a:xfrm>
          <a:prstGeom prst="roundRect">
            <a:avLst>
              <a:gd name="adj" fmla="val 10667"/>
            </a:avLst>
          </a:prstGeom>
          <a:solidFill>
            <a:srgbClr val="E2F0E6"/>
          </a:solidFill>
          <a:ln w="9525">
            <a:solidFill>
              <a:srgbClr val="E2F0E6"/>
            </a:solidFill>
            <a:prstDash val="solid"/>
          </a:ln>
        </p:spPr>
      </p:sp>
      <p:sp>
        <p:nvSpPr>
          <p:cNvPr id="36" name="Text 34"/>
          <p:cNvSpPr txBox="1"/>
          <p:nvPr/>
        </p:nvSpPr>
        <p:spPr>
          <a:xfrm>
            <a:off x="731520" y="4206240"/>
            <a:ext cx="3657600" cy="685800"/>
          </a:xfrm>
          <a:prstGeom prst="rect">
            <a:avLst/>
          </a:prstGeom>
          <a:noFill/>
          <a:ln/>
        </p:spPr>
        <p:txBody>
          <a:bodyPr wrap="square" lIns="0" tIns="0" rIns="0" bIns="0" rtlCol="0" anchor="ctr"/>
          <a:lstStyle/>
          <a:p>
            <a:pPr indent="0" marL="0">
              <a:buNone/>
            </a:pPr>
            <a:r>
              <a:rPr lang="en-US" sz="1400" b="1" dirty="0">
                <a:solidFill>
                  <a:srgbClr val="3C8D5A"/>
                </a:solidFill>
                <a:latin typeface="Calibri" pitchFamily="34" charset="0"/>
                <a:ea typeface="Calibri" pitchFamily="34" charset="-122"/>
                <a:cs typeface="Calibri" pitchFamily="34" charset="-120"/>
              </a:rPr>
              <a:t>Yes  </a:t>
            </a:r>
            <a:pPr indent="0" marL="0">
              <a:buNone/>
            </a:pPr>
            <a:r>
              <a:rPr lang="en-US" sz="1400" dirty="0">
                <a:solidFill>
                  <a:srgbClr val="0E2A3B"/>
                </a:solidFill>
                <a:latin typeface="Calibri" pitchFamily="34" charset="0"/>
                <a:ea typeface="Calibri" pitchFamily="34" charset="-122"/>
                <a:cs typeface="Calibri" pitchFamily="34" charset="-120"/>
              </a:rPr>
              <a:t>Verified, backfill approved</a:t>
            </a:r>
            <a:endParaRPr lang="en-US" sz="1400" dirty="0"/>
          </a:p>
        </p:txBody>
      </p:sp>
      <p:sp>
        <p:nvSpPr>
          <p:cNvPr id="37" name="Shape 35"/>
          <p:cNvSpPr/>
          <p:nvPr/>
        </p:nvSpPr>
        <p:spPr>
          <a:xfrm>
            <a:off x="4663440" y="4206240"/>
            <a:ext cx="3931920" cy="685800"/>
          </a:xfrm>
          <a:prstGeom prst="roundRect">
            <a:avLst>
              <a:gd name="adj" fmla="val 10667"/>
            </a:avLst>
          </a:prstGeom>
          <a:solidFill>
            <a:srgbClr val="F7E3DF"/>
          </a:solidFill>
          <a:ln w="9525">
            <a:solidFill>
              <a:srgbClr val="F7E3DF"/>
            </a:solidFill>
            <a:prstDash val="solid"/>
          </a:ln>
        </p:spPr>
      </p:sp>
      <p:sp>
        <p:nvSpPr>
          <p:cNvPr id="38" name="Text 36"/>
          <p:cNvSpPr txBox="1"/>
          <p:nvPr/>
        </p:nvSpPr>
        <p:spPr>
          <a:xfrm>
            <a:off x="4846320" y="4206240"/>
            <a:ext cx="3657600" cy="685800"/>
          </a:xfrm>
          <a:prstGeom prst="rect">
            <a:avLst/>
          </a:prstGeom>
          <a:noFill/>
          <a:ln/>
        </p:spPr>
        <p:txBody>
          <a:bodyPr wrap="square" lIns="0" tIns="0" rIns="0" bIns="0" rtlCol="0" anchor="ctr"/>
          <a:lstStyle/>
          <a:p>
            <a:pPr indent="0" marL="0">
              <a:buNone/>
            </a:pPr>
            <a:r>
              <a:rPr lang="en-US" sz="1400" b="1" dirty="0">
                <a:solidFill>
                  <a:srgbClr val="B8432F"/>
                </a:solidFill>
                <a:latin typeface="Calibri" pitchFamily="34" charset="0"/>
                <a:ea typeface="Calibri" pitchFamily="34" charset="-122"/>
                <a:cs typeface="Calibri" pitchFamily="34" charset="-120"/>
              </a:rPr>
              <a:t>No  </a:t>
            </a:r>
            <a:pPr indent="0" marL="0">
              <a:buNone/>
            </a:pPr>
            <a:r>
              <a:rPr lang="en-US" sz="1400" dirty="0">
                <a:solidFill>
                  <a:srgbClr val="0E2A3B"/>
                </a:solidFill>
                <a:latin typeface="Calibri" pitchFamily="34" charset="0"/>
                <a:ea typeface="Calibri" pitchFamily="34" charset="-122"/>
                <a:cs typeface="Calibri" pitchFamily="34" charset="-120"/>
              </a:rPr>
              <a:t>Remediate or named exception</a:t>
            </a:r>
            <a:endParaRPr lang="en-US" sz="1400" dirty="0"/>
          </a:p>
        </p:txBody>
      </p:sp>
      <p:sp>
        <p:nvSpPr>
          <p:cNvPr id="39" name="Shape 37"/>
          <p:cNvSpPr/>
          <p:nvPr/>
        </p:nvSpPr>
        <p:spPr>
          <a:xfrm>
            <a:off x="548640" y="5166360"/>
            <a:ext cx="8046720" cy="960120"/>
          </a:xfrm>
          <a:prstGeom prst="roundRect">
            <a:avLst>
              <a:gd name="adj" fmla="val 7619"/>
            </a:avLst>
          </a:prstGeom>
          <a:solidFill>
            <a:srgbClr val="0E2A3B"/>
          </a:solidFill>
          <a:ln w="9525">
            <a:solidFill>
              <a:srgbClr val="0E2A3B"/>
            </a:solidFill>
            <a:prstDash val="solid"/>
          </a:ln>
        </p:spPr>
      </p:sp>
      <p:sp>
        <p:nvSpPr>
          <p:cNvPr id="40" name="Shape 38"/>
          <p:cNvSpPr/>
          <p:nvPr/>
        </p:nvSpPr>
        <p:spPr>
          <a:xfrm>
            <a:off x="731520" y="5349240"/>
            <a:ext cx="594360" cy="594360"/>
          </a:xfrm>
          <a:prstGeom prst="ellipse">
            <a:avLst/>
          </a:prstGeom>
          <a:solidFill>
            <a:srgbClr val="1F6F78"/>
          </a:solidFill>
          <a:ln w="12700">
            <a:solidFill>
              <a:srgbClr val="1F6F78"/>
            </a:solidFill>
            <a:prstDash val="solid"/>
          </a:ln>
        </p:spPr>
      </p:sp>
      <p:pic>
        <p:nvPicPr>
          <p:cNvPr id="41" name="Image 0" descr="preencoded.png">    </p:cNvPr>
          <p:cNvPicPr>
            <a:picLocks noChangeAspect="1"/>
          </p:cNvPicPr>
          <p:nvPr/>
        </p:nvPicPr>
        <p:blipFill>
          <a:blip r:embed="rId1"/>
          <a:stretch>
            <a:fillRect/>
          </a:stretch>
        </p:blipFill>
        <p:spPr>
          <a:xfrm>
            <a:off x="897941" y="5515661"/>
            <a:ext cx="261518" cy="261518"/>
          </a:xfrm>
          <a:prstGeom prst="rect">
            <a:avLst/>
          </a:prstGeom>
        </p:spPr>
      </p:pic>
      <p:sp>
        <p:nvSpPr>
          <p:cNvPr id="42" name="Text 39"/>
          <p:cNvSpPr txBox="1"/>
          <p:nvPr/>
        </p:nvSpPr>
        <p:spPr>
          <a:xfrm>
            <a:off x="1508760" y="5212080"/>
            <a:ext cx="6949440" cy="8686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Security is never delayed: access is revoked on schedule, and the receiving owner gets time-limited, read-only access to records.</a:t>
            </a:r>
            <a:endParaRPr lang="en-US" sz="1400" dirty="0"/>
          </a:p>
        </p:txBody>
      </p:sp>
    </p:spTree>
  </p:cSld>
  <p:clrMapOvr>
    <a:masterClrMapping/>
  </p:clrMapOvr>
  <p:transition spd="med" advTm="20000">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PROPOSED METHODOLOGY</a:t>
            </a:r>
            <a:endParaRPr lang="en-US" sz="1200" dirty="0"/>
          </a:p>
        </p:txBody>
      </p:sp>
      <p:sp>
        <p:nvSpPr>
          <p:cNvPr id="3" name="Text 1"/>
          <p:cNvSpPr txBox="1"/>
          <p:nvPr/>
        </p:nvSpPr>
        <p:spPr>
          <a:xfrm>
            <a:off x="10241280" y="320040"/>
            <a:ext cx="1371600" cy="274320"/>
          </a:xfrm>
          <a:prstGeom prst="rect">
            <a:avLst/>
          </a:prstGeom>
          <a:noFill/>
          <a:ln/>
        </p:spPr>
        <p:txBody>
          <a:bodyPr wrap="square" lIns="0" tIns="0" rIns="0" bIns="0" rtlCol="0" anchor="ctr"/>
          <a:lstStyle/>
          <a:p>
            <a:pPr algn="r" indent="0" marL="0">
              <a:buNone/>
            </a:pPr>
            <a:r>
              <a:rPr lang="en-US" sz="1100" dirty="0">
                <a:solidFill>
                  <a:srgbClr val="5B6B75"/>
                </a:solidFill>
                <a:latin typeface="Calibri" pitchFamily="34" charset="0"/>
                <a:ea typeface="Calibri" pitchFamily="34" charset="-122"/>
                <a:cs typeface="Calibri" pitchFamily="34" charset="-120"/>
              </a:rPr>
              <a:t>11 / 20</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0E2A3B"/>
                </a:solidFill>
                <a:latin typeface="Cambria" pitchFamily="34" charset="0"/>
                <a:ea typeface="Cambria" pitchFamily="34" charset="-122"/>
                <a:cs typeface="Cambria" pitchFamily="34" charset="-120"/>
              </a:rPr>
              <a:t>Five stages, each with a decision gate</a:t>
            </a:r>
            <a:endParaRPr lang="en-US" sz="3000" dirty="0"/>
          </a:p>
        </p:txBody>
      </p:sp>
      <p:sp>
        <p:nvSpPr>
          <p:cNvPr id="5" name="Shape 3"/>
          <p:cNvSpPr/>
          <p:nvPr/>
        </p:nvSpPr>
        <p:spPr>
          <a:xfrm>
            <a:off x="548640" y="1554480"/>
            <a:ext cx="2194560" cy="731520"/>
          </a:xfrm>
          <a:prstGeom prst="chevron">
            <a:avLst/>
          </a:prstGeom>
          <a:solidFill>
            <a:srgbClr val="E8A33D"/>
          </a:solidFill>
          <a:ln w="12700">
            <a:solidFill>
              <a:srgbClr val="FFFFFF"/>
            </a:solidFill>
            <a:prstDash val="solid"/>
          </a:ln>
        </p:spPr>
      </p:sp>
      <p:sp>
        <p:nvSpPr>
          <p:cNvPr id="6" name="Text 4"/>
          <p:cNvSpPr txBox="1"/>
          <p:nvPr/>
        </p:nvSpPr>
        <p:spPr>
          <a:xfrm>
            <a:off x="868680" y="1554480"/>
            <a:ext cx="1737360" cy="731520"/>
          </a:xfrm>
          <a:prstGeom prst="rect">
            <a:avLst/>
          </a:prstGeom>
          <a:noFill/>
          <a:ln/>
        </p:spPr>
        <p:txBody>
          <a:bodyPr wrap="square" lIns="0" tIns="0" rIns="0" bIns="0" rtlCol="0" anchor="ctr"/>
          <a:lstStyle/>
          <a:p>
            <a:pPr algn="ctr" indent="0" marL="0">
              <a:buNone/>
            </a:pPr>
            <a:r>
              <a:rPr lang="en-US" sz="1600" b="1" dirty="0">
                <a:solidFill>
                  <a:srgbClr val="0E2A3B"/>
                </a:solidFill>
                <a:latin typeface="Calibri" pitchFamily="34" charset="0"/>
                <a:ea typeface="Calibri" pitchFamily="34" charset="-122"/>
                <a:cs typeface="Calibri" pitchFamily="34" charset="-120"/>
              </a:rPr>
              <a:t>Validate</a:t>
            </a:r>
            <a:endParaRPr lang="en-US" sz="1600" dirty="0"/>
          </a:p>
        </p:txBody>
      </p:sp>
      <p:sp>
        <p:nvSpPr>
          <p:cNvPr id="7" name="Text 5"/>
          <p:cNvSpPr txBox="1"/>
          <p:nvPr/>
        </p:nvSpPr>
        <p:spPr>
          <a:xfrm>
            <a:off x="640080" y="2423160"/>
            <a:ext cx="2011680" cy="548640"/>
          </a:xfrm>
          <a:prstGeom prst="rect">
            <a:avLst/>
          </a:prstGeom>
          <a:noFill/>
          <a:ln/>
        </p:spPr>
        <p:txBody>
          <a:bodyPr wrap="square" lIns="0" tIns="0" rIns="0" bIns="0" rtlCol="0" anchor="t"/>
          <a:lstStyle/>
          <a:p>
            <a:pPr indent="0" marL="0">
              <a:buNone/>
            </a:pPr>
            <a:r>
              <a:rPr lang="en-US" sz="1300" dirty="0">
                <a:solidFill>
                  <a:srgbClr val="0E2A3B"/>
                </a:solidFill>
                <a:latin typeface="Calibri" pitchFamily="34" charset="0"/>
                <a:ea typeface="Calibri" pitchFamily="34" charset="-122"/>
                <a:cs typeface="Calibri" pitchFamily="34" charset="-120"/>
              </a:rPr>
              <a:t>Confirm the gap and baseline</a:t>
            </a:r>
            <a:endParaRPr lang="en-US" sz="1300" dirty="0"/>
          </a:p>
        </p:txBody>
      </p:sp>
      <p:sp>
        <p:nvSpPr>
          <p:cNvPr id="8" name="Text 6"/>
          <p:cNvSpPr txBox="1"/>
          <p:nvPr/>
        </p:nvSpPr>
        <p:spPr>
          <a:xfrm>
            <a:off x="640080" y="3017520"/>
            <a:ext cx="2011680" cy="822960"/>
          </a:xfrm>
          <a:prstGeom prst="rect">
            <a:avLst/>
          </a:prstGeom>
          <a:noFill/>
          <a:ln/>
        </p:spPr>
        <p:txBody>
          <a:bodyPr wrap="square" lIns="0" tIns="0" rIns="0" bIns="0" rtlCol="0" anchor="t"/>
          <a:lstStyle/>
          <a:p>
            <a:pPr indent="0" marL="0">
              <a:buNone/>
            </a:pPr>
            <a:r>
              <a:rPr lang="en-US" sz="1200" b="1" dirty="0">
                <a:solidFill>
                  <a:srgbClr val="1F6F78"/>
                </a:solidFill>
                <a:latin typeface="Calibri" pitchFamily="34" charset="0"/>
                <a:ea typeface="Calibri" pitchFamily="34" charset="-122"/>
                <a:cs typeface="Calibri" pitchFamily="34" charset="-120"/>
              </a:rPr>
              <a:t>Gate: </a:t>
            </a:r>
            <a:pPr indent="0" marL="0">
              <a:buNone/>
            </a:pPr>
            <a:r>
              <a:rPr lang="en-US" sz="1200" dirty="0">
                <a:solidFill>
                  <a:srgbClr val="5B6B75"/>
                </a:solidFill>
                <a:latin typeface="Calibri" pitchFamily="34" charset="0"/>
                <a:ea typeface="Calibri" pitchFamily="34" charset="-122"/>
                <a:cs typeface="Calibri" pitchFamily="34" charset="-120"/>
              </a:rPr>
              <a:t>Gap proven with data</a:t>
            </a:r>
            <a:endParaRPr lang="en-US" sz="1200" dirty="0"/>
          </a:p>
        </p:txBody>
      </p:sp>
      <p:sp>
        <p:nvSpPr>
          <p:cNvPr id="9" name="Shape 7"/>
          <p:cNvSpPr/>
          <p:nvPr/>
        </p:nvSpPr>
        <p:spPr>
          <a:xfrm>
            <a:off x="2788920" y="1554480"/>
            <a:ext cx="2194560" cy="731520"/>
          </a:xfrm>
          <a:prstGeom prst="chevron">
            <a:avLst/>
          </a:prstGeom>
          <a:solidFill>
            <a:srgbClr val="1F6F78"/>
          </a:solidFill>
          <a:ln w="12700">
            <a:solidFill>
              <a:srgbClr val="FFFFFF"/>
            </a:solidFill>
            <a:prstDash val="solid"/>
          </a:ln>
        </p:spPr>
      </p:sp>
      <p:sp>
        <p:nvSpPr>
          <p:cNvPr id="10" name="Text 8"/>
          <p:cNvSpPr txBox="1"/>
          <p:nvPr/>
        </p:nvSpPr>
        <p:spPr>
          <a:xfrm>
            <a:off x="3108960" y="1554480"/>
            <a:ext cx="173736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Configure</a:t>
            </a:r>
            <a:endParaRPr lang="en-US" sz="1600" dirty="0"/>
          </a:p>
        </p:txBody>
      </p:sp>
      <p:sp>
        <p:nvSpPr>
          <p:cNvPr id="11" name="Text 9"/>
          <p:cNvSpPr txBox="1"/>
          <p:nvPr/>
        </p:nvSpPr>
        <p:spPr>
          <a:xfrm>
            <a:off x="2880360" y="2423160"/>
            <a:ext cx="2011680" cy="548640"/>
          </a:xfrm>
          <a:prstGeom prst="rect">
            <a:avLst/>
          </a:prstGeom>
          <a:noFill/>
          <a:ln/>
        </p:spPr>
        <p:txBody>
          <a:bodyPr wrap="square" lIns="0" tIns="0" rIns="0" bIns="0" rtlCol="0" anchor="t"/>
          <a:lstStyle/>
          <a:p>
            <a:pPr indent="0" marL="0">
              <a:buNone/>
            </a:pPr>
            <a:r>
              <a:rPr lang="en-US" sz="1300" dirty="0">
                <a:solidFill>
                  <a:srgbClr val="0E2A3B"/>
                </a:solidFill>
                <a:latin typeface="Calibri" pitchFamily="34" charset="0"/>
                <a:ea typeface="Calibri" pitchFamily="34" charset="-122"/>
                <a:cs typeface="Calibri" pitchFamily="34" charset="-120"/>
              </a:rPr>
              <a:t>Build workflow, rules and forms</a:t>
            </a:r>
            <a:endParaRPr lang="en-US" sz="1300" dirty="0"/>
          </a:p>
        </p:txBody>
      </p:sp>
      <p:sp>
        <p:nvSpPr>
          <p:cNvPr id="12" name="Text 10"/>
          <p:cNvSpPr txBox="1"/>
          <p:nvPr/>
        </p:nvSpPr>
        <p:spPr>
          <a:xfrm>
            <a:off x="2880360" y="3017520"/>
            <a:ext cx="2011680" cy="822960"/>
          </a:xfrm>
          <a:prstGeom prst="rect">
            <a:avLst/>
          </a:prstGeom>
          <a:noFill/>
          <a:ln/>
        </p:spPr>
        <p:txBody>
          <a:bodyPr wrap="square" lIns="0" tIns="0" rIns="0" bIns="0" rtlCol="0" anchor="t"/>
          <a:lstStyle/>
          <a:p>
            <a:pPr indent="0" marL="0">
              <a:buNone/>
            </a:pPr>
            <a:r>
              <a:rPr lang="en-US" sz="1200" b="1" dirty="0">
                <a:solidFill>
                  <a:srgbClr val="1F6F78"/>
                </a:solidFill>
                <a:latin typeface="Calibri" pitchFamily="34" charset="0"/>
                <a:ea typeface="Calibri" pitchFamily="34" charset="-122"/>
                <a:cs typeface="Calibri" pitchFamily="34" charset="-120"/>
              </a:rPr>
              <a:t>Gate: </a:t>
            </a:r>
            <a:pPr indent="0" marL="0">
              <a:buNone/>
            </a:pPr>
            <a:r>
              <a:rPr lang="en-US" sz="1200" dirty="0">
                <a:solidFill>
                  <a:srgbClr val="5B6B75"/>
                </a:solidFill>
                <a:latin typeface="Calibri" pitchFamily="34" charset="0"/>
                <a:ea typeface="Calibri" pitchFamily="34" charset="-122"/>
                <a:cs typeface="Calibri" pitchFamily="34" charset="-120"/>
              </a:rPr>
              <a:t>Security, Privacy, People and Finance review</a:t>
            </a:r>
            <a:endParaRPr lang="en-US" sz="1200" dirty="0"/>
          </a:p>
        </p:txBody>
      </p:sp>
      <p:sp>
        <p:nvSpPr>
          <p:cNvPr id="13" name="Shape 11"/>
          <p:cNvSpPr/>
          <p:nvPr/>
        </p:nvSpPr>
        <p:spPr>
          <a:xfrm>
            <a:off x="5029200" y="1554480"/>
            <a:ext cx="2194560" cy="731520"/>
          </a:xfrm>
          <a:prstGeom prst="chevron">
            <a:avLst/>
          </a:prstGeom>
          <a:solidFill>
            <a:srgbClr val="1F6F78"/>
          </a:solidFill>
          <a:ln w="12700">
            <a:solidFill>
              <a:srgbClr val="FFFFFF"/>
            </a:solidFill>
            <a:prstDash val="solid"/>
          </a:ln>
        </p:spPr>
      </p:sp>
      <p:sp>
        <p:nvSpPr>
          <p:cNvPr id="14" name="Text 12"/>
          <p:cNvSpPr txBox="1"/>
          <p:nvPr/>
        </p:nvSpPr>
        <p:spPr>
          <a:xfrm>
            <a:off x="5349240" y="1554480"/>
            <a:ext cx="173736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Pilot</a:t>
            </a:r>
            <a:endParaRPr lang="en-US" sz="1600" dirty="0"/>
          </a:p>
        </p:txBody>
      </p:sp>
      <p:sp>
        <p:nvSpPr>
          <p:cNvPr id="15" name="Text 13"/>
          <p:cNvSpPr txBox="1"/>
          <p:nvPr/>
        </p:nvSpPr>
        <p:spPr>
          <a:xfrm>
            <a:off x="5120640" y="2423160"/>
            <a:ext cx="2011680" cy="548640"/>
          </a:xfrm>
          <a:prstGeom prst="rect">
            <a:avLst/>
          </a:prstGeom>
          <a:noFill/>
          <a:ln/>
        </p:spPr>
        <p:txBody>
          <a:bodyPr wrap="square" lIns="0" tIns="0" rIns="0" bIns="0" rtlCol="0" anchor="t"/>
          <a:lstStyle/>
          <a:p>
            <a:pPr indent="0" marL="0">
              <a:buNone/>
            </a:pPr>
            <a:r>
              <a:rPr lang="en-US" sz="1300" dirty="0">
                <a:solidFill>
                  <a:srgbClr val="0E2A3B"/>
                </a:solidFill>
                <a:latin typeface="Calibri" pitchFamily="34" charset="0"/>
                <a:ea typeface="Calibri" pitchFamily="34" charset="-122"/>
                <a:cs typeface="Calibri" pitchFamily="34" charset="-120"/>
              </a:rPr>
              <a:t>Test in Connectivity</a:t>
            </a:r>
            <a:endParaRPr lang="en-US" sz="1300" dirty="0"/>
          </a:p>
        </p:txBody>
      </p:sp>
      <p:sp>
        <p:nvSpPr>
          <p:cNvPr id="16" name="Text 14"/>
          <p:cNvSpPr txBox="1"/>
          <p:nvPr/>
        </p:nvSpPr>
        <p:spPr>
          <a:xfrm>
            <a:off x="5120640" y="3017520"/>
            <a:ext cx="2011680" cy="822960"/>
          </a:xfrm>
          <a:prstGeom prst="rect">
            <a:avLst/>
          </a:prstGeom>
          <a:noFill/>
          <a:ln/>
        </p:spPr>
        <p:txBody>
          <a:bodyPr wrap="square" lIns="0" tIns="0" rIns="0" bIns="0" rtlCol="0" anchor="t"/>
          <a:lstStyle/>
          <a:p>
            <a:pPr indent="0" marL="0">
              <a:buNone/>
            </a:pPr>
            <a:r>
              <a:rPr lang="en-US" sz="1200" b="1" dirty="0">
                <a:solidFill>
                  <a:srgbClr val="1F6F78"/>
                </a:solidFill>
                <a:latin typeface="Calibri" pitchFamily="34" charset="0"/>
                <a:ea typeface="Calibri" pitchFamily="34" charset="-122"/>
                <a:cs typeface="Calibri" pitchFamily="34" charset="-120"/>
              </a:rPr>
              <a:t>Gate: </a:t>
            </a:r>
            <a:pPr indent="0" marL="0">
              <a:buNone/>
            </a:pPr>
            <a:r>
              <a:rPr lang="en-US" sz="1200" dirty="0">
                <a:solidFill>
                  <a:srgbClr val="5B6B75"/>
                </a:solidFill>
                <a:latin typeface="Calibri" pitchFamily="34" charset="0"/>
                <a:ea typeface="Calibri" pitchFamily="34" charset="-122"/>
                <a:cs typeface="Calibri" pitchFamily="34" charset="-120"/>
              </a:rPr>
              <a:t>VHCR 60%+, no high-risk defect</a:t>
            </a:r>
            <a:endParaRPr lang="en-US" sz="1200" dirty="0"/>
          </a:p>
        </p:txBody>
      </p:sp>
      <p:sp>
        <p:nvSpPr>
          <p:cNvPr id="17" name="Shape 15"/>
          <p:cNvSpPr/>
          <p:nvPr/>
        </p:nvSpPr>
        <p:spPr>
          <a:xfrm>
            <a:off x="7269480" y="1554480"/>
            <a:ext cx="2194560" cy="731520"/>
          </a:xfrm>
          <a:prstGeom prst="chevron">
            <a:avLst/>
          </a:prstGeom>
          <a:solidFill>
            <a:srgbClr val="1F6F78"/>
          </a:solidFill>
          <a:ln w="12700">
            <a:solidFill>
              <a:srgbClr val="FFFFFF"/>
            </a:solidFill>
            <a:prstDash val="solid"/>
          </a:ln>
        </p:spPr>
      </p:sp>
      <p:sp>
        <p:nvSpPr>
          <p:cNvPr id="18" name="Text 16"/>
          <p:cNvSpPr txBox="1"/>
          <p:nvPr/>
        </p:nvSpPr>
        <p:spPr>
          <a:xfrm>
            <a:off x="7589520" y="1554480"/>
            <a:ext cx="173736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Extend</a:t>
            </a:r>
            <a:endParaRPr lang="en-US" sz="1600" dirty="0"/>
          </a:p>
        </p:txBody>
      </p:sp>
      <p:sp>
        <p:nvSpPr>
          <p:cNvPr id="19" name="Text 17"/>
          <p:cNvSpPr txBox="1"/>
          <p:nvPr/>
        </p:nvSpPr>
        <p:spPr>
          <a:xfrm>
            <a:off x="7360920" y="2423160"/>
            <a:ext cx="2011680" cy="548640"/>
          </a:xfrm>
          <a:prstGeom prst="rect">
            <a:avLst/>
          </a:prstGeom>
          <a:noFill/>
          <a:ln/>
        </p:spPr>
        <p:txBody>
          <a:bodyPr wrap="square" lIns="0" tIns="0" rIns="0" bIns="0" rtlCol="0" anchor="t"/>
          <a:lstStyle/>
          <a:p>
            <a:pPr indent="0" marL="0">
              <a:buNone/>
            </a:pPr>
            <a:r>
              <a:rPr lang="en-US" sz="1300" dirty="0">
                <a:solidFill>
                  <a:srgbClr val="0E2A3B"/>
                </a:solidFill>
                <a:latin typeface="Calibri" pitchFamily="34" charset="0"/>
                <a:ea typeface="Calibri" pitchFamily="34" charset="-122"/>
                <a:cs typeface="Calibri" pitchFamily="34" charset="-120"/>
              </a:rPr>
              <a:t>Digital Services and transfers</a:t>
            </a:r>
            <a:endParaRPr lang="en-US" sz="1300" dirty="0"/>
          </a:p>
        </p:txBody>
      </p:sp>
      <p:sp>
        <p:nvSpPr>
          <p:cNvPr id="20" name="Text 18"/>
          <p:cNvSpPr txBox="1"/>
          <p:nvPr/>
        </p:nvSpPr>
        <p:spPr>
          <a:xfrm>
            <a:off x="7360920" y="3017520"/>
            <a:ext cx="2011680" cy="822960"/>
          </a:xfrm>
          <a:prstGeom prst="rect">
            <a:avLst/>
          </a:prstGeom>
          <a:noFill/>
          <a:ln/>
        </p:spPr>
        <p:txBody>
          <a:bodyPr wrap="square" lIns="0" tIns="0" rIns="0" bIns="0" rtlCol="0" anchor="t"/>
          <a:lstStyle/>
          <a:p>
            <a:pPr indent="0" marL="0">
              <a:buNone/>
            </a:pPr>
            <a:r>
              <a:rPr lang="en-US" sz="1200" b="1" dirty="0">
                <a:solidFill>
                  <a:srgbClr val="1F6F78"/>
                </a:solidFill>
                <a:latin typeface="Calibri" pitchFamily="34" charset="0"/>
                <a:ea typeface="Calibri" pitchFamily="34" charset="-122"/>
                <a:cs typeface="Calibri" pitchFamily="34" charset="-120"/>
              </a:rPr>
              <a:t>Gate: </a:t>
            </a:r>
            <a:pPr indent="0" marL="0">
              <a:buNone/>
            </a:pPr>
            <a:r>
              <a:rPr lang="en-US" sz="1200" dirty="0">
                <a:solidFill>
                  <a:srgbClr val="5B6B75"/>
                </a:solidFill>
                <a:latin typeface="Calibri" pitchFamily="34" charset="0"/>
                <a:ea typeface="Calibri" pitchFamily="34" charset="-122"/>
                <a:cs typeface="Calibri" pitchFamily="34" charset="-120"/>
              </a:rPr>
              <a:t>VHCR 75%+, owners accept</a:t>
            </a:r>
            <a:endParaRPr lang="en-US" sz="1200" dirty="0"/>
          </a:p>
        </p:txBody>
      </p:sp>
      <p:sp>
        <p:nvSpPr>
          <p:cNvPr id="21" name="Shape 19"/>
          <p:cNvSpPr/>
          <p:nvPr/>
        </p:nvSpPr>
        <p:spPr>
          <a:xfrm>
            <a:off x="9509760" y="1554480"/>
            <a:ext cx="2194560" cy="731520"/>
          </a:xfrm>
          <a:prstGeom prst="chevron">
            <a:avLst/>
          </a:prstGeom>
          <a:solidFill>
            <a:srgbClr val="1F6F78"/>
          </a:solidFill>
          <a:ln w="12700">
            <a:solidFill>
              <a:srgbClr val="FFFFFF"/>
            </a:solidFill>
            <a:prstDash val="solid"/>
          </a:ln>
        </p:spPr>
      </p:sp>
      <p:sp>
        <p:nvSpPr>
          <p:cNvPr id="22" name="Text 20"/>
          <p:cNvSpPr txBox="1"/>
          <p:nvPr/>
        </p:nvSpPr>
        <p:spPr>
          <a:xfrm>
            <a:off x="9829800" y="1554480"/>
            <a:ext cx="173736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Embed</a:t>
            </a:r>
            <a:endParaRPr lang="en-US" sz="1600" dirty="0"/>
          </a:p>
        </p:txBody>
      </p:sp>
      <p:sp>
        <p:nvSpPr>
          <p:cNvPr id="23" name="Text 21"/>
          <p:cNvSpPr txBox="1"/>
          <p:nvPr/>
        </p:nvSpPr>
        <p:spPr>
          <a:xfrm>
            <a:off x="9601200" y="2423160"/>
            <a:ext cx="2011680" cy="548640"/>
          </a:xfrm>
          <a:prstGeom prst="rect">
            <a:avLst/>
          </a:prstGeom>
          <a:noFill/>
          <a:ln/>
        </p:spPr>
        <p:txBody>
          <a:bodyPr wrap="square" lIns="0" tIns="0" rIns="0" bIns="0" rtlCol="0" anchor="t"/>
          <a:lstStyle/>
          <a:p>
            <a:pPr indent="0" marL="0">
              <a:buNone/>
            </a:pPr>
            <a:r>
              <a:rPr lang="en-US" sz="1300" dirty="0">
                <a:solidFill>
                  <a:srgbClr val="0E2A3B"/>
                </a:solidFill>
                <a:latin typeface="Calibri" pitchFamily="34" charset="0"/>
                <a:ea typeface="Calibri" pitchFamily="34" charset="-122"/>
                <a:cs typeface="Calibri" pitchFamily="34" charset="-120"/>
              </a:rPr>
              <a:t>Normal management and tracking</a:t>
            </a:r>
            <a:endParaRPr lang="en-US" sz="1300" dirty="0"/>
          </a:p>
        </p:txBody>
      </p:sp>
      <p:sp>
        <p:nvSpPr>
          <p:cNvPr id="24" name="Text 22"/>
          <p:cNvSpPr txBox="1"/>
          <p:nvPr/>
        </p:nvSpPr>
        <p:spPr>
          <a:xfrm>
            <a:off x="9601200" y="3017520"/>
            <a:ext cx="2011680" cy="822960"/>
          </a:xfrm>
          <a:prstGeom prst="rect">
            <a:avLst/>
          </a:prstGeom>
          <a:noFill/>
          <a:ln/>
        </p:spPr>
        <p:txBody>
          <a:bodyPr wrap="square" lIns="0" tIns="0" rIns="0" bIns="0" rtlCol="0" anchor="t"/>
          <a:lstStyle/>
          <a:p>
            <a:pPr indent="0" marL="0">
              <a:buNone/>
            </a:pPr>
            <a:r>
              <a:rPr lang="en-US" sz="1200" b="1" dirty="0">
                <a:solidFill>
                  <a:srgbClr val="1F6F78"/>
                </a:solidFill>
                <a:latin typeface="Calibri" pitchFamily="34" charset="0"/>
                <a:ea typeface="Calibri" pitchFamily="34" charset="-122"/>
                <a:cs typeface="Calibri" pitchFamily="34" charset="-120"/>
              </a:rPr>
              <a:t>Gate: </a:t>
            </a:r>
            <a:pPr indent="0" marL="0">
              <a:buNone/>
            </a:pPr>
            <a:r>
              <a:rPr lang="en-US" sz="1200" dirty="0">
                <a:solidFill>
                  <a:srgbClr val="5B6B75"/>
                </a:solidFill>
                <a:latin typeface="Calibri" pitchFamily="34" charset="0"/>
                <a:ea typeface="Calibri" pitchFamily="34" charset="-122"/>
                <a:cs typeface="Calibri" pitchFamily="34" charset="-120"/>
              </a:rPr>
              <a:t>VHCR 90%+, BAU acceptance</a:t>
            </a:r>
            <a:endParaRPr lang="en-US" sz="1200" dirty="0"/>
          </a:p>
        </p:txBody>
      </p:sp>
      <p:sp>
        <p:nvSpPr>
          <p:cNvPr id="25" name="Text 23"/>
          <p:cNvSpPr txBox="1"/>
          <p:nvPr/>
        </p:nvSpPr>
        <p:spPr>
          <a:xfrm>
            <a:off x="548640" y="4160520"/>
            <a:ext cx="8046720" cy="320040"/>
          </a:xfrm>
          <a:prstGeom prst="rect">
            <a:avLst/>
          </a:prstGeom>
          <a:noFill/>
          <a:ln/>
        </p:spPr>
        <p:txBody>
          <a:bodyPr wrap="square" lIns="0" tIns="0" rIns="0" bIns="0" rtlCol="0" anchor="t"/>
          <a:lstStyle/>
          <a:p>
            <a:pPr indent="0" marL="0">
              <a:buNone/>
            </a:pPr>
            <a:r>
              <a:rPr lang="en-US" sz="1500" b="1" dirty="0">
                <a:solidFill>
                  <a:srgbClr val="0E2A3B"/>
                </a:solidFill>
                <a:latin typeface="Calibri" pitchFamily="34" charset="0"/>
                <a:ea typeface="Calibri" pitchFamily="34" charset="-122"/>
                <a:cs typeface="Calibri" pitchFamily="34" charset="-120"/>
              </a:rPr>
              <a:t>SAP Learning Journeys that strengthen delivery</a:t>
            </a:r>
            <a:endParaRPr lang="en-US" sz="1500" dirty="0"/>
          </a:p>
        </p:txBody>
      </p:sp>
      <p:sp>
        <p:nvSpPr>
          <p:cNvPr id="26" name="Shape 24"/>
          <p:cNvSpPr/>
          <p:nvPr/>
        </p:nvSpPr>
        <p:spPr>
          <a:xfrm>
            <a:off x="548640" y="4572000"/>
            <a:ext cx="1508760" cy="1097280"/>
          </a:xfrm>
          <a:prstGeom prst="roundRect">
            <a:avLst>
              <a:gd name="adj" fmla="val 6667"/>
            </a:avLst>
          </a:prstGeom>
          <a:solidFill>
            <a:srgbClr val="E6F1F2"/>
          </a:solidFill>
          <a:ln w="9525">
            <a:solidFill>
              <a:srgbClr val="E6F1F2"/>
            </a:solidFill>
            <a:prstDash val="solid"/>
          </a:ln>
        </p:spPr>
      </p:sp>
      <p:sp>
        <p:nvSpPr>
          <p:cNvPr id="27" name="Text 25"/>
          <p:cNvSpPr txBox="1"/>
          <p:nvPr/>
        </p:nvSpPr>
        <p:spPr>
          <a:xfrm>
            <a:off x="640080" y="4663440"/>
            <a:ext cx="1325880" cy="365760"/>
          </a:xfrm>
          <a:prstGeom prst="rect">
            <a:avLst/>
          </a:prstGeom>
          <a:noFill/>
          <a:ln/>
        </p:spPr>
        <p:txBody>
          <a:bodyPr wrap="square" lIns="0" tIns="0" rIns="0" bIns="0" rtlCol="0" anchor="t"/>
          <a:lstStyle/>
          <a:p>
            <a:pPr algn="ctr" indent="0" marL="0">
              <a:buNone/>
            </a:pPr>
            <a:r>
              <a:rPr lang="en-US" sz="1300" b="1" dirty="0">
                <a:solidFill>
                  <a:srgbClr val="1F6F78"/>
                </a:solidFill>
                <a:latin typeface="Calibri" pitchFamily="34" charset="0"/>
                <a:ea typeface="Calibri" pitchFamily="34" charset="-122"/>
                <a:cs typeface="Calibri" pitchFamily="34" charset="-120"/>
              </a:rPr>
              <a:t>Signavio</a:t>
            </a:r>
            <a:endParaRPr lang="en-US" sz="1300" dirty="0"/>
          </a:p>
        </p:txBody>
      </p:sp>
      <p:sp>
        <p:nvSpPr>
          <p:cNvPr id="28" name="Text 26"/>
          <p:cNvSpPr txBox="1"/>
          <p:nvPr/>
        </p:nvSpPr>
        <p:spPr>
          <a:xfrm>
            <a:off x="640080" y="5029200"/>
            <a:ext cx="1325880" cy="548640"/>
          </a:xfrm>
          <a:prstGeom prst="rect">
            <a:avLst/>
          </a:prstGeom>
          <a:noFill/>
          <a:ln/>
        </p:spPr>
        <p:txBody>
          <a:bodyPr wrap="square" lIns="0" tIns="0" rIns="0" bIns="0" rtlCol="0" anchor="t"/>
          <a:lstStyle/>
          <a:p>
            <a:pPr algn="ctr" indent="0" marL="0">
              <a:buNone/>
            </a:pPr>
            <a:r>
              <a:rPr lang="en-US" sz="1150" dirty="0">
                <a:solidFill>
                  <a:srgbClr val="0E2A3B"/>
                </a:solidFill>
                <a:latin typeface="Calibri" pitchFamily="34" charset="0"/>
                <a:ea typeface="Calibri" pitchFamily="34" charset="-122"/>
                <a:cs typeface="Calibri" pitchFamily="34" charset="-120"/>
              </a:rPr>
              <a:t>model and analyse</a:t>
            </a:r>
            <a:endParaRPr lang="en-US" sz="1150" dirty="0"/>
          </a:p>
        </p:txBody>
      </p:sp>
      <p:sp>
        <p:nvSpPr>
          <p:cNvPr id="29" name="Shape 27"/>
          <p:cNvSpPr/>
          <p:nvPr/>
        </p:nvSpPr>
        <p:spPr>
          <a:xfrm>
            <a:off x="2176272" y="4572000"/>
            <a:ext cx="1508760" cy="1097280"/>
          </a:xfrm>
          <a:prstGeom prst="roundRect">
            <a:avLst>
              <a:gd name="adj" fmla="val 6667"/>
            </a:avLst>
          </a:prstGeom>
          <a:solidFill>
            <a:srgbClr val="E6F1F2"/>
          </a:solidFill>
          <a:ln w="9525">
            <a:solidFill>
              <a:srgbClr val="E6F1F2"/>
            </a:solidFill>
            <a:prstDash val="solid"/>
          </a:ln>
        </p:spPr>
      </p:sp>
      <p:sp>
        <p:nvSpPr>
          <p:cNvPr id="30" name="Text 28"/>
          <p:cNvSpPr txBox="1"/>
          <p:nvPr/>
        </p:nvSpPr>
        <p:spPr>
          <a:xfrm>
            <a:off x="2267712" y="4663440"/>
            <a:ext cx="1325880" cy="365760"/>
          </a:xfrm>
          <a:prstGeom prst="rect">
            <a:avLst/>
          </a:prstGeom>
          <a:noFill/>
          <a:ln/>
        </p:spPr>
        <p:txBody>
          <a:bodyPr wrap="square" lIns="0" tIns="0" rIns="0" bIns="0" rtlCol="0" anchor="t"/>
          <a:lstStyle/>
          <a:p>
            <a:pPr algn="ctr" indent="0" marL="0">
              <a:buNone/>
            </a:pPr>
            <a:r>
              <a:rPr lang="en-US" sz="1300" b="1" dirty="0">
                <a:solidFill>
                  <a:srgbClr val="1F6F78"/>
                </a:solidFill>
                <a:latin typeface="Calibri" pitchFamily="34" charset="0"/>
                <a:ea typeface="Calibri" pitchFamily="34" charset="-122"/>
                <a:cs typeface="Calibri" pitchFamily="34" charset="-120"/>
              </a:rPr>
              <a:t>LeanIX</a:t>
            </a:r>
            <a:endParaRPr lang="en-US" sz="1300" dirty="0"/>
          </a:p>
        </p:txBody>
      </p:sp>
      <p:sp>
        <p:nvSpPr>
          <p:cNvPr id="31" name="Text 29"/>
          <p:cNvSpPr txBox="1"/>
          <p:nvPr/>
        </p:nvSpPr>
        <p:spPr>
          <a:xfrm>
            <a:off x="2267712" y="5029200"/>
            <a:ext cx="1325880" cy="548640"/>
          </a:xfrm>
          <a:prstGeom prst="rect">
            <a:avLst/>
          </a:prstGeom>
          <a:noFill/>
          <a:ln/>
        </p:spPr>
        <p:txBody>
          <a:bodyPr wrap="square" lIns="0" tIns="0" rIns="0" bIns="0" rtlCol="0" anchor="t"/>
          <a:lstStyle/>
          <a:p>
            <a:pPr algn="ctr" indent="0" marL="0">
              <a:buNone/>
            </a:pPr>
            <a:r>
              <a:rPr lang="en-US" sz="1150" dirty="0">
                <a:solidFill>
                  <a:srgbClr val="0E2A3B"/>
                </a:solidFill>
                <a:latin typeface="Calibri" pitchFamily="34" charset="0"/>
                <a:ea typeface="Calibri" pitchFamily="34" charset="-122"/>
                <a:cs typeface="Calibri" pitchFamily="34" charset="-120"/>
              </a:rPr>
              <a:t>map dependencies</a:t>
            </a:r>
            <a:endParaRPr lang="en-US" sz="1150" dirty="0"/>
          </a:p>
        </p:txBody>
      </p:sp>
      <p:sp>
        <p:nvSpPr>
          <p:cNvPr id="32" name="Shape 30"/>
          <p:cNvSpPr/>
          <p:nvPr/>
        </p:nvSpPr>
        <p:spPr>
          <a:xfrm>
            <a:off x="3803904" y="4572000"/>
            <a:ext cx="1508760" cy="1097280"/>
          </a:xfrm>
          <a:prstGeom prst="roundRect">
            <a:avLst>
              <a:gd name="adj" fmla="val 6667"/>
            </a:avLst>
          </a:prstGeom>
          <a:solidFill>
            <a:srgbClr val="E6F1F2"/>
          </a:solidFill>
          <a:ln w="9525">
            <a:solidFill>
              <a:srgbClr val="E6F1F2"/>
            </a:solidFill>
            <a:prstDash val="solid"/>
          </a:ln>
        </p:spPr>
      </p:sp>
      <p:sp>
        <p:nvSpPr>
          <p:cNvPr id="33" name="Text 31"/>
          <p:cNvSpPr txBox="1"/>
          <p:nvPr/>
        </p:nvSpPr>
        <p:spPr>
          <a:xfrm>
            <a:off x="3895344" y="4663440"/>
            <a:ext cx="1325880" cy="365760"/>
          </a:xfrm>
          <a:prstGeom prst="rect">
            <a:avLst/>
          </a:prstGeom>
          <a:noFill/>
          <a:ln/>
        </p:spPr>
        <p:txBody>
          <a:bodyPr wrap="square" lIns="0" tIns="0" rIns="0" bIns="0" rtlCol="0" anchor="t"/>
          <a:lstStyle/>
          <a:p>
            <a:pPr algn="ctr" indent="0" marL="0">
              <a:buNone/>
            </a:pPr>
            <a:r>
              <a:rPr lang="en-US" sz="1300" b="1" dirty="0">
                <a:solidFill>
                  <a:srgbClr val="1F6F78"/>
                </a:solidFill>
                <a:latin typeface="Calibri" pitchFamily="34" charset="0"/>
                <a:ea typeface="Calibri" pitchFamily="34" charset="-122"/>
                <a:cs typeface="Calibri" pitchFamily="34" charset="-120"/>
              </a:rPr>
              <a:t>Analytics Cloud</a:t>
            </a:r>
            <a:endParaRPr lang="en-US" sz="1300" dirty="0"/>
          </a:p>
        </p:txBody>
      </p:sp>
      <p:sp>
        <p:nvSpPr>
          <p:cNvPr id="34" name="Text 32"/>
          <p:cNvSpPr txBox="1"/>
          <p:nvPr/>
        </p:nvSpPr>
        <p:spPr>
          <a:xfrm>
            <a:off x="3895344" y="5029200"/>
            <a:ext cx="1325880" cy="548640"/>
          </a:xfrm>
          <a:prstGeom prst="rect">
            <a:avLst/>
          </a:prstGeom>
          <a:noFill/>
          <a:ln/>
        </p:spPr>
        <p:txBody>
          <a:bodyPr wrap="square" lIns="0" tIns="0" rIns="0" bIns="0" rtlCol="0" anchor="t"/>
          <a:lstStyle/>
          <a:p>
            <a:pPr algn="ctr" indent="0" marL="0">
              <a:buNone/>
            </a:pPr>
            <a:r>
              <a:rPr lang="en-US" sz="1150" dirty="0">
                <a:solidFill>
                  <a:srgbClr val="0E2A3B"/>
                </a:solidFill>
                <a:latin typeface="Calibri" pitchFamily="34" charset="0"/>
                <a:ea typeface="Calibri" pitchFamily="34" charset="-122"/>
                <a:cs typeface="Calibri" pitchFamily="34" charset="-120"/>
              </a:rPr>
              <a:t>KPIs and value</a:t>
            </a:r>
            <a:endParaRPr lang="en-US" sz="1150" dirty="0"/>
          </a:p>
        </p:txBody>
      </p:sp>
      <p:sp>
        <p:nvSpPr>
          <p:cNvPr id="35" name="Shape 33"/>
          <p:cNvSpPr/>
          <p:nvPr/>
        </p:nvSpPr>
        <p:spPr>
          <a:xfrm>
            <a:off x="5431536" y="4572000"/>
            <a:ext cx="1508760" cy="1097280"/>
          </a:xfrm>
          <a:prstGeom prst="roundRect">
            <a:avLst>
              <a:gd name="adj" fmla="val 6667"/>
            </a:avLst>
          </a:prstGeom>
          <a:solidFill>
            <a:srgbClr val="E6F1F2"/>
          </a:solidFill>
          <a:ln w="9525">
            <a:solidFill>
              <a:srgbClr val="E6F1F2"/>
            </a:solidFill>
            <a:prstDash val="solid"/>
          </a:ln>
        </p:spPr>
      </p:sp>
      <p:sp>
        <p:nvSpPr>
          <p:cNvPr id="36" name="Text 34"/>
          <p:cNvSpPr txBox="1"/>
          <p:nvPr/>
        </p:nvSpPr>
        <p:spPr>
          <a:xfrm>
            <a:off x="5522976" y="4663440"/>
            <a:ext cx="1325880" cy="365760"/>
          </a:xfrm>
          <a:prstGeom prst="rect">
            <a:avLst/>
          </a:prstGeom>
          <a:noFill/>
          <a:ln/>
        </p:spPr>
        <p:txBody>
          <a:bodyPr wrap="square" lIns="0" tIns="0" rIns="0" bIns="0" rtlCol="0" anchor="t"/>
          <a:lstStyle/>
          <a:p>
            <a:pPr algn="ctr" indent="0" marL="0">
              <a:buNone/>
            </a:pPr>
            <a:r>
              <a:rPr lang="en-US" sz="1300" b="1" dirty="0">
                <a:solidFill>
                  <a:srgbClr val="1F6F78"/>
                </a:solidFill>
                <a:latin typeface="Calibri" pitchFamily="34" charset="0"/>
                <a:ea typeface="Calibri" pitchFamily="34" charset="-122"/>
                <a:cs typeface="Calibri" pitchFamily="34" charset="-120"/>
              </a:rPr>
              <a:t>Build</a:t>
            </a:r>
            <a:endParaRPr lang="en-US" sz="1300" dirty="0"/>
          </a:p>
        </p:txBody>
      </p:sp>
      <p:sp>
        <p:nvSpPr>
          <p:cNvPr id="37" name="Text 35"/>
          <p:cNvSpPr txBox="1"/>
          <p:nvPr/>
        </p:nvSpPr>
        <p:spPr>
          <a:xfrm>
            <a:off x="5522976" y="5029200"/>
            <a:ext cx="1325880" cy="548640"/>
          </a:xfrm>
          <a:prstGeom prst="rect">
            <a:avLst/>
          </a:prstGeom>
          <a:noFill/>
          <a:ln/>
        </p:spPr>
        <p:txBody>
          <a:bodyPr wrap="square" lIns="0" tIns="0" rIns="0" bIns="0" rtlCol="0" anchor="t"/>
          <a:lstStyle/>
          <a:p>
            <a:pPr algn="ctr" indent="0" marL="0">
              <a:buNone/>
            </a:pPr>
            <a:r>
              <a:rPr lang="en-US" sz="1150" dirty="0">
                <a:solidFill>
                  <a:srgbClr val="0E2A3B"/>
                </a:solidFill>
                <a:latin typeface="Calibri" pitchFamily="34" charset="0"/>
                <a:ea typeface="Calibri" pitchFamily="34" charset="-122"/>
                <a:cs typeface="Calibri" pitchFamily="34" charset="-120"/>
              </a:rPr>
              <a:t>prototype workflow</a:t>
            </a:r>
            <a:endParaRPr lang="en-US" sz="1150" dirty="0"/>
          </a:p>
        </p:txBody>
      </p:sp>
      <p:sp>
        <p:nvSpPr>
          <p:cNvPr id="38" name="Shape 36"/>
          <p:cNvSpPr/>
          <p:nvPr/>
        </p:nvSpPr>
        <p:spPr>
          <a:xfrm>
            <a:off x="7059168" y="4572000"/>
            <a:ext cx="1508760" cy="1097280"/>
          </a:xfrm>
          <a:prstGeom prst="roundRect">
            <a:avLst>
              <a:gd name="adj" fmla="val 6667"/>
            </a:avLst>
          </a:prstGeom>
          <a:solidFill>
            <a:srgbClr val="E6F1F2"/>
          </a:solidFill>
          <a:ln w="9525">
            <a:solidFill>
              <a:srgbClr val="E6F1F2"/>
            </a:solidFill>
            <a:prstDash val="solid"/>
          </a:ln>
        </p:spPr>
      </p:sp>
      <p:sp>
        <p:nvSpPr>
          <p:cNvPr id="39" name="Text 37"/>
          <p:cNvSpPr txBox="1"/>
          <p:nvPr/>
        </p:nvSpPr>
        <p:spPr>
          <a:xfrm>
            <a:off x="7150608" y="4663440"/>
            <a:ext cx="1325880" cy="365760"/>
          </a:xfrm>
          <a:prstGeom prst="rect">
            <a:avLst/>
          </a:prstGeom>
          <a:noFill/>
          <a:ln/>
        </p:spPr>
        <p:txBody>
          <a:bodyPr wrap="square" lIns="0" tIns="0" rIns="0" bIns="0" rtlCol="0" anchor="t"/>
          <a:lstStyle/>
          <a:p>
            <a:pPr algn="ctr" indent="0" marL="0">
              <a:buNone/>
            </a:pPr>
            <a:r>
              <a:rPr lang="en-US" sz="1300" b="1" dirty="0">
                <a:solidFill>
                  <a:srgbClr val="1F6F78"/>
                </a:solidFill>
                <a:latin typeface="Calibri" pitchFamily="34" charset="0"/>
                <a:ea typeface="Calibri" pitchFamily="34" charset="-122"/>
                <a:cs typeface="Calibri" pitchFamily="34" charset="-120"/>
              </a:rPr>
              <a:t>Cloud ALM</a:t>
            </a:r>
            <a:endParaRPr lang="en-US" sz="1300" dirty="0"/>
          </a:p>
        </p:txBody>
      </p:sp>
      <p:sp>
        <p:nvSpPr>
          <p:cNvPr id="40" name="Text 38"/>
          <p:cNvSpPr txBox="1"/>
          <p:nvPr/>
        </p:nvSpPr>
        <p:spPr>
          <a:xfrm>
            <a:off x="7150608" y="5029200"/>
            <a:ext cx="1325880" cy="548640"/>
          </a:xfrm>
          <a:prstGeom prst="rect">
            <a:avLst/>
          </a:prstGeom>
          <a:noFill/>
          <a:ln/>
        </p:spPr>
        <p:txBody>
          <a:bodyPr wrap="square" lIns="0" tIns="0" rIns="0" bIns="0" rtlCol="0" anchor="t"/>
          <a:lstStyle/>
          <a:p>
            <a:pPr algn="ctr" indent="0" marL="0">
              <a:buNone/>
            </a:pPr>
            <a:r>
              <a:rPr lang="en-US" sz="1150" dirty="0">
                <a:solidFill>
                  <a:srgbClr val="0E2A3B"/>
                </a:solidFill>
                <a:latin typeface="Calibri" pitchFamily="34" charset="0"/>
                <a:ea typeface="Calibri" pitchFamily="34" charset="-122"/>
                <a:cs typeface="Calibri" pitchFamily="34" charset="-120"/>
              </a:rPr>
              <a:t>tests and gates</a:t>
            </a:r>
            <a:endParaRPr lang="en-US" sz="1150" dirty="0"/>
          </a:p>
        </p:txBody>
      </p:sp>
      <p:sp>
        <p:nvSpPr>
          <p:cNvPr id="41" name="Text 39"/>
          <p:cNvSpPr txBox="1"/>
          <p:nvPr/>
        </p:nvSpPr>
        <p:spPr>
          <a:xfrm>
            <a:off x="548640" y="6400800"/>
            <a:ext cx="8046720" cy="274320"/>
          </a:xfrm>
          <a:prstGeom prst="rect">
            <a:avLst/>
          </a:prstGeom>
          <a:noFill/>
          <a:ln/>
        </p:spPr>
        <p:txBody>
          <a:bodyPr wrap="square" lIns="0" tIns="0" rIns="0" bIns="0" rtlCol="0" anchor="ctr"/>
          <a:lstStyle/>
          <a:p>
            <a:pPr indent="0" marL="0">
              <a:buNone/>
            </a:pPr>
            <a:r>
              <a:rPr lang="en-US" sz="900" dirty="0">
                <a:solidFill>
                  <a:srgbClr val="5B6B75"/>
                </a:solidFill>
                <a:latin typeface="Calibri" pitchFamily="34" charset="0"/>
                <a:ea typeface="Calibri" pitchFamily="34" charset="-122"/>
                <a:cs typeface="Calibri" pitchFamily="34" charset="-120"/>
              </a:rPr>
              <a:t>Lifecycle logic: Markus and Tanis (2000); phase deliverables and sign-off: Mills (2025).</a:t>
            </a:r>
            <a:endParaRPr lang="en-US" sz="900" dirty="0"/>
          </a:p>
        </p:txBody>
      </p:sp>
    </p:spTree>
  </p:cSld>
  <p:clrMapOvr>
    <a:masterClrMapping/>
  </p:clrMapOvr>
  <p:transition spd="med" advTm="20000">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WORK PLAN AND TIMELINE</a:t>
            </a:r>
            <a:endParaRPr lang="en-US" sz="1200" dirty="0"/>
          </a:p>
        </p:txBody>
      </p:sp>
      <p:sp>
        <p:nvSpPr>
          <p:cNvPr id="3" name="Text 1"/>
          <p:cNvSpPr txBox="1"/>
          <p:nvPr/>
        </p:nvSpPr>
        <p:spPr>
          <a:xfrm>
            <a:off x="10241280" y="320040"/>
            <a:ext cx="1371600" cy="274320"/>
          </a:xfrm>
          <a:prstGeom prst="rect">
            <a:avLst/>
          </a:prstGeom>
          <a:noFill/>
          <a:ln/>
        </p:spPr>
        <p:txBody>
          <a:bodyPr wrap="square" lIns="0" tIns="0" rIns="0" bIns="0" rtlCol="0" anchor="ctr"/>
          <a:lstStyle/>
          <a:p>
            <a:pPr algn="r" indent="0" marL="0">
              <a:buNone/>
            </a:pPr>
            <a:r>
              <a:rPr lang="en-US" sz="1100" dirty="0">
                <a:solidFill>
                  <a:srgbClr val="5B6B75"/>
                </a:solidFill>
                <a:latin typeface="Calibri" pitchFamily="34" charset="0"/>
                <a:ea typeface="Calibri" pitchFamily="34" charset="-122"/>
                <a:cs typeface="Calibri" pitchFamily="34" charset="-120"/>
              </a:rPr>
              <a:t>12 / 20</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0E2A3B"/>
                </a:solidFill>
                <a:latin typeface="Cambria" pitchFamily="34" charset="0"/>
                <a:ea typeface="Cambria" pitchFamily="34" charset="-122"/>
                <a:cs typeface="Cambria" pitchFamily="34" charset="-120"/>
              </a:rPr>
              <a:t>A 52-week plan with five decision milestones</a:t>
            </a:r>
            <a:endParaRPr lang="en-US" sz="3000" dirty="0"/>
          </a:p>
        </p:txBody>
      </p:sp>
      <p:sp>
        <p:nvSpPr>
          <p:cNvPr id="5" name="Shape 3"/>
          <p:cNvSpPr/>
          <p:nvPr/>
        </p:nvSpPr>
        <p:spPr>
          <a:xfrm>
            <a:off x="3291840" y="1508760"/>
            <a:ext cx="0" cy="2743200"/>
          </a:xfrm>
          <a:prstGeom prst="line">
            <a:avLst/>
          </a:prstGeom>
          <a:noFill/>
          <a:ln w="9525">
            <a:solidFill>
              <a:srgbClr val="D5DEE2"/>
            </a:solidFill>
            <a:prstDash val="dash"/>
          </a:ln>
        </p:spPr>
      </p:sp>
      <p:sp>
        <p:nvSpPr>
          <p:cNvPr id="6" name="Shape 4"/>
          <p:cNvSpPr/>
          <p:nvPr/>
        </p:nvSpPr>
        <p:spPr>
          <a:xfrm>
            <a:off x="3924886" y="1508760"/>
            <a:ext cx="0" cy="2743200"/>
          </a:xfrm>
          <a:prstGeom prst="line">
            <a:avLst/>
          </a:prstGeom>
          <a:noFill/>
          <a:ln w="9525">
            <a:solidFill>
              <a:srgbClr val="D5DEE2"/>
            </a:solidFill>
            <a:prstDash val="dash"/>
          </a:ln>
        </p:spPr>
      </p:sp>
      <p:sp>
        <p:nvSpPr>
          <p:cNvPr id="7" name="Shape 5"/>
          <p:cNvSpPr/>
          <p:nvPr/>
        </p:nvSpPr>
        <p:spPr>
          <a:xfrm>
            <a:off x="4557932" y="1508760"/>
            <a:ext cx="0" cy="2743200"/>
          </a:xfrm>
          <a:prstGeom prst="line">
            <a:avLst/>
          </a:prstGeom>
          <a:noFill/>
          <a:ln w="9525">
            <a:solidFill>
              <a:srgbClr val="D5DEE2"/>
            </a:solidFill>
            <a:prstDash val="dash"/>
          </a:ln>
        </p:spPr>
      </p:sp>
      <p:sp>
        <p:nvSpPr>
          <p:cNvPr id="8" name="Shape 6"/>
          <p:cNvSpPr/>
          <p:nvPr/>
        </p:nvSpPr>
        <p:spPr>
          <a:xfrm>
            <a:off x="6457071" y="1508760"/>
            <a:ext cx="0" cy="2743200"/>
          </a:xfrm>
          <a:prstGeom prst="line">
            <a:avLst/>
          </a:prstGeom>
          <a:noFill/>
          <a:ln w="9525">
            <a:solidFill>
              <a:srgbClr val="D5DEE2"/>
            </a:solidFill>
            <a:prstDash val="dash"/>
          </a:ln>
        </p:spPr>
      </p:sp>
      <p:sp>
        <p:nvSpPr>
          <p:cNvPr id="9" name="Shape 7"/>
          <p:cNvSpPr/>
          <p:nvPr/>
        </p:nvSpPr>
        <p:spPr>
          <a:xfrm>
            <a:off x="8356209" y="1508760"/>
            <a:ext cx="0" cy="2743200"/>
          </a:xfrm>
          <a:prstGeom prst="line">
            <a:avLst/>
          </a:prstGeom>
          <a:noFill/>
          <a:ln w="9525">
            <a:solidFill>
              <a:srgbClr val="D5DEE2"/>
            </a:solidFill>
            <a:prstDash val="dash"/>
          </a:ln>
        </p:spPr>
      </p:sp>
      <p:sp>
        <p:nvSpPr>
          <p:cNvPr id="10" name="Shape 8"/>
          <p:cNvSpPr/>
          <p:nvPr/>
        </p:nvSpPr>
        <p:spPr>
          <a:xfrm>
            <a:off x="11521440" y="1508760"/>
            <a:ext cx="0" cy="2743200"/>
          </a:xfrm>
          <a:prstGeom prst="line">
            <a:avLst/>
          </a:prstGeom>
          <a:noFill/>
          <a:ln w="9525">
            <a:solidFill>
              <a:srgbClr val="D5DEE2"/>
            </a:solidFill>
            <a:prstDash val="dash"/>
          </a:ln>
        </p:spPr>
      </p:sp>
      <p:sp>
        <p:nvSpPr>
          <p:cNvPr id="11" name="Text 9"/>
          <p:cNvSpPr txBox="1"/>
          <p:nvPr/>
        </p:nvSpPr>
        <p:spPr>
          <a:xfrm>
            <a:off x="548640" y="1600200"/>
            <a:ext cx="2743200" cy="411480"/>
          </a:xfrm>
          <a:prstGeom prst="rect">
            <a:avLst/>
          </a:prstGeom>
          <a:noFill/>
          <a:ln/>
        </p:spPr>
        <p:txBody>
          <a:bodyPr wrap="square" lIns="0" tIns="0" rIns="0" bIns="0" rtlCol="0" anchor="ctr"/>
          <a:lstStyle/>
          <a:p>
            <a:pPr indent="0" marL="0">
              <a:buNone/>
            </a:pPr>
            <a:r>
              <a:rPr lang="en-US" sz="1350" b="1" dirty="0">
                <a:solidFill>
                  <a:srgbClr val="0E2A3B"/>
                </a:solidFill>
                <a:latin typeface="Calibri" pitchFamily="34" charset="0"/>
                <a:ea typeface="Calibri" pitchFamily="34" charset="-122"/>
                <a:cs typeface="Calibri" pitchFamily="34" charset="-120"/>
              </a:rPr>
              <a:t>0  Validate baseline</a:t>
            </a:r>
            <a:endParaRPr lang="en-US" sz="1350" dirty="0"/>
          </a:p>
        </p:txBody>
      </p:sp>
      <p:sp>
        <p:nvSpPr>
          <p:cNvPr id="12" name="Shape 10"/>
          <p:cNvSpPr/>
          <p:nvPr/>
        </p:nvSpPr>
        <p:spPr>
          <a:xfrm>
            <a:off x="3291840" y="1645920"/>
            <a:ext cx="633046" cy="347472"/>
          </a:xfrm>
          <a:prstGeom prst="roundRect">
            <a:avLst>
              <a:gd name="adj" fmla="val 15789"/>
            </a:avLst>
          </a:prstGeom>
          <a:solidFill>
            <a:srgbClr val="E8A33D"/>
          </a:solidFill>
          <a:ln w="12700">
            <a:solidFill>
              <a:srgbClr val="E8A33D"/>
            </a:solidFill>
            <a:prstDash val="solid"/>
          </a:ln>
        </p:spPr>
      </p:sp>
      <p:sp>
        <p:nvSpPr>
          <p:cNvPr id="13" name="Text 11"/>
          <p:cNvSpPr txBox="1"/>
          <p:nvPr/>
        </p:nvSpPr>
        <p:spPr>
          <a:xfrm>
            <a:off x="3291840" y="1645920"/>
            <a:ext cx="640080" cy="347472"/>
          </a:xfrm>
          <a:prstGeom prst="rect">
            <a:avLst/>
          </a:prstGeom>
          <a:noFill/>
          <a:ln/>
        </p:spPr>
        <p:txBody>
          <a:bodyPr wrap="square" lIns="0" tIns="0" rIns="0" bIns="0" rtlCol="0" anchor="ctr"/>
          <a:lstStyle/>
          <a:p>
            <a:pPr algn="ctr" indent="0" marL="0">
              <a:buNone/>
            </a:pPr>
            <a:r>
              <a:rPr lang="en-US" sz="1100" b="1" dirty="0">
                <a:solidFill>
                  <a:srgbClr val="0E2A3B"/>
                </a:solidFill>
                <a:latin typeface="Calibri" pitchFamily="34" charset="0"/>
                <a:ea typeface="Calibri" pitchFamily="34" charset="-122"/>
                <a:cs typeface="Calibri" pitchFamily="34" charset="-120"/>
              </a:rPr>
              <a:t>W1-4</a:t>
            </a:r>
            <a:endParaRPr lang="en-US" sz="1100" dirty="0"/>
          </a:p>
        </p:txBody>
      </p:sp>
      <p:sp>
        <p:nvSpPr>
          <p:cNvPr id="14" name="Text 12"/>
          <p:cNvSpPr txBox="1"/>
          <p:nvPr/>
        </p:nvSpPr>
        <p:spPr>
          <a:xfrm>
            <a:off x="548640" y="2130552"/>
            <a:ext cx="2743200" cy="411480"/>
          </a:xfrm>
          <a:prstGeom prst="rect">
            <a:avLst/>
          </a:prstGeom>
          <a:noFill/>
          <a:ln/>
        </p:spPr>
        <p:txBody>
          <a:bodyPr wrap="square" lIns="0" tIns="0" rIns="0" bIns="0" rtlCol="0" anchor="ctr"/>
          <a:lstStyle/>
          <a:p>
            <a:pPr indent="0" marL="0">
              <a:buNone/>
            </a:pPr>
            <a:r>
              <a:rPr lang="en-US" sz="1350" b="1" dirty="0">
                <a:solidFill>
                  <a:srgbClr val="0E2A3B"/>
                </a:solidFill>
                <a:latin typeface="Calibri" pitchFamily="34" charset="0"/>
                <a:ea typeface="Calibri" pitchFamily="34" charset="-122"/>
                <a:cs typeface="Calibri" pitchFamily="34" charset="-120"/>
              </a:rPr>
              <a:t>1  Configure workflow</a:t>
            </a:r>
            <a:endParaRPr lang="en-US" sz="1350" dirty="0"/>
          </a:p>
        </p:txBody>
      </p:sp>
      <p:sp>
        <p:nvSpPr>
          <p:cNvPr id="15" name="Shape 13"/>
          <p:cNvSpPr/>
          <p:nvPr/>
        </p:nvSpPr>
        <p:spPr>
          <a:xfrm>
            <a:off x="3924886" y="2176272"/>
            <a:ext cx="633046" cy="347472"/>
          </a:xfrm>
          <a:prstGeom prst="roundRect">
            <a:avLst>
              <a:gd name="adj" fmla="val 15789"/>
            </a:avLst>
          </a:prstGeom>
          <a:solidFill>
            <a:srgbClr val="4E9AA2"/>
          </a:solidFill>
          <a:ln w="12700">
            <a:solidFill>
              <a:srgbClr val="4E9AA2"/>
            </a:solidFill>
            <a:prstDash val="solid"/>
          </a:ln>
        </p:spPr>
      </p:sp>
      <p:sp>
        <p:nvSpPr>
          <p:cNvPr id="16" name="Text 14"/>
          <p:cNvSpPr txBox="1"/>
          <p:nvPr/>
        </p:nvSpPr>
        <p:spPr>
          <a:xfrm>
            <a:off x="3924886" y="2176272"/>
            <a:ext cx="64008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W5-8</a:t>
            </a:r>
            <a:endParaRPr lang="en-US" sz="1100" dirty="0"/>
          </a:p>
        </p:txBody>
      </p:sp>
      <p:sp>
        <p:nvSpPr>
          <p:cNvPr id="17" name="Text 15"/>
          <p:cNvSpPr txBox="1"/>
          <p:nvPr/>
        </p:nvSpPr>
        <p:spPr>
          <a:xfrm>
            <a:off x="548640" y="2660904"/>
            <a:ext cx="2743200" cy="411480"/>
          </a:xfrm>
          <a:prstGeom prst="rect">
            <a:avLst/>
          </a:prstGeom>
          <a:noFill/>
          <a:ln/>
        </p:spPr>
        <p:txBody>
          <a:bodyPr wrap="square" lIns="0" tIns="0" rIns="0" bIns="0" rtlCol="0" anchor="ctr"/>
          <a:lstStyle/>
          <a:p>
            <a:pPr indent="0" marL="0">
              <a:buNone/>
            </a:pPr>
            <a:r>
              <a:rPr lang="en-US" sz="1350" b="1" dirty="0">
                <a:solidFill>
                  <a:srgbClr val="0E2A3B"/>
                </a:solidFill>
                <a:latin typeface="Calibri" pitchFamily="34" charset="0"/>
                <a:ea typeface="Calibri" pitchFamily="34" charset="-122"/>
                <a:cs typeface="Calibri" pitchFamily="34" charset="-120"/>
              </a:rPr>
              <a:t>2  Pilot in Connectivity</a:t>
            </a:r>
            <a:endParaRPr lang="en-US" sz="1350" dirty="0"/>
          </a:p>
        </p:txBody>
      </p:sp>
      <p:sp>
        <p:nvSpPr>
          <p:cNvPr id="18" name="Shape 16"/>
          <p:cNvSpPr/>
          <p:nvPr/>
        </p:nvSpPr>
        <p:spPr>
          <a:xfrm>
            <a:off x="4557932" y="2706624"/>
            <a:ext cx="1899138" cy="347472"/>
          </a:xfrm>
          <a:prstGeom prst="roundRect">
            <a:avLst>
              <a:gd name="adj" fmla="val 15789"/>
            </a:avLst>
          </a:prstGeom>
          <a:solidFill>
            <a:srgbClr val="1F6F78"/>
          </a:solidFill>
          <a:ln w="12700">
            <a:solidFill>
              <a:srgbClr val="1F6F78"/>
            </a:solidFill>
            <a:prstDash val="solid"/>
          </a:ln>
        </p:spPr>
      </p:sp>
      <p:sp>
        <p:nvSpPr>
          <p:cNvPr id="19" name="Text 17"/>
          <p:cNvSpPr txBox="1"/>
          <p:nvPr/>
        </p:nvSpPr>
        <p:spPr>
          <a:xfrm>
            <a:off x="4557932" y="2706624"/>
            <a:ext cx="1899138"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W9-20</a:t>
            </a:r>
            <a:endParaRPr lang="en-US" sz="1100" dirty="0"/>
          </a:p>
        </p:txBody>
      </p:sp>
      <p:sp>
        <p:nvSpPr>
          <p:cNvPr id="20" name="Text 18"/>
          <p:cNvSpPr txBox="1"/>
          <p:nvPr/>
        </p:nvSpPr>
        <p:spPr>
          <a:xfrm>
            <a:off x="548640" y="3191256"/>
            <a:ext cx="2743200" cy="411480"/>
          </a:xfrm>
          <a:prstGeom prst="rect">
            <a:avLst/>
          </a:prstGeom>
          <a:noFill/>
          <a:ln/>
        </p:spPr>
        <p:txBody>
          <a:bodyPr wrap="square" lIns="0" tIns="0" rIns="0" bIns="0" rtlCol="0" anchor="ctr"/>
          <a:lstStyle/>
          <a:p>
            <a:pPr indent="0" marL="0">
              <a:buNone/>
            </a:pPr>
            <a:r>
              <a:rPr lang="en-US" sz="1350" b="1" dirty="0">
                <a:solidFill>
                  <a:srgbClr val="0E2A3B"/>
                </a:solidFill>
                <a:latin typeface="Calibri" pitchFamily="34" charset="0"/>
                <a:ea typeface="Calibri" pitchFamily="34" charset="-122"/>
                <a:cs typeface="Calibri" pitchFamily="34" charset="-120"/>
              </a:rPr>
              <a:t>3  Extend to Digital Services</a:t>
            </a:r>
            <a:endParaRPr lang="en-US" sz="1350" dirty="0"/>
          </a:p>
        </p:txBody>
      </p:sp>
      <p:sp>
        <p:nvSpPr>
          <p:cNvPr id="21" name="Shape 19"/>
          <p:cNvSpPr/>
          <p:nvPr/>
        </p:nvSpPr>
        <p:spPr>
          <a:xfrm>
            <a:off x="6457071" y="3236976"/>
            <a:ext cx="1899138" cy="347472"/>
          </a:xfrm>
          <a:prstGeom prst="roundRect">
            <a:avLst>
              <a:gd name="adj" fmla="val 15789"/>
            </a:avLst>
          </a:prstGeom>
          <a:solidFill>
            <a:srgbClr val="185A62"/>
          </a:solidFill>
          <a:ln w="12700">
            <a:solidFill>
              <a:srgbClr val="185A62"/>
            </a:solidFill>
            <a:prstDash val="solid"/>
          </a:ln>
        </p:spPr>
      </p:sp>
      <p:sp>
        <p:nvSpPr>
          <p:cNvPr id="22" name="Text 20"/>
          <p:cNvSpPr txBox="1"/>
          <p:nvPr/>
        </p:nvSpPr>
        <p:spPr>
          <a:xfrm>
            <a:off x="6457071" y="3236976"/>
            <a:ext cx="1899138"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W21-32</a:t>
            </a:r>
            <a:endParaRPr lang="en-US" sz="1100" dirty="0"/>
          </a:p>
        </p:txBody>
      </p:sp>
      <p:sp>
        <p:nvSpPr>
          <p:cNvPr id="23" name="Text 21"/>
          <p:cNvSpPr txBox="1"/>
          <p:nvPr/>
        </p:nvSpPr>
        <p:spPr>
          <a:xfrm>
            <a:off x="548640" y="3721608"/>
            <a:ext cx="2743200" cy="411480"/>
          </a:xfrm>
          <a:prstGeom prst="rect">
            <a:avLst/>
          </a:prstGeom>
          <a:noFill/>
          <a:ln/>
        </p:spPr>
        <p:txBody>
          <a:bodyPr wrap="square" lIns="0" tIns="0" rIns="0" bIns="0" rtlCol="0" anchor="ctr"/>
          <a:lstStyle/>
          <a:p>
            <a:pPr indent="0" marL="0">
              <a:buNone/>
            </a:pPr>
            <a:r>
              <a:rPr lang="en-US" sz="1350" b="1" dirty="0">
                <a:solidFill>
                  <a:srgbClr val="0E2A3B"/>
                </a:solidFill>
                <a:latin typeface="Calibri" pitchFamily="34" charset="0"/>
                <a:ea typeface="Calibri" pitchFamily="34" charset="-122"/>
                <a:cs typeface="Calibri" pitchFamily="34" charset="-120"/>
              </a:rPr>
              <a:t>4  Embed and track benefits</a:t>
            </a:r>
            <a:endParaRPr lang="en-US" sz="1350" dirty="0"/>
          </a:p>
        </p:txBody>
      </p:sp>
      <p:sp>
        <p:nvSpPr>
          <p:cNvPr id="24" name="Shape 22"/>
          <p:cNvSpPr/>
          <p:nvPr/>
        </p:nvSpPr>
        <p:spPr>
          <a:xfrm>
            <a:off x="8356209" y="3767328"/>
            <a:ext cx="3165231" cy="347472"/>
          </a:xfrm>
          <a:prstGeom prst="roundRect">
            <a:avLst>
              <a:gd name="adj" fmla="val 15789"/>
            </a:avLst>
          </a:prstGeom>
          <a:solidFill>
            <a:srgbClr val="0E2A3B"/>
          </a:solidFill>
          <a:ln w="12700">
            <a:solidFill>
              <a:srgbClr val="0E2A3B"/>
            </a:solidFill>
            <a:prstDash val="solid"/>
          </a:ln>
        </p:spPr>
      </p:sp>
      <p:sp>
        <p:nvSpPr>
          <p:cNvPr id="25" name="Text 23"/>
          <p:cNvSpPr txBox="1"/>
          <p:nvPr/>
        </p:nvSpPr>
        <p:spPr>
          <a:xfrm>
            <a:off x="8356209" y="3767328"/>
            <a:ext cx="3165231"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W33-52</a:t>
            </a:r>
            <a:endParaRPr lang="en-US" sz="1100" dirty="0"/>
          </a:p>
        </p:txBody>
      </p:sp>
      <p:sp>
        <p:nvSpPr>
          <p:cNvPr id="26" name="Text 24"/>
          <p:cNvSpPr txBox="1"/>
          <p:nvPr/>
        </p:nvSpPr>
        <p:spPr>
          <a:xfrm>
            <a:off x="3017520" y="4297680"/>
            <a:ext cx="548640" cy="228600"/>
          </a:xfrm>
          <a:prstGeom prst="rect">
            <a:avLst/>
          </a:prstGeom>
          <a:noFill/>
          <a:ln/>
        </p:spPr>
        <p:txBody>
          <a:bodyPr wrap="square" lIns="0" tIns="0" rIns="0" bIns="0" rtlCol="0" anchor="t"/>
          <a:lstStyle/>
          <a:p>
            <a:pPr algn="ctr" indent="0" marL="0">
              <a:buNone/>
            </a:pPr>
            <a:r>
              <a:rPr lang="en-US" sz="1050" dirty="0">
                <a:solidFill>
                  <a:srgbClr val="5B6B75"/>
                </a:solidFill>
                <a:latin typeface="Calibri" pitchFamily="34" charset="0"/>
                <a:ea typeface="Calibri" pitchFamily="34" charset="-122"/>
                <a:cs typeface="Calibri" pitchFamily="34" charset="-120"/>
              </a:rPr>
              <a:t>W1</a:t>
            </a:r>
            <a:endParaRPr lang="en-US" sz="1050" dirty="0"/>
          </a:p>
        </p:txBody>
      </p:sp>
      <p:sp>
        <p:nvSpPr>
          <p:cNvPr id="27" name="Text 25"/>
          <p:cNvSpPr txBox="1"/>
          <p:nvPr/>
        </p:nvSpPr>
        <p:spPr>
          <a:xfrm>
            <a:off x="3650566" y="4297680"/>
            <a:ext cx="548640" cy="228600"/>
          </a:xfrm>
          <a:prstGeom prst="rect">
            <a:avLst/>
          </a:prstGeom>
          <a:noFill/>
          <a:ln/>
        </p:spPr>
        <p:txBody>
          <a:bodyPr wrap="square" lIns="0" tIns="0" rIns="0" bIns="0" rtlCol="0" anchor="t"/>
          <a:lstStyle/>
          <a:p>
            <a:pPr algn="ctr" indent="0" marL="0">
              <a:buNone/>
            </a:pPr>
            <a:r>
              <a:rPr lang="en-US" sz="1050" dirty="0">
                <a:solidFill>
                  <a:srgbClr val="5B6B75"/>
                </a:solidFill>
                <a:latin typeface="Calibri" pitchFamily="34" charset="0"/>
                <a:ea typeface="Calibri" pitchFamily="34" charset="-122"/>
                <a:cs typeface="Calibri" pitchFamily="34" charset="-120"/>
              </a:rPr>
              <a:t>W4</a:t>
            </a:r>
            <a:endParaRPr lang="en-US" sz="1050" dirty="0"/>
          </a:p>
        </p:txBody>
      </p:sp>
      <p:sp>
        <p:nvSpPr>
          <p:cNvPr id="28" name="Text 26"/>
          <p:cNvSpPr txBox="1"/>
          <p:nvPr/>
        </p:nvSpPr>
        <p:spPr>
          <a:xfrm>
            <a:off x="4283612" y="4297680"/>
            <a:ext cx="548640" cy="228600"/>
          </a:xfrm>
          <a:prstGeom prst="rect">
            <a:avLst/>
          </a:prstGeom>
          <a:noFill/>
          <a:ln/>
        </p:spPr>
        <p:txBody>
          <a:bodyPr wrap="square" lIns="0" tIns="0" rIns="0" bIns="0" rtlCol="0" anchor="t"/>
          <a:lstStyle/>
          <a:p>
            <a:pPr algn="ctr" indent="0" marL="0">
              <a:buNone/>
            </a:pPr>
            <a:r>
              <a:rPr lang="en-US" sz="1050" dirty="0">
                <a:solidFill>
                  <a:srgbClr val="5B6B75"/>
                </a:solidFill>
                <a:latin typeface="Calibri" pitchFamily="34" charset="0"/>
                <a:ea typeface="Calibri" pitchFamily="34" charset="-122"/>
                <a:cs typeface="Calibri" pitchFamily="34" charset="-120"/>
              </a:rPr>
              <a:t>W8</a:t>
            </a:r>
            <a:endParaRPr lang="en-US" sz="1050" dirty="0"/>
          </a:p>
        </p:txBody>
      </p:sp>
      <p:sp>
        <p:nvSpPr>
          <p:cNvPr id="29" name="Text 27"/>
          <p:cNvSpPr txBox="1"/>
          <p:nvPr/>
        </p:nvSpPr>
        <p:spPr>
          <a:xfrm>
            <a:off x="6182751" y="4297680"/>
            <a:ext cx="548640" cy="228600"/>
          </a:xfrm>
          <a:prstGeom prst="rect">
            <a:avLst/>
          </a:prstGeom>
          <a:noFill/>
          <a:ln/>
        </p:spPr>
        <p:txBody>
          <a:bodyPr wrap="square" lIns="0" tIns="0" rIns="0" bIns="0" rtlCol="0" anchor="t"/>
          <a:lstStyle/>
          <a:p>
            <a:pPr algn="ctr" indent="0" marL="0">
              <a:buNone/>
            </a:pPr>
            <a:r>
              <a:rPr lang="en-US" sz="1050" dirty="0">
                <a:solidFill>
                  <a:srgbClr val="5B6B75"/>
                </a:solidFill>
                <a:latin typeface="Calibri" pitchFamily="34" charset="0"/>
                <a:ea typeface="Calibri" pitchFamily="34" charset="-122"/>
                <a:cs typeface="Calibri" pitchFamily="34" charset="-120"/>
              </a:rPr>
              <a:t>W20</a:t>
            </a:r>
            <a:endParaRPr lang="en-US" sz="1050" dirty="0"/>
          </a:p>
        </p:txBody>
      </p:sp>
      <p:sp>
        <p:nvSpPr>
          <p:cNvPr id="30" name="Text 28"/>
          <p:cNvSpPr txBox="1"/>
          <p:nvPr/>
        </p:nvSpPr>
        <p:spPr>
          <a:xfrm>
            <a:off x="8081889" y="4297680"/>
            <a:ext cx="548640" cy="228600"/>
          </a:xfrm>
          <a:prstGeom prst="rect">
            <a:avLst/>
          </a:prstGeom>
          <a:noFill/>
          <a:ln/>
        </p:spPr>
        <p:txBody>
          <a:bodyPr wrap="square" lIns="0" tIns="0" rIns="0" bIns="0" rtlCol="0" anchor="t"/>
          <a:lstStyle/>
          <a:p>
            <a:pPr algn="ctr" indent="0" marL="0">
              <a:buNone/>
            </a:pPr>
            <a:r>
              <a:rPr lang="en-US" sz="1050" dirty="0">
                <a:solidFill>
                  <a:srgbClr val="5B6B75"/>
                </a:solidFill>
                <a:latin typeface="Calibri" pitchFamily="34" charset="0"/>
                <a:ea typeface="Calibri" pitchFamily="34" charset="-122"/>
                <a:cs typeface="Calibri" pitchFamily="34" charset="-120"/>
              </a:rPr>
              <a:t>W32</a:t>
            </a:r>
            <a:endParaRPr lang="en-US" sz="1050" dirty="0"/>
          </a:p>
        </p:txBody>
      </p:sp>
      <p:sp>
        <p:nvSpPr>
          <p:cNvPr id="31" name="Text 29"/>
          <p:cNvSpPr txBox="1"/>
          <p:nvPr/>
        </p:nvSpPr>
        <p:spPr>
          <a:xfrm>
            <a:off x="11247120" y="4297680"/>
            <a:ext cx="548640" cy="228600"/>
          </a:xfrm>
          <a:prstGeom prst="rect">
            <a:avLst/>
          </a:prstGeom>
          <a:noFill/>
          <a:ln/>
        </p:spPr>
        <p:txBody>
          <a:bodyPr wrap="square" lIns="0" tIns="0" rIns="0" bIns="0" rtlCol="0" anchor="t"/>
          <a:lstStyle/>
          <a:p>
            <a:pPr algn="ctr" indent="0" marL="0">
              <a:buNone/>
            </a:pPr>
            <a:r>
              <a:rPr lang="en-US" sz="1050" dirty="0">
                <a:solidFill>
                  <a:srgbClr val="5B6B75"/>
                </a:solidFill>
                <a:latin typeface="Calibri" pitchFamily="34" charset="0"/>
                <a:ea typeface="Calibri" pitchFamily="34" charset="-122"/>
                <a:cs typeface="Calibri" pitchFamily="34" charset="-120"/>
              </a:rPr>
              <a:t>W52</a:t>
            </a:r>
            <a:endParaRPr lang="en-US" sz="1050" dirty="0"/>
          </a:p>
        </p:txBody>
      </p:sp>
      <p:sp>
        <p:nvSpPr>
          <p:cNvPr id="32" name="Shape 30"/>
          <p:cNvSpPr/>
          <p:nvPr/>
        </p:nvSpPr>
        <p:spPr>
          <a:xfrm>
            <a:off x="548640" y="4846320"/>
            <a:ext cx="384048" cy="384048"/>
          </a:xfrm>
          <a:prstGeom prst="diamond">
            <a:avLst/>
          </a:prstGeom>
          <a:solidFill>
            <a:srgbClr val="E8A33D"/>
          </a:solidFill>
          <a:ln w="12700">
            <a:solidFill>
              <a:srgbClr val="E8A33D"/>
            </a:solidFill>
            <a:prstDash val="solid"/>
          </a:ln>
        </p:spPr>
      </p:sp>
      <p:sp>
        <p:nvSpPr>
          <p:cNvPr id="33" name="Text 31"/>
          <p:cNvSpPr txBox="1"/>
          <p:nvPr/>
        </p:nvSpPr>
        <p:spPr>
          <a:xfrm>
            <a:off x="1024128" y="4864608"/>
            <a:ext cx="1005840" cy="347472"/>
          </a:xfrm>
          <a:prstGeom prst="rect">
            <a:avLst/>
          </a:prstGeom>
          <a:noFill/>
          <a:ln/>
        </p:spPr>
        <p:txBody>
          <a:bodyPr wrap="square" lIns="0" tIns="0" rIns="0" bIns="0" rtlCol="0" anchor="ctr"/>
          <a:lstStyle/>
          <a:p>
            <a:pPr indent="0" marL="0">
              <a:buNone/>
            </a:pPr>
            <a:r>
              <a:rPr lang="en-US" sz="1400" b="1" dirty="0">
                <a:solidFill>
                  <a:srgbClr val="0E2A3B"/>
                </a:solidFill>
                <a:latin typeface="Calibri" pitchFamily="34" charset="0"/>
                <a:ea typeface="Calibri" pitchFamily="34" charset="-122"/>
                <a:cs typeface="Calibri" pitchFamily="34" charset="-120"/>
              </a:rPr>
              <a:t>W4</a:t>
            </a:r>
            <a:endParaRPr lang="en-US" sz="1400" dirty="0"/>
          </a:p>
        </p:txBody>
      </p:sp>
      <p:sp>
        <p:nvSpPr>
          <p:cNvPr id="34" name="Text 32"/>
          <p:cNvSpPr txBox="1"/>
          <p:nvPr/>
        </p:nvSpPr>
        <p:spPr>
          <a:xfrm>
            <a:off x="548640" y="5349240"/>
            <a:ext cx="1508760" cy="640080"/>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Baseline approved</a:t>
            </a:r>
            <a:endParaRPr lang="en-US" sz="1200" dirty="0"/>
          </a:p>
        </p:txBody>
      </p:sp>
      <p:sp>
        <p:nvSpPr>
          <p:cNvPr id="35" name="Shape 33"/>
          <p:cNvSpPr/>
          <p:nvPr/>
        </p:nvSpPr>
        <p:spPr>
          <a:xfrm>
            <a:off x="2176272" y="4846320"/>
            <a:ext cx="384048" cy="384048"/>
          </a:xfrm>
          <a:prstGeom prst="diamond">
            <a:avLst/>
          </a:prstGeom>
          <a:solidFill>
            <a:srgbClr val="E8A33D"/>
          </a:solidFill>
          <a:ln w="12700">
            <a:solidFill>
              <a:srgbClr val="E8A33D"/>
            </a:solidFill>
            <a:prstDash val="solid"/>
          </a:ln>
        </p:spPr>
      </p:sp>
      <p:sp>
        <p:nvSpPr>
          <p:cNvPr id="36" name="Text 34"/>
          <p:cNvSpPr txBox="1"/>
          <p:nvPr/>
        </p:nvSpPr>
        <p:spPr>
          <a:xfrm>
            <a:off x="2651760" y="4864608"/>
            <a:ext cx="1005840" cy="347472"/>
          </a:xfrm>
          <a:prstGeom prst="rect">
            <a:avLst/>
          </a:prstGeom>
          <a:noFill/>
          <a:ln/>
        </p:spPr>
        <p:txBody>
          <a:bodyPr wrap="square" lIns="0" tIns="0" rIns="0" bIns="0" rtlCol="0" anchor="ctr"/>
          <a:lstStyle/>
          <a:p>
            <a:pPr indent="0" marL="0">
              <a:buNone/>
            </a:pPr>
            <a:r>
              <a:rPr lang="en-US" sz="1400" b="1" dirty="0">
                <a:solidFill>
                  <a:srgbClr val="0E2A3B"/>
                </a:solidFill>
                <a:latin typeface="Calibri" pitchFamily="34" charset="0"/>
                <a:ea typeface="Calibri" pitchFamily="34" charset="-122"/>
                <a:cs typeface="Calibri" pitchFamily="34" charset="-120"/>
              </a:rPr>
              <a:t>W8</a:t>
            </a:r>
            <a:endParaRPr lang="en-US" sz="1400" dirty="0"/>
          </a:p>
        </p:txBody>
      </p:sp>
      <p:sp>
        <p:nvSpPr>
          <p:cNvPr id="37" name="Text 35"/>
          <p:cNvSpPr txBox="1"/>
          <p:nvPr/>
        </p:nvSpPr>
        <p:spPr>
          <a:xfrm>
            <a:off x="2176272" y="5349240"/>
            <a:ext cx="1508760" cy="640080"/>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Configuration signed off</a:t>
            </a:r>
            <a:endParaRPr lang="en-US" sz="1200" dirty="0"/>
          </a:p>
        </p:txBody>
      </p:sp>
      <p:sp>
        <p:nvSpPr>
          <p:cNvPr id="38" name="Shape 36"/>
          <p:cNvSpPr/>
          <p:nvPr/>
        </p:nvSpPr>
        <p:spPr>
          <a:xfrm>
            <a:off x="3803904" y="4846320"/>
            <a:ext cx="384048" cy="384048"/>
          </a:xfrm>
          <a:prstGeom prst="diamond">
            <a:avLst/>
          </a:prstGeom>
          <a:solidFill>
            <a:srgbClr val="E8A33D"/>
          </a:solidFill>
          <a:ln w="12700">
            <a:solidFill>
              <a:srgbClr val="E8A33D"/>
            </a:solidFill>
            <a:prstDash val="solid"/>
          </a:ln>
        </p:spPr>
      </p:sp>
      <p:sp>
        <p:nvSpPr>
          <p:cNvPr id="39" name="Text 37"/>
          <p:cNvSpPr txBox="1"/>
          <p:nvPr/>
        </p:nvSpPr>
        <p:spPr>
          <a:xfrm>
            <a:off x="4279392" y="4864608"/>
            <a:ext cx="1005840" cy="347472"/>
          </a:xfrm>
          <a:prstGeom prst="rect">
            <a:avLst/>
          </a:prstGeom>
          <a:noFill/>
          <a:ln/>
        </p:spPr>
        <p:txBody>
          <a:bodyPr wrap="square" lIns="0" tIns="0" rIns="0" bIns="0" rtlCol="0" anchor="ctr"/>
          <a:lstStyle/>
          <a:p>
            <a:pPr indent="0" marL="0">
              <a:buNone/>
            </a:pPr>
            <a:r>
              <a:rPr lang="en-US" sz="1400" b="1" dirty="0">
                <a:solidFill>
                  <a:srgbClr val="0E2A3B"/>
                </a:solidFill>
                <a:latin typeface="Calibri" pitchFamily="34" charset="0"/>
                <a:ea typeface="Calibri" pitchFamily="34" charset="-122"/>
                <a:cs typeface="Calibri" pitchFamily="34" charset="-120"/>
              </a:rPr>
              <a:t>W20</a:t>
            </a:r>
            <a:endParaRPr lang="en-US" sz="1400" dirty="0"/>
          </a:p>
        </p:txBody>
      </p:sp>
      <p:sp>
        <p:nvSpPr>
          <p:cNvPr id="40" name="Text 38"/>
          <p:cNvSpPr txBox="1"/>
          <p:nvPr/>
        </p:nvSpPr>
        <p:spPr>
          <a:xfrm>
            <a:off x="3803904" y="5349240"/>
            <a:ext cx="1508760" cy="640080"/>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Pilot go / no-go</a:t>
            </a:r>
            <a:endParaRPr lang="en-US" sz="1200" dirty="0"/>
          </a:p>
        </p:txBody>
      </p:sp>
      <p:sp>
        <p:nvSpPr>
          <p:cNvPr id="41" name="Shape 39"/>
          <p:cNvSpPr/>
          <p:nvPr/>
        </p:nvSpPr>
        <p:spPr>
          <a:xfrm>
            <a:off x="5431536" y="4846320"/>
            <a:ext cx="384048" cy="384048"/>
          </a:xfrm>
          <a:prstGeom prst="diamond">
            <a:avLst/>
          </a:prstGeom>
          <a:solidFill>
            <a:srgbClr val="E8A33D"/>
          </a:solidFill>
          <a:ln w="12700">
            <a:solidFill>
              <a:srgbClr val="E8A33D"/>
            </a:solidFill>
            <a:prstDash val="solid"/>
          </a:ln>
        </p:spPr>
      </p:sp>
      <p:sp>
        <p:nvSpPr>
          <p:cNvPr id="42" name="Text 40"/>
          <p:cNvSpPr txBox="1"/>
          <p:nvPr/>
        </p:nvSpPr>
        <p:spPr>
          <a:xfrm>
            <a:off x="5907024" y="4864608"/>
            <a:ext cx="1005840" cy="347472"/>
          </a:xfrm>
          <a:prstGeom prst="rect">
            <a:avLst/>
          </a:prstGeom>
          <a:noFill/>
          <a:ln/>
        </p:spPr>
        <p:txBody>
          <a:bodyPr wrap="square" lIns="0" tIns="0" rIns="0" bIns="0" rtlCol="0" anchor="ctr"/>
          <a:lstStyle/>
          <a:p>
            <a:pPr indent="0" marL="0">
              <a:buNone/>
            </a:pPr>
            <a:r>
              <a:rPr lang="en-US" sz="1400" b="1" dirty="0">
                <a:solidFill>
                  <a:srgbClr val="0E2A3B"/>
                </a:solidFill>
                <a:latin typeface="Calibri" pitchFamily="34" charset="0"/>
                <a:ea typeface="Calibri" pitchFamily="34" charset="-122"/>
                <a:cs typeface="Calibri" pitchFamily="34" charset="-120"/>
              </a:rPr>
              <a:t>W32</a:t>
            </a:r>
            <a:endParaRPr lang="en-US" sz="1400" dirty="0"/>
          </a:p>
        </p:txBody>
      </p:sp>
      <p:sp>
        <p:nvSpPr>
          <p:cNvPr id="43" name="Text 41"/>
          <p:cNvSpPr txBox="1"/>
          <p:nvPr/>
        </p:nvSpPr>
        <p:spPr>
          <a:xfrm>
            <a:off x="5431536" y="5349240"/>
            <a:ext cx="1508760" cy="640080"/>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Division rollout accepted</a:t>
            </a:r>
            <a:endParaRPr lang="en-US" sz="1200" dirty="0"/>
          </a:p>
        </p:txBody>
      </p:sp>
      <p:sp>
        <p:nvSpPr>
          <p:cNvPr id="44" name="Shape 42"/>
          <p:cNvSpPr/>
          <p:nvPr/>
        </p:nvSpPr>
        <p:spPr>
          <a:xfrm>
            <a:off x="7059168" y="4846320"/>
            <a:ext cx="384048" cy="384048"/>
          </a:xfrm>
          <a:prstGeom prst="diamond">
            <a:avLst/>
          </a:prstGeom>
          <a:solidFill>
            <a:srgbClr val="E8A33D"/>
          </a:solidFill>
          <a:ln w="12700">
            <a:solidFill>
              <a:srgbClr val="E8A33D"/>
            </a:solidFill>
            <a:prstDash val="solid"/>
          </a:ln>
        </p:spPr>
      </p:sp>
      <p:sp>
        <p:nvSpPr>
          <p:cNvPr id="45" name="Text 43"/>
          <p:cNvSpPr txBox="1"/>
          <p:nvPr/>
        </p:nvSpPr>
        <p:spPr>
          <a:xfrm>
            <a:off x="7534656" y="4864608"/>
            <a:ext cx="1005840" cy="347472"/>
          </a:xfrm>
          <a:prstGeom prst="rect">
            <a:avLst/>
          </a:prstGeom>
          <a:noFill/>
          <a:ln/>
        </p:spPr>
        <p:txBody>
          <a:bodyPr wrap="square" lIns="0" tIns="0" rIns="0" bIns="0" rtlCol="0" anchor="ctr"/>
          <a:lstStyle/>
          <a:p>
            <a:pPr indent="0" marL="0">
              <a:buNone/>
            </a:pPr>
            <a:r>
              <a:rPr lang="en-US" sz="1400" b="1" dirty="0">
                <a:solidFill>
                  <a:srgbClr val="0E2A3B"/>
                </a:solidFill>
                <a:latin typeface="Calibri" pitchFamily="34" charset="0"/>
                <a:ea typeface="Calibri" pitchFamily="34" charset="-122"/>
                <a:cs typeface="Calibri" pitchFamily="34" charset="-120"/>
              </a:rPr>
              <a:t>W52</a:t>
            </a:r>
            <a:endParaRPr lang="en-US" sz="1400" dirty="0"/>
          </a:p>
        </p:txBody>
      </p:sp>
      <p:sp>
        <p:nvSpPr>
          <p:cNvPr id="46" name="Text 44"/>
          <p:cNvSpPr txBox="1"/>
          <p:nvPr/>
        </p:nvSpPr>
        <p:spPr>
          <a:xfrm>
            <a:off x="7059168" y="5349240"/>
            <a:ext cx="1508760" cy="640080"/>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Handover to BAU</a:t>
            </a:r>
            <a:endParaRPr lang="en-US" sz="1200" dirty="0"/>
          </a:p>
        </p:txBody>
      </p:sp>
      <p:sp>
        <p:nvSpPr>
          <p:cNvPr id="47" name="Text 45"/>
          <p:cNvSpPr txBox="1"/>
          <p:nvPr/>
        </p:nvSpPr>
        <p:spPr>
          <a:xfrm>
            <a:off x="548640" y="6400800"/>
            <a:ext cx="8046720" cy="274320"/>
          </a:xfrm>
          <a:prstGeom prst="rect">
            <a:avLst/>
          </a:prstGeom>
          <a:noFill/>
          <a:ln/>
        </p:spPr>
        <p:txBody>
          <a:bodyPr wrap="square" lIns="0" tIns="0" rIns="0" bIns="0" rtlCol="0" anchor="ctr"/>
          <a:lstStyle/>
          <a:p>
            <a:pPr indent="0" marL="0">
              <a:buNone/>
            </a:pPr>
            <a:r>
              <a:rPr lang="en-US" sz="900" dirty="0">
                <a:solidFill>
                  <a:srgbClr val="5B6B75"/>
                </a:solidFill>
                <a:latin typeface="Calibri" pitchFamily="34" charset="0"/>
                <a:ea typeface="Calibri" pitchFamily="34" charset="-122"/>
                <a:cs typeface="Calibri" pitchFamily="34" charset="-120"/>
              </a:rPr>
              <a:t>Timings are assumptions; the steering committee resets the schedule at the week 4 gate if volumes or capacity differ.</a:t>
            </a:r>
            <a:endParaRPr lang="en-US" sz="900" dirty="0"/>
          </a:p>
        </p:txBody>
      </p:sp>
    </p:spTree>
  </p:cSld>
  <p:clrMapOvr>
    <a:masterClrMapping/>
  </p:clrMapOvr>
  <p:transition spd="med" advTm="20000">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TEAM AND CAPABILITIES</a:t>
            </a:r>
            <a:endParaRPr lang="en-US" sz="1200" dirty="0"/>
          </a:p>
        </p:txBody>
      </p:sp>
      <p:sp>
        <p:nvSpPr>
          <p:cNvPr id="3" name="Text 1"/>
          <p:cNvSpPr txBox="1"/>
          <p:nvPr/>
        </p:nvSpPr>
        <p:spPr>
          <a:xfrm>
            <a:off x="10241280" y="320040"/>
            <a:ext cx="1371600" cy="274320"/>
          </a:xfrm>
          <a:prstGeom prst="rect">
            <a:avLst/>
          </a:prstGeom>
          <a:noFill/>
          <a:ln/>
        </p:spPr>
        <p:txBody>
          <a:bodyPr wrap="square" lIns="0" tIns="0" rIns="0" bIns="0" rtlCol="0" anchor="ctr"/>
          <a:lstStyle/>
          <a:p>
            <a:pPr algn="r" indent="0" marL="0">
              <a:buNone/>
            </a:pPr>
            <a:r>
              <a:rPr lang="en-US" sz="1100" dirty="0">
                <a:solidFill>
                  <a:srgbClr val="5B6B75"/>
                </a:solidFill>
                <a:latin typeface="Calibri" pitchFamily="34" charset="0"/>
                <a:ea typeface="Calibri" pitchFamily="34" charset="-122"/>
                <a:cs typeface="Calibri" pitchFamily="34" charset="-120"/>
              </a:rPr>
              <a:t>13 / 20</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0E2A3B"/>
                </a:solidFill>
                <a:latin typeface="Cambria" pitchFamily="34" charset="0"/>
                <a:ea typeface="Cambria" pitchFamily="34" charset="-122"/>
                <a:cs typeface="Cambria" pitchFamily="34" charset="-120"/>
              </a:rPr>
              <a:t>A small joint team with clear ownership</a:t>
            </a:r>
            <a:endParaRPr lang="en-US" sz="3000" dirty="0"/>
          </a:p>
        </p:txBody>
      </p:sp>
      <p:sp>
        <p:nvSpPr>
          <p:cNvPr id="5" name="Shape 3"/>
          <p:cNvSpPr/>
          <p:nvPr/>
        </p:nvSpPr>
        <p:spPr>
          <a:xfrm>
            <a:off x="548640" y="1554480"/>
            <a:ext cx="3108960" cy="4526280"/>
          </a:xfrm>
          <a:prstGeom prst="roundRect">
            <a:avLst>
              <a:gd name="adj" fmla="val 2353"/>
            </a:avLst>
          </a:prstGeom>
          <a:solidFill>
            <a:srgbClr val="0E2A3B"/>
          </a:solidFill>
          <a:ln w="9525">
            <a:solidFill>
              <a:srgbClr val="0E2A3B"/>
            </a:solidFill>
            <a:prstDash val="solid"/>
          </a:ln>
        </p:spPr>
      </p:sp>
      <p:sp>
        <p:nvSpPr>
          <p:cNvPr id="6" name="Shape 4"/>
          <p:cNvSpPr/>
          <p:nvPr/>
        </p:nvSpPr>
        <p:spPr>
          <a:xfrm>
            <a:off x="822960" y="1828800"/>
            <a:ext cx="914400" cy="914400"/>
          </a:xfrm>
          <a:prstGeom prst="ellipse">
            <a:avLst/>
          </a:prstGeom>
          <a:solidFill>
            <a:srgbClr val="E8A33D"/>
          </a:solidFill>
          <a:ln w="12700">
            <a:solidFill>
              <a:srgbClr val="E8A33D"/>
            </a:solidFill>
            <a:prstDash val="solid"/>
          </a:ln>
        </p:spPr>
      </p:sp>
      <p:pic>
        <p:nvPicPr>
          <p:cNvPr id="7" name="Image 0" descr="preencoded.png">    </p:cNvPr>
          <p:cNvPicPr>
            <a:picLocks noChangeAspect="1"/>
          </p:cNvPicPr>
          <p:nvPr/>
        </p:nvPicPr>
        <p:blipFill>
          <a:blip r:embed="rId1"/>
          <a:stretch>
            <a:fillRect/>
          </a:stretch>
        </p:blipFill>
        <p:spPr>
          <a:xfrm>
            <a:off x="1078992" y="2084832"/>
            <a:ext cx="402336" cy="402336"/>
          </a:xfrm>
          <a:prstGeom prst="rect">
            <a:avLst/>
          </a:prstGeom>
        </p:spPr>
      </p:pic>
      <p:sp>
        <p:nvSpPr>
          <p:cNvPr id="8" name="Text 5"/>
          <p:cNvSpPr txBox="1"/>
          <p:nvPr/>
        </p:nvSpPr>
        <p:spPr>
          <a:xfrm>
            <a:off x="822960" y="2880360"/>
            <a:ext cx="2651760" cy="41148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Xuan Zeng</a:t>
            </a:r>
            <a:endParaRPr lang="en-US" sz="2200" dirty="0"/>
          </a:p>
        </p:txBody>
      </p:sp>
      <p:sp>
        <p:nvSpPr>
          <p:cNvPr id="9" name="Text 6"/>
          <p:cNvSpPr txBox="1"/>
          <p:nvPr/>
        </p:nvSpPr>
        <p:spPr>
          <a:xfrm>
            <a:off x="822960" y="3291840"/>
            <a:ext cx="2651760" cy="320040"/>
          </a:xfrm>
          <a:prstGeom prst="rect">
            <a:avLst/>
          </a:prstGeom>
          <a:noFill/>
          <a:ln/>
        </p:spPr>
        <p:txBody>
          <a:bodyPr wrap="square" lIns="0" tIns="0" rIns="0" bIns="0" rtlCol="0" anchor="t"/>
          <a:lstStyle/>
          <a:p>
            <a:pPr indent="0" marL="0">
              <a:buNone/>
            </a:pPr>
            <a:r>
              <a:rPr lang="en-US" sz="1400" b="1" dirty="0">
                <a:solidFill>
                  <a:srgbClr val="E8A33D"/>
                </a:solidFill>
                <a:latin typeface="Calibri" pitchFamily="34" charset="0"/>
                <a:ea typeface="Calibri" pitchFamily="34" charset="-122"/>
                <a:cs typeface="Calibri" pitchFamily="34" charset="-120"/>
              </a:rPr>
              <a:t>Project lead</a:t>
            </a:r>
            <a:endParaRPr lang="en-US" sz="1400" dirty="0"/>
          </a:p>
        </p:txBody>
      </p:sp>
      <p:sp>
        <p:nvSpPr>
          <p:cNvPr id="10" name="Text 7"/>
          <p:cNvSpPr txBox="1"/>
          <p:nvPr/>
        </p:nvSpPr>
        <p:spPr>
          <a:xfrm>
            <a:off x="822960" y="3749040"/>
            <a:ext cx="2606040" cy="2194560"/>
          </a:xfrm>
          <a:prstGeom prst="rect">
            <a:avLst/>
          </a:prstGeom>
          <a:noFill/>
          <a:ln/>
        </p:spPr>
        <p:txBody>
          <a:bodyPr wrap="square" lIns="0" tIns="0" rIns="0" bIns="0" rtlCol="0" anchor="t"/>
          <a:lstStyle/>
          <a:p>
            <a:pPr indent="0" marL="0">
              <a:buNone/>
            </a:pPr>
            <a:r>
              <a:rPr lang="en-US" sz="1300" dirty="0">
                <a:solidFill>
                  <a:srgbClr val="DDE7EB"/>
                </a:solidFill>
                <a:latin typeface="Calibri" pitchFamily="34" charset="0"/>
                <a:ea typeface="Calibri" pitchFamily="34" charset="-122"/>
                <a:cs typeface="Calibri" pitchFamily="34" charset="-120"/>
              </a:rPr>
              <a:t>Completed the A1-D1 diagnosis and A1-D2 analysis, including BPMN models and cost estimates. Leads analysis, process design and phase gates.</a:t>
            </a:r>
            <a:endParaRPr lang="en-US" sz="1300" dirty="0"/>
          </a:p>
        </p:txBody>
      </p:sp>
      <p:sp>
        <p:nvSpPr>
          <p:cNvPr id="11" name="Shape 8"/>
          <p:cNvSpPr/>
          <p:nvPr/>
        </p:nvSpPr>
        <p:spPr>
          <a:xfrm>
            <a:off x="3977640" y="1554480"/>
            <a:ext cx="2377440" cy="1234440"/>
          </a:xfrm>
          <a:prstGeom prst="roundRect">
            <a:avLst>
              <a:gd name="adj" fmla="val 5926"/>
            </a:avLst>
          </a:prstGeom>
          <a:solidFill>
            <a:srgbClr val="F3F6F7"/>
          </a:solidFill>
          <a:ln w="9525">
            <a:solidFill>
              <a:srgbClr val="F3F6F7"/>
            </a:solidFill>
            <a:prstDash val="solid"/>
          </a:ln>
        </p:spPr>
      </p:sp>
      <p:sp>
        <p:nvSpPr>
          <p:cNvPr id="12" name="Text 9"/>
          <p:cNvSpPr txBox="1"/>
          <p:nvPr/>
        </p:nvSpPr>
        <p:spPr>
          <a:xfrm>
            <a:off x="4114800" y="1664208"/>
            <a:ext cx="2103120" cy="457200"/>
          </a:xfrm>
          <a:prstGeom prst="rect">
            <a:avLst/>
          </a:prstGeom>
          <a:noFill/>
          <a:ln/>
        </p:spPr>
        <p:txBody>
          <a:bodyPr wrap="square" lIns="0" tIns="0" rIns="0" bIns="0" rtlCol="0" anchor="t"/>
          <a:lstStyle/>
          <a:p>
            <a:pPr indent="0" marL="0">
              <a:buNone/>
            </a:pPr>
            <a:r>
              <a:rPr lang="en-US" sz="1350" b="1" dirty="0">
                <a:solidFill>
                  <a:srgbClr val="1F6F78"/>
                </a:solidFill>
                <a:latin typeface="Calibri" pitchFamily="34" charset="0"/>
                <a:ea typeface="Calibri" pitchFamily="34" charset="-122"/>
                <a:cs typeface="Calibri" pitchFamily="34" charset="-120"/>
              </a:rPr>
              <a:t>Executive Sponsor</a:t>
            </a:r>
            <a:endParaRPr lang="en-US" sz="1350" dirty="0"/>
          </a:p>
        </p:txBody>
      </p:sp>
      <p:sp>
        <p:nvSpPr>
          <p:cNvPr id="13" name="Text 10"/>
          <p:cNvSpPr txBox="1"/>
          <p:nvPr/>
        </p:nvSpPr>
        <p:spPr>
          <a:xfrm>
            <a:off x="4114800" y="2121408"/>
            <a:ext cx="2103120" cy="594360"/>
          </a:xfrm>
          <a:prstGeom prst="rect">
            <a:avLst/>
          </a:prstGeom>
          <a:noFill/>
          <a:ln/>
        </p:spPr>
        <p:txBody>
          <a:bodyPr wrap="square" lIns="0" tIns="0" rIns="0" bIns="0" rtlCol="0" anchor="t"/>
          <a:lstStyle/>
          <a:p>
            <a:pPr indent="0" marL="0">
              <a:buNone/>
            </a:pPr>
            <a:r>
              <a:rPr lang="en-US" sz="1200" dirty="0">
                <a:solidFill>
                  <a:srgbClr val="0E2A3B"/>
                </a:solidFill>
                <a:latin typeface="Calibri" pitchFamily="34" charset="0"/>
                <a:ea typeface="Calibri" pitchFamily="34" charset="-122"/>
                <a:cs typeface="Calibri" pitchFamily="34" charset="-120"/>
              </a:rPr>
              <a:t>Cross-divisional authority, links to SPK 30</a:t>
            </a:r>
            <a:endParaRPr lang="en-US" sz="1200" dirty="0"/>
          </a:p>
        </p:txBody>
      </p:sp>
      <p:sp>
        <p:nvSpPr>
          <p:cNvPr id="14" name="Shape 11"/>
          <p:cNvSpPr/>
          <p:nvPr/>
        </p:nvSpPr>
        <p:spPr>
          <a:xfrm>
            <a:off x="6537960" y="1554480"/>
            <a:ext cx="2377440" cy="1234440"/>
          </a:xfrm>
          <a:prstGeom prst="roundRect">
            <a:avLst>
              <a:gd name="adj" fmla="val 5926"/>
            </a:avLst>
          </a:prstGeom>
          <a:solidFill>
            <a:srgbClr val="E6F1F2"/>
          </a:solidFill>
          <a:ln w="9525">
            <a:solidFill>
              <a:srgbClr val="E6F1F2"/>
            </a:solidFill>
            <a:prstDash val="solid"/>
          </a:ln>
        </p:spPr>
      </p:sp>
      <p:sp>
        <p:nvSpPr>
          <p:cNvPr id="15" name="Text 12"/>
          <p:cNvSpPr txBox="1"/>
          <p:nvPr/>
        </p:nvSpPr>
        <p:spPr>
          <a:xfrm>
            <a:off x="6675120" y="1664208"/>
            <a:ext cx="2103120" cy="457200"/>
          </a:xfrm>
          <a:prstGeom prst="rect">
            <a:avLst/>
          </a:prstGeom>
          <a:noFill/>
          <a:ln/>
        </p:spPr>
        <p:txBody>
          <a:bodyPr wrap="square" lIns="0" tIns="0" rIns="0" bIns="0" rtlCol="0" anchor="t"/>
          <a:lstStyle/>
          <a:p>
            <a:pPr indent="0" marL="0">
              <a:buNone/>
            </a:pPr>
            <a:r>
              <a:rPr lang="en-US" sz="1350" b="1" dirty="0">
                <a:solidFill>
                  <a:srgbClr val="1F6F78"/>
                </a:solidFill>
                <a:latin typeface="Calibri" pitchFamily="34" charset="0"/>
                <a:ea typeface="Calibri" pitchFamily="34" charset="-122"/>
                <a:cs typeface="Calibri" pitchFamily="34" charset="-120"/>
              </a:rPr>
              <a:t>Process Owner</a:t>
            </a:r>
            <a:endParaRPr lang="en-US" sz="1350" dirty="0"/>
          </a:p>
        </p:txBody>
      </p:sp>
      <p:sp>
        <p:nvSpPr>
          <p:cNvPr id="16" name="Text 13"/>
          <p:cNvSpPr txBox="1"/>
          <p:nvPr/>
        </p:nvSpPr>
        <p:spPr>
          <a:xfrm>
            <a:off x="6675120" y="2121408"/>
            <a:ext cx="2103120" cy="594360"/>
          </a:xfrm>
          <a:prstGeom prst="rect">
            <a:avLst/>
          </a:prstGeom>
          <a:noFill/>
          <a:ln/>
        </p:spPr>
        <p:txBody>
          <a:bodyPr wrap="square" lIns="0" tIns="0" rIns="0" bIns="0" rtlCol="0" anchor="t"/>
          <a:lstStyle/>
          <a:p>
            <a:pPr indent="0" marL="0">
              <a:buNone/>
            </a:pPr>
            <a:r>
              <a:rPr lang="en-US" sz="1200" dirty="0">
                <a:solidFill>
                  <a:srgbClr val="0E2A3B"/>
                </a:solidFill>
                <a:latin typeface="Calibri" pitchFamily="34" charset="0"/>
                <a:ea typeface="Calibri" pitchFamily="34" charset="-122"/>
                <a:cs typeface="Calibri" pitchFamily="34" charset="-120"/>
              </a:rPr>
              <a:t>People Services, owns the standard</a:t>
            </a:r>
            <a:endParaRPr lang="en-US" sz="1200" dirty="0"/>
          </a:p>
        </p:txBody>
      </p:sp>
      <p:sp>
        <p:nvSpPr>
          <p:cNvPr id="17" name="Shape 14"/>
          <p:cNvSpPr/>
          <p:nvPr/>
        </p:nvSpPr>
        <p:spPr>
          <a:xfrm>
            <a:off x="9098280" y="1554480"/>
            <a:ext cx="2377440" cy="1234440"/>
          </a:xfrm>
          <a:prstGeom prst="roundRect">
            <a:avLst>
              <a:gd name="adj" fmla="val 5926"/>
            </a:avLst>
          </a:prstGeom>
          <a:solidFill>
            <a:srgbClr val="F3F6F7"/>
          </a:solidFill>
          <a:ln w="9525">
            <a:solidFill>
              <a:srgbClr val="F3F6F7"/>
            </a:solidFill>
            <a:prstDash val="solid"/>
          </a:ln>
        </p:spPr>
      </p:sp>
      <p:sp>
        <p:nvSpPr>
          <p:cNvPr id="18" name="Text 15"/>
          <p:cNvSpPr txBox="1"/>
          <p:nvPr/>
        </p:nvSpPr>
        <p:spPr>
          <a:xfrm>
            <a:off x="9235440" y="1664208"/>
            <a:ext cx="2103120" cy="457200"/>
          </a:xfrm>
          <a:prstGeom prst="rect">
            <a:avLst/>
          </a:prstGeom>
          <a:noFill/>
          <a:ln/>
        </p:spPr>
        <p:txBody>
          <a:bodyPr wrap="square" lIns="0" tIns="0" rIns="0" bIns="0" rtlCol="0" anchor="t"/>
          <a:lstStyle/>
          <a:p>
            <a:pPr indent="0" marL="0">
              <a:buNone/>
            </a:pPr>
            <a:r>
              <a:rPr lang="en-US" sz="1350" b="1" dirty="0">
                <a:solidFill>
                  <a:srgbClr val="1F6F78"/>
                </a:solidFill>
                <a:latin typeface="Calibri" pitchFamily="34" charset="0"/>
                <a:ea typeface="Calibri" pitchFamily="34" charset="-122"/>
                <a:cs typeface="Calibri" pitchFamily="34" charset="-120"/>
              </a:rPr>
              <a:t>Finance Benefits Lead</a:t>
            </a:r>
            <a:endParaRPr lang="en-US" sz="1350" dirty="0"/>
          </a:p>
        </p:txBody>
      </p:sp>
      <p:sp>
        <p:nvSpPr>
          <p:cNvPr id="19" name="Text 16"/>
          <p:cNvSpPr txBox="1"/>
          <p:nvPr/>
        </p:nvSpPr>
        <p:spPr>
          <a:xfrm>
            <a:off x="9235440" y="2121408"/>
            <a:ext cx="2103120" cy="594360"/>
          </a:xfrm>
          <a:prstGeom prst="rect">
            <a:avLst/>
          </a:prstGeom>
          <a:noFill/>
          <a:ln/>
        </p:spPr>
        <p:txBody>
          <a:bodyPr wrap="square" lIns="0" tIns="0" rIns="0" bIns="0" rtlCol="0" anchor="t"/>
          <a:lstStyle/>
          <a:p>
            <a:pPr indent="0" marL="0">
              <a:buNone/>
            </a:pPr>
            <a:r>
              <a:rPr lang="en-US" sz="1200" dirty="0">
                <a:solidFill>
                  <a:srgbClr val="0E2A3B"/>
                </a:solidFill>
                <a:latin typeface="Calibri" pitchFamily="34" charset="0"/>
                <a:ea typeface="Calibri" pitchFamily="34" charset="-122"/>
                <a:cs typeface="Calibri" pitchFamily="34" charset="-120"/>
              </a:rPr>
              <a:t>Validates baseline and benefits</a:t>
            </a:r>
            <a:endParaRPr lang="en-US" sz="1200" dirty="0"/>
          </a:p>
        </p:txBody>
      </p:sp>
      <p:sp>
        <p:nvSpPr>
          <p:cNvPr id="20" name="Shape 17"/>
          <p:cNvSpPr/>
          <p:nvPr/>
        </p:nvSpPr>
        <p:spPr>
          <a:xfrm>
            <a:off x="3977640" y="2926080"/>
            <a:ext cx="2377440" cy="1234440"/>
          </a:xfrm>
          <a:prstGeom prst="roundRect">
            <a:avLst>
              <a:gd name="adj" fmla="val 5926"/>
            </a:avLst>
          </a:prstGeom>
          <a:solidFill>
            <a:srgbClr val="E6F1F2"/>
          </a:solidFill>
          <a:ln w="9525">
            <a:solidFill>
              <a:srgbClr val="E6F1F2"/>
            </a:solidFill>
            <a:prstDash val="solid"/>
          </a:ln>
        </p:spPr>
      </p:sp>
      <p:sp>
        <p:nvSpPr>
          <p:cNvPr id="21" name="Text 18"/>
          <p:cNvSpPr txBox="1"/>
          <p:nvPr/>
        </p:nvSpPr>
        <p:spPr>
          <a:xfrm>
            <a:off x="4114800" y="3035808"/>
            <a:ext cx="2103120" cy="457200"/>
          </a:xfrm>
          <a:prstGeom prst="rect">
            <a:avLst/>
          </a:prstGeom>
          <a:noFill/>
          <a:ln/>
        </p:spPr>
        <p:txBody>
          <a:bodyPr wrap="square" lIns="0" tIns="0" rIns="0" bIns="0" rtlCol="0" anchor="t"/>
          <a:lstStyle/>
          <a:p>
            <a:pPr indent="0" marL="0">
              <a:buNone/>
            </a:pPr>
            <a:r>
              <a:rPr lang="en-US" sz="1350" b="1" dirty="0">
                <a:solidFill>
                  <a:srgbClr val="1F6F78"/>
                </a:solidFill>
                <a:latin typeface="Calibri" pitchFamily="34" charset="0"/>
                <a:ea typeface="Calibri" pitchFamily="34" charset="-122"/>
                <a:cs typeface="Calibri" pitchFamily="34" charset="-120"/>
              </a:rPr>
              <a:t>HRIS and Workflow Analyst</a:t>
            </a:r>
            <a:endParaRPr lang="en-US" sz="1350" dirty="0"/>
          </a:p>
        </p:txBody>
      </p:sp>
      <p:sp>
        <p:nvSpPr>
          <p:cNvPr id="22" name="Text 19"/>
          <p:cNvSpPr txBox="1"/>
          <p:nvPr/>
        </p:nvSpPr>
        <p:spPr>
          <a:xfrm>
            <a:off x="4114800" y="3493008"/>
            <a:ext cx="2103120" cy="594360"/>
          </a:xfrm>
          <a:prstGeom prst="rect">
            <a:avLst/>
          </a:prstGeom>
          <a:noFill/>
          <a:ln/>
        </p:spPr>
        <p:txBody>
          <a:bodyPr wrap="square" lIns="0" tIns="0" rIns="0" bIns="0" rtlCol="0" anchor="t"/>
          <a:lstStyle/>
          <a:p>
            <a:pPr indent="0" marL="0">
              <a:buNone/>
            </a:pPr>
            <a:r>
              <a:rPr lang="en-US" sz="1200" dirty="0">
                <a:solidFill>
                  <a:srgbClr val="0E2A3B"/>
                </a:solidFill>
                <a:latin typeface="Calibri" pitchFamily="34" charset="0"/>
                <a:ea typeface="Calibri" pitchFamily="34" charset="-122"/>
                <a:cs typeface="Calibri" pitchFamily="34" charset="-120"/>
              </a:rPr>
              <a:t>Configures fields and dashboards</a:t>
            </a:r>
            <a:endParaRPr lang="en-US" sz="1200" dirty="0"/>
          </a:p>
        </p:txBody>
      </p:sp>
      <p:sp>
        <p:nvSpPr>
          <p:cNvPr id="23" name="Shape 20"/>
          <p:cNvSpPr/>
          <p:nvPr/>
        </p:nvSpPr>
        <p:spPr>
          <a:xfrm>
            <a:off x="6537960" y="2926080"/>
            <a:ext cx="2377440" cy="1234440"/>
          </a:xfrm>
          <a:prstGeom prst="roundRect">
            <a:avLst>
              <a:gd name="adj" fmla="val 5926"/>
            </a:avLst>
          </a:prstGeom>
          <a:solidFill>
            <a:srgbClr val="F3F6F7"/>
          </a:solidFill>
          <a:ln w="9525">
            <a:solidFill>
              <a:srgbClr val="F3F6F7"/>
            </a:solidFill>
            <a:prstDash val="solid"/>
          </a:ln>
        </p:spPr>
      </p:sp>
      <p:sp>
        <p:nvSpPr>
          <p:cNvPr id="24" name="Text 21"/>
          <p:cNvSpPr txBox="1"/>
          <p:nvPr/>
        </p:nvSpPr>
        <p:spPr>
          <a:xfrm>
            <a:off x="6675120" y="3035808"/>
            <a:ext cx="2103120" cy="457200"/>
          </a:xfrm>
          <a:prstGeom prst="rect">
            <a:avLst/>
          </a:prstGeom>
          <a:noFill/>
          <a:ln/>
        </p:spPr>
        <p:txBody>
          <a:bodyPr wrap="square" lIns="0" tIns="0" rIns="0" bIns="0" rtlCol="0" anchor="t"/>
          <a:lstStyle/>
          <a:p>
            <a:pPr indent="0" marL="0">
              <a:buNone/>
            </a:pPr>
            <a:r>
              <a:rPr lang="en-US" sz="1350" b="1" dirty="0">
                <a:solidFill>
                  <a:srgbClr val="1F6F78"/>
                </a:solidFill>
                <a:latin typeface="Calibri" pitchFamily="34" charset="0"/>
                <a:ea typeface="Calibri" pitchFamily="34" charset="-122"/>
                <a:cs typeface="Calibri" pitchFamily="34" charset="-120"/>
              </a:rPr>
              <a:t>Security and Privacy Adviser</a:t>
            </a:r>
            <a:endParaRPr lang="en-US" sz="1350" dirty="0"/>
          </a:p>
        </p:txBody>
      </p:sp>
      <p:sp>
        <p:nvSpPr>
          <p:cNvPr id="25" name="Text 22"/>
          <p:cNvSpPr txBox="1"/>
          <p:nvPr/>
        </p:nvSpPr>
        <p:spPr>
          <a:xfrm>
            <a:off x="6675120" y="3493008"/>
            <a:ext cx="2103120" cy="594360"/>
          </a:xfrm>
          <a:prstGeom prst="rect">
            <a:avLst/>
          </a:prstGeom>
          <a:noFill/>
          <a:ln/>
        </p:spPr>
        <p:txBody>
          <a:bodyPr wrap="square" lIns="0" tIns="0" rIns="0" bIns="0" rtlCol="0" anchor="t"/>
          <a:lstStyle/>
          <a:p>
            <a:pPr indent="0" marL="0">
              <a:buNone/>
            </a:pPr>
            <a:r>
              <a:rPr lang="en-US" sz="1200" dirty="0">
                <a:solidFill>
                  <a:srgbClr val="0E2A3B"/>
                </a:solidFill>
                <a:latin typeface="Calibri" pitchFamily="34" charset="0"/>
                <a:ea typeface="Calibri" pitchFamily="34" charset="-122"/>
                <a:cs typeface="Calibri" pitchFamily="34" charset="-120"/>
              </a:rPr>
              <a:t>Protects offboarding and data</a:t>
            </a:r>
            <a:endParaRPr lang="en-US" sz="1200" dirty="0"/>
          </a:p>
        </p:txBody>
      </p:sp>
      <p:sp>
        <p:nvSpPr>
          <p:cNvPr id="26" name="Shape 23"/>
          <p:cNvSpPr/>
          <p:nvPr/>
        </p:nvSpPr>
        <p:spPr>
          <a:xfrm>
            <a:off x="9098280" y="2926080"/>
            <a:ext cx="2377440" cy="1234440"/>
          </a:xfrm>
          <a:prstGeom prst="roundRect">
            <a:avLst>
              <a:gd name="adj" fmla="val 5926"/>
            </a:avLst>
          </a:prstGeom>
          <a:solidFill>
            <a:srgbClr val="E6F1F2"/>
          </a:solidFill>
          <a:ln w="9525">
            <a:solidFill>
              <a:srgbClr val="E6F1F2"/>
            </a:solidFill>
            <a:prstDash val="solid"/>
          </a:ln>
        </p:spPr>
      </p:sp>
      <p:sp>
        <p:nvSpPr>
          <p:cNvPr id="27" name="Text 24"/>
          <p:cNvSpPr txBox="1"/>
          <p:nvPr/>
        </p:nvSpPr>
        <p:spPr>
          <a:xfrm>
            <a:off x="9235440" y="3035808"/>
            <a:ext cx="2103120" cy="457200"/>
          </a:xfrm>
          <a:prstGeom prst="rect">
            <a:avLst/>
          </a:prstGeom>
          <a:noFill/>
          <a:ln/>
        </p:spPr>
        <p:txBody>
          <a:bodyPr wrap="square" lIns="0" tIns="0" rIns="0" bIns="0" rtlCol="0" anchor="t"/>
          <a:lstStyle/>
          <a:p>
            <a:pPr indent="0" marL="0">
              <a:buNone/>
            </a:pPr>
            <a:r>
              <a:rPr lang="en-US" sz="1350" b="1" dirty="0">
                <a:solidFill>
                  <a:srgbClr val="1F6F78"/>
                </a:solidFill>
                <a:latin typeface="Calibri" pitchFamily="34" charset="0"/>
                <a:ea typeface="Calibri" pitchFamily="34" charset="-122"/>
                <a:cs typeface="Calibri" pitchFamily="34" charset="-120"/>
              </a:rPr>
              <a:t>Divisional Change Leads</a:t>
            </a:r>
            <a:endParaRPr lang="en-US" sz="1350" dirty="0"/>
          </a:p>
        </p:txBody>
      </p:sp>
      <p:sp>
        <p:nvSpPr>
          <p:cNvPr id="28" name="Text 25"/>
          <p:cNvSpPr txBox="1"/>
          <p:nvPr/>
        </p:nvSpPr>
        <p:spPr>
          <a:xfrm>
            <a:off x="9235440" y="3493008"/>
            <a:ext cx="2103120" cy="594360"/>
          </a:xfrm>
          <a:prstGeom prst="rect">
            <a:avLst/>
          </a:prstGeom>
          <a:noFill/>
          <a:ln/>
        </p:spPr>
        <p:txBody>
          <a:bodyPr wrap="square" lIns="0" tIns="0" rIns="0" bIns="0" rtlCol="0" anchor="t"/>
          <a:lstStyle/>
          <a:p>
            <a:pPr indent="0" marL="0">
              <a:buNone/>
            </a:pPr>
            <a:r>
              <a:rPr lang="en-US" sz="1200" dirty="0">
                <a:solidFill>
                  <a:srgbClr val="0E2A3B"/>
                </a:solidFill>
                <a:latin typeface="Calibri" pitchFamily="34" charset="0"/>
                <a:ea typeface="Calibri" pitchFamily="34" charset="-122"/>
                <a:cs typeface="Calibri" pitchFamily="34" charset="-120"/>
              </a:rPr>
              <a:t>Connectivity and Digital Services</a:t>
            </a:r>
            <a:endParaRPr lang="en-US" sz="1200" dirty="0"/>
          </a:p>
        </p:txBody>
      </p:sp>
      <p:sp>
        <p:nvSpPr>
          <p:cNvPr id="29" name="Text 26"/>
          <p:cNvSpPr txBox="1"/>
          <p:nvPr/>
        </p:nvSpPr>
        <p:spPr>
          <a:xfrm>
            <a:off x="3977640" y="4572000"/>
            <a:ext cx="4754880" cy="548640"/>
          </a:xfrm>
          <a:prstGeom prst="rect">
            <a:avLst/>
          </a:prstGeom>
          <a:noFill/>
          <a:ln/>
        </p:spPr>
        <p:txBody>
          <a:bodyPr wrap="square" lIns="0" tIns="0" rIns="0" bIns="0" rtlCol="0" anchor="t"/>
          <a:lstStyle/>
          <a:p>
            <a:pPr indent="0" marL="0">
              <a:buNone/>
            </a:pPr>
            <a:r>
              <a:rPr lang="en-US" sz="1300" i="1" dirty="0">
                <a:solidFill>
                  <a:srgbClr val="5B6B75"/>
                </a:solidFill>
                <a:latin typeface="Calibri" pitchFamily="34" charset="0"/>
                <a:ea typeface="Calibri" pitchFamily="34" charset="-122"/>
                <a:cs typeface="Calibri" pitchFamily="34" charset="-120"/>
              </a:rPr>
              <a:t>Spark roles are nomination profiles, to be named before Phase 0 starts.</a:t>
            </a:r>
            <a:endParaRPr lang="en-US" sz="1300" dirty="0"/>
          </a:p>
        </p:txBody>
      </p:sp>
    </p:spTree>
  </p:cSld>
  <p:clrMapOvr>
    <a:masterClrMapping/>
  </p:clrMapOvr>
  <p:transition spd="med" advTm="20000">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CHANGE MANAGEMENT</a:t>
            </a:r>
            <a:endParaRPr lang="en-US" sz="1200" dirty="0"/>
          </a:p>
        </p:txBody>
      </p:sp>
      <p:sp>
        <p:nvSpPr>
          <p:cNvPr id="3" name="Text 1"/>
          <p:cNvSpPr txBox="1"/>
          <p:nvPr/>
        </p:nvSpPr>
        <p:spPr>
          <a:xfrm>
            <a:off x="10241280" y="320040"/>
            <a:ext cx="1371600" cy="274320"/>
          </a:xfrm>
          <a:prstGeom prst="rect">
            <a:avLst/>
          </a:prstGeom>
          <a:noFill/>
          <a:ln/>
        </p:spPr>
        <p:txBody>
          <a:bodyPr wrap="square" lIns="0" tIns="0" rIns="0" bIns="0" rtlCol="0" anchor="ctr"/>
          <a:lstStyle/>
          <a:p>
            <a:pPr algn="r" indent="0" marL="0">
              <a:buNone/>
            </a:pPr>
            <a:r>
              <a:rPr lang="en-US" sz="1100" dirty="0">
                <a:solidFill>
                  <a:srgbClr val="5B6B75"/>
                </a:solidFill>
                <a:latin typeface="Calibri" pitchFamily="34" charset="0"/>
                <a:ea typeface="Calibri" pitchFamily="34" charset="-122"/>
                <a:cs typeface="Calibri" pitchFamily="34" charset="-120"/>
              </a:rPr>
              <a:t>14 / 20</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0E2A3B"/>
                </a:solidFill>
                <a:latin typeface="Cambria" pitchFamily="34" charset="0"/>
                <a:ea typeface="Cambria" pitchFamily="34" charset="-122"/>
                <a:cs typeface="Cambria" pitchFamily="34" charset="-120"/>
              </a:rPr>
              <a:t>Phased change: learn in Connectivity, then extend</a:t>
            </a:r>
            <a:endParaRPr lang="en-US" sz="3000" dirty="0"/>
          </a:p>
        </p:txBody>
      </p:sp>
      <p:sp>
        <p:nvSpPr>
          <p:cNvPr id="5" name="Shape 3"/>
          <p:cNvSpPr/>
          <p:nvPr/>
        </p:nvSpPr>
        <p:spPr>
          <a:xfrm>
            <a:off x="548640" y="1554480"/>
            <a:ext cx="2057400" cy="2468880"/>
          </a:xfrm>
          <a:prstGeom prst="roundRect">
            <a:avLst>
              <a:gd name="adj" fmla="val 3556"/>
            </a:avLst>
          </a:prstGeom>
          <a:solidFill>
            <a:srgbClr val="F3F6F7"/>
          </a:solidFill>
          <a:ln w="9525">
            <a:solidFill>
              <a:srgbClr val="F3F6F7"/>
            </a:solidFill>
            <a:prstDash val="solid"/>
          </a:ln>
        </p:spPr>
      </p:sp>
      <p:sp>
        <p:nvSpPr>
          <p:cNvPr id="6" name="Shape 4"/>
          <p:cNvSpPr/>
          <p:nvPr/>
        </p:nvSpPr>
        <p:spPr>
          <a:xfrm>
            <a:off x="731520" y="1737360"/>
            <a:ext cx="502920" cy="502920"/>
          </a:xfrm>
          <a:prstGeom prst="ellipse">
            <a:avLst/>
          </a:prstGeom>
          <a:solidFill>
            <a:srgbClr val="9AA7AE"/>
          </a:solidFill>
          <a:ln w="12700">
            <a:solidFill>
              <a:srgbClr val="9AA7AE"/>
            </a:solidFill>
            <a:prstDash val="solid"/>
          </a:ln>
        </p:spPr>
      </p:sp>
      <p:pic>
        <p:nvPicPr>
          <p:cNvPr id="7" name="Image 0" descr="preencoded.png">    </p:cNvPr>
          <p:cNvPicPr>
            <a:picLocks noChangeAspect="1"/>
          </p:cNvPicPr>
          <p:nvPr/>
        </p:nvPicPr>
        <p:blipFill>
          <a:blip r:embed="rId1"/>
          <a:stretch>
            <a:fillRect/>
          </a:stretch>
        </p:blipFill>
        <p:spPr>
          <a:xfrm>
            <a:off x="872338" y="1878178"/>
            <a:ext cx="221285" cy="221285"/>
          </a:xfrm>
          <a:prstGeom prst="rect">
            <a:avLst/>
          </a:prstGeom>
        </p:spPr>
      </p:pic>
      <p:sp>
        <p:nvSpPr>
          <p:cNvPr id="8" name="Text 5"/>
          <p:cNvSpPr txBox="1"/>
          <p:nvPr/>
        </p:nvSpPr>
        <p:spPr>
          <a:xfrm>
            <a:off x="731520" y="2377440"/>
            <a:ext cx="1737360" cy="411480"/>
          </a:xfrm>
          <a:prstGeom prst="rect">
            <a:avLst/>
          </a:prstGeom>
          <a:noFill/>
          <a:ln/>
        </p:spPr>
        <p:txBody>
          <a:bodyPr wrap="square" lIns="0" tIns="0" rIns="0" bIns="0" rtlCol="0" anchor="t"/>
          <a:lstStyle/>
          <a:p>
            <a:pPr indent="0" marL="0">
              <a:buNone/>
            </a:pPr>
            <a:r>
              <a:rPr lang="en-US" sz="2000" b="1" dirty="0">
                <a:solidFill>
                  <a:srgbClr val="5B6B75"/>
                </a:solidFill>
                <a:latin typeface="Cambria" pitchFamily="34" charset="0"/>
                <a:ea typeface="Cambria" pitchFamily="34" charset="-122"/>
                <a:cs typeface="Cambria" pitchFamily="34" charset="-120"/>
              </a:rPr>
              <a:t>Big bang</a:t>
            </a:r>
            <a:endParaRPr lang="en-US" sz="2000" dirty="0"/>
          </a:p>
        </p:txBody>
      </p:sp>
      <p:sp>
        <p:nvSpPr>
          <p:cNvPr id="9" name="Text 6"/>
          <p:cNvSpPr txBox="1"/>
          <p:nvPr/>
        </p:nvSpPr>
        <p:spPr>
          <a:xfrm>
            <a:off x="731520" y="2834640"/>
            <a:ext cx="1737360" cy="1097280"/>
          </a:xfrm>
          <a:prstGeom prst="rect">
            <a:avLst/>
          </a:prstGeom>
          <a:noFill/>
          <a:ln/>
        </p:spPr>
        <p:txBody>
          <a:bodyPr wrap="square" lIns="0" tIns="0" rIns="0" bIns="0" rtlCol="0" anchor="t"/>
          <a:lstStyle/>
          <a:p>
            <a:pPr indent="0" marL="0">
              <a:buNone/>
            </a:pPr>
            <a:r>
              <a:rPr lang="en-US" sz="1300" dirty="0">
                <a:solidFill>
                  <a:srgbClr val="0E2A3B"/>
                </a:solidFill>
                <a:latin typeface="Calibri" pitchFamily="34" charset="0"/>
                <a:ea typeface="Calibri" pitchFamily="34" charset="-122"/>
                <a:cs typeface="Calibri" pitchFamily="34" charset="-120"/>
              </a:rPr>
              <a:t>All risk in one go-live</a:t>
            </a:r>
            <a:endParaRPr lang="en-US" sz="1300" dirty="0"/>
          </a:p>
        </p:txBody>
      </p:sp>
      <p:sp>
        <p:nvSpPr>
          <p:cNvPr id="10" name="Shape 7"/>
          <p:cNvSpPr/>
          <p:nvPr/>
        </p:nvSpPr>
        <p:spPr>
          <a:xfrm>
            <a:off x="2788920" y="1554480"/>
            <a:ext cx="2057400" cy="2468880"/>
          </a:xfrm>
          <a:prstGeom prst="roundRect">
            <a:avLst>
              <a:gd name="adj" fmla="val 3556"/>
            </a:avLst>
          </a:prstGeom>
          <a:solidFill>
            <a:srgbClr val="F3F6F7"/>
          </a:solidFill>
          <a:ln w="9525">
            <a:solidFill>
              <a:srgbClr val="F3F6F7"/>
            </a:solidFill>
            <a:prstDash val="solid"/>
          </a:ln>
        </p:spPr>
      </p:sp>
      <p:sp>
        <p:nvSpPr>
          <p:cNvPr id="11" name="Shape 8"/>
          <p:cNvSpPr/>
          <p:nvPr/>
        </p:nvSpPr>
        <p:spPr>
          <a:xfrm>
            <a:off x="2971800" y="1737360"/>
            <a:ext cx="502920" cy="502920"/>
          </a:xfrm>
          <a:prstGeom prst="ellipse">
            <a:avLst/>
          </a:prstGeom>
          <a:solidFill>
            <a:srgbClr val="9AA7AE"/>
          </a:solidFill>
          <a:ln w="12700">
            <a:solidFill>
              <a:srgbClr val="9AA7AE"/>
            </a:solidFill>
            <a:prstDash val="solid"/>
          </a:ln>
        </p:spPr>
      </p:sp>
      <p:pic>
        <p:nvPicPr>
          <p:cNvPr id="12" name="Image 1" descr="preencoded.png">    </p:cNvPr>
          <p:cNvPicPr>
            <a:picLocks noChangeAspect="1"/>
          </p:cNvPicPr>
          <p:nvPr/>
        </p:nvPicPr>
        <p:blipFill>
          <a:blip r:embed="rId2"/>
          <a:stretch>
            <a:fillRect/>
          </a:stretch>
        </p:blipFill>
        <p:spPr>
          <a:xfrm>
            <a:off x="3112618" y="1878178"/>
            <a:ext cx="221285" cy="221285"/>
          </a:xfrm>
          <a:prstGeom prst="rect">
            <a:avLst/>
          </a:prstGeom>
        </p:spPr>
      </p:pic>
      <p:sp>
        <p:nvSpPr>
          <p:cNvPr id="13" name="Text 9"/>
          <p:cNvSpPr txBox="1"/>
          <p:nvPr/>
        </p:nvSpPr>
        <p:spPr>
          <a:xfrm>
            <a:off x="2971800" y="2377440"/>
            <a:ext cx="1737360" cy="411480"/>
          </a:xfrm>
          <a:prstGeom prst="rect">
            <a:avLst/>
          </a:prstGeom>
          <a:noFill/>
          <a:ln/>
        </p:spPr>
        <p:txBody>
          <a:bodyPr wrap="square" lIns="0" tIns="0" rIns="0" bIns="0" rtlCol="0" anchor="t"/>
          <a:lstStyle/>
          <a:p>
            <a:pPr indent="0" marL="0">
              <a:buNone/>
            </a:pPr>
            <a:r>
              <a:rPr lang="en-US" sz="2000" b="1" dirty="0">
                <a:solidFill>
                  <a:srgbClr val="5B6B75"/>
                </a:solidFill>
                <a:latin typeface="Cambria" pitchFamily="34" charset="0"/>
                <a:ea typeface="Cambria" pitchFamily="34" charset="-122"/>
                <a:cs typeface="Cambria" pitchFamily="34" charset="-120"/>
              </a:rPr>
              <a:t>Parallel</a:t>
            </a:r>
            <a:endParaRPr lang="en-US" sz="2000" dirty="0"/>
          </a:p>
        </p:txBody>
      </p:sp>
      <p:sp>
        <p:nvSpPr>
          <p:cNvPr id="14" name="Text 10"/>
          <p:cNvSpPr txBox="1"/>
          <p:nvPr/>
        </p:nvSpPr>
        <p:spPr>
          <a:xfrm>
            <a:off x="2971800" y="2834640"/>
            <a:ext cx="1737360" cy="1097280"/>
          </a:xfrm>
          <a:prstGeom prst="rect">
            <a:avLst/>
          </a:prstGeom>
          <a:noFill/>
          <a:ln/>
        </p:spPr>
        <p:txBody>
          <a:bodyPr wrap="square" lIns="0" tIns="0" rIns="0" bIns="0" rtlCol="0" anchor="t"/>
          <a:lstStyle/>
          <a:p>
            <a:pPr indent="0" marL="0">
              <a:buNone/>
            </a:pPr>
            <a:r>
              <a:rPr lang="en-US" sz="1300" dirty="0">
                <a:solidFill>
                  <a:srgbClr val="0E2A3B"/>
                </a:solidFill>
                <a:latin typeface="Calibri" pitchFamily="34" charset="0"/>
                <a:ea typeface="Calibri" pitchFamily="34" charset="-122"/>
                <a:cs typeface="Calibri" pitchFamily="34" charset="-120"/>
              </a:rPr>
              <a:t>Overlapping work overloads staff</a:t>
            </a:r>
            <a:endParaRPr lang="en-US" sz="1300" dirty="0"/>
          </a:p>
        </p:txBody>
      </p:sp>
      <p:sp>
        <p:nvSpPr>
          <p:cNvPr id="15" name="Shape 11"/>
          <p:cNvSpPr/>
          <p:nvPr/>
        </p:nvSpPr>
        <p:spPr>
          <a:xfrm>
            <a:off x="5029200" y="1554480"/>
            <a:ext cx="2057400" cy="2468880"/>
          </a:xfrm>
          <a:prstGeom prst="roundRect">
            <a:avLst>
              <a:gd name="adj" fmla="val 3556"/>
            </a:avLst>
          </a:prstGeom>
          <a:solidFill>
            <a:srgbClr val="E2F0E6"/>
          </a:solidFill>
          <a:ln w="19050">
            <a:solidFill>
              <a:srgbClr val="3C8D5A"/>
            </a:solidFill>
            <a:prstDash val="solid"/>
          </a:ln>
        </p:spPr>
      </p:sp>
      <p:sp>
        <p:nvSpPr>
          <p:cNvPr id="16" name="Shape 12"/>
          <p:cNvSpPr/>
          <p:nvPr/>
        </p:nvSpPr>
        <p:spPr>
          <a:xfrm>
            <a:off x="5212080" y="1737360"/>
            <a:ext cx="502920" cy="502920"/>
          </a:xfrm>
          <a:prstGeom prst="ellipse">
            <a:avLst/>
          </a:prstGeom>
          <a:solidFill>
            <a:srgbClr val="3C8D5A"/>
          </a:solidFill>
          <a:ln w="12700">
            <a:solidFill>
              <a:srgbClr val="3C8D5A"/>
            </a:solidFill>
            <a:prstDash val="solid"/>
          </a:ln>
        </p:spPr>
      </p:sp>
      <p:pic>
        <p:nvPicPr>
          <p:cNvPr id="17" name="Image 2" descr="preencoded.png">    </p:cNvPr>
          <p:cNvPicPr>
            <a:picLocks noChangeAspect="1"/>
          </p:cNvPicPr>
          <p:nvPr/>
        </p:nvPicPr>
        <p:blipFill>
          <a:blip r:embed="rId3"/>
          <a:stretch>
            <a:fillRect/>
          </a:stretch>
        </p:blipFill>
        <p:spPr>
          <a:xfrm>
            <a:off x="5352898" y="1878178"/>
            <a:ext cx="221285" cy="221285"/>
          </a:xfrm>
          <a:prstGeom prst="rect">
            <a:avLst/>
          </a:prstGeom>
        </p:spPr>
      </p:pic>
      <p:sp>
        <p:nvSpPr>
          <p:cNvPr id="18" name="Text 13"/>
          <p:cNvSpPr txBox="1"/>
          <p:nvPr/>
        </p:nvSpPr>
        <p:spPr>
          <a:xfrm>
            <a:off x="5212080" y="2377440"/>
            <a:ext cx="1737360" cy="411480"/>
          </a:xfrm>
          <a:prstGeom prst="rect">
            <a:avLst/>
          </a:prstGeom>
          <a:noFill/>
          <a:ln/>
        </p:spPr>
        <p:txBody>
          <a:bodyPr wrap="square" lIns="0" tIns="0" rIns="0" bIns="0" rtlCol="0" anchor="t"/>
          <a:lstStyle/>
          <a:p>
            <a:pPr indent="0" marL="0">
              <a:buNone/>
            </a:pPr>
            <a:r>
              <a:rPr lang="en-US" sz="2000" b="1" dirty="0">
                <a:solidFill>
                  <a:srgbClr val="3C8D5A"/>
                </a:solidFill>
                <a:latin typeface="Cambria" pitchFamily="34" charset="0"/>
                <a:ea typeface="Cambria" pitchFamily="34" charset="-122"/>
                <a:cs typeface="Cambria" pitchFamily="34" charset="-120"/>
              </a:rPr>
              <a:t>Phased</a:t>
            </a:r>
            <a:endParaRPr lang="en-US" sz="2000" dirty="0"/>
          </a:p>
        </p:txBody>
      </p:sp>
      <p:sp>
        <p:nvSpPr>
          <p:cNvPr id="19" name="Text 14"/>
          <p:cNvSpPr txBox="1"/>
          <p:nvPr/>
        </p:nvSpPr>
        <p:spPr>
          <a:xfrm>
            <a:off x="5212080" y="2834640"/>
            <a:ext cx="1737360" cy="1097280"/>
          </a:xfrm>
          <a:prstGeom prst="rect">
            <a:avLst/>
          </a:prstGeom>
          <a:noFill/>
          <a:ln/>
        </p:spPr>
        <p:txBody>
          <a:bodyPr wrap="square" lIns="0" tIns="0" rIns="0" bIns="0" rtlCol="0" anchor="t"/>
          <a:lstStyle/>
          <a:p>
            <a:pPr indent="0" marL="0">
              <a:buNone/>
            </a:pPr>
            <a:r>
              <a:rPr lang="en-US" sz="1300" dirty="0">
                <a:solidFill>
                  <a:srgbClr val="0E2A3B"/>
                </a:solidFill>
                <a:latin typeface="Calibri" pitchFamily="34" charset="0"/>
                <a:ea typeface="Calibri" pitchFamily="34" charset="-122"/>
                <a:cs typeface="Calibri" pitchFamily="34" charset="-120"/>
              </a:rPr>
              <a:t>Smaller go-lives; lessons carry forward</a:t>
            </a:r>
            <a:endParaRPr lang="en-US" sz="1300" dirty="0"/>
          </a:p>
        </p:txBody>
      </p:sp>
      <p:sp>
        <p:nvSpPr>
          <p:cNvPr id="20" name="Text 15"/>
          <p:cNvSpPr txBox="1"/>
          <p:nvPr/>
        </p:nvSpPr>
        <p:spPr>
          <a:xfrm>
            <a:off x="7498080" y="1554480"/>
            <a:ext cx="4114800" cy="320040"/>
          </a:xfrm>
          <a:prstGeom prst="rect">
            <a:avLst/>
          </a:prstGeom>
          <a:noFill/>
          <a:ln/>
        </p:spPr>
        <p:txBody>
          <a:bodyPr wrap="square" lIns="0" tIns="0" rIns="0" bIns="0" rtlCol="0" anchor="t"/>
          <a:lstStyle/>
          <a:p>
            <a:pPr indent="0" marL="0">
              <a:buNone/>
            </a:pPr>
            <a:r>
              <a:rPr lang="en-US" sz="1500" b="1" dirty="0">
                <a:solidFill>
                  <a:srgbClr val="1F6F78"/>
                </a:solidFill>
                <a:latin typeface="Calibri" pitchFamily="34" charset="0"/>
                <a:ea typeface="Calibri" pitchFamily="34" charset="-122"/>
                <a:cs typeface="Calibri" pitchFamily="34" charset="-120"/>
              </a:rPr>
              <a:t>Who changes</a:t>
            </a:r>
            <a:endParaRPr lang="en-US" sz="1500" dirty="0"/>
          </a:p>
        </p:txBody>
      </p:sp>
      <p:sp>
        <p:nvSpPr>
          <p:cNvPr id="21" name="Text 16"/>
          <p:cNvSpPr txBox="1"/>
          <p:nvPr/>
        </p:nvSpPr>
        <p:spPr>
          <a:xfrm>
            <a:off x="7498080" y="1920240"/>
            <a:ext cx="4114800" cy="21031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0E2A3B"/>
                </a:solidFill>
                <a:latin typeface="Calibri" pitchFamily="34" charset="0"/>
                <a:ea typeface="Calibri" pitchFamily="34" charset="-122"/>
                <a:cs typeface="Calibri" pitchFamily="34" charset="-120"/>
              </a:rPr>
              <a:t>Managers: classify and assign owners</a:t>
            </a:r>
            <a:endParaRPr lang="en-US" sz="1350" dirty="0"/>
          </a:p>
          <a:p>
            <a:pPr marL="342900" indent="-342900">
              <a:spcAft>
                <a:spcPts val="600"/>
              </a:spcAft>
              <a:buSzPct val="100000"/>
              <a:buChar char="•"/>
            </a:pPr>
            <a:r>
              <a:rPr lang="en-US" sz="1350" dirty="0">
                <a:solidFill>
                  <a:srgbClr val="0E2A3B"/>
                </a:solidFill>
                <a:latin typeface="Calibri" pitchFamily="34" charset="0"/>
                <a:ea typeface="Calibri" pitchFamily="34" charset="-122"/>
                <a:cs typeface="Calibri" pitchFamily="34" charset="-120"/>
              </a:rPr>
              <a:t>Leavers: complete pack, shadow tasks</a:t>
            </a:r>
            <a:endParaRPr lang="en-US" sz="1350" dirty="0"/>
          </a:p>
          <a:p>
            <a:pPr marL="342900" indent="-342900">
              <a:spcAft>
                <a:spcPts val="600"/>
              </a:spcAft>
              <a:buSzPct val="100000"/>
              <a:buChar char="•"/>
            </a:pPr>
            <a:r>
              <a:rPr lang="en-US" sz="1350" dirty="0">
                <a:solidFill>
                  <a:srgbClr val="0E2A3B"/>
                </a:solidFill>
                <a:latin typeface="Calibri" pitchFamily="34" charset="0"/>
                <a:ea typeface="Calibri" pitchFamily="34" charset="-122"/>
                <a:cs typeface="Calibri" pitchFamily="34" charset="-120"/>
              </a:rPr>
              <a:t>Receivers: define needs, run checks</a:t>
            </a:r>
            <a:endParaRPr lang="en-US" sz="1350" dirty="0"/>
          </a:p>
          <a:p>
            <a:pPr marL="342900" indent="-342900">
              <a:spcAft>
                <a:spcPts val="600"/>
              </a:spcAft>
              <a:buSzPct val="100000"/>
              <a:buChar char="•"/>
            </a:pPr>
            <a:r>
              <a:rPr lang="en-US" sz="1350" dirty="0">
                <a:solidFill>
                  <a:srgbClr val="0E2A3B"/>
                </a:solidFill>
                <a:latin typeface="Calibri" pitchFamily="34" charset="0"/>
                <a:ea typeface="Calibri" pitchFamily="34" charset="-122"/>
                <a:cs typeface="Calibri" pitchFamily="34" charset="-120"/>
              </a:rPr>
              <a:t>People and Finance: new control</a:t>
            </a:r>
            <a:endParaRPr lang="en-US" sz="1350" dirty="0"/>
          </a:p>
        </p:txBody>
      </p:sp>
      <p:sp>
        <p:nvSpPr>
          <p:cNvPr id="22" name="Shape 17"/>
          <p:cNvSpPr/>
          <p:nvPr/>
        </p:nvSpPr>
        <p:spPr>
          <a:xfrm>
            <a:off x="548640" y="4572000"/>
            <a:ext cx="411480" cy="411480"/>
          </a:xfrm>
          <a:prstGeom prst="ellipse">
            <a:avLst/>
          </a:prstGeom>
          <a:solidFill>
            <a:srgbClr val="E8A33D"/>
          </a:solidFill>
          <a:ln w="12700">
            <a:solidFill>
              <a:srgbClr val="E8A33D"/>
            </a:solidFill>
            <a:prstDash val="solid"/>
          </a:ln>
        </p:spPr>
      </p:sp>
      <p:sp>
        <p:nvSpPr>
          <p:cNvPr id="23" name="Text 18"/>
          <p:cNvSpPr txBox="1"/>
          <p:nvPr/>
        </p:nvSpPr>
        <p:spPr>
          <a:xfrm>
            <a:off x="548640" y="4572000"/>
            <a:ext cx="411480" cy="411480"/>
          </a:xfrm>
          <a:prstGeom prst="rect">
            <a:avLst/>
          </a:prstGeom>
          <a:noFill/>
          <a:ln/>
        </p:spPr>
        <p:txBody>
          <a:bodyPr wrap="square" lIns="0" tIns="0" rIns="0" bIns="0" rtlCol="0" anchor="ctr"/>
          <a:lstStyle/>
          <a:p>
            <a:pPr algn="ctr" indent="0" marL="0">
              <a:buNone/>
            </a:pPr>
            <a:r>
              <a:rPr lang="en-US" sz="1200" b="1" dirty="0">
                <a:solidFill>
                  <a:srgbClr val="0E2A3B"/>
                </a:solidFill>
                <a:latin typeface="Calibri" pitchFamily="34" charset="0"/>
                <a:ea typeface="Calibri" pitchFamily="34" charset="-122"/>
                <a:cs typeface="Calibri" pitchFamily="34" charset="-120"/>
              </a:rPr>
              <a:t>1</a:t>
            </a:r>
            <a:endParaRPr lang="en-US" sz="1200" dirty="0"/>
          </a:p>
        </p:txBody>
      </p:sp>
      <p:sp>
        <p:nvSpPr>
          <p:cNvPr id="24" name="Text 19"/>
          <p:cNvSpPr txBox="1"/>
          <p:nvPr/>
        </p:nvSpPr>
        <p:spPr>
          <a:xfrm>
            <a:off x="548640" y="5074920"/>
            <a:ext cx="1463040" cy="548640"/>
          </a:xfrm>
          <a:prstGeom prst="rect">
            <a:avLst/>
          </a:prstGeom>
          <a:noFill/>
          <a:ln/>
        </p:spPr>
        <p:txBody>
          <a:bodyPr wrap="square" lIns="0" tIns="0" rIns="0" bIns="0" rtlCol="0" anchor="t"/>
          <a:lstStyle/>
          <a:p>
            <a:pPr indent="0" marL="0">
              <a:buNone/>
            </a:pPr>
            <a:r>
              <a:rPr lang="en-US" sz="1250" b="1" dirty="0">
                <a:solidFill>
                  <a:srgbClr val="0E2A3B"/>
                </a:solidFill>
                <a:latin typeface="Calibri" pitchFamily="34" charset="0"/>
                <a:ea typeface="Calibri" pitchFamily="34" charset="-122"/>
                <a:cs typeface="Calibri" pitchFamily="34" charset="-120"/>
              </a:rPr>
              <a:t>Sponsor briefing</a:t>
            </a:r>
            <a:endParaRPr lang="en-US" sz="1250" dirty="0"/>
          </a:p>
        </p:txBody>
      </p:sp>
      <p:sp>
        <p:nvSpPr>
          <p:cNvPr id="25" name="Shape 20"/>
          <p:cNvSpPr/>
          <p:nvPr/>
        </p:nvSpPr>
        <p:spPr>
          <a:xfrm>
            <a:off x="2176272" y="4572000"/>
            <a:ext cx="411480" cy="411480"/>
          </a:xfrm>
          <a:prstGeom prst="ellipse">
            <a:avLst/>
          </a:prstGeom>
          <a:solidFill>
            <a:srgbClr val="E8A33D"/>
          </a:solidFill>
          <a:ln w="12700">
            <a:solidFill>
              <a:srgbClr val="E8A33D"/>
            </a:solidFill>
            <a:prstDash val="solid"/>
          </a:ln>
        </p:spPr>
      </p:sp>
      <p:sp>
        <p:nvSpPr>
          <p:cNvPr id="26" name="Text 21"/>
          <p:cNvSpPr txBox="1"/>
          <p:nvPr/>
        </p:nvSpPr>
        <p:spPr>
          <a:xfrm>
            <a:off x="2176272" y="4572000"/>
            <a:ext cx="411480" cy="411480"/>
          </a:xfrm>
          <a:prstGeom prst="rect">
            <a:avLst/>
          </a:prstGeom>
          <a:noFill/>
          <a:ln/>
        </p:spPr>
        <p:txBody>
          <a:bodyPr wrap="square" lIns="0" tIns="0" rIns="0" bIns="0" rtlCol="0" anchor="ctr"/>
          <a:lstStyle/>
          <a:p>
            <a:pPr algn="ctr" indent="0" marL="0">
              <a:buNone/>
            </a:pPr>
            <a:r>
              <a:rPr lang="en-US" sz="1200" b="1" dirty="0">
                <a:solidFill>
                  <a:srgbClr val="0E2A3B"/>
                </a:solidFill>
                <a:latin typeface="Calibri" pitchFamily="34" charset="0"/>
                <a:ea typeface="Calibri" pitchFamily="34" charset="-122"/>
                <a:cs typeface="Calibri" pitchFamily="34" charset="-120"/>
              </a:rPr>
              <a:t>2</a:t>
            </a:r>
            <a:endParaRPr lang="en-US" sz="1200" dirty="0"/>
          </a:p>
        </p:txBody>
      </p:sp>
      <p:sp>
        <p:nvSpPr>
          <p:cNvPr id="27" name="Text 22"/>
          <p:cNvSpPr txBox="1"/>
          <p:nvPr/>
        </p:nvSpPr>
        <p:spPr>
          <a:xfrm>
            <a:off x="2176272" y="5074920"/>
            <a:ext cx="1463040" cy="548640"/>
          </a:xfrm>
          <a:prstGeom prst="rect">
            <a:avLst/>
          </a:prstGeom>
          <a:noFill/>
          <a:ln/>
        </p:spPr>
        <p:txBody>
          <a:bodyPr wrap="square" lIns="0" tIns="0" rIns="0" bIns="0" rtlCol="0" anchor="t"/>
          <a:lstStyle/>
          <a:p>
            <a:pPr indent="0" marL="0">
              <a:buNone/>
            </a:pPr>
            <a:r>
              <a:rPr lang="en-US" sz="1250" b="1" dirty="0">
                <a:solidFill>
                  <a:srgbClr val="0E2A3B"/>
                </a:solidFill>
                <a:latin typeface="Calibri" pitchFamily="34" charset="0"/>
                <a:ea typeface="Calibri" pitchFamily="34" charset="-122"/>
                <a:cs typeface="Calibri" pitchFamily="34" charset="-120"/>
              </a:rPr>
              <a:t>Role training</a:t>
            </a:r>
            <a:endParaRPr lang="en-US" sz="1250" dirty="0"/>
          </a:p>
        </p:txBody>
      </p:sp>
      <p:sp>
        <p:nvSpPr>
          <p:cNvPr id="28" name="Shape 23"/>
          <p:cNvSpPr/>
          <p:nvPr/>
        </p:nvSpPr>
        <p:spPr>
          <a:xfrm>
            <a:off x="3803904" y="4572000"/>
            <a:ext cx="411480" cy="411480"/>
          </a:xfrm>
          <a:prstGeom prst="ellipse">
            <a:avLst/>
          </a:prstGeom>
          <a:solidFill>
            <a:srgbClr val="E8A33D"/>
          </a:solidFill>
          <a:ln w="12700">
            <a:solidFill>
              <a:srgbClr val="E8A33D"/>
            </a:solidFill>
            <a:prstDash val="solid"/>
          </a:ln>
        </p:spPr>
      </p:sp>
      <p:sp>
        <p:nvSpPr>
          <p:cNvPr id="29" name="Text 24"/>
          <p:cNvSpPr txBox="1"/>
          <p:nvPr/>
        </p:nvSpPr>
        <p:spPr>
          <a:xfrm>
            <a:off x="3803904" y="4572000"/>
            <a:ext cx="411480" cy="411480"/>
          </a:xfrm>
          <a:prstGeom prst="rect">
            <a:avLst/>
          </a:prstGeom>
          <a:noFill/>
          <a:ln/>
        </p:spPr>
        <p:txBody>
          <a:bodyPr wrap="square" lIns="0" tIns="0" rIns="0" bIns="0" rtlCol="0" anchor="ctr"/>
          <a:lstStyle/>
          <a:p>
            <a:pPr algn="ctr" indent="0" marL="0">
              <a:buNone/>
            </a:pPr>
            <a:r>
              <a:rPr lang="en-US" sz="1200" b="1" dirty="0">
                <a:solidFill>
                  <a:srgbClr val="0E2A3B"/>
                </a:solidFill>
                <a:latin typeface="Calibri" pitchFamily="34" charset="0"/>
                <a:ea typeface="Calibri" pitchFamily="34" charset="-122"/>
                <a:cs typeface="Calibri" pitchFamily="34" charset="-120"/>
              </a:rPr>
              <a:t>3</a:t>
            </a:r>
            <a:endParaRPr lang="en-US" sz="1200" dirty="0"/>
          </a:p>
        </p:txBody>
      </p:sp>
      <p:sp>
        <p:nvSpPr>
          <p:cNvPr id="30" name="Text 25"/>
          <p:cNvSpPr txBox="1"/>
          <p:nvPr/>
        </p:nvSpPr>
        <p:spPr>
          <a:xfrm>
            <a:off x="3803904" y="5074920"/>
            <a:ext cx="1463040" cy="548640"/>
          </a:xfrm>
          <a:prstGeom prst="rect">
            <a:avLst/>
          </a:prstGeom>
          <a:noFill/>
          <a:ln/>
        </p:spPr>
        <p:txBody>
          <a:bodyPr wrap="square" lIns="0" tIns="0" rIns="0" bIns="0" rtlCol="0" anchor="t"/>
          <a:lstStyle/>
          <a:p>
            <a:pPr indent="0" marL="0">
              <a:buNone/>
            </a:pPr>
            <a:r>
              <a:rPr lang="en-US" sz="1250" b="1" dirty="0">
                <a:solidFill>
                  <a:srgbClr val="0E2A3B"/>
                </a:solidFill>
                <a:latin typeface="Calibri" pitchFamily="34" charset="0"/>
                <a:ea typeface="Calibri" pitchFamily="34" charset="-122"/>
                <a:cs typeface="Calibri" pitchFamily="34" charset="-120"/>
              </a:rPr>
              <a:t>Pilot office hours</a:t>
            </a:r>
            <a:endParaRPr lang="en-US" sz="1250" dirty="0"/>
          </a:p>
        </p:txBody>
      </p:sp>
      <p:sp>
        <p:nvSpPr>
          <p:cNvPr id="31" name="Shape 26"/>
          <p:cNvSpPr/>
          <p:nvPr/>
        </p:nvSpPr>
        <p:spPr>
          <a:xfrm>
            <a:off x="5431536" y="4572000"/>
            <a:ext cx="411480" cy="411480"/>
          </a:xfrm>
          <a:prstGeom prst="ellipse">
            <a:avLst/>
          </a:prstGeom>
          <a:solidFill>
            <a:srgbClr val="E8A33D"/>
          </a:solidFill>
          <a:ln w="12700">
            <a:solidFill>
              <a:srgbClr val="E8A33D"/>
            </a:solidFill>
            <a:prstDash val="solid"/>
          </a:ln>
        </p:spPr>
      </p:sp>
      <p:sp>
        <p:nvSpPr>
          <p:cNvPr id="32" name="Text 27"/>
          <p:cNvSpPr txBox="1"/>
          <p:nvPr/>
        </p:nvSpPr>
        <p:spPr>
          <a:xfrm>
            <a:off x="5431536" y="4572000"/>
            <a:ext cx="411480" cy="411480"/>
          </a:xfrm>
          <a:prstGeom prst="rect">
            <a:avLst/>
          </a:prstGeom>
          <a:noFill/>
          <a:ln/>
        </p:spPr>
        <p:txBody>
          <a:bodyPr wrap="square" lIns="0" tIns="0" rIns="0" bIns="0" rtlCol="0" anchor="ctr"/>
          <a:lstStyle/>
          <a:p>
            <a:pPr algn="ctr" indent="0" marL="0">
              <a:buNone/>
            </a:pPr>
            <a:r>
              <a:rPr lang="en-US" sz="1200" b="1" dirty="0">
                <a:solidFill>
                  <a:srgbClr val="0E2A3B"/>
                </a:solidFill>
                <a:latin typeface="Calibri" pitchFamily="34" charset="0"/>
                <a:ea typeface="Calibri" pitchFamily="34" charset="-122"/>
                <a:cs typeface="Calibri" pitchFamily="34" charset="-120"/>
              </a:rPr>
              <a:t>4</a:t>
            </a:r>
            <a:endParaRPr lang="en-US" sz="1200" dirty="0"/>
          </a:p>
        </p:txBody>
      </p:sp>
      <p:sp>
        <p:nvSpPr>
          <p:cNvPr id="33" name="Text 28"/>
          <p:cNvSpPr txBox="1"/>
          <p:nvPr/>
        </p:nvSpPr>
        <p:spPr>
          <a:xfrm>
            <a:off x="5431536" y="5074920"/>
            <a:ext cx="1463040" cy="548640"/>
          </a:xfrm>
          <a:prstGeom prst="rect">
            <a:avLst/>
          </a:prstGeom>
          <a:noFill/>
          <a:ln/>
        </p:spPr>
        <p:txBody>
          <a:bodyPr wrap="square" lIns="0" tIns="0" rIns="0" bIns="0" rtlCol="0" anchor="t"/>
          <a:lstStyle/>
          <a:p>
            <a:pPr indent="0" marL="0">
              <a:buNone/>
            </a:pPr>
            <a:r>
              <a:rPr lang="en-US" sz="1250" b="1" dirty="0">
                <a:solidFill>
                  <a:srgbClr val="0E2A3B"/>
                </a:solidFill>
                <a:latin typeface="Calibri" pitchFamily="34" charset="0"/>
                <a:ea typeface="Calibri" pitchFamily="34" charset="-122"/>
                <a:cs typeface="Calibri" pitchFamily="34" charset="-120"/>
              </a:rPr>
              <a:t>T+45 feedback</a:t>
            </a:r>
            <a:endParaRPr lang="en-US" sz="1250" dirty="0"/>
          </a:p>
        </p:txBody>
      </p:sp>
      <p:sp>
        <p:nvSpPr>
          <p:cNvPr id="34" name="Shape 29"/>
          <p:cNvSpPr/>
          <p:nvPr/>
        </p:nvSpPr>
        <p:spPr>
          <a:xfrm>
            <a:off x="7059168" y="4572000"/>
            <a:ext cx="411480" cy="411480"/>
          </a:xfrm>
          <a:prstGeom prst="ellipse">
            <a:avLst/>
          </a:prstGeom>
          <a:solidFill>
            <a:srgbClr val="E8A33D"/>
          </a:solidFill>
          <a:ln w="12700">
            <a:solidFill>
              <a:srgbClr val="E8A33D"/>
            </a:solidFill>
            <a:prstDash val="solid"/>
          </a:ln>
        </p:spPr>
      </p:sp>
      <p:sp>
        <p:nvSpPr>
          <p:cNvPr id="35" name="Text 30"/>
          <p:cNvSpPr txBox="1"/>
          <p:nvPr/>
        </p:nvSpPr>
        <p:spPr>
          <a:xfrm>
            <a:off x="7059168" y="4572000"/>
            <a:ext cx="411480" cy="411480"/>
          </a:xfrm>
          <a:prstGeom prst="rect">
            <a:avLst/>
          </a:prstGeom>
          <a:noFill/>
          <a:ln/>
        </p:spPr>
        <p:txBody>
          <a:bodyPr wrap="square" lIns="0" tIns="0" rIns="0" bIns="0" rtlCol="0" anchor="ctr"/>
          <a:lstStyle/>
          <a:p>
            <a:pPr algn="ctr" indent="0" marL="0">
              <a:buNone/>
            </a:pPr>
            <a:r>
              <a:rPr lang="en-US" sz="1200" b="1" dirty="0">
                <a:solidFill>
                  <a:srgbClr val="0E2A3B"/>
                </a:solidFill>
                <a:latin typeface="Calibri" pitchFamily="34" charset="0"/>
                <a:ea typeface="Calibri" pitchFamily="34" charset="-122"/>
                <a:cs typeface="Calibri" pitchFamily="34" charset="-120"/>
              </a:rPr>
              <a:t>5</a:t>
            </a:r>
            <a:endParaRPr lang="en-US" sz="1200" dirty="0"/>
          </a:p>
        </p:txBody>
      </p:sp>
      <p:sp>
        <p:nvSpPr>
          <p:cNvPr id="36" name="Text 31"/>
          <p:cNvSpPr txBox="1"/>
          <p:nvPr/>
        </p:nvSpPr>
        <p:spPr>
          <a:xfrm>
            <a:off x="7059168" y="5074920"/>
            <a:ext cx="1463040" cy="548640"/>
          </a:xfrm>
          <a:prstGeom prst="rect">
            <a:avLst/>
          </a:prstGeom>
          <a:noFill/>
          <a:ln/>
        </p:spPr>
        <p:txBody>
          <a:bodyPr wrap="square" lIns="0" tIns="0" rIns="0" bIns="0" rtlCol="0" anchor="t"/>
          <a:lstStyle/>
          <a:p>
            <a:pPr indent="0" marL="0">
              <a:buNone/>
            </a:pPr>
            <a:r>
              <a:rPr lang="en-US" sz="1250" b="1" dirty="0">
                <a:solidFill>
                  <a:srgbClr val="0E2A3B"/>
                </a:solidFill>
                <a:latin typeface="Calibri" pitchFamily="34" charset="0"/>
                <a:ea typeface="Calibri" pitchFamily="34" charset="-122"/>
                <a:cs typeface="Calibri" pitchFamily="34" charset="-120"/>
              </a:rPr>
              <a:t>Monthly KPIs</a:t>
            </a:r>
            <a:endParaRPr lang="en-US" sz="1250" dirty="0"/>
          </a:p>
        </p:txBody>
      </p:sp>
      <p:sp>
        <p:nvSpPr>
          <p:cNvPr id="37" name="Text 32"/>
          <p:cNvSpPr txBox="1"/>
          <p:nvPr/>
        </p:nvSpPr>
        <p:spPr>
          <a:xfrm>
            <a:off x="548640" y="6400800"/>
            <a:ext cx="8046720" cy="274320"/>
          </a:xfrm>
          <a:prstGeom prst="rect">
            <a:avLst/>
          </a:prstGeom>
          <a:noFill/>
          <a:ln/>
        </p:spPr>
        <p:txBody>
          <a:bodyPr wrap="square" lIns="0" tIns="0" rIns="0" bIns="0" rtlCol="0" anchor="ctr"/>
          <a:lstStyle/>
          <a:p>
            <a:pPr indent="0" marL="0">
              <a:buNone/>
            </a:pPr>
            <a:r>
              <a:rPr lang="en-US" sz="900" dirty="0">
                <a:solidFill>
                  <a:srgbClr val="5B6B75"/>
                </a:solidFill>
                <a:latin typeface="Calibri" pitchFamily="34" charset="0"/>
                <a:ea typeface="Calibri" pitchFamily="34" charset="-122"/>
                <a:cs typeface="Calibri" pitchFamily="34" charset="-120"/>
              </a:rPr>
              <a:t>Implementation strategies: INFOSYS 704 (2026) Week 5 Lecture 7; Mills (2025).</a:t>
            </a:r>
            <a:endParaRPr lang="en-US" sz="900" dirty="0"/>
          </a:p>
        </p:txBody>
      </p:sp>
    </p:spTree>
  </p:cSld>
  <p:clrMapOvr>
    <a:masterClrMapping/>
  </p:clrMapOvr>
  <p:transition spd="med" advTm="20000">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RISK MANAGEMENT</a:t>
            </a:r>
            <a:endParaRPr lang="en-US" sz="1200" dirty="0"/>
          </a:p>
        </p:txBody>
      </p:sp>
      <p:sp>
        <p:nvSpPr>
          <p:cNvPr id="3" name="Text 1"/>
          <p:cNvSpPr txBox="1"/>
          <p:nvPr/>
        </p:nvSpPr>
        <p:spPr>
          <a:xfrm>
            <a:off x="10241280" y="320040"/>
            <a:ext cx="1371600" cy="274320"/>
          </a:xfrm>
          <a:prstGeom prst="rect">
            <a:avLst/>
          </a:prstGeom>
          <a:noFill/>
          <a:ln/>
        </p:spPr>
        <p:txBody>
          <a:bodyPr wrap="square" lIns="0" tIns="0" rIns="0" bIns="0" rtlCol="0" anchor="ctr"/>
          <a:lstStyle/>
          <a:p>
            <a:pPr algn="r" indent="0" marL="0">
              <a:buNone/>
            </a:pPr>
            <a:r>
              <a:rPr lang="en-US" sz="1100" dirty="0">
                <a:solidFill>
                  <a:srgbClr val="5B6B75"/>
                </a:solidFill>
                <a:latin typeface="Calibri" pitchFamily="34" charset="0"/>
                <a:ea typeface="Calibri" pitchFamily="34" charset="-122"/>
                <a:cs typeface="Calibri" pitchFamily="34" charset="-120"/>
              </a:rPr>
              <a:t>15 / 20</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0E2A3B"/>
                </a:solidFill>
                <a:latin typeface="Cambria" pitchFamily="34" charset="0"/>
                <a:ea typeface="Cambria" pitchFamily="34" charset="-122"/>
                <a:cs typeface="Cambria" pitchFamily="34" charset="-120"/>
              </a:rPr>
              <a:t>Nine risks tracked; one red risk actively controlled</a:t>
            </a:r>
            <a:endParaRPr lang="en-US" sz="3000" dirty="0"/>
          </a:p>
        </p:txBody>
      </p:sp>
      <p:sp>
        <p:nvSpPr>
          <p:cNvPr id="5" name="Shape 3"/>
          <p:cNvSpPr/>
          <p:nvPr/>
        </p:nvSpPr>
        <p:spPr>
          <a:xfrm>
            <a:off x="548640" y="1554480"/>
            <a:ext cx="713232" cy="713232"/>
          </a:xfrm>
          <a:prstGeom prst="ellipse">
            <a:avLst/>
          </a:prstGeom>
          <a:solidFill>
            <a:srgbClr val="B8432F"/>
          </a:solidFill>
          <a:ln w="12700">
            <a:solidFill>
              <a:srgbClr val="B8432F"/>
            </a:solidFill>
            <a:prstDash val="solid"/>
          </a:ln>
        </p:spPr>
      </p:sp>
      <p:sp>
        <p:nvSpPr>
          <p:cNvPr id="6" name="Text 4"/>
          <p:cNvSpPr txBox="1"/>
          <p:nvPr/>
        </p:nvSpPr>
        <p:spPr>
          <a:xfrm>
            <a:off x="548640" y="155448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7" name="Text 5"/>
          <p:cNvSpPr txBox="1"/>
          <p:nvPr/>
        </p:nvSpPr>
        <p:spPr>
          <a:xfrm>
            <a:off x="1463040" y="1755648"/>
            <a:ext cx="1645920" cy="411480"/>
          </a:xfrm>
          <a:prstGeom prst="rect">
            <a:avLst/>
          </a:prstGeom>
          <a:noFill/>
          <a:ln/>
        </p:spPr>
        <p:txBody>
          <a:bodyPr wrap="square" lIns="0" tIns="0" rIns="0" bIns="0" rtlCol="0" anchor="t"/>
          <a:lstStyle/>
          <a:p>
            <a:pPr indent="0" marL="0">
              <a:buNone/>
            </a:pPr>
            <a:r>
              <a:rPr lang="en-US" sz="1700" b="1" dirty="0">
                <a:solidFill>
                  <a:srgbClr val="B8432F"/>
                </a:solidFill>
                <a:latin typeface="Calibri" pitchFamily="34" charset="0"/>
                <a:ea typeface="Calibri" pitchFamily="34" charset="-122"/>
                <a:cs typeface="Calibri" pitchFamily="34" charset="-120"/>
              </a:rPr>
              <a:t>Red</a:t>
            </a:r>
            <a:endParaRPr lang="en-US" sz="1700" dirty="0"/>
          </a:p>
        </p:txBody>
      </p:sp>
      <p:sp>
        <p:nvSpPr>
          <p:cNvPr id="8" name="Shape 6"/>
          <p:cNvSpPr/>
          <p:nvPr/>
        </p:nvSpPr>
        <p:spPr>
          <a:xfrm>
            <a:off x="548640" y="2468880"/>
            <a:ext cx="713232" cy="713232"/>
          </a:xfrm>
          <a:prstGeom prst="ellipse">
            <a:avLst/>
          </a:prstGeom>
          <a:solidFill>
            <a:srgbClr val="E8A33D"/>
          </a:solidFill>
          <a:ln w="12700">
            <a:solidFill>
              <a:srgbClr val="E8A33D"/>
            </a:solidFill>
            <a:prstDash val="solid"/>
          </a:ln>
        </p:spPr>
      </p:sp>
      <p:sp>
        <p:nvSpPr>
          <p:cNvPr id="9" name="Text 7"/>
          <p:cNvSpPr txBox="1"/>
          <p:nvPr/>
        </p:nvSpPr>
        <p:spPr>
          <a:xfrm>
            <a:off x="548640" y="246888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7</a:t>
            </a:r>
            <a:endParaRPr lang="en-US" sz="2400" dirty="0"/>
          </a:p>
        </p:txBody>
      </p:sp>
      <p:sp>
        <p:nvSpPr>
          <p:cNvPr id="10" name="Text 8"/>
          <p:cNvSpPr txBox="1"/>
          <p:nvPr/>
        </p:nvSpPr>
        <p:spPr>
          <a:xfrm>
            <a:off x="1463040" y="2670048"/>
            <a:ext cx="1645920" cy="411480"/>
          </a:xfrm>
          <a:prstGeom prst="rect">
            <a:avLst/>
          </a:prstGeom>
          <a:noFill/>
          <a:ln/>
        </p:spPr>
        <p:txBody>
          <a:bodyPr wrap="square" lIns="0" tIns="0" rIns="0" bIns="0" rtlCol="0" anchor="t"/>
          <a:lstStyle/>
          <a:p>
            <a:pPr indent="0" marL="0">
              <a:buNone/>
            </a:pPr>
            <a:r>
              <a:rPr lang="en-US" sz="1700" b="1" dirty="0">
                <a:solidFill>
                  <a:srgbClr val="E8A33D"/>
                </a:solidFill>
                <a:latin typeface="Calibri" pitchFamily="34" charset="0"/>
                <a:ea typeface="Calibri" pitchFamily="34" charset="-122"/>
                <a:cs typeface="Calibri" pitchFamily="34" charset="-120"/>
              </a:rPr>
              <a:t>Amber</a:t>
            </a:r>
            <a:endParaRPr lang="en-US" sz="1700" dirty="0"/>
          </a:p>
        </p:txBody>
      </p:sp>
      <p:sp>
        <p:nvSpPr>
          <p:cNvPr id="11" name="Shape 9"/>
          <p:cNvSpPr/>
          <p:nvPr/>
        </p:nvSpPr>
        <p:spPr>
          <a:xfrm>
            <a:off x="548640" y="3383280"/>
            <a:ext cx="713232" cy="713232"/>
          </a:xfrm>
          <a:prstGeom prst="ellipse">
            <a:avLst/>
          </a:prstGeom>
          <a:solidFill>
            <a:srgbClr val="3C8D5A"/>
          </a:solidFill>
          <a:ln w="12700">
            <a:solidFill>
              <a:srgbClr val="3C8D5A"/>
            </a:solidFill>
            <a:prstDash val="solid"/>
          </a:ln>
        </p:spPr>
      </p:sp>
      <p:sp>
        <p:nvSpPr>
          <p:cNvPr id="12" name="Text 10"/>
          <p:cNvSpPr txBox="1"/>
          <p:nvPr/>
        </p:nvSpPr>
        <p:spPr>
          <a:xfrm>
            <a:off x="548640" y="338328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3" name="Text 11"/>
          <p:cNvSpPr txBox="1"/>
          <p:nvPr/>
        </p:nvSpPr>
        <p:spPr>
          <a:xfrm>
            <a:off x="1463040" y="3584448"/>
            <a:ext cx="1645920" cy="411480"/>
          </a:xfrm>
          <a:prstGeom prst="rect">
            <a:avLst/>
          </a:prstGeom>
          <a:noFill/>
          <a:ln/>
        </p:spPr>
        <p:txBody>
          <a:bodyPr wrap="square" lIns="0" tIns="0" rIns="0" bIns="0" rtlCol="0" anchor="t"/>
          <a:lstStyle/>
          <a:p>
            <a:pPr indent="0" marL="0">
              <a:buNone/>
            </a:pPr>
            <a:r>
              <a:rPr lang="en-US" sz="1700" b="1" dirty="0">
                <a:solidFill>
                  <a:srgbClr val="3C8D5A"/>
                </a:solidFill>
                <a:latin typeface="Calibri" pitchFamily="34" charset="0"/>
                <a:ea typeface="Calibri" pitchFamily="34" charset="-122"/>
                <a:cs typeface="Calibri" pitchFamily="34" charset="-120"/>
              </a:rPr>
              <a:t>Green</a:t>
            </a:r>
            <a:endParaRPr lang="en-US" sz="1700" dirty="0"/>
          </a:p>
        </p:txBody>
      </p:sp>
      <p:sp>
        <p:nvSpPr>
          <p:cNvPr id="14" name="Shape 12"/>
          <p:cNvSpPr/>
          <p:nvPr/>
        </p:nvSpPr>
        <p:spPr>
          <a:xfrm>
            <a:off x="3383280" y="1673352"/>
            <a:ext cx="237744" cy="237744"/>
          </a:xfrm>
          <a:prstGeom prst="ellipse">
            <a:avLst/>
          </a:prstGeom>
          <a:solidFill>
            <a:srgbClr val="B8432F"/>
          </a:solidFill>
          <a:ln w="12700">
            <a:solidFill>
              <a:srgbClr val="B8432F"/>
            </a:solidFill>
            <a:prstDash val="solid"/>
          </a:ln>
        </p:spPr>
      </p:sp>
      <p:sp>
        <p:nvSpPr>
          <p:cNvPr id="15" name="Text 13"/>
          <p:cNvSpPr txBox="1"/>
          <p:nvPr/>
        </p:nvSpPr>
        <p:spPr>
          <a:xfrm>
            <a:off x="3749040" y="1627632"/>
            <a:ext cx="457200" cy="320040"/>
          </a:xfrm>
          <a:prstGeom prst="rect">
            <a:avLst/>
          </a:prstGeom>
          <a:noFill/>
          <a:ln/>
        </p:spPr>
        <p:txBody>
          <a:bodyPr wrap="square" lIns="0" tIns="0" rIns="0" bIns="0" rtlCol="0" anchor="t"/>
          <a:lstStyle/>
          <a:p>
            <a:pPr indent="0" marL="0">
              <a:buNone/>
            </a:pPr>
            <a:r>
              <a:rPr lang="en-US" sz="1300" b="1" dirty="0">
                <a:solidFill>
                  <a:srgbClr val="0E2A3B"/>
                </a:solidFill>
                <a:latin typeface="Calibri" pitchFamily="34" charset="0"/>
                <a:ea typeface="Calibri" pitchFamily="34" charset="-122"/>
                <a:cs typeface="Calibri" pitchFamily="34" charset="-120"/>
              </a:rPr>
              <a:t>R2</a:t>
            </a:r>
            <a:endParaRPr lang="en-US" sz="1300" dirty="0"/>
          </a:p>
        </p:txBody>
      </p:sp>
      <p:sp>
        <p:nvSpPr>
          <p:cNvPr id="16" name="Text 14"/>
          <p:cNvSpPr txBox="1"/>
          <p:nvPr/>
        </p:nvSpPr>
        <p:spPr>
          <a:xfrm>
            <a:off x="4206240" y="1627632"/>
            <a:ext cx="3566160" cy="320040"/>
          </a:xfrm>
          <a:prstGeom prst="rect">
            <a:avLst/>
          </a:prstGeom>
          <a:noFill/>
          <a:ln/>
        </p:spPr>
        <p:txBody>
          <a:bodyPr wrap="square" lIns="0" tIns="0" rIns="0" bIns="0" rtlCol="0" anchor="t"/>
          <a:lstStyle/>
          <a:p>
            <a:pPr indent="0" marL="0">
              <a:buNone/>
            </a:pPr>
            <a:r>
              <a:rPr lang="en-US" sz="1300" b="1" dirty="0">
                <a:solidFill>
                  <a:srgbClr val="0E2A3B"/>
                </a:solidFill>
                <a:latin typeface="Calibri" pitchFamily="34" charset="0"/>
                <a:ea typeface="Calibri" pitchFamily="34" charset="-122"/>
                <a:cs typeface="Calibri" pitchFamily="34" charset="-120"/>
              </a:rPr>
              <a:t>Exception path becomes the default</a:t>
            </a:r>
            <a:endParaRPr lang="en-US" sz="1300" dirty="0"/>
          </a:p>
        </p:txBody>
      </p:sp>
      <p:sp>
        <p:nvSpPr>
          <p:cNvPr id="17" name="Text 15"/>
          <p:cNvSpPr txBox="1"/>
          <p:nvPr/>
        </p:nvSpPr>
        <p:spPr>
          <a:xfrm>
            <a:off x="7772400" y="1627632"/>
            <a:ext cx="3840480" cy="320040"/>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Name approvers, block backfill, report to sponsor</a:t>
            </a:r>
            <a:endParaRPr lang="en-US" sz="1200" dirty="0"/>
          </a:p>
        </p:txBody>
      </p:sp>
      <p:sp>
        <p:nvSpPr>
          <p:cNvPr id="18" name="Shape 16"/>
          <p:cNvSpPr/>
          <p:nvPr/>
        </p:nvSpPr>
        <p:spPr>
          <a:xfrm>
            <a:off x="3383280" y="2221992"/>
            <a:ext cx="237744" cy="237744"/>
          </a:xfrm>
          <a:prstGeom prst="ellipse">
            <a:avLst/>
          </a:prstGeom>
          <a:solidFill>
            <a:srgbClr val="E8A33D"/>
          </a:solidFill>
          <a:ln w="12700">
            <a:solidFill>
              <a:srgbClr val="E8A33D"/>
            </a:solidFill>
            <a:prstDash val="solid"/>
          </a:ln>
        </p:spPr>
      </p:sp>
      <p:sp>
        <p:nvSpPr>
          <p:cNvPr id="19" name="Text 17"/>
          <p:cNvSpPr txBox="1"/>
          <p:nvPr/>
        </p:nvSpPr>
        <p:spPr>
          <a:xfrm>
            <a:off x="3749040" y="2176272"/>
            <a:ext cx="457200" cy="320040"/>
          </a:xfrm>
          <a:prstGeom prst="rect">
            <a:avLst/>
          </a:prstGeom>
          <a:noFill/>
          <a:ln/>
        </p:spPr>
        <p:txBody>
          <a:bodyPr wrap="square" lIns="0" tIns="0" rIns="0" bIns="0" rtlCol="0" anchor="t"/>
          <a:lstStyle/>
          <a:p>
            <a:pPr indent="0" marL="0">
              <a:buNone/>
            </a:pPr>
            <a:r>
              <a:rPr lang="en-US" sz="1300" b="1" dirty="0">
                <a:solidFill>
                  <a:srgbClr val="0E2A3B"/>
                </a:solidFill>
                <a:latin typeface="Calibri" pitchFamily="34" charset="0"/>
                <a:ea typeface="Calibri" pitchFamily="34" charset="-122"/>
                <a:cs typeface="Calibri" pitchFamily="34" charset="-120"/>
              </a:rPr>
              <a:t>R1</a:t>
            </a:r>
            <a:endParaRPr lang="en-US" sz="1300" dirty="0"/>
          </a:p>
        </p:txBody>
      </p:sp>
      <p:sp>
        <p:nvSpPr>
          <p:cNvPr id="20" name="Text 18"/>
          <p:cNvSpPr txBox="1"/>
          <p:nvPr/>
        </p:nvSpPr>
        <p:spPr>
          <a:xfrm>
            <a:off x="4206240" y="2176272"/>
            <a:ext cx="3566160" cy="320040"/>
          </a:xfrm>
          <a:prstGeom prst="rect">
            <a:avLst/>
          </a:prstGeom>
          <a:noFill/>
          <a:ln/>
        </p:spPr>
        <p:txBody>
          <a:bodyPr wrap="square" lIns="0" tIns="0" rIns="0" bIns="0" rtlCol="0" anchor="t"/>
          <a:lstStyle/>
          <a:p>
            <a:pPr indent="0" marL="0">
              <a:buNone/>
            </a:pPr>
            <a:r>
              <a:rPr lang="en-US" sz="1300" b="1" dirty="0">
                <a:solidFill>
                  <a:srgbClr val="0E2A3B"/>
                </a:solidFill>
                <a:latin typeface="Calibri" pitchFamily="34" charset="0"/>
                <a:ea typeface="Calibri" pitchFamily="34" charset="-122"/>
                <a:cs typeface="Calibri" pitchFamily="34" charset="-120"/>
              </a:rPr>
              <a:t>Receivers sign without testing</a:t>
            </a:r>
            <a:endParaRPr lang="en-US" sz="1300" dirty="0"/>
          </a:p>
        </p:txBody>
      </p:sp>
      <p:sp>
        <p:nvSpPr>
          <p:cNvPr id="21" name="Text 19"/>
          <p:cNvSpPr txBox="1"/>
          <p:nvPr/>
        </p:nvSpPr>
        <p:spPr>
          <a:xfrm>
            <a:off x="7772400" y="2176272"/>
            <a:ext cx="3840480" cy="320040"/>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Real tasks, 10% quarterly assurance sample</a:t>
            </a:r>
            <a:endParaRPr lang="en-US" sz="1200" dirty="0"/>
          </a:p>
        </p:txBody>
      </p:sp>
      <p:sp>
        <p:nvSpPr>
          <p:cNvPr id="22" name="Shape 20"/>
          <p:cNvSpPr/>
          <p:nvPr/>
        </p:nvSpPr>
        <p:spPr>
          <a:xfrm>
            <a:off x="3383280" y="2770632"/>
            <a:ext cx="237744" cy="237744"/>
          </a:xfrm>
          <a:prstGeom prst="ellipse">
            <a:avLst/>
          </a:prstGeom>
          <a:solidFill>
            <a:srgbClr val="E8A33D"/>
          </a:solidFill>
          <a:ln w="12700">
            <a:solidFill>
              <a:srgbClr val="E8A33D"/>
            </a:solidFill>
            <a:prstDash val="solid"/>
          </a:ln>
        </p:spPr>
      </p:sp>
      <p:sp>
        <p:nvSpPr>
          <p:cNvPr id="23" name="Text 21"/>
          <p:cNvSpPr txBox="1"/>
          <p:nvPr/>
        </p:nvSpPr>
        <p:spPr>
          <a:xfrm>
            <a:off x="3749040" y="2724912"/>
            <a:ext cx="457200" cy="320040"/>
          </a:xfrm>
          <a:prstGeom prst="rect">
            <a:avLst/>
          </a:prstGeom>
          <a:noFill/>
          <a:ln/>
        </p:spPr>
        <p:txBody>
          <a:bodyPr wrap="square" lIns="0" tIns="0" rIns="0" bIns="0" rtlCol="0" anchor="t"/>
          <a:lstStyle/>
          <a:p>
            <a:pPr indent="0" marL="0">
              <a:buNone/>
            </a:pPr>
            <a:r>
              <a:rPr lang="en-US" sz="1300" b="1" dirty="0">
                <a:solidFill>
                  <a:srgbClr val="0E2A3B"/>
                </a:solidFill>
                <a:latin typeface="Calibri" pitchFamily="34" charset="0"/>
                <a:ea typeface="Calibri" pitchFamily="34" charset="-122"/>
                <a:cs typeface="Calibri" pitchFamily="34" charset="-120"/>
              </a:rPr>
              <a:t>R3</a:t>
            </a:r>
            <a:endParaRPr lang="en-US" sz="1300" dirty="0"/>
          </a:p>
        </p:txBody>
      </p:sp>
      <p:sp>
        <p:nvSpPr>
          <p:cNvPr id="24" name="Text 22"/>
          <p:cNvSpPr txBox="1"/>
          <p:nvPr/>
        </p:nvSpPr>
        <p:spPr>
          <a:xfrm>
            <a:off x="4206240" y="2724912"/>
            <a:ext cx="3566160" cy="320040"/>
          </a:xfrm>
          <a:prstGeom prst="rect">
            <a:avLst/>
          </a:prstGeom>
          <a:noFill/>
          <a:ln/>
        </p:spPr>
        <p:txBody>
          <a:bodyPr wrap="square" lIns="0" tIns="0" rIns="0" bIns="0" rtlCol="0" anchor="t"/>
          <a:lstStyle/>
          <a:p>
            <a:pPr indent="0" marL="0">
              <a:buNone/>
            </a:pPr>
            <a:r>
              <a:rPr lang="en-US" sz="1300" b="1" dirty="0">
                <a:solidFill>
                  <a:srgbClr val="0E2A3B"/>
                </a:solidFill>
                <a:latin typeface="Calibri" pitchFamily="34" charset="0"/>
                <a:ea typeface="Calibri" pitchFamily="34" charset="-122"/>
                <a:cs typeface="Calibri" pitchFamily="34" charset="-120"/>
              </a:rPr>
              <a:t>Critical roles under-classified</a:t>
            </a:r>
            <a:endParaRPr lang="en-US" sz="1300" dirty="0"/>
          </a:p>
        </p:txBody>
      </p:sp>
      <p:sp>
        <p:nvSpPr>
          <p:cNvPr id="25" name="Text 23"/>
          <p:cNvSpPr txBox="1"/>
          <p:nvPr/>
        </p:nvSpPr>
        <p:spPr>
          <a:xfrm>
            <a:off x="7772400" y="2724912"/>
            <a:ext cx="3840480" cy="320040"/>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Use access and on-call data; bias upward</a:t>
            </a:r>
            <a:endParaRPr lang="en-US" sz="1200" dirty="0"/>
          </a:p>
        </p:txBody>
      </p:sp>
      <p:sp>
        <p:nvSpPr>
          <p:cNvPr id="26" name="Shape 24"/>
          <p:cNvSpPr/>
          <p:nvPr/>
        </p:nvSpPr>
        <p:spPr>
          <a:xfrm>
            <a:off x="3383280" y="3319272"/>
            <a:ext cx="237744" cy="237744"/>
          </a:xfrm>
          <a:prstGeom prst="ellipse">
            <a:avLst/>
          </a:prstGeom>
          <a:solidFill>
            <a:srgbClr val="E8A33D"/>
          </a:solidFill>
          <a:ln w="12700">
            <a:solidFill>
              <a:srgbClr val="E8A33D"/>
            </a:solidFill>
            <a:prstDash val="solid"/>
          </a:ln>
        </p:spPr>
      </p:sp>
      <p:sp>
        <p:nvSpPr>
          <p:cNvPr id="27" name="Text 25"/>
          <p:cNvSpPr txBox="1"/>
          <p:nvPr/>
        </p:nvSpPr>
        <p:spPr>
          <a:xfrm>
            <a:off x="3749040" y="3273552"/>
            <a:ext cx="457200" cy="320040"/>
          </a:xfrm>
          <a:prstGeom prst="rect">
            <a:avLst/>
          </a:prstGeom>
          <a:noFill/>
          <a:ln/>
        </p:spPr>
        <p:txBody>
          <a:bodyPr wrap="square" lIns="0" tIns="0" rIns="0" bIns="0" rtlCol="0" anchor="t"/>
          <a:lstStyle/>
          <a:p>
            <a:pPr indent="0" marL="0">
              <a:buNone/>
            </a:pPr>
            <a:r>
              <a:rPr lang="en-US" sz="1300" b="1" dirty="0">
                <a:solidFill>
                  <a:srgbClr val="0E2A3B"/>
                </a:solidFill>
                <a:latin typeface="Calibri" pitchFamily="34" charset="0"/>
                <a:ea typeface="Calibri" pitchFamily="34" charset="-122"/>
                <a:cs typeface="Calibri" pitchFamily="34" charset="-120"/>
              </a:rPr>
              <a:t>R7</a:t>
            </a:r>
            <a:endParaRPr lang="en-US" sz="1300" dirty="0"/>
          </a:p>
        </p:txBody>
      </p:sp>
      <p:sp>
        <p:nvSpPr>
          <p:cNvPr id="28" name="Text 26"/>
          <p:cNvSpPr txBox="1"/>
          <p:nvPr/>
        </p:nvSpPr>
        <p:spPr>
          <a:xfrm>
            <a:off x="4206240" y="3273552"/>
            <a:ext cx="3566160" cy="320040"/>
          </a:xfrm>
          <a:prstGeom prst="rect">
            <a:avLst/>
          </a:prstGeom>
          <a:noFill/>
          <a:ln/>
        </p:spPr>
        <p:txBody>
          <a:bodyPr wrap="square" lIns="0" tIns="0" rIns="0" bIns="0" rtlCol="0" anchor="t"/>
          <a:lstStyle/>
          <a:p>
            <a:pPr indent="0" marL="0">
              <a:buNone/>
            </a:pPr>
            <a:r>
              <a:rPr lang="en-US" sz="1300" b="1" dirty="0">
                <a:solidFill>
                  <a:srgbClr val="0E2A3B"/>
                </a:solidFill>
                <a:latin typeface="Calibri" pitchFamily="34" charset="0"/>
                <a:ea typeface="Calibri" pitchFamily="34" charset="-122"/>
                <a:cs typeface="Calibri" pitchFamily="34" charset="-120"/>
              </a:rPr>
              <a:t>Benefits overstated</a:t>
            </a:r>
            <a:endParaRPr lang="en-US" sz="1300" dirty="0"/>
          </a:p>
        </p:txBody>
      </p:sp>
      <p:sp>
        <p:nvSpPr>
          <p:cNvPr id="29" name="Text 27"/>
          <p:cNvSpPr txBox="1"/>
          <p:nvPr/>
        </p:nvSpPr>
        <p:spPr>
          <a:xfrm>
            <a:off x="7772400" y="3273552"/>
            <a:ext cx="3840480" cy="320040"/>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Separate planned from unplanned spend</a:t>
            </a:r>
            <a:endParaRPr lang="en-US" sz="1200" dirty="0"/>
          </a:p>
        </p:txBody>
      </p:sp>
      <p:sp>
        <p:nvSpPr>
          <p:cNvPr id="30" name="Shape 28"/>
          <p:cNvSpPr/>
          <p:nvPr/>
        </p:nvSpPr>
        <p:spPr>
          <a:xfrm>
            <a:off x="3383280" y="3867912"/>
            <a:ext cx="237744" cy="237744"/>
          </a:xfrm>
          <a:prstGeom prst="ellipse">
            <a:avLst/>
          </a:prstGeom>
          <a:solidFill>
            <a:srgbClr val="3C8D5A"/>
          </a:solidFill>
          <a:ln w="12700">
            <a:solidFill>
              <a:srgbClr val="3C8D5A"/>
            </a:solidFill>
            <a:prstDash val="solid"/>
          </a:ln>
        </p:spPr>
      </p:sp>
      <p:sp>
        <p:nvSpPr>
          <p:cNvPr id="31" name="Text 29"/>
          <p:cNvSpPr txBox="1"/>
          <p:nvPr/>
        </p:nvSpPr>
        <p:spPr>
          <a:xfrm>
            <a:off x="3749040" y="3822192"/>
            <a:ext cx="457200" cy="320040"/>
          </a:xfrm>
          <a:prstGeom prst="rect">
            <a:avLst/>
          </a:prstGeom>
          <a:noFill/>
          <a:ln/>
        </p:spPr>
        <p:txBody>
          <a:bodyPr wrap="square" lIns="0" tIns="0" rIns="0" bIns="0" rtlCol="0" anchor="t"/>
          <a:lstStyle/>
          <a:p>
            <a:pPr indent="0" marL="0">
              <a:buNone/>
            </a:pPr>
            <a:r>
              <a:rPr lang="en-US" sz="1300" b="1" dirty="0">
                <a:solidFill>
                  <a:srgbClr val="0E2A3B"/>
                </a:solidFill>
                <a:latin typeface="Calibri" pitchFamily="34" charset="0"/>
                <a:ea typeface="Calibri" pitchFamily="34" charset="-122"/>
                <a:cs typeface="Calibri" pitchFamily="34" charset="-120"/>
              </a:rPr>
              <a:t>R6</a:t>
            </a:r>
            <a:endParaRPr lang="en-US" sz="1300" dirty="0"/>
          </a:p>
        </p:txBody>
      </p:sp>
      <p:sp>
        <p:nvSpPr>
          <p:cNvPr id="32" name="Text 30"/>
          <p:cNvSpPr txBox="1"/>
          <p:nvPr/>
        </p:nvSpPr>
        <p:spPr>
          <a:xfrm>
            <a:off x="4206240" y="3822192"/>
            <a:ext cx="3566160" cy="320040"/>
          </a:xfrm>
          <a:prstGeom prst="rect">
            <a:avLst/>
          </a:prstGeom>
          <a:noFill/>
          <a:ln/>
        </p:spPr>
        <p:txBody>
          <a:bodyPr wrap="square" lIns="0" tIns="0" rIns="0" bIns="0" rtlCol="0" anchor="t"/>
          <a:lstStyle/>
          <a:p>
            <a:pPr indent="0" marL="0">
              <a:buNone/>
            </a:pPr>
            <a:r>
              <a:rPr lang="en-US" sz="1300" b="1" dirty="0">
                <a:solidFill>
                  <a:srgbClr val="0E2A3B"/>
                </a:solidFill>
                <a:latin typeface="Calibri" pitchFamily="34" charset="0"/>
                <a:ea typeface="Calibri" pitchFamily="34" charset="-122"/>
                <a:cs typeface="Calibri" pitchFamily="34" charset="-120"/>
              </a:rPr>
              <a:t>Pack holds credentials or personal data</a:t>
            </a:r>
            <a:endParaRPr lang="en-US" sz="1300" dirty="0"/>
          </a:p>
        </p:txBody>
      </p:sp>
      <p:sp>
        <p:nvSpPr>
          <p:cNvPr id="33" name="Text 31"/>
          <p:cNvSpPr txBox="1"/>
          <p:nvPr/>
        </p:nvSpPr>
        <p:spPr>
          <a:xfrm>
            <a:off x="7772400" y="3822192"/>
            <a:ext cx="3840480" cy="320040"/>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Prohibit credentials; retention rules</a:t>
            </a:r>
            <a:endParaRPr lang="en-US" sz="1200" dirty="0"/>
          </a:p>
        </p:txBody>
      </p:sp>
      <p:sp>
        <p:nvSpPr>
          <p:cNvPr id="34" name="Shape 32"/>
          <p:cNvSpPr/>
          <p:nvPr/>
        </p:nvSpPr>
        <p:spPr>
          <a:xfrm>
            <a:off x="548640" y="4754880"/>
            <a:ext cx="8046720" cy="1188720"/>
          </a:xfrm>
          <a:prstGeom prst="roundRect">
            <a:avLst>
              <a:gd name="adj" fmla="val 6154"/>
            </a:avLst>
          </a:prstGeom>
          <a:solidFill>
            <a:srgbClr val="F7E3DF"/>
          </a:solidFill>
          <a:ln w="9525">
            <a:solidFill>
              <a:srgbClr val="F7E3DF"/>
            </a:solidFill>
            <a:prstDash val="solid"/>
          </a:ln>
        </p:spPr>
      </p:sp>
      <p:sp>
        <p:nvSpPr>
          <p:cNvPr id="35" name="Text 33"/>
          <p:cNvSpPr txBox="1"/>
          <p:nvPr/>
        </p:nvSpPr>
        <p:spPr>
          <a:xfrm>
            <a:off x="777240" y="4846320"/>
            <a:ext cx="7680960" cy="1005840"/>
          </a:xfrm>
          <a:prstGeom prst="rect">
            <a:avLst/>
          </a:prstGeom>
          <a:noFill/>
          <a:ln/>
        </p:spPr>
        <p:txBody>
          <a:bodyPr wrap="square" lIns="0" tIns="0" rIns="0" bIns="0" rtlCol="0" anchor="ctr"/>
          <a:lstStyle/>
          <a:p>
            <a:pPr indent="0" marL="0">
              <a:buNone/>
            </a:pPr>
            <a:r>
              <a:rPr lang="en-US" sz="1450" b="1" dirty="0">
                <a:solidFill>
                  <a:srgbClr val="B8432F"/>
                </a:solidFill>
                <a:latin typeface="Calibri" pitchFamily="34" charset="0"/>
                <a:ea typeface="Calibri" pitchFamily="34" charset="-122"/>
                <a:cs typeface="Calibri" pitchFamily="34" charset="-120"/>
              </a:rPr>
              <a:t>Why R2 is red: </a:t>
            </a:r>
            <a:pPr indent="0" marL="0">
              <a:buNone/>
            </a:pPr>
            <a:r>
              <a:rPr lang="en-US" sz="1450" dirty="0">
                <a:solidFill>
                  <a:srgbClr val="0E2A3B"/>
                </a:solidFill>
                <a:latin typeface="Calibri" pitchFamily="34" charset="0"/>
                <a:ea typeface="Calibri" pitchFamily="34" charset="-122"/>
                <a:cs typeface="Calibri" pitchFamily="34" charset="-120"/>
              </a:rPr>
              <a:t>cost pressure creates a strong incentive to bypass the gate, so every override is visible to the executive sponsor.</a:t>
            </a:r>
            <a:endParaRPr lang="en-US" sz="1450" dirty="0"/>
          </a:p>
        </p:txBody>
      </p:sp>
      <p:sp>
        <p:nvSpPr>
          <p:cNvPr id="36" name="Text 34"/>
          <p:cNvSpPr txBox="1"/>
          <p:nvPr/>
        </p:nvSpPr>
        <p:spPr>
          <a:xfrm>
            <a:off x="548640" y="6400800"/>
            <a:ext cx="8046720" cy="274320"/>
          </a:xfrm>
          <a:prstGeom prst="rect">
            <a:avLst/>
          </a:prstGeom>
          <a:noFill/>
          <a:ln/>
        </p:spPr>
        <p:txBody>
          <a:bodyPr wrap="square" lIns="0" tIns="0" rIns="0" bIns="0" rtlCol="0" anchor="ctr"/>
          <a:lstStyle/>
          <a:p>
            <a:pPr indent="0" marL="0">
              <a:buNone/>
            </a:pPr>
            <a:r>
              <a:rPr lang="en-US" sz="900" dirty="0">
                <a:solidFill>
                  <a:srgbClr val="5B6B75"/>
                </a:solidFill>
                <a:latin typeface="Calibri" pitchFamily="34" charset="0"/>
                <a:ea typeface="Calibri" pitchFamily="34" charset="-122"/>
                <a:cs typeface="Calibri" pitchFamily="34" charset="-120"/>
              </a:rPr>
              <a:t>Risk types and interaction: Scott and Vessey (2002); scope control: Mills (2025). RAG shows residual exposure after mitigation.</a:t>
            </a:r>
            <a:endParaRPr lang="en-US" sz="900" dirty="0"/>
          </a:p>
        </p:txBody>
      </p:sp>
    </p:spTree>
  </p:cSld>
  <p:clrMapOvr>
    <a:masterClrMapping/>
  </p:clrMapOvr>
  <p:transition spd="med" advTm="20000">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EXPECTED IMPACT: FINANCIAL</a:t>
            </a:r>
            <a:endParaRPr lang="en-US" sz="1200" dirty="0"/>
          </a:p>
        </p:txBody>
      </p:sp>
      <p:sp>
        <p:nvSpPr>
          <p:cNvPr id="3" name="Text 1"/>
          <p:cNvSpPr txBox="1"/>
          <p:nvPr/>
        </p:nvSpPr>
        <p:spPr>
          <a:xfrm>
            <a:off x="10241280" y="320040"/>
            <a:ext cx="1371600" cy="274320"/>
          </a:xfrm>
          <a:prstGeom prst="rect">
            <a:avLst/>
          </a:prstGeom>
          <a:noFill/>
          <a:ln/>
        </p:spPr>
        <p:txBody>
          <a:bodyPr wrap="square" lIns="0" tIns="0" rIns="0" bIns="0" rtlCol="0" anchor="ctr"/>
          <a:lstStyle/>
          <a:p>
            <a:pPr algn="r" indent="0" marL="0">
              <a:buNone/>
            </a:pPr>
            <a:r>
              <a:rPr lang="en-US" sz="1100" dirty="0">
                <a:solidFill>
                  <a:srgbClr val="5B6B75"/>
                </a:solidFill>
                <a:latin typeface="Calibri" pitchFamily="34" charset="0"/>
                <a:ea typeface="Calibri" pitchFamily="34" charset="-122"/>
                <a:cs typeface="Calibri" pitchFamily="34" charset="-120"/>
              </a:rPr>
              <a:t>16 / 20</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0E2A3B"/>
                </a:solidFill>
                <a:latin typeface="Cambria" pitchFamily="34" charset="0"/>
                <a:ea typeface="Cambria" pitchFamily="34" charset="-122"/>
                <a:cs typeface="Cambria" pitchFamily="34" charset="-120"/>
              </a:rPr>
              <a:t>NZ$3.5m benefit for NZ$157k over three years</a:t>
            </a:r>
            <a:endParaRPr lang="en-US" sz="3000" dirty="0"/>
          </a:p>
        </p:txBody>
      </p:sp>
      <p:graphicFrame>
        <p:nvGraphicFramePr>
          <p:cNvPr id="5" name="Chart 0" descr=""/>
          <p:cNvGraphicFramePr/>
          <p:nvPr/>
        </p:nvGraphicFramePr>
        <p:xfrm>
          <a:off x="548640" y="1463040"/>
          <a:ext cx="6309360" cy="47548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223760" y="1554480"/>
            <a:ext cx="2194560" cy="640080"/>
          </a:xfrm>
          <a:prstGeom prst="rect">
            <a:avLst/>
          </a:prstGeom>
          <a:noFill/>
          <a:ln/>
        </p:spPr>
        <p:txBody>
          <a:bodyPr wrap="square" lIns="0" tIns="0" rIns="0" bIns="0" rtlCol="0" anchor="t"/>
          <a:lstStyle/>
          <a:p>
            <a:pPr indent="0" marL="0">
              <a:buNone/>
            </a:pPr>
            <a:r>
              <a:rPr lang="en-US" sz="3000" b="1" dirty="0">
                <a:solidFill>
                  <a:srgbClr val="1F6F78"/>
                </a:solidFill>
                <a:latin typeface="Cambria" pitchFamily="34" charset="0"/>
                <a:ea typeface="Cambria" pitchFamily="34" charset="-122"/>
                <a:cs typeface="Cambria" pitchFamily="34" charset="-120"/>
              </a:rPr>
              <a:t>NZ$3.34m</a:t>
            </a:r>
            <a:endParaRPr lang="en-US" sz="3000" dirty="0"/>
          </a:p>
        </p:txBody>
      </p:sp>
      <p:sp>
        <p:nvSpPr>
          <p:cNvPr id="7" name="Text 4"/>
          <p:cNvSpPr txBox="1"/>
          <p:nvPr/>
        </p:nvSpPr>
        <p:spPr>
          <a:xfrm>
            <a:off x="9418320" y="1664208"/>
            <a:ext cx="2194560" cy="731520"/>
          </a:xfrm>
          <a:prstGeom prst="rect">
            <a:avLst/>
          </a:prstGeom>
          <a:noFill/>
          <a:ln/>
        </p:spPr>
        <p:txBody>
          <a:bodyPr wrap="square" lIns="0" tIns="0" rIns="0" bIns="0" rtlCol="0" anchor="t"/>
          <a:lstStyle/>
          <a:p>
            <a:pPr indent="0" marL="0">
              <a:buNone/>
            </a:pPr>
            <a:r>
              <a:rPr lang="en-US" sz="1300" dirty="0">
                <a:solidFill>
                  <a:srgbClr val="0E2A3B"/>
                </a:solidFill>
                <a:latin typeface="Calibri" pitchFamily="34" charset="0"/>
                <a:ea typeface="Calibri" pitchFamily="34" charset="-122"/>
                <a:cs typeface="Calibri" pitchFamily="34" charset="-120"/>
              </a:rPr>
              <a:t>three-year net benefit</a:t>
            </a:r>
            <a:endParaRPr lang="en-US" sz="1300" dirty="0"/>
          </a:p>
        </p:txBody>
      </p:sp>
      <p:sp>
        <p:nvSpPr>
          <p:cNvPr id="8" name="Text 5"/>
          <p:cNvSpPr txBox="1"/>
          <p:nvPr/>
        </p:nvSpPr>
        <p:spPr>
          <a:xfrm>
            <a:off x="7223760" y="2468880"/>
            <a:ext cx="2194560" cy="640080"/>
          </a:xfrm>
          <a:prstGeom prst="rect">
            <a:avLst/>
          </a:prstGeom>
          <a:noFill/>
          <a:ln/>
        </p:spPr>
        <p:txBody>
          <a:bodyPr wrap="square" lIns="0" tIns="0" rIns="0" bIns="0" rtlCol="0" anchor="t"/>
          <a:lstStyle/>
          <a:p>
            <a:pPr indent="0" marL="0">
              <a:buNone/>
            </a:pPr>
            <a:r>
              <a:rPr lang="en-US" sz="3000" b="1" dirty="0">
                <a:solidFill>
                  <a:srgbClr val="1F6F78"/>
                </a:solidFill>
                <a:latin typeface="Cambria" pitchFamily="34" charset="0"/>
                <a:ea typeface="Cambria" pitchFamily="34" charset="-122"/>
                <a:cs typeface="Cambria" pitchFamily="34" charset="-120"/>
              </a:rPr>
              <a:t>22.2</a:t>
            </a:r>
            <a:endParaRPr lang="en-US" sz="3000" dirty="0"/>
          </a:p>
        </p:txBody>
      </p:sp>
      <p:sp>
        <p:nvSpPr>
          <p:cNvPr id="9" name="Text 6"/>
          <p:cNvSpPr txBox="1"/>
          <p:nvPr/>
        </p:nvSpPr>
        <p:spPr>
          <a:xfrm>
            <a:off x="9418320" y="2578608"/>
            <a:ext cx="2194560" cy="731520"/>
          </a:xfrm>
          <a:prstGeom prst="rect">
            <a:avLst/>
          </a:prstGeom>
          <a:noFill/>
          <a:ln/>
        </p:spPr>
        <p:txBody>
          <a:bodyPr wrap="square" lIns="0" tIns="0" rIns="0" bIns="0" rtlCol="0" anchor="t"/>
          <a:lstStyle/>
          <a:p>
            <a:pPr indent="0" marL="0">
              <a:buNone/>
            </a:pPr>
            <a:r>
              <a:rPr lang="en-US" sz="1300" dirty="0">
                <a:solidFill>
                  <a:srgbClr val="0E2A3B"/>
                </a:solidFill>
                <a:latin typeface="Calibri" pitchFamily="34" charset="0"/>
                <a:ea typeface="Calibri" pitchFamily="34" charset="-122"/>
                <a:cs typeface="Calibri" pitchFamily="34" charset="-120"/>
              </a:rPr>
              <a:t>benefit-cost ratio</a:t>
            </a:r>
            <a:endParaRPr lang="en-US" sz="1300" dirty="0"/>
          </a:p>
        </p:txBody>
      </p:sp>
      <p:sp>
        <p:nvSpPr>
          <p:cNvPr id="10" name="Text 7"/>
          <p:cNvSpPr txBox="1"/>
          <p:nvPr/>
        </p:nvSpPr>
        <p:spPr>
          <a:xfrm>
            <a:off x="7223760" y="3383280"/>
            <a:ext cx="2194560" cy="640080"/>
          </a:xfrm>
          <a:prstGeom prst="rect">
            <a:avLst/>
          </a:prstGeom>
          <a:noFill/>
          <a:ln/>
        </p:spPr>
        <p:txBody>
          <a:bodyPr wrap="square" lIns="0" tIns="0" rIns="0" bIns="0" rtlCol="0" anchor="t"/>
          <a:lstStyle/>
          <a:p>
            <a:pPr indent="0" marL="0">
              <a:buNone/>
            </a:pPr>
            <a:r>
              <a:rPr lang="en-US" sz="3000" b="1" dirty="0">
                <a:solidFill>
                  <a:srgbClr val="3C8D5A"/>
                </a:solidFill>
                <a:latin typeface="Cambria" pitchFamily="34" charset="0"/>
                <a:ea typeface="Cambria" pitchFamily="34" charset="-122"/>
                <a:cs typeface="Cambria" pitchFamily="34" charset="-120"/>
              </a:rPr>
              <a:t>+NZ$1.4m</a:t>
            </a:r>
            <a:endParaRPr lang="en-US" sz="3000" dirty="0"/>
          </a:p>
        </p:txBody>
      </p:sp>
      <p:sp>
        <p:nvSpPr>
          <p:cNvPr id="11" name="Text 8"/>
          <p:cNvSpPr txBox="1"/>
          <p:nvPr/>
        </p:nvSpPr>
        <p:spPr>
          <a:xfrm>
            <a:off x="9418320" y="3493008"/>
            <a:ext cx="2194560" cy="731520"/>
          </a:xfrm>
          <a:prstGeom prst="rect">
            <a:avLst/>
          </a:prstGeom>
          <a:noFill/>
          <a:ln/>
        </p:spPr>
        <p:txBody>
          <a:bodyPr wrap="square" lIns="0" tIns="0" rIns="0" bIns="0" rtlCol="0" anchor="t"/>
          <a:lstStyle/>
          <a:p>
            <a:pPr indent="0" marL="0">
              <a:buNone/>
            </a:pPr>
            <a:r>
              <a:rPr lang="en-US" sz="1300" dirty="0">
                <a:solidFill>
                  <a:srgbClr val="0E2A3B"/>
                </a:solidFill>
                <a:latin typeface="Calibri" pitchFamily="34" charset="0"/>
                <a:ea typeface="Calibri" pitchFamily="34" charset="-122"/>
                <a:cs typeface="Calibri" pitchFamily="34" charset="-120"/>
              </a:rPr>
              <a:t>annual EBITDAI uplift once validated; no revenue assumed</a:t>
            </a:r>
            <a:endParaRPr lang="en-US" sz="1300" dirty="0"/>
          </a:p>
        </p:txBody>
      </p:sp>
      <p:sp>
        <p:nvSpPr>
          <p:cNvPr id="12" name="Text 9"/>
          <p:cNvSpPr txBox="1"/>
          <p:nvPr/>
        </p:nvSpPr>
        <p:spPr>
          <a:xfrm>
            <a:off x="548640" y="6400800"/>
            <a:ext cx="8046720" cy="274320"/>
          </a:xfrm>
          <a:prstGeom prst="rect">
            <a:avLst/>
          </a:prstGeom>
          <a:noFill/>
          <a:ln/>
        </p:spPr>
        <p:txBody>
          <a:bodyPr wrap="square" lIns="0" tIns="0" rIns="0" bIns="0" rtlCol="0" anchor="ctr"/>
          <a:lstStyle/>
          <a:p>
            <a:pPr indent="0" marL="0">
              <a:buNone/>
            </a:pPr>
            <a:r>
              <a:rPr lang="en-US" sz="900" dirty="0">
                <a:solidFill>
                  <a:srgbClr val="5B6B75"/>
                </a:solidFill>
                <a:latin typeface="Calibri" pitchFamily="34" charset="0"/>
                <a:ea typeface="Calibri" pitchFamily="34" charset="-122"/>
                <a:cs typeface="Calibri" pitchFamily="34" charset="-120"/>
              </a:rPr>
              <a:t>Source: A2-D1 Table 9. Year 1 at 50% benefit ramp; indicative until validated in Phase 0.</a:t>
            </a:r>
            <a:endParaRPr lang="en-US" sz="900" dirty="0"/>
          </a:p>
        </p:txBody>
      </p:sp>
    </p:spTree>
  </p:cSld>
  <p:clrMapOvr>
    <a:masterClrMapping/>
  </p:clrMapOvr>
  <p:transition spd="med" advTm="20000">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EXPECTED IMPACT: VALUE</a:t>
            </a:r>
            <a:endParaRPr lang="en-US" sz="1200" dirty="0"/>
          </a:p>
        </p:txBody>
      </p:sp>
      <p:sp>
        <p:nvSpPr>
          <p:cNvPr id="3" name="Text 1"/>
          <p:cNvSpPr txBox="1"/>
          <p:nvPr/>
        </p:nvSpPr>
        <p:spPr>
          <a:xfrm>
            <a:off x="10241280" y="320040"/>
            <a:ext cx="1371600" cy="274320"/>
          </a:xfrm>
          <a:prstGeom prst="rect">
            <a:avLst/>
          </a:prstGeom>
          <a:noFill/>
          <a:ln/>
        </p:spPr>
        <p:txBody>
          <a:bodyPr wrap="square" lIns="0" tIns="0" rIns="0" bIns="0" rtlCol="0" anchor="ctr"/>
          <a:lstStyle/>
          <a:p>
            <a:pPr algn="r" indent="0" marL="0">
              <a:buNone/>
            </a:pPr>
            <a:r>
              <a:rPr lang="en-US" sz="1100" dirty="0">
                <a:solidFill>
                  <a:srgbClr val="5B6B75"/>
                </a:solidFill>
                <a:latin typeface="Calibri" pitchFamily="34" charset="0"/>
                <a:ea typeface="Calibri" pitchFamily="34" charset="-122"/>
                <a:cs typeface="Calibri" pitchFamily="34" charset="-120"/>
              </a:rPr>
              <a:t>17 / 20</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0E2A3B"/>
                </a:solidFill>
                <a:latin typeface="Cambria" pitchFamily="34" charset="0"/>
                <a:ea typeface="Cambria" pitchFamily="34" charset="-122"/>
                <a:cs typeface="Cambria" pitchFamily="34" charset="-120"/>
              </a:rPr>
              <a:t>Start where value and feasibility are highest</a:t>
            </a:r>
            <a:endParaRPr lang="en-US" sz="3000" dirty="0"/>
          </a:p>
        </p:txBody>
      </p:sp>
      <p:sp>
        <p:nvSpPr>
          <p:cNvPr id="5" name="Shape 3"/>
          <p:cNvSpPr/>
          <p:nvPr/>
        </p:nvSpPr>
        <p:spPr>
          <a:xfrm>
            <a:off x="1188720" y="1600200"/>
            <a:ext cx="2560320" cy="3383280"/>
          </a:xfrm>
          <a:prstGeom prst="rect">
            <a:avLst/>
          </a:prstGeom>
          <a:solidFill>
            <a:srgbClr val="F3F6F7"/>
          </a:solidFill>
          <a:ln w="12700">
            <a:solidFill>
              <a:srgbClr val="D5DEE2"/>
            </a:solidFill>
            <a:prstDash val="solid"/>
          </a:ln>
        </p:spPr>
      </p:sp>
      <p:sp>
        <p:nvSpPr>
          <p:cNvPr id="6" name="Shape 4"/>
          <p:cNvSpPr/>
          <p:nvPr/>
        </p:nvSpPr>
        <p:spPr>
          <a:xfrm>
            <a:off x="3749040" y="1600200"/>
            <a:ext cx="2560320" cy="3383280"/>
          </a:xfrm>
          <a:prstGeom prst="rect">
            <a:avLst/>
          </a:prstGeom>
          <a:solidFill>
            <a:srgbClr val="E2F0E6"/>
          </a:solidFill>
          <a:ln w="12700">
            <a:solidFill>
              <a:srgbClr val="D5DEE2"/>
            </a:solidFill>
            <a:prstDash val="solid"/>
          </a:ln>
        </p:spPr>
      </p:sp>
      <p:sp>
        <p:nvSpPr>
          <p:cNvPr id="7" name="Text 5"/>
          <p:cNvSpPr txBox="1"/>
          <p:nvPr/>
        </p:nvSpPr>
        <p:spPr>
          <a:xfrm>
            <a:off x="5120640" y="4617720"/>
            <a:ext cx="1097280" cy="274320"/>
          </a:xfrm>
          <a:prstGeom prst="rect">
            <a:avLst/>
          </a:prstGeom>
          <a:noFill/>
          <a:ln/>
        </p:spPr>
        <p:txBody>
          <a:bodyPr wrap="square" lIns="0" tIns="0" rIns="0" bIns="0" rtlCol="0" anchor="t"/>
          <a:lstStyle/>
          <a:p>
            <a:pPr algn="r" indent="0" marL="0">
              <a:buNone/>
            </a:pPr>
            <a:r>
              <a:rPr lang="en-US" sz="1100" b="1" dirty="0">
                <a:solidFill>
                  <a:srgbClr val="3C8D5A"/>
                </a:solidFill>
                <a:latin typeface="Calibri" pitchFamily="34" charset="0"/>
                <a:ea typeface="Calibri" pitchFamily="34" charset="-122"/>
                <a:cs typeface="Calibri" pitchFamily="34" charset="-120"/>
              </a:rPr>
              <a:t>Do first</a:t>
            </a:r>
            <a:endParaRPr lang="en-US" sz="1100" dirty="0"/>
          </a:p>
        </p:txBody>
      </p:sp>
      <p:sp>
        <p:nvSpPr>
          <p:cNvPr id="8" name="Shape 6"/>
          <p:cNvSpPr/>
          <p:nvPr/>
        </p:nvSpPr>
        <p:spPr>
          <a:xfrm>
            <a:off x="5594299" y="1862176"/>
            <a:ext cx="457200" cy="457200"/>
          </a:xfrm>
          <a:prstGeom prst="ellipse">
            <a:avLst/>
          </a:prstGeom>
          <a:solidFill>
            <a:srgbClr val="1F6F78"/>
          </a:solidFill>
          <a:ln w="19050">
            <a:solidFill>
              <a:srgbClr val="FFFFFF"/>
            </a:solidFill>
            <a:prstDash val="solid"/>
          </a:ln>
        </p:spPr>
      </p:sp>
      <p:sp>
        <p:nvSpPr>
          <p:cNvPr id="9" name="Text 7"/>
          <p:cNvSpPr txBox="1"/>
          <p:nvPr/>
        </p:nvSpPr>
        <p:spPr>
          <a:xfrm>
            <a:off x="5594299" y="186217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5148072" y="2160270"/>
            <a:ext cx="402336" cy="402336"/>
          </a:xfrm>
          <a:prstGeom prst="ellipse">
            <a:avLst/>
          </a:prstGeom>
          <a:solidFill>
            <a:srgbClr val="1F6F78"/>
          </a:solidFill>
          <a:ln w="19050">
            <a:solidFill>
              <a:srgbClr val="FFFFFF"/>
            </a:solidFill>
            <a:prstDash val="solid"/>
          </a:ln>
        </p:spPr>
      </p:sp>
      <p:sp>
        <p:nvSpPr>
          <p:cNvPr id="11" name="Text 9"/>
          <p:cNvSpPr txBox="1"/>
          <p:nvPr/>
        </p:nvSpPr>
        <p:spPr>
          <a:xfrm>
            <a:off x="5148072" y="216027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Shape 10"/>
          <p:cNvSpPr/>
          <p:nvPr/>
        </p:nvSpPr>
        <p:spPr>
          <a:xfrm>
            <a:off x="4782312" y="2601468"/>
            <a:ext cx="365760" cy="365760"/>
          </a:xfrm>
          <a:prstGeom prst="ellipse">
            <a:avLst/>
          </a:prstGeom>
          <a:solidFill>
            <a:srgbClr val="1F6F78"/>
          </a:solidFill>
          <a:ln w="19050">
            <a:solidFill>
              <a:srgbClr val="FFFFFF"/>
            </a:solidFill>
            <a:prstDash val="solid"/>
          </a:ln>
        </p:spPr>
      </p:sp>
      <p:sp>
        <p:nvSpPr>
          <p:cNvPr id="13" name="Text 11"/>
          <p:cNvSpPr txBox="1"/>
          <p:nvPr/>
        </p:nvSpPr>
        <p:spPr>
          <a:xfrm>
            <a:off x="4782312" y="260146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Shape 12"/>
          <p:cNvSpPr/>
          <p:nvPr/>
        </p:nvSpPr>
        <p:spPr>
          <a:xfrm>
            <a:off x="4052621" y="2550719"/>
            <a:ext cx="365760" cy="365760"/>
          </a:xfrm>
          <a:prstGeom prst="ellipse">
            <a:avLst/>
          </a:prstGeom>
          <a:solidFill>
            <a:srgbClr val="7FA9AE"/>
          </a:solidFill>
          <a:ln w="19050">
            <a:solidFill>
              <a:srgbClr val="FFFFFF"/>
            </a:solidFill>
            <a:prstDash val="solid"/>
          </a:ln>
        </p:spPr>
      </p:sp>
      <p:sp>
        <p:nvSpPr>
          <p:cNvPr id="15" name="Text 13"/>
          <p:cNvSpPr txBox="1"/>
          <p:nvPr/>
        </p:nvSpPr>
        <p:spPr>
          <a:xfrm>
            <a:off x="4052621" y="2550719"/>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6" name="Shape 14"/>
          <p:cNvSpPr/>
          <p:nvPr/>
        </p:nvSpPr>
        <p:spPr>
          <a:xfrm>
            <a:off x="3456432" y="3702406"/>
            <a:ext cx="329184" cy="329184"/>
          </a:xfrm>
          <a:prstGeom prst="ellipse">
            <a:avLst/>
          </a:prstGeom>
          <a:solidFill>
            <a:srgbClr val="7FA9AE"/>
          </a:solidFill>
          <a:ln w="19050">
            <a:solidFill>
              <a:srgbClr val="FFFFFF"/>
            </a:solidFill>
            <a:prstDash val="solid"/>
          </a:ln>
        </p:spPr>
      </p:sp>
      <p:sp>
        <p:nvSpPr>
          <p:cNvPr id="17" name="Text 15"/>
          <p:cNvSpPr txBox="1"/>
          <p:nvPr/>
        </p:nvSpPr>
        <p:spPr>
          <a:xfrm>
            <a:off x="3456432" y="370240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8" name="Shape 16"/>
          <p:cNvSpPr/>
          <p:nvPr/>
        </p:nvSpPr>
        <p:spPr>
          <a:xfrm>
            <a:off x="2699309" y="2710739"/>
            <a:ext cx="384048" cy="384048"/>
          </a:xfrm>
          <a:prstGeom prst="ellipse">
            <a:avLst/>
          </a:prstGeom>
          <a:solidFill>
            <a:srgbClr val="7FA9AE"/>
          </a:solidFill>
          <a:ln w="19050">
            <a:solidFill>
              <a:srgbClr val="FFFFFF"/>
            </a:solidFill>
            <a:prstDash val="solid"/>
          </a:ln>
        </p:spPr>
      </p:sp>
      <p:sp>
        <p:nvSpPr>
          <p:cNvPr id="19" name="Text 17"/>
          <p:cNvSpPr txBox="1"/>
          <p:nvPr/>
        </p:nvSpPr>
        <p:spPr>
          <a:xfrm>
            <a:off x="2699309" y="2710739"/>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0" name="Text 18"/>
          <p:cNvSpPr txBox="1"/>
          <p:nvPr/>
        </p:nvSpPr>
        <p:spPr>
          <a:xfrm>
            <a:off x="1005840" y="5029200"/>
            <a:ext cx="365760" cy="228600"/>
          </a:xfrm>
          <a:prstGeom prst="rect">
            <a:avLst/>
          </a:prstGeom>
          <a:noFill/>
          <a:ln/>
        </p:spPr>
        <p:txBody>
          <a:bodyPr wrap="square" lIns="0" tIns="0" rIns="0" bIns="0" rtlCol="0" anchor="t"/>
          <a:lstStyle/>
          <a:p>
            <a:pPr algn="ctr" indent="0" marL="0">
              <a:buNone/>
            </a:pPr>
            <a:r>
              <a:rPr lang="en-US" sz="1000" dirty="0">
                <a:solidFill>
                  <a:srgbClr val="5B6B75"/>
                </a:solidFill>
                <a:latin typeface="Calibri" pitchFamily="34" charset="0"/>
                <a:ea typeface="Calibri" pitchFamily="34" charset="-122"/>
                <a:cs typeface="Calibri" pitchFamily="34" charset="-120"/>
              </a:rPr>
              <a:t>1</a:t>
            </a:r>
            <a:endParaRPr lang="en-US" sz="1000" dirty="0"/>
          </a:p>
        </p:txBody>
      </p:sp>
      <p:sp>
        <p:nvSpPr>
          <p:cNvPr id="21" name="Text 19"/>
          <p:cNvSpPr txBox="1"/>
          <p:nvPr/>
        </p:nvSpPr>
        <p:spPr>
          <a:xfrm>
            <a:off x="2286000" y="5029200"/>
            <a:ext cx="365760" cy="228600"/>
          </a:xfrm>
          <a:prstGeom prst="rect">
            <a:avLst/>
          </a:prstGeom>
          <a:noFill/>
          <a:ln/>
        </p:spPr>
        <p:txBody>
          <a:bodyPr wrap="square" lIns="0" tIns="0" rIns="0" bIns="0" rtlCol="0" anchor="t"/>
          <a:lstStyle/>
          <a:p>
            <a:pPr algn="ctr" indent="0" marL="0">
              <a:buNone/>
            </a:pPr>
            <a:r>
              <a:rPr lang="en-US" sz="1000" dirty="0">
                <a:solidFill>
                  <a:srgbClr val="5B6B75"/>
                </a:solidFill>
                <a:latin typeface="Calibri" pitchFamily="34" charset="0"/>
                <a:ea typeface="Calibri" pitchFamily="34" charset="-122"/>
                <a:cs typeface="Calibri" pitchFamily="34" charset="-120"/>
              </a:rPr>
              <a:t>2</a:t>
            </a:r>
            <a:endParaRPr lang="en-US" sz="1000" dirty="0"/>
          </a:p>
        </p:txBody>
      </p:sp>
      <p:sp>
        <p:nvSpPr>
          <p:cNvPr id="22" name="Text 20"/>
          <p:cNvSpPr txBox="1"/>
          <p:nvPr/>
        </p:nvSpPr>
        <p:spPr>
          <a:xfrm>
            <a:off x="3566160" y="5029200"/>
            <a:ext cx="365760" cy="228600"/>
          </a:xfrm>
          <a:prstGeom prst="rect">
            <a:avLst/>
          </a:prstGeom>
          <a:noFill/>
          <a:ln/>
        </p:spPr>
        <p:txBody>
          <a:bodyPr wrap="square" lIns="0" tIns="0" rIns="0" bIns="0" rtlCol="0" anchor="t"/>
          <a:lstStyle/>
          <a:p>
            <a:pPr algn="ctr" indent="0" marL="0">
              <a:buNone/>
            </a:pPr>
            <a:r>
              <a:rPr lang="en-US" sz="1000" dirty="0">
                <a:solidFill>
                  <a:srgbClr val="5B6B75"/>
                </a:solidFill>
                <a:latin typeface="Calibri" pitchFamily="34" charset="0"/>
                <a:ea typeface="Calibri" pitchFamily="34" charset="-122"/>
                <a:cs typeface="Calibri" pitchFamily="34" charset="-120"/>
              </a:rPr>
              <a:t>3</a:t>
            </a:r>
            <a:endParaRPr lang="en-US" sz="1000" dirty="0"/>
          </a:p>
        </p:txBody>
      </p:sp>
      <p:sp>
        <p:nvSpPr>
          <p:cNvPr id="23" name="Text 21"/>
          <p:cNvSpPr txBox="1"/>
          <p:nvPr/>
        </p:nvSpPr>
        <p:spPr>
          <a:xfrm>
            <a:off x="4846320" y="5029200"/>
            <a:ext cx="365760" cy="228600"/>
          </a:xfrm>
          <a:prstGeom prst="rect">
            <a:avLst/>
          </a:prstGeom>
          <a:noFill/>
          <a:ln/>
        </p:spPr>
        <p:txBody>
          <a:bodyPr wrap="square" lIns="0" tIns="0" rIns="0" bIns="0" rtlCol="0" anchor="t"/>
          <a:lstStyle/>
          <a:p>
            <a:pPr algn="ctr" indent="0" marL="0">
              <a:buNone/>
            </a:pPr>
            <a:r>
              <a:rPr lang="en-US" sz="1000" dirty="0">
                <a:solidFill>
                  <a:srgbClr val="5B6B75"/>
                </a:solidFill>
                <a:latin typeface="Calibri" pitchFamily="34" charset="0"/>
                <a:ea typeface="Calibri" pitchFamily="34" charset="-122"/>
                <a:cs typeface="Calibri" pitchFamily="34" charset="-120"/>
              </a:rPr>
              <a:t>4</a:t>
            </a:r>
            <a:endParaRPr lang="en-US" sz="1000" dirty="0"/>
          </a:p>
        </p:txBody>
      </p:sp>
      <p:sp>
        <p:nvSpPr>
          <p:cNvPr id="24" name="Text 22"/>
          <p:cNvSpPr txBox="1"/>
          <p:nvPr/>
        </p:nvSpPr>
        <p:spPr>
          <a:xfrm>
            <a:off x="6126480" y="5029200"/>
            <a:ext cx="365760" cy="228600"/>
          </a:xfrm>
          <a:prstGeom prst="rect">
            <a:avLst/>
          </a:prstGeom>
          <a:noFill/>
          <a:ln/>
        </p:spPr>
        <p:txBody>
          <a:bodyPr wrap="square" lIns="0" tIns="0" rIns="0" bIns="0" rtlCol="0" anchor="t"/>
          <a:lstStyle/>
          <a:p>
            <a:pPr algn="ctr" indent="0" marL="0">
              <a:buNone/>
            </a:pPr>
            <a:r>
              <a:rPr lang="en-US" sz="1000" dirty="0">
                <a:solidFill>
                  <a:srgbClr val="5B6B75"/>
                </a:solidFill>
                <a:latin typeface="Calibri" pitchFamily="34" charset="0"/>
                <a:ea typeface="Calibri" pitchFamily="34" charset="-122"/>
                <a:cs typeface="Calibri" pitchFamily="34" charset="-120"/>
              </a:rPr>
              <a:t>5</a:t>
            </a:r>
            <a:endParaRPr lang="en-US" sz="1000" dirty="0"/>
          </a:p>
        </p:txBody>
      </p:sp>
      <p:sp>
        <p:nvSpPr>
          <p:cNvPr id="25" name="Text 23"/>
          <p:cNvSpPr txBox="1"/>
          <p:nvPr/>
        </p:nvSpPr>
        <p:spPr>
          <a:xfrm>
            <a:off x="868680" y="4873752"/>
            <a:ext cx="228600" cy="228600"/>
          </a:xfrm>
          <a:prstGeom prst="rect">
            <a:avLst/>
          </a:prstGeom>
          <a:noFill/>
          <a:ln/>
        </p:spPr>
        <p:txBody>
          <a:bodyPr wrap="square" lIns="0" tIns="0" rIns="0" bIns="0" rtlCol="0" anchor="t"/>
          <a:lstStyle/>
          <a:p>
            <a:pPr algn="r" indent="0" marL="0">
              <a:buNone/>
            </a:pPr>
            <a:r>
              <a:rPr lang="en-US" sz="1000" dirty="0">
                <a:solidFill>
                  <a:srgbClr val="5B6B75"/>
                </a:solidFill>
                <a:latin typeface="Calibri" pitchFamily="34" charset="0"/>
                <a:ea typeface="Calibri" pitchFamily="34" charset="-122"/>
                <a:cs typeface="Calibri" pitchFamily="34" charset="-120"/>
              </a:rPr>
              <a:t>3</a:t>
            </a:r>
            <a:endParaRPr lang="en-US" sz="1000" dirty="0"/>
          </a:p>
        </p:txBody>
      </p:sp>
      <p:sp>
        <p:nvSpPr>
          <p:cNvPr id="26" name="Text 24"/>
          <p:cNvSpPr txBox="1"/>
          <p:nvPr/>
        </p:nvSpPr>
        <p:spPr>
          <a:xfrm>
            <a:off x="868680" y="3182112"/>
            <a:ext cx="228600" cy="228600"/>
          </a:xfrm>
          <a:prstGeom prst="rect">
            <a:avLst/>
          </a:prstGeom>
          <a:noFill/>
          <a:ln/>
        </p:spPr>
        <p:txBody>
          <a:bodyPr wrap="square" lIns="0" tIns="0" rIns="0" bIns="0" rtlCol="0" anchor="t"/>
          <a:lstStyle/>
          <a:p>
            <a:pPr algn="r" indent="0" marL="0">
              <a:buNone/>
            </a:pPr>
            <a:r>
              <a:rPr lang="en-US" sz="1000" dirty="0">
                <a:solidFill>
                  <a:srgbClr val="5B6B75"/>
                </a:solidFill>
                <a:latin typeface="Calibri" pitchFamily="34" charset="0"/>
                <a:ea typeface="Calibri" pitchFamily="34" charset="-122"/>
                <a:cs typeface="Calibri" pitchFamily="34" charset="-120"/>
              </a:rPr>
              <a:t>4</a:t>
            </a:r>
            <a:endParaRPr lang="en-US" sz="1000" dirty="0"/>
          </a:p>
        </p:txBody>
      </p:sp>
      <p:sp>
        <p:nvSpPr>
          <p:cNvPr id="27" name="Text 25"/>
          <p:cNvSpPr txBox="1"/>
          <p:nvPr/>
        </p:nvSpPr>
        <p:spPr>
          <a:xfrm>
            <a:off x="868680" y="1490472"/>
            <a:ext cx="228600" cy="228600"/>
          </a:xfrm>
          <a:prstGeom prst="rect">
            <a:avLst/>
          </a:prstGeom>
          <a:noFill/>
          <a:ln/>
        </p:spPr>
        <p:txBody>
          <a:bodyPr wrap="square" lIns="0" tIns="0" rIns="0" bIns="0" rtlCol="0" anchor="t"/>
          <a:lstStyle/>
          <a:p>
            <a:pPr algn="r" indent="0" marL="0">
              <a:buNone/>
            </a:pPr>
            <a:r>
              <a:rPr lang="en-US" sz="1000" dirty="0">
                <a:solidFill>
                  <a:srgbClr val="5B6B75"/>
                </a:solidFill>
                <a:latin typeface="Calibri" pitchFamily="34" charset="0"/>
                <a:ea typeface="Calibri" pitchFamily="34" charset="-122"/>
                <a:cs typeface="Calibri" pitchFamily="34" charset="-120"/>
              </a:rPr>
              <a:t>5</a:t>
            </a:r>
            <a:endParaRPr lang="en-US" sz="1000" dirty="0"/>
          </a:p>
        </p:txBody>
      </p:sp>
      <p:sp>
        <p:nvSpPr>
          <p:cNvPr id="28" name="Text 26"/>
          <p:cNvSpPr txBox="1"/>
          <p:nvPr/>
        </p:nvSpPr>
        <p:spPr>
          <a:xfrm>
            <a:off x="1188720" y="5257800"/>
            <a:ext cx="5120640" cy="274320"/>
          </a:xfrm>
          <a:prstGeom prst="rect">
            <a:avLst/>
          </a:prstGeom>
          <a:noFill/>
          <a:ln/>
        </p:spPr>
        <p:txBody>
          <a:bodyPr wrap="square" lIns="0" tIns="0" rIns="0" bIns="0" rtlCol="0" anchor="t"/>
          <a:lstStyle/>
          <a:p>
            <a:pPr algn="ctr" indent="0" marL="0">
              <a:buNone/>
            </a:pPr>
            <a:r>
              <a:rPr lang="en-US" sz="1200" dirty="0">
                <a:solidFill>
                  <a:srgbClr val="5B6B75"/>
                </a:solidFill>
                <a:latin typeface="Calibri" pitchFamily="34" charset="0"/>
                <a:ea typeface="Calibri" pitchFamily="34" charset="-122"/>
                <a:cs typeface="Calibri" pitchFamily="34" charset="-120"/>
              </a:rPr>
              <a:t>Implementation feasibility</a:t>
            </a:r>
            <a:endParaRPr lang="en-US" sz="1200" dirty="0"/>
          </a:p>
        </p:txBody>
      </p:sp>
      <p:sp>
        <p:nvSpPr>
          <p:cNvPr id="29" name="Text 27"/>
          <p:cNvSpPr txBox="1"/>
          <p:nvPr/>
        </p:nvSpPr>
        <p:spPr>
          <a:xfrm>
            <a:off x="548640" y="1307592"/>
            <a:ext cx="914400" cy="274320"/>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Value</a:t>
            </a:r>
            <a:endParaRPr lang="en-US" sz="1200" dirty="0"/>
          </a:p>
        </p:txBody>
      </p:sp>
      <p:sp>
        <p:nvSpPr>
          <p:cNvPr id="30" name="Text 28"/>
          <p:cNvSpPr txBox="1"/>
          <p:nvPr/>
        </p:nvSpPr>
        <p:spPr>
          <a:xfrm>
            <a:off x="548640" y="5760720"/>
            <a:ext cx="8046720" cy="685800"/>
          </a:xfrm>
          <a:prstGeom prst="rect">
            <a:avLst/>
          </a:prstGeom>
          <a:noFill/>
          <a:ln/>
        </p:spPr>
        <p:txBody>
          <a:bodyPr wrap="square" lIns="0" tIns="0" rIns="0" bIns="0" rtlCol="0" anchor="t"/>
          <a:lstStyle/>
          <a:p>
            <a:pPr indent="0" marL="0">
              <a:buNone/>
            </a:pPr>
            <a:r>
              <a:rPr lang="en-US" sz="1150" dirty="0">
                <a:solidFill>
                  <a:srgbClr val="0E2A3B"/>
                </a:solidFill>
                <a:latin typeface="Calibri" pitchFamily="34" charset="0"/>
                <a:ea typeface="Calibri" pitchFamily="34" charset="-122"/>
                <a:cs typeface="Calibri" pitchFamily="34" charset="-120"/>
              </a:rPr>
              <a:t>1 Verified handover gate   2 Criticality triage</a:t>
            </a:r>
            <a:endParaRPr lang="en-US" sz="1150" dirty="0"/>
          </a:p>
          <a:p>
            <a:pPr indent="0" marL="0">
              <a:buNone/>
            </a:pPr>
            <a:r>
              <a:rPr lang="en-US" sz="1150" dirty="0">
                <a:solidFill>
                  <a:srgbClr val="0E2A3B"/>
                </a:solidFill>
                <a:latin typeface="Calibri" pitchFamily="34" charset="0"/>
                <a:ea typeface="Calibri" pitchFamily="34" charset="-122"/>
                <a:cs typeface="Calibri" pitchFamily="34" charset="-120"/>
              </a:rPr>
              <a:t>3 Named receiving owner   4 Standard handover pack</a:t>
            </a:r>
            <a:endParaRPr lang="en-US" sz="1150" dirty="0"/>
          </a:p>
          <a:p>
            <a:pPr indent="0" marL="0">
              <a:buNone/>
            </a:pPr>
            <a:r>
              <a:rPr lang="en-US" sz="1150" dirty="0">
                <a:solidFill>
                  <a:srgbClr val="0E2A3B"/>
                </a:solidFill>
                <a:latin typeface="Calibri" pitchFamily="34" charset="0"/>
                <a:ea typeface="Calibri" pitchFamily="34" charset="-122"/>
                <a:cs typeface="Calibri" pitchFamily="34" charset="-120"/>
              </a:rPr>
              <a:t>5 T+45 review   6 Deputy register (phase two)</a:t>
            </a:r>
            <a:endParaRPr lang="en-US" sz="1150" dirty="0"/>
          </a:p>
        </p:txBody>
      </p:sp>
      <p:sp>
        <p:nvSpPr>
          <p:cNvPr id="31" name="Shape 29"/>
          <p:cNvSpPr/>
          <p:nvPr/>
        </p:nvSpPr>
        <p:spPr>
          <a:xfrm>
            <a:off x="6766560" y="1508760"/>
            <a:ext cx="502920" cy="502920"/>
          </a:xfrm>
          <a:prstGeom prst="ellipse">
            <a:avLst/>
          </a:prstGeom>
          <a:solidFill>
            <a:srgbClr val="1F6F78"/>
          </a:solidFill>
          <a:ln w="12700">
            <a:solidFill>
              <a:srgbClr val="1F6F78"/>
            </a:solidFill>
            <a:prstDash val="solid"/>
          </a:ln>
        </p:spPr>
      </p:sp>
      <p:pic>
        <p:nvPicPr>
          <p:cNvPr id="32" name="Image 0" descr="preencoded.png">    </p:cNvPr>
          <p:cNvPicPr>
            <a:picLocks noChangeAspect="1"/>
          </p:cNvPicPr>
          <p:nvPr/>
        </p:nvPicPr>
        <p:blipFill>
          <a:blip r:embed="rId1"/>
          <a:stretch>
            <a:fillRect/>
          </a:stretch>
        </p:blipFill>
        <p:spPr>
          <a:xfrm>
            <a:off x="6907378" y="1649578"/>
            <a:ext cx="221285" cy="221285"/>
          </a:xfrm>
          <a:prstGeom prst="rect">
            <a:avLst/>
          </a:prstGeom>
        </p:spPr>
      </p:pic>
      <p:sp>
        <p:nvSpPr>
          <p:cNvPr id="33" name="Text 30"/>
          <p:cNvSpPr txBox="1"/>
          <p:nvPr/>
        </p:nvSpPr>
        <p:spPr>
          <a:xfrm>
            <a:off x="7406640" y="1490472"/>
            <a:ext cx="4206240" cy="274320"/>
          </a:xfrm>
          <a:prstGeom prst="rect">
            <a:avLst/>
          </a:prstGeom>
          <a:noFill/>
          <a:ln/>
        </p:spPr>
        <p:txBody>
          <a:bodyPr wrap="square" lIns="0" tIns="0" rIns="0" bIns="0" rtlCol="0" anchor="t"/>
          <a:lstStyle/>
          <a:p>
            <a:pPr indent="0" marL="0">
              <a:buNone/>
            </a:pPr>
            <a:r>
              <a:rPr lang="en-US" sz="1400" b="1" dirty="0">
                <a:solidFill>
                  <a:srgbClr val="0E2A3B"/>
                </a:solidFill>
                <a:latin typeface="Calibri" pitchFamily="34" charset="0"/>
                <a:ea typeface="Calibri" pitchFamily="34" charset="-122"/>
                <a:cs typeface="Calibri" pitchFamily="34" charset="-120"/>
              </a:rPr>
              <a:t>Strategic</a:t>
            </a:r>
            <a:endParaRPr lang="en-US" sz="1400" dirty="0"/>
          </a:p>
        </p:txBody>
      </p:sp>
      <p:sp>
        <p:nvSpPr>
          <p:cNvPr id="34" name="Text 31"/>
          <p:cNvSpPr txBox="1"/>
          <p:nvPr/>
        </p:nvSpPr>
        <p:spPr>
          <a:xfrm>
            <a:off x="7406640" y="1764792"/>
            <a:ext cx="4206240" cy="365760"/>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Protects the network and customer capabilities SPK 30 needs</a:t>
            </a:r>
            <a:endParaRPr lang="en-US" sz="1200" dirty="0"/>
          </a:p>
        </p:txBody>
      </p:sp>
      <p:sp>
        <p:nvSpPr>
          <p:cNvPr id="35" name="Shape 32"/>
          <p:cNvSpPr/>
          <p:nvPr/>
        </p:nvSpPr>
        <p:spPr>
          <a:xfrm>
            <a:off x="6766560" y="2221992"/>
            <a:ext cx="502920" cy="502920"/>
          </a:xfrm>
          <a:prstGeom prst="ellipse">
            <a:avLst/>
          </a:prstGeom>
          <a:solidFill>
            <a:srgbClr val="1F6F78"/>
          </a:solidFill>
          <a:ln w="12700">
            <a:solidFill>
              <a:srgbClr val="1F6F78"/>
            </a:solidFill>
            <a:prstDash val="solid"/>
          </a:ln>
        </p:spPr>
      </p:sp>
      <p:pic>
        <p:nvPicPr>
          <p:cNvPr id="36" name="Image 1" descr="preencoded.png">    </p:cNvPr>
          <p:cNvPicPr>
            <a:picLocks noChangeAspect="1"/>
          </p:cNvPicPr>
          <p:nvPr/>
        </p:nvPicPr>
        <p:blipFill>
          <a:blip r:embed="rId2"/>
          <a:stretch>
            <a:fillRect/>
          </a:stretch>
        </p:blipFill>
        <p:spPr>
          <a:xfrm>
            <a:off x="6907378" y="2362810"/>
            <a:ext cx="221285" cy="221285"/>
          </a:xfrm>
          <a:prstGeom prst="rect">
            <a:avLst/>
          </a:prstGeom>
        </p:spPr>
      </p:pic>
      <p:sp>
        <p:nvSpPr>
          <p:cNvPr id="37" name="Text 33"/>
          <p:cNvSpPr txBox="1"/>
          <p:nvPr/>
        </p:nvSpPr>
        <p:spPr>
          <a:xfrm>
            <a:off x="7406640" y="2203704"/>
            <a:ext cx="4206240" cy="274320"/>
          </a:xfrm>
          <a:prstGeom prst="rect">
            <a:avLst/>
          </a:prstGeom>
          <a:noFill/>
          <a:ln/>
        </p:spPr>
        <p:txBody>
          <a:bodyPr wrap="square" lIns="0" tIns="0" rIns="0" bIns="0" rtlCol="0" anchor="t"/>
          <a:lstStyle/>
          <a:p>
            <a:pPr indent="0" marL="0">
              <a:buNone/>
            </a:pPr>
            <a:r>
              <a:rPr lang="en-US" sz="1400" b="1" dirty="0">
                <a:solidFill>
                  <a:srgbClr val="0E2A3B"/>
                </a:solidFill>
                <a:latin typeface="Calibri" pitchFamily="34" charset="0"/>
                <a:ea typeface="Calibri" pitchFamily="34" charset="-122"/>
                <a:cs typeface="Calibri" pitchFamily="34" charset="-120"/>
              </a:rPr>
              <a:t>Operational</a:t>
            </a:r>
            <a:endParaRPr lang="en-US" sz="1400" dirty="0"/>
          </a:p>
        </p:txBody>
      </p:sp>
      <p:sp>
        <p:nvSpPr>
          <p:cNvPr id="38" name="Text 34"/>
          <p:cNvSpPr txBox="1"/>
          <p:nvPr/>
        </p:nvSpPr>
        <p:spPr>
          <a:xfrm>
            <a:off x="7406640" y="2478024"/>
            <a:ext cx="4206240" cy="365760"/>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Less rework and escalation; faster independence</a:t>
            </a:r>
            <a:endParaRPr lang="en-US" sz="1200" dirty="0"/>
          </a:p>
        </p:txBody>
      </p:sp>
      <p:sp>
        <p:nvSpPr>
          <p:cNvPr id="39" name="Shape 35"/>
          <p:cNvSpPr/>
          <p:nvPr/>
        </p:nvSpPr>
        <p:spPr>
          <a:xfrm>
            <a:off x="6766560" y="2935224"/>
            <a:ext cx="502920" cy="502920"/>
          </a:xfrm>
          <a:prstGeom prst="ellipse">
            <a:avLst/>
          </a:prstGeom>
          <a:solidFill>
            <a:srgbClr val="1F6F78"/>
          </a:solidFill>
          <a:ln w="12700">
            <a:solidFill>
              <a:srgbClr val="1F6F78"/>
            </a:solidFill>
            <a:prstDash val="solid"/>
          </a:ln>
        </p:spPr>
      </p:sp>
      <p:pic>
        <p:nvPicPr>
          <p:cNvPr id="40" name="Image 2" descr="preencoded.png">    </p:cNvPr>
          <p:cNvPicPr>
            <a:picLocks noChangeAspect="1"/>
          </p:cNvPicPr>
          <p:nvPr/>
        </p:nvPicPr>
        <p:blipFill>
          <a:blip r:embed="rId3"/>
          <a:stretch>
            <a:fillRect/>
          </a:stretch>
        </p:blipFill>
        <p:spPr>
          <a:xfrm>
            <a:off x="6907378" y="3076042"/>
            <a:ext cx="221285" cy="221285"/>
          </a:xfrm>
          <a:prstGeom prst="rect">
            <a:avLst/>
          </a:prstGeom>
        </p:spPr>
      </p:pic>
      <p:sp>
        <p:nvSpPr>
          <p:cNvPr id="41" name="Text 36"/>
          <p:cNvSpPr txBox="1"/>
          <p:nvPr/>
        </p:nvSpPr>
        <p:spPr>
          <a:xfrm>
            <a:off x="7406640" y="2916936"/>
            <a:ext cx="4206240" cy="274320"/>
          </a:xfrm>
          <a:prstGeom prst="rect">
            <a:avLst/>
          </a:prstGeom>
          <a:noFill/>
          <a:ln/>
        </p:spPr>
        <p:txBody>
          <a:bodyPr wrap="square" lIns="0" tIns="0" rIns="0" bIns="0" rtlCol="0" anchor="t"/>
          <a:lstStyle/>
          <a:p>
            <a:pPr indent="0" marL="0">
              <a:buNone/>
            </a:pPr>
            <a:r>
              <a:rPr lang="en-US" sz="1400" b="1" dirty="0">
                <a:solidFill>
                  <a:srgbClr val="0E2A3B"/>
                </a:solidFill>
                <a:latin typeface="Calibri" pitchFamily="34" charset="0"/>
                <a:ea typeface="Calibri" pitchFamily="34" charset="-122"/>
                <a:cs typeface="Calibri" pitchFamily="34" charset="-120"/>
              </a:rPr>
              <a:t>Organisational</a:t>
            </a:r>
            <a:endParaRPr lang="en-US" sz="1400" dirty="0"/>
          </a:p>
        </p:txBody>
      </p:sp>
      <p:sp>
        <p:nvSpPr>
          <p:cNvPr id="42" name="Text 37"/>
          <p:cNvSpPr txBox="1"/>
          <p:nvPr/>
        </p:nvSpPr>
        <p:spPr>
          <a:xfrm>
            <a:off x="7406640" y="3191256"/>
            <a:ext cx="4206240" cy="365760"/>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Clear ownership; shows weak deputy cover</a:t>
            </a:r>
            <a:endParaRPr lang="en-US" sz="1200" dirty="0"/>
          </a:p>
        </p:txBody>
      </p:sp>
      <p:sp>
        <p:nvSpPr>
          <p:cNvPr id="43" name="Shape 38"/>
          <p:cNvSpPr/>
          <p:nvPr/>
        </p:nvSpPr>
        <p:spPr>
          <a:xfrm>
            <a:off x="6766560" y="3648456"/>
            <a:ext cx="502920" cy="502920"/>
          </a:xfrm>
          <a:prstGeom prst="ellipse">
            <a:avLst/>
          </a:prstGeom>
          <a:solidFill>
            <a:srgbClr val="1F6F78"/>
          </a:solidFill>
          <a:ln w="12700">
            <a:solidFill>
              <a:srgbClr val="1F6F78"/>
            </a:solidFill>
            <a:prstDash val="solid"/>
          </a:ln>
        </p:spPr>
      </p:sp>
      <p:pic>
        <p:nvPicPr>
          <p:cNvPr id="44" name="Image 3" descr="preencoded.png">    </p:cNvPr>
          <p:cNvPicPr>
            <a:picLocks noChangeAspect="1"/>
          </p:cNvPicPr>
          <p:nvPr/>
        </p:nvPicPr>
        <p:blipFill>
          <a:blip r:embed="rId4"/>
          <a:stretch>
            <a:fillRect/>
          </a:stretch>
        </p:blipFill>
        <p:spPr>
          <a:xfrm>
            <a:off x="6907378" y="3789274"/>
            <a:ext cx="221285" cy="221285"/>
          </a:xfrm>
          <a:prstGeom prst="rect">
            <a:avLst/>
          </a:prstGeom>
        </p:spPr>
      </p:pic>
      <p:sp>
        <p:nvSpPr>
          <p:cNvPr id="45" name="Text 39"/>
          <p:cNvSpPr txBox="1"/>
          <p:nvPr/>
        </p:nvSpPr>
        <p:spPr>
          <a:xfrm>
            <a:off x="7406640" y="3630168"/>
            <a:ext cx="4206240" cy="274320"/>
          </a:xfrm>
          <a:prstGeom prst="rect">
            <a:avLst/>
          </a:prstGeom>
          <a:noFill/>
          <a:ln/>
        </p:spPr>
        <p:txBody>
          <a:bodyPr wrap="square" lIns="0" tIns="0" rIns="0" bIns="0" rtlCol="0" anchor="t"/>
          <a:lstStyle/>
          <a:p>
            <a:pPr indent="0" marL="0">
              <a:buNone/>
            </a:pPr>
            <a:r>
              <a:rPr lang="en-US" sz="1400" b="1" dirty="0">
                <a:solidFill>
                  <a:srgbClr val="0E2A3B"/>
                </a:solidFill>
                <a:latin typeface="Calibri" pitchFamily="34" charset="0"/>
                <a:ea typeface="Calibri" pitchFamily="34" charset="-122"/>
                <a:cs typeface="Calibri" pitchFamily="34" charset="-120"/>
              </a:rPr>
              <a:t>Governance</a:t>
            </a:r>
            <a:endParaRPr lang="en-US" sz="1400" dirty="0"/>
          </a:p>
        </p:txBody>
      </p:sp>
      <p:sp>
        <p:nvSpPr>
          <p:cNvPr id="46" name="Text 40"/>
          <p:cNvSpPr txBox="1"/>
          <p:nvPr/>
        </p:nvSpPr>
        <p:spPr>
          <a:xfrm>
            <a:off x="7406640" y="3904488"/>
            <a:ext cx="4206240" cy="365760"/>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Links labour savings to hidden recovery cost</a:t>
            </a:r>
            <a:endParaRPr lang="en-US" sz="1200" dirty="0"/>
          </a:p>
        </p:txBody>
      </p:sp>
    </p:spTree>
  </p:cSld>
  <p:clrMapOvr>
    <a:masterClrMapping/>
  </p:clrMapOvr>
  <p:transition spd="med" advTm="20000">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CLIENT RESPONSIBILITIES AND COLLABORATION</a:t>
            </a:r>
            <a:endParaRPr lang="en-US" sz="1200" dirty="0"/>
          </a:p>
        </p:txBody>
      </p:sp>
      <p:sp>
        <p:nvSpPr>
          <p:cNvPr id="3" name="Text 1"/>
          <p:cNvSpPr txBox="1"/>
          <p:nvPr/>
        </p:nvSpPr>
        <p:spPr>
          <a:xfrm>
            <a:off x="10241280" y="320040"/>
            <a:ext cx="1371600" cy="274320"/>
          </a:xfrm>
          <a:prstGeom prst="rect">
            <a:avLst/>
          </a:prstGeom>
          <a:noFill/>
          <a:ln/>
        </p:spPr>
        <p:txBody>
          <a:bodyPr wrap="square" lIns="0" tIns="0" rIns="0" bIns="0" rtlCol="0" anchor="ctr"/>
          <a:lstStyle/>
          <a:p>
            <a:pPr algn="r" indent="0" marL="0">
              <a:buNone/>
            </a:pPr>
            <a:r>
              <a:rPr lang="en-US" sz="1100" dirty="0">
                <a:solidFill>
                  <a:srgbClr val="5B6B75"/>
                </a:solidFill>
                <a:latin typeface="Calibri" pitchFamily="34" charset="0"/>
                <a:ea typeface="Calibri" pitchFamily="34" charset="-122"/>
                <a:cs typeface="Calibri" pitchFamily="34" charset="-120"/>
              </a:rPr>
              <a:t>18 / 20</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0E2A3B"/>
                </a:solidFill>
                <a:latin typeface="Cambria" pitchFamily="34" charset="0"/>
                <a:ea typeface="Cambria" pitchFamily="34" charset="-122"/>
                <a:cs typeface="Cambria" pitchFamily="34" charset="-120"/>
              </a:rPr>
              <a:t>What we need from Spark</a:t>
            </a:r>
            <a:endParaRPr lang="en-US" sz="3000" dirty="0"/>
          </a:p>
        </p:txBody>
      </p:sp>
      <p:sp>
        <p:nvSpPr>
          <p:cNvPr id="5" name="Shape 3"/>
          <p:cNvSpPr/>
          <p:nvPr/>
        </p:nvSpPr>
        <p:spPr>
          <a:xfrm>
            <a:off x="749808" y="1737360"/>
            <a:ext cx="0" cy="3108960"/>
          </a:xfrm>
          <a:prstGeom prst="line">
            <a:avLst/>
          </a:prstGeom>
          <a:noFill/>
          <a:ln w="25400">
            <a:solidFill>
              <a:srgbClr val="D5DEE2"/>
            </a:solidFill>
            <a:prstDash val="solid"/>
          </a:ln>
        </p:spPr>
      </p:sp>
      <p:sp>
        <p:nvSpPr>
          <p:cNvPr id="6" name="Shape 4"/>
          <p:cNvSpPr/>
          <p:nvPr/>
        </p:nvSpPr>
        <p:spPr>
          <a:xfrm>
            <a:off x="612648" y="1627632"/>
            <a:ext cx="274320" cy="274320"/>
          </a:xfrm>
          <a:prstGeom prst="ellipse">
            <a:avLst/>
          </a:prstGeom>
          <a:solidFill>
            <a:srgbClr val="E8A33D"/>
          </a:solidFill>
          <a:ln w="19050">
            <a:solidFill>
              <a:srgbClr val="FFFFFF"/>
            </a:solidFill>
            <a:prstDash val="solid"/>
          </a:ln>
        </p:spPr>
      </p:sp>
      <p:sp>
        <p:nvSpPr>
          <p:cNvPr id="7" name="Text 5"/>
          <p:cNvSpPr txBox="1"/>
          <p:nvPr/>
        </p:nvSpPr>
        <p:spPr>
          <a:xfrm>
            <a:off x="1097280" y="1609344"/>
            <a:ext cx="1463040" cy="320040"/>
          </a:xfrm>
          <a:prstGeom prst="rect">
            <a:avLst/>
          </a:prstGeom>
          <a:noFill/>
          <a:ln/>
        </p:spPr>
        <p:txBody>
          <a:bodyPr wrap="square" lIns="0" tIns="0" rIns="0" bIns="0" rtlCol="0" anchor="t"/>
          <a:lstStyle/>
          <a:p>
            <a:pPr indent="0" marL="0">
              <a:buNone/>
            </a:pPr>
            <a:r>
              <a:rPr lang="en-US" sz="1300" b="1" dirty="0">
                <a:solidFill>
                  <a:srgbClr val="1F6F78"/>
                </a:solidFill>
                <a:latin typeface="Calibri" pitchFamily="34" charset="0"/>
                <a:ea typeface="Calibri" pitchFamily="34" charset="-122"/>
                <a:cs typeface="Calibri" pitchFamily="34" charset="-120"/>
              </a:rPr>
              <a:t>Before kick-off</a:t>
            </a:r>
            <a:endParaRPr lang="en-US" sz="1300" dirty="0"/>
          </a:p>
        </p:txBody>
      </p:sp>
      <p:sp>
        <p:nvSpPr>
          <p:cNvPr id="8" name="Text 6"/>
          <p:cNvSpPr txBox="1"/>
          <p:nvPr/>
        </p:nvSpPr>
        <p:spPr>
          <a:xfrm>
            <a:off x="2606040" y="1609344"/>
            <a:ext cx="3749040" cy="548640"/>
          </a:xfrm>
          <a:prstGeom prst="rect">
            <a:avLst/>
          </a:prstGeom>
          <a:noFill/>
          <a:ln/>
        </p:spPr>
        <p:txBody>
          <a:bodyPr wrap="square" lIns="0" tIns="0" rIns="0" bIns="0" rtlCol="0" anchor="t"/>
          <a:lstStyle/>
          <a:p>
            <a:pPr indent="0" marL="0">
              <a:buNone/>
            </a:pPr>
            <a:r>
              <a:rPr lang="en-US" sz="1300" dirty="0">
                <a:solidFill>
                  <a:srgbClr val="0E2A3B"/>
                </a:solidFill>
                <a:latin typeface="Calibri" pitchFamily="34" charset="0"/>
                <a:ea typeface="Calibri" pitchFamily="34" charset="-122"/>
                <a:cs typeface="Calibri" pitchFamily="34" charset="-120"/>
              </a:rPr>
              <a:t>Nominate executive sponsor and process owner</a:t>
            </a:r>
            <a:endParaRPr lang="en-US" sz="1300" dirty="0"/>
          </a:p>
        </p:txBody>
      </p:sp>
      <p:sp>
        <p:nvSpPr>
          <p:cNvPr id="9" name="Shape 7"/>
          <p:cNvSpPr/>
          <p:nvPr/>
        </p:nvSpPr>
        <p:spPr>
          <a:xfrm>
            <a:off x="612648" y="2286000"/>
            <a:ext cx="274320" cy="274320"/>
          </a:xfrm>
          <a:prstGeom prst="ellipse">
            <a:avLst/>
          </a:prstGeom>
          <a:solidFill>
            <a:srgbClr val="1F6F78"/>
          </a:solidFill>
          <a:ln w="19050">
            <a:solidFill>
              <a:srgbClr val="FFFFFF"/>
            </a:solidFill>
            <a:prstDash val="solid"/>
          </a:ln>
        </p:spPr>
      </p:sp>
      <p:sp>
        <p:nvSpPr>
          <p:cNvPr id="10" name="Text 8"/>
          <p:cNvSpPr txBox="1"/>
          <p:nvPr/>
        </p:nvSpPr>
        <p:spPr>
          <a:xfrm>
            <a:off x="1097280" y="2267712"/>
            <a:ext cx="1463040" cy="320040"/>
          </a:xfrm>
          <a:prstGeom prst="rect">
            <a:avLst/>
          </a:prstGeom>
          <a:noFill/>
          <a:ln/>
        </p:spPr>
        <p:txBody>
          <a:bodyPr wrap="square" lIns="0" tIns="0" rIns="0" bIns="0" rtlCol="0" anchor="t"/>
          <a:lstStyle/>
          <a:p>
            <a:pPr indent="0" marL="0">
              <a:buNone/>
            </a:pPr>
            <a:r>
              <a:rPr lang="en-US" sz="1300" b="1" dirty="0">
                <a:solidFill>
                  <a:srgbClr val="1F6F78"/>
                </a:solidFill>
                <a:latin typeface="Calibri" pitchFamily="34" charset="0"/>
                <a:ea typeface="Calibri" pitchFamily="34" charset="-122"/>
                <a:cs typeface="Calibri" pitchFamily="34" charset="-120"/>
              </a:rPr>
              <a:t>Week 1</a:t>
            </a:r>
            <a:endParaRPr lang="en-US" sz="1300" dirty="0"/>
          </a:p>
        </p:txBody>
      </p:sp>
      <p:sp>
        <p:nvSpPr>
          <p:cNvPr id="11" name="Text 9"/>
          <p:cNvSpPr txBox="1"/>
          <p:nvPr/>
        </p:nvSpPr>
        <p:spPr>
          <a:xfrm>
            <a:off x="2606040" y="2267712"/>
            <a:ext cx="3749040" cy="548640"/>
          </a:xfrm>
          <a:prstGeom prst="rect">
            <a:avLst/>
          </a:prstGeom>
          <a:noFill/>
          <a:ln/>
        </p:spPr>
        <p:txBody>
          <a:bodyPr wrap="square" lIns="0" tIns="0" rIns="0" bIns="0" rtlCol="0" anchor="t"/>
          <a:lstStyle/>
          <a:p>
            <a:pPr indent="0" marL="0">
              <a:buNone/>
            </a:pPr>
            <a:r>
              <a:rPr lang="en-US" sz="1300" dirty="0">
                <a:solidFill>
                  <a:srgbClr val="0E2A3B"/>
                </a:solidFill>
                <a:latin typeface="Calibri" pitchFamily="34" charset="0"/>
                <a:ea typeface="Calibri" pitchFamily="34" charset="-122"/>
                <a:cs typeface="Calibri" pitchFamily="34" charset="-120"/>
              </a:rPr>
              <a:t>Controlled access to HRIS, entitlement, ITSM and finance data</a:t>
            </a:r>
            <a:endParaRPr lang="en-US" sz="1300" dirty="0"/>
          </a:p>
        </p:txBody>
      </p:sp>
      <p:sp>
        <p:nvSpPr>
          <p:cNvPr id="12" name="Shape 10"/>
          <p:cNvSpPr/>
          <p:nvPr/>
        </p:nvSpPr>
        <p:spPr>
          <a:xfrm>
            <a:off x="612648" y="2944368"/>
            <a:ext cx="274320" cy="274320"/>
          </a:xfrm>
          <a:prstGeom prst="ellipse">
            <a:avLst/>
          </a:prstGeom>
          <a:solidFill>
            <a:srgbClr val="1F6F78"/>
          </a:solidFill>
          <a:ln w="19050">
            <a:solidFill>
              <a:srgbClr val="FFFFFF"/>
            </a:solidFill>
            <a:prstDash val="solid"/>
          </a:ln>
        </p:spPr>
      </p:sp>
      <p:sp>
        <p:nvSpPr>
          <p:cNvPr id="13" name="Text 11"/>
          <p:cNvSpPr txBox="1"/>
          <p:nvPr/>
        </p:nvSpPr>
        <p:spPr>
          <a:xfrm>
            <a:off x="1097280" y="2926080"/>
            <a:ext cx="1463040" cy="320040"/>
          </a:xfrm>
          <a:prstGeom prst="rect">
            <a:avLst/>
          </a:prstGeom>
          <a:noFill/>
          <a:ln/>
        </p:spPr>
        <p:txBody>
          <a:bodyPr wrap="square" lIns="0" tIns="0" rIns="0" bIns="0" rtlCol="0" anchor="t"/>
          <a:lstStyle/>
          <a:p>
            <a:pPr indent="0" marL="0">
              <a:buNone/>
            </a:pPr>
            <a:r>
              <a:rPr lang="en-US" sz="1300" b="1" dirty="0">
                <a:solidFill>
                  <a:srgbClr val="1F6F78"/>
                </a:solidFill>
                <a:latin typeface="Calibri" pitchFamily="34" charset="0"/>
                <a:ea typeface="Calibri" pitchFamily="34" charset="-122"/>
                <a:cs typeface="Calibri" pitchFamily="34" charset="-120"/>
              </a:rPr>
              <a:t>Weeks 1-8</a:t>
            </a:r>
            <a:endParaRPr lang="en-US" sz="1300" dirty="0"/>
          </a:p>
        </p:txBody>
      </p:sp>
      <p:sp>
        <p:nvSpPr>
          <p:cNvPr id="14" name="Text 12"/>
          <p:cNvSpPr txBox="1"/>
          <p:nvPr/>
        </p:nvSpPr>
        <p:spPr>
          <a:xfrm>
            <a:off x="2606040" y="2926080"/>
            <a:ext cx="3749040" cy="548640"/>
          </a:xfrm>
          <a:prstGeom prst="rect">
            <a:avLst/>
          </a:prstGeom>
          <a:noFill/>
          <a:ln/>
        </p:spPr>
        <p:txBody>
          <a:bodyPr wrap="square" lIns="0" tIns="0" rIns="0" bIns="0" rtlCol="0" anchor="t"/>
          <a:lstStyle/>
          <a:p>
            <a:pPr indent="0" marL="0">
              <a:buNone/>
            </a:pPr>
            <a:r>
              <a:rPr lang="en-US" sz="1300" dirty="0">
                <a:solidFill>
                  <a:srgbClr val="0E2A3B"/>
                </a:solidFill>
                <a:latin typeface="Calibri" pitchFamily="34" charset="0"/>
                <a:ea typeface="Calibri" pitchFamily="34" charset="-122"/>
                <a:cs typeface="Calibri" pitchFamily="34" charset="-120"/>
              </a:rPr>
              <a:t>SMEs from People, Finance, Security, IT and divisions</a:t>
            </a:r>
            <a:endParaRPr lang="en-US" sz="1300" dirty="0"/>
          </a:p>
        </p:txBody>
      </p:sp>
      <p:sp>
        <p:nvSpPr>
          <p:cNvPr id="15" name="Shape 13"/>
          <p:cNvSpPr/>
          <p:nvPr/>
        </p:nvSpPr>
        <p:spPr>
          <a:xfrm>
            <a:off x="612648" y="3602736"/>
            <a:ext cx="274320" cy="274320"/>
          </a:xfrm>
          <a:prstGeom prst="ellipse">
            <a:avLst/>
          </a:prstGeom>
          <a:solidFill>
            <a:srgbClr val="1F6F78"/>
          </a:solidFill>
          <a:ln w="19050">
            <a:solidFill>
              <a:srgbClr val="FFFFFF"/>
            </a:solidFill>
            <a:prstDash val="solid"/>
          </a:ln>
        </p:spPr>
      </p:sp>
      <p:sp>
        <p:nvSpPr>
          <p:cNvPr id="16" name="Text 14"/>
          <p:cNvSpPr txBox="1"/>
          <p:nvPr/>
        </p:nvSpPr>
        <p:spPr>
          <a:xfrm>
            <a:off x="1097280" y="3584448"/>
            <a:ext cx="1463040" cy="320040"/>
          </a:xfrm>
          <a:prstGeom prst="rect">
            <a:avLst/>
          </a:prstGeom>
          <a:noFill/>
          <a:ln/>
        </p:spPr>
        <p:txBody>
          <a:bodyPr wrap="square" lIns="0" tIns="0" rIns="0" bIns="0" rtlCol="0" anchor="t"/>
          <a:lstStyle/>
          <a:p>
            <a:pPr indent="0" marL="0">
              <a:buNone/>
            </a:pPr>
            <a:r>
              <a:rPr lang="en-US" sz="1300" b="1" dirty="0">
                <a:solidFill>
                  <a:srgbClr val="1F6F78"/>
                </a:solidFill>
                <a:latin typeface="Calibri" pitchFamily="34" charset="0"/>
                <a:ea typeface="Calibri" pitchFamily="34" charset="-122"/>
                <a:cs typeface="Calibri" pitchFamily="34" charset="-120"/>
              </a:rPr>
              <a:t>Weeks 8-20</a:t>
            </a:r>
            <a:endParaRPr lang="en-US" sz="1300" dirty="0"/>
          </a:p>
        </p:txBody>
      </p:sp>
      <p:sp>
        <p:nvSpPr>
          <p:cNvPr id="17" name="Text 15"/>
          <p:cNvSpPr txBox="1"/>
          <p:nvPr/>
        </p:nvSpPr>
        <p:spPr>
          <a:xfrm>
            <a:off x="2606040" y="3584448"/>
            <a:ext cx="3749040" cy="548640"/>
          </a:xfrm>
          <a:prstGeom prst="rect">
            <a:avLst/>
          </a:prstGeom>
          <a:noFill/>
          <a:ln/>
        </p:spPr>
        <p:txBody>
          <a:bodyPr wrap="square" lIns="0" tIns="0" rIns="0" bIns="0" rtlCol="0" anchor="t"/>
          <a:lstStyle/>
          <a:p>
            <a:pPr indent="0" marL="0">
              <a:buNone/>
            </a:pPr>
            <a:r>
              <a:rPr lang="en-US" sz="1300" dirty="0">
                <a:solidFill>
                  <a:srgbClr val="0E2A3B"/>
                </a:solidFill>
                <a:latin typeface="Calibri" pitchFamily="34" charset="0"/>
                <a:ea typeface="Calibri" pitchFamily="34" charset="-122"/>
                <a:cs typeface="Calibri" pitchFamily="34" charset="-120"/>
              </a:rPr>
              <a:t>Release pilot staff for training and competence checks</a:t>
            </a:r>
            <a:endParaRPr lang="en-US" sz="1300" dirty="0"/>
          </a:p>
        </p:txBody>
      </p:sp>
      <p:sp>
        <p:nvSpPr>
          <p:cNvPr id="18" name="Shape 16"/>
          <p:cNvSpPr/>
          <p:nvPr/>
        </p:nvSpPr>
        <p:spPr>
          <a:xfrm>
            <a:off x="612648" y="4261104"/>
            <a:ext cx="274320" cy="274320"/>
          </a:xfrm>
          <a:prstGeom prst="ellipse">
            <a:avLst/>
          </a:prstGeom>
          <a:solidFill>
            <a:srgbClr val="1F6F78"/>
          </a:solidFill>
          <a:ln w="19050">
            <a:solidFill>
              <a:srgbClr val="FFFFFF"/>
            </a:solidFill>
            <a:prstDash val="solid"/>
          </a:ln>
        </p:spPr>
      </p:sp>
      <p:sp>
        <p:nvSpPr>
          <p:cNvPr id="19" name="Text 17"/>
          <p:cNvSpPr txBox="1"/>
          <p:nvPr/>
        </p:nvSpPr>
        <p:spPr>
          <a:xfrm>
            <a:off x="1097280" y="4242816"/>
            <a:ext cx="1463040" cy="320040"/>
          </a:xfrm>
          <a:prstGeom prst="rect">
            <a:avLst/>
          </a:prstGeom>
          <a:noFill/>
          <a:ln/>
        </p:spPr>
        <p:txBody>
          <a:bodyPr wrap="square" lIns="0" tIns="0" rIns="0" bIns="0" rtlCol="0" anchor="t"/>
          <a:lstStyle/>
          <a:p>
            <a:pPr indent="0" marL="0">
              <a:buNone/>
            </a:pPr>
            <a:r>
              <a:rPr lang="en-US" sz="1300" b="1" dirty="0">
                <a:solidFill>
                  <a:srgbClr val="1F6F78"/>
                </a:solidFill>
                <a:latin typeface="Calibri" pitchFamily="34" charset="0"/>
                <a:ea typeface="Calibri" pitchFamily="34" charset="-122"/>
                <a:cs typeface="Calibri" pitchFamily="34" charset="-120"/>
              </a:rPr>
              <a:t>Ongoing</a:t>
            </a:r>
            <a:endParaRPr lang="en-US" sz="1300" dirty="0"/>
          </a:p>
        </p:txBody>
      </p:sp>
      <p:sp>
        <p:nvSpPr>
          <p:cNvPr id="20" name="Text 18"/>
          <p:cNvSpPr txBox="1"/>
          <p:nvPr/>
        </p:nvSpPr>
        <p:spPr>
          <a:xfrm>
            <a:off x="2606040" y="4242816"/>
            <a:ext cx="3749040" cy="548640"/>
          </a:xfrm>
          <a:prstGeom prst="rect">
            <a:avLst/>
          </a:prstGeom>
          <a:noFill/>
          <a:ln/>
        </p:spPr>
        <p:txBody>
          <a:bodyPr wrap="square" lIns="0" tIns="0" rIns="0" bIns="0" rtlCol="0" anchor="t"/>
          <a:lstStyle/>
          <a:p>
            <a:pPr indent="0" marL="0">
              <a:buNone/>
            </a:pPr>
            <a:r>
              <a:rPr lang="en-US" sz="1300" dirty="0">
                <a:solidFill>
                  <a:srgbClr val="0E2A3B"/>
                </a:solidFill>
                <a:latin typeface="Calibri" pitchFamily="34" charset="0"/>
                <a:ea typeface="Calibri" pitchFamily="34" charset="-122"/>
                <a:cs typeface="Calibri" pitchFamily="34" charset="-120"/>
              </a:rPr>
              <a:t>Attend forums and resolve escalations</a:t>
            </a:r>
            <a:endParaRPr lang="en-US" sz="1300" dirty="0"/>
          </a:p>
        </p:txBody>
      </p:sp>
      <p:sp>
        <p:nvSpPr>
          <p:cNvPr id="21" name="Text 19"/>
          <p:cNvSpPr txBox="1"/>
          <p:nvPr/>
        </p:nvSpPr>
        <p:spPr>
          <a:xfrm>
            <a:off x="6766560" y="1554480"/>
            <a:ext cx="4846320" cy="320040"/>
          </a:xfrm>
          <a:prstGeom prst="rect">
            <a:avLst/>
          </a:prstGeom>
          <a:noFill/>
          <a:ln/>
        </p:spPr>
        <p:txBody>
          <a:bodyPr wrap="square" lIns="0" tIns="0" rIns="0" bIns="0" rtlCol="0" anchor="t"/>
          <a:lstStyle/>
          <a:p>
            <a:pPr indent="0" marL="0">
              <a:buNone/>
            </a:pPr>
            <a:r>
              <a:rPr lang="en-US" sz="1500" b="1" dirty="0">
                <a:solidFill>
                  <a:srgbClr val="0E2A3B"/>
                </a:solidFill>
                <a:latin typeface="Calibri" pitchFamily="34" charset="0"/>
                <a:ea typeface="Calibri" pitchFamily="34" charset="-122"/>
                <a:cs typeface="Calibri" pitchFamily="34" charset="-120"/>
              </a:rPr>
              <a:t>Governance forums</a:t>
            </a:r>
            <a:endParaRPr lang="en-US" sz="1500" dirty="0"/>
          </a:p>
        </p:txBody>
      </p:sp>
      <p:sp>
        <p:nvSpPr>
          <p:cNvPr id="22" name="Shape 20"/>
          <p:cNvSpPr/>
          <p:nvPr/>
        </p:nvSpPr>
        <p:spPr>
          <a:xfrm>
            <a:off x="6766560" y="1965960"/>
            <a:ext cx="2331720" cy="960120"/>
          </a:xfrm>
          <a:prstGeom prst="roundRect">
            <a:avLst>
              <a:gd name="adj" fmla="val 7619"/>
            </a:avLst>
          </a:prstGeom>
          <a:solidFill>
            <a:srgbClr val="E6F1F2"/>
          </a:solidFill>
          <a:ln w="9525">
            <a:solidFill>
              <a:srgbClr val="E6F1F2"/>
            </a:solidFill>
            <a:prstDash val="solid"/>
          </a:ln>
        </p:spPr>
      </p:sp>
      <p:sp>
        <p:nvSpPr>
          <p:cNvPr id="23" name="Text 21"/>
          <p:cNvSpPr txBox="1"/>
          <p:nvPr/>
        </p:nvSpPr>
        <p:spPr>
          <a:xfrm>
            <a:off x="6903720" y="2075688"/>
            <a:ext cx="2103120" cy="411480"/>
          </a:xfrm>
          <a:prstGeom prst="rect">
            <a:avLst/>
          </a:prstGeom>
          <a:noFill/>
          <a:ln/>
        </p:spPr>
        <p:txBody>
          <a:bodyPr wrap="square" lIns="0" tIns="0" rIns="0" bIns="0" rtlCol="0" anchor="t"/>
          <a:lstStyle/>
          <a:p>
            <a:pPr indent="0" marL="0">
              <a:buNone/>
            </a:pPr>
            <a:r>
              <a:rPr lang="en-US" sz="1300" b="1" dirty="0">
                <a:solidFill>
                  <a:srgbClr val="1F6F78"/>
                </a:solidFill>
                <a:latin typeface="Calibri" pitchFamily="34" charset="0"/>
                <a:ea typeface="Calibri" pitchFamily="34" charset="-122"/>
                <a:cs typeface="Calibri" pitchFamily="34" charset="-120"/>
              </a:rPr>
              <a:t>Steering committee</a:t>
            </a:r>
            <a:endParaRPr lang="en-US" sz="1300" dirty="0"/>
          </a:p>
        </p:txBody>
      </p:sp>
      <p:sp>
        <p:nvSpPr>
          <p:cNvPr id="24" name="Text 22"/>
          <p:cNvSpPr txBox="1"/>
          <p:nvPr/>
        </p:nvSpPr>
        <p:spPr>
          <a:xfrm>
            <a:off x="6903720" y="2496312"/>
            <a:ext cx="2103120" cy="320040"/>
          </a:xfrm>
          <a:prstGeom prst="rect">
            <a:avLst/>
          </a:prstGeom>
          <a:noFill/>
          <a:ln/>
        </p:spPr>
        <p:txBody>
          <a:bodyPr wrap="square" lIns="0" tIns="0" rIns="0" bIns="0" rtlCol="0" anchor="t"/>
          <a:lstStyle/>
          <a:p>
            <a:pPr indent="0" marL="0">
              <a:buNone/>
            </a:pPr>
            <a:r>
              <a:rPr lang="en-US" sz="1200" dirty="0">
                <a:solidFill>
                  <a:srgbClr val="0E2A3B"/>
                </a:solidFill>
                <a:latin typeface="Calibri" pitchFamily="34" charset="0"/>
                <a:ea typeface="Calibri" pitchFamily="34" charset="-122"/>
                <a:cs typeface="Calibri" pitchFamily="34" charset="-120"/>
              </a:rPr>
              <a:t>Monthly, 60 min</a:t>
            </a:r>
            <a:endParaRPr lang="en-US" sz="1200" dirty="0"/>
          </a:p>
        </p:txBody>
      </p:sp>
      <p:sp>
        <p:nvSpPr>
          <p:cNvPr id="25" name="Shape 23"/>
          <p:cNvSpPr/>
          <p:nvPr/>
        </p:nvSpPr>
        <p:spPr>
          <a:xfrm>
            <a:off x="9235440" y="1965960"/>
            <a:ext cx="2331720" cy="960120"/>
          </a:xfrm>
          <a:prstGeom prst="roundRect">
            <a:avLst>
              <a:gd name="adj" fmla="val 7619"/>
            </a:avLst>
          </a:prstGeom>
          <a:solidFill>
            <a:srgbClr val="E6F1F2"/>
          </a:solidFill>
          <a:ln w="9525">
            <a:solidFill>
              <a:srgbClr val="E6F1F2"/>
            </a:solidFill>
            <a:prstDash val="solid"/>
          </a:ln>
        </p:spPr>
      </p:sp>
      <p:sp>
        <p:nvSpPr>
          <p:cNvPr id="26" name="Text 24"/>
          <p:cNvSpPr txBox="1"/>
          <p:nvPr/>
        </p:nvSpPr>
        <p:spPr>
          <a:xfrm>
            <a:off x="9372600" y="2075688"/>
            <a:ext cx="2103120" cy="411480"/>
          </a:xfrm>
          <a:prstGeom prst="rect">
            <a:avLst/>
          </a:prstGeom>
          <a:noFill/>
          <a:ln/>
        </p:spPr>
        <p:txBody>
          <a:bodyPr wrap="square" lIns="0" tIns="0" rIns="0" bIns="0" rtlCol="0" anchor="t"/>
          <a:lstStyle/>
          <a:p>
            <a:pPr indent="0" marL="0">
              <a:buNone/>
            </a:pPr>
            <a:r>
              <a:rPr lang="en-US" sz="1300" b="1" dirty="0">
                <a:solidFill>
                  <a:srgbClr val="1F6F78"/>
                </a:solidFill>
                <a:latin typeface="Calibri" pitchFamily="34" charset="0"/>
                <a:ea typeface="Calibri" pitchFamily="34" charset="-122"/>
                <a:cs typeface="Calibri" pitchFamily="34" charset="-120"/>
              </a:rPr>
              <a:t>Delivery stand-up</a:t>
            </a:r>
            <a:endParaRPr lang="en-US" sz="1300" dirty="0"/>
          </a:p>
        </p:txBody>
      </p:sp>
      <p:sp>
        <p:nvSpPr>
          <p:cNvPr id="27" name="Text 25"/>
          <p:cNvSpPr txBox="1"/>
          <p:nvPr/>
        </p:nvSpPr>
        <p:spPr>
          <a:xfrm>
            <a:off x="9372600" y="2496312"/>
            <a:ext cx="2103120" cy="320040"/>
          </a:xfrm>
          <a:prstGeom prst="rect">
            <a:avLst/>
          </a:prstGeom>
          <a:noFill/>
          <a:ln/>
        </p:spPr>
        <p:txBody>
          <a:bodyPr wrap="square" lIns="0" tIns="0" rIns="0" bIns="0" rtlCol="0" anchor="t"/>
          <a:lstStyle/>
          <a:p>
            <a:pPr indent="0" marL="0">
              <a:buNone/>
            </a:pPr>
            <a:r>
              <a:rPr lang="en-US" sz="1200" dirty="0">
                <a:solidFill>
                  <a:srgbClr val="0E2A3B"/>
                </a:solidFill>
                <a:latin typeface="Calibri" pitchFamily="34" charset="0"/>
                <a:ea typeface="Calibri" pitchFamily="34" charset="-122"/>
                <a:cs typeface="Calibri" pitchFamily="34" charset="-120"/>
              </a:rPr>
              <a:t>Weekly, 30 min</a:t>
            </a:r>
            <a:endParaRPr lang="en-US" sz="1200" dirty="0"/>
          </a:p>
        </p:txBody>
      </p:sp>
      <p:sp>
        <p:nvSpPr>
          <p:cNvPr id="28" name="Shape 26"/>
          <p:cNvSpPr/>
          <p:nvPr/>
        </p:nvSpPr>
        <p:spPr>
          <a:xfrm>
            <a:off x="6766560" y="3063240"/>
            <a:ext cx="2331720" cy="960120"/>
          </a:xfrm>
          <a:prstGeom prst="roundRect">
            <a:avLst>
              <a:gd name="adj" fmla="val 7619"/>
            </a:avLst>
          </a:prstGeom>
          <a:solidFill>
            <a:srgbClr val="E6F1F2"/>
          </a:solidFill>
          <a:ln w="9525">
            <a:solidFill>
              <a:srgbClr val="E6F1F2"/>
            </a:solidFill>
            <a:prstDash val="solid"/>
          </a:ln>
        </p:spPr>
      </p:sp>
      <p:sp>
        <p:nvSpPr>
          <p:cNvPr id="29" name="Text 27"/>
          <p:cNvSpPr txBox="1"/>
          <p:nvPr/>
        </p:nvSpPr>
        <p:spPr>
          <a:xfrm>
            <a:off x="6903720" y="3172968"/>
            <a:ext cx="2103120" cy="411480"/>
          </a:xfrm>
          <a:prstGeom prst="rect">
            <a:avLst/>
          </a:prstGeom>
          <a:noFill/>
          <a:ln/>
        </p:spPr>
        <p:txBody>
          <a:bodyPr wrap="square" lIns="0" tIns="0" rIns="0" bIns="0" rtlCol="0" anchor="t"/>
          <a:lstStyle/>
          <a:p>
            <a:pPr indent="0" marL="0">
              <a:buNone/>
            </a:pPr>
            <a:r>
              <a:rPr lang="en-US" sz="1300" b="1" dirty="0">
                <a:solidFill>
                  <a:srgbClr val="1F6F78"/>
                </a:solidFill>
                <a:latin typeface="Calibri" pitchFamily="34" charset="0"/>
                <a:ea typeface="Calibri" pitchFamily="34" charset="-122"/>
                <a:cs typeface="Calibri" pitchFamily="34" charset="-120"/>
              </a:rPr>
              <a:t>Pilot exception review</a:t>
            </a:r>
            <a:endParaRPr lang="en-US" sz="1300" dirty="0"/>
          </a:p>
        </p:txBody>
      </p:sp>
      <p:sp>
        <p:nvSpPr>
          <p:cNvPr id="30" name="Text 28"/>
          <p:cNvSpPr txBox="1"/>
          <p:nvPr/>
        </p:nvSpPr>
        <p:spPr>
          <a:xfrm>
            <a:off x="6903720" y="3593592"/>
            <a:ext cx="2103120" cy="320040"/>
          </a:xfrm>
          <a:prstGeom prst="rect">
            <a:avLst/>
          </a:prstGeom>
          <a:noFill/>
          <a:ln/>
        </p:spPr>
        <p:txBody>
          <a:bodyPr wrap="square" lIns="0" tIns="0" rIns="0" bIns="0" rtlCol="0" anchor="t"/>
          <a:lstStyle/>
          <a:p>
            <a:pPr indent="0" marL="0">
              <a:buNone/>
            </a:pPr>
            <a:r>
              <a:rPr lang="en-US" sz="1200" dirty="0">
                <a:solidFill>
                  <a:srgbClr val="0E2A3B"/>
                </a:solidFill>
                <a:latin typeface="Calibri" pitchFamily="34" charset="0"/>
                <a:ea typeface="Calibri" pitchFamily="34" charset="-122"/>
                <a:cs typeface="Calibri" pitchFamily="34" charset="-120"/>
              </a:rPr>
              <a:t>Weekly in pilot, 45 min</a:t>
            </a:r>
            <a:endParaRPr lang="en-US" sz="1200" dirty="0"/>
          </a:p>
        </p:txBody>
      </p:sp>
      <p:sp>
        <p:nvSpPr>
          <p:cNvPr id="31" name="Shape 29"/>
          <p:cNvSpPr/>
          <p:nvPr/>
        </p:nvSpPr>
        <p:spPr>
          <a:xfrm>
            <a:off x="9235440" y="3063240"/>
            <a:ext cx="2331720" cy="960120"/>
          </a:xfrm>
          <a:prstGeom prst="roundRect">
            <a:avLst>
              <a:gd name="adj" fmla="val 7619"/>
            </a:avLst>
          </a:prstGeom>
          <a:solidFill>
            <a:srgbClr val="E6F1F2"/>
          </a:solidFill>
          <a:ln w="9525">
            <a:solidFill>
              <a:srgbClr val="E6F1F2"/>
            </a:solidFill>
            <a:prstDash val="solid"/>
          </a:ln>
        </p:spPr>
      </p:sp>
      <p:sp>
        <p:nvSpPr>
          <p:cNvPr id="32" name="Text 30"/>
          <p:cNvSpPr txBox="1"/>
          <p:nvPr/>
        </p:nvSpPr>
        <p:spPr>
          <a:xfrm>
            <a:off x="9372600" y="3172968"/>
            <a:ext cx="2103120" cy="411480"/>
          </a:xfrm>
          <a:prstGeom prst="rect">
            <a:avLst/>
          </a:prstGeom>
          <a:noFill/>
          <a:ln/>
        </p:spPr>
        <p:txBody>
          <a:bodyPr wrap="square" lIns="0" tIns="0" rIns="0" bIns="0" rtlCol="0" anchor="t"/>
          <a:lstStyle/>
          <a:p>
            <a:pPr indent="0" marL="0">
              <a:buNone/>
            </a:pPr>
            <a:r>
              <a:rPr lang="en-US" sz="1300" b="1" dirty="0">
                <a:solidFill>
                  <a:srgbClr val="1F6F78"/>
                </a:solidFill>
                <a:latin typeface="Calibri" pitchFamily="34" charset="0"/>
                <a:ea typeface="Calibri" pitchFamily="34" charset="-122"/>
                <a:cs typeface="Calibri" pitchFamily="34" charset="-120"/>
              </a:rPr>
              <a:t>Benefits review</a:t>
            </a:r>
            <a:endParaRPr lang="en-US" sz="1300" dirty="0"/>
          </a:p>
        </p:txBody>
      </p:sp>
      <p:sp>
        <p:nvSpPr>
          <p:cNvPr id="33" name="Text 31"/>
          <p:cNvSpPr txBox="1"/>
          <p:nvPr/>
        </p:nvSpPr>
        <p:spPr>
          <a:xfrm>
            <a:off x="9372600" y="3593592"/>
            <a:ext cx="2103120" cy="320040"/>
          </a:xfrm>
          <a:prstGeom prst="rect">
            <a:avLst/>
          </a:prstGeom>
          <a:noFill/>
          <a:ln/>
        </p:spPr>
        <p:txBody>
          <a:bodyPr wrap="square" lIns="0" tIns="0" rIns="0" bIns="0" rtlCol="0" anchor="t"/>
          <a:lstStyle/>
          <a:p>
            <a:pPr indent="0" marL="0">
              <a:buNone/>
            </a:pPr>
            <a:r>
              <a:rPr lang="en-US" sz="1200" dirty="0">
                <a:solidFill>
                  <a:srgbClr val="0E2A3B"/>
                </a:solidFill>
                <a:latin typeface="Calibri" pitchFamily="34" charset="0"/>
                <a:ea typeface="Calibri" pitchFamily="34" charset="-122"/>
                <a:cs typeface="Calibri" pitchFamily="34" charset="-120"/>
              </a:rPr>
              <a:t>Quarterly, 60 min</a:t>
            </a:r>
            <a:endParaRPr lang="en-US" sz="1200" dirty="0"/>
          </a:p>
        </p:txBody>
      </p:sp>
      <p:sp>
        <p:nvSpPr>
          <p:cNvPr id="34" name="Shape 32"/>
          <p:cNvSpPr/>
          <p:nvPr/>
        </p:nvSpPr>
        <p:spPr>
          <a:xfrm>
            <a:off x="548640" y="5074920"/>
            <a:ext cx="8046720" cy="1051560"/>
          </a:xfrm>
          <a:prstGeom prst="roundRect">
            <a:avLst>
              <a:gd name="adj" fmla="val 6957"/>
            </a:avLst>
          </a:prstGeom>
          <a:solidFill>
            <a:srgbClr val="FCF1DE"/>
          </a:solidFill>
          <a:ln w="9525">
            <a:solidFill>
              <a:srgbClr val="FCF1DE"/>
            </a:solidFill>
            <a:prstDash val="solid"/>
          </a:ln>
        </p:spPr>
      </p:sp>
      <p:sp>
        <p:nvSpPr>
          <p:cNvPr id="35" name="Shape 33"/>
          <p:cNvSpPr/>
          <p:nvPr/>
        </p:nvSpPr>
        <p:spPr>
          <a:xfrm>
            <a:off x="731520" y="5276088"/>
            <a:ext cx="640080" cy="640080"/>
          </a:xfrm>
          <a:prstGeom prst="ellipse">
            <a:avLst/>
          </a:prstGeom>
          <a:solidFill>
            <a:srgbClr val="E8A33D"/>
          </a:solidFill>
          <a:ln w="12700">
            <a:solidFill>
              <a:srgbClr val="E8A33D"/>
            </a:solidFill>
            <a:prstDash val="solid"/>
          </a:ln>
        </p:spPr>
      </p:sp>
      <p:pic>
        <p:nvPicPr>
          <p:cNvPr id="36" name="Image 0" descr="preencoded.png">    </p:cNvPr>
          <p:cNvPicPr>
            <a:picLocks noChangeAspect="1"/>
          </p:cNvPicPr>
          <p:nvPr/>
        </p:nvPicPr>
        <p:blipFill>
          <a:blip r:embed="rId1"/>
          <a:stretch>
            <a:fillRect/>
          </a:stretch>
        </p:blipFill>
        <p:spPr>
          <a:xfrm>
            <a:off x="910742" y="5455310"/>
            <a:ext cx="281635" cy="281635"/>
          </a:xfrm>
          <a:prstGeom prst="rect">
            <a:avLst/>
          </a:prstGeom>
        </p:spPr>
      </p:pic>
      <p:sp>
        <p:nvSpPr>
          <p:cNvPr id="37" name="Text 34"/>
          <p:cNvSpPr txBox="1"/>
          <p:nvPr/>
        </p:nvSpPr>
        <p:spPr>
          <a:xfrm>
            <a:off x="1554480" y="5120640"/>
            <a:ext cx="6858000" cy="960120"/>
          </a:xfrm>
          <a:prstGeom prst="rect">
            <a:avLst/>
          </a:prstGeom>
          <a:noFill/>
          <a:ln/>
        </p:spPr>
        <p:txBody>
          <a:bodyPr wrap="square" lIns="0" tIns="0" rIns="0" bIns="0" rtlCol="0" anchor="ctr"/>
          <a:lstStyle/>
          <a:p>
            <a:pPr indent="0" marL="0">
              <a:buNone/>
            </a:pPr>
            <a:r>
              <a:rPr lang="en-US" sz="1350" b="1" dirty="0">
                <a:solidFill>
                  <a:srgbClr val="0E2A3B"/>
                </a:solidFill>
                <a:latin typeface="Calibri" pitchFamily="34" charset="0"/>
                <a:ea typeface="Calibri" pitchFamily="34" charset="-122"/>
                <a:cs typeface="Calibri" pitchFamily="34" charset="-120"/>
              </a:rPr>
              <a:t>Knowledge transfer test: </a:t>
            </a:r>
            <a:pPr indent="0" marL="0">
              <a:buNone/>
            </a:pPr>
            <a:r>
              <a:rPr lang="en-US" sz="1350" dirty="0">
                <a:solidFill>
                  <a:srgbClr val="0E2A3B"/>
                </a:solidFill>
                <a:latin typeface="Calibri" pitchFamily="34" charset="0"/>
                <a:ea typeface="Calibri" pitchFamily="34" charset="-122"/>
                <a:cs typeface="Calibri" pitchFamily="34" charset="-120"/>
              </a:rPr>
              <a:t>by week 52 the process owner runs the dashboard, manages an exception and updates the standard without consultant support.</a:t>
            </a:r>
            <a:endParaRPr lang="en-US" sz="1350" dirty="0"/>
          </a:p>
        </p:txBody>
      </p:sp>
    </p:spTree>
  </p:cSld>
  <p:clrMapOvr>
    <a:masterClrMapping/>
  </p:clrMapOvr>
  <p:transition spd="med" advTm="20000">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COMMERCIALS: FEES AND TERMS</a:t>
            </a:r>
            <a:endParaRPr lang="en-US" sz="1200" dirty="0"/>
          </a:p>
        </p:txBody>
      </p:sp>
      <p:sp>
        <p:nvSpPr>
          <p:cNvPr id="3" name="Text 1"/>
          <p:cNvSpPr txBox="1"/>
          <p:nvPr/>
        </p:nvSpPr>
        <p:spPr>
          <a:xfrm>
            <a:off x="10241280" y="320040"/>
            <a:ext cx="1371600" cy="274320"/>
          </a:xfrm>
          <a:prstGeom prst="rect">
            <a:avLst/>
          </a:prstGeom>
          <a:noFill/>
          <a:ln/>
        </p:spPr>
        <p:txBody>
          <a:bodyPr wrap="square" lIns="0" tIns="0" rIns="0" bIns="0" rtlCol="0" anchor="ctr"/>
          <a:lstStyle/>
          <a:p>
            <a:pPr algn="r" indent="0" marL="0">
              <a:buNone/>
            </a:pPr>
            <a:r>
              <a:rPr lang="en-US" sz="1100" dirty="0">
                <a:solidFill>
                  <a:srgbClr val="5B6B75"/>
                </a:solidFill>
                <a:latin typeface="Calibri" pitchFamily="34" charset="0"/>
                <a:ea typeface="Calibri" pitchFamily="34" charset="-122"/>
                <a:cs typeface="Calibri" pitchFamily="34" charset="-120"/>
              </a:rPr>
              <a:t>19 / 20</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0E2A3B"/>
                </a:solidFill>
                <a:latin typeface="Cambria" pitchFamily="34" charset="0"/>
                <a:ea typeface="Cambria" pitchFamily="34" charset="-122"/>
                <a:cs typeface="Cambria" pitchFamily="34" charset="-120"/>
              </a:rPr>
              <a:t>Fixed fee by phase: NZ$97,350 excluding GST</a:t>
            </a:r>
            <a:endParaRPr lang="en-US" sz="3000" dirty="0"/>
          </a:p>
        </p:txBody>
      </p:sp>
      <p:graphicFrame>
        <p:nvGraphicFramePr>
          <p:cNvPr id="5" name="Chart 0" descr=""/>
          <p:cNvGraphicFramePr/>
          <p:nvPr/>
        </p:nvGraphicFramePr>
        <p:xfrm>
          <a:off x="548640" y="1417320"/>
          <a:ext cx="6035040" cy="48463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949440" y="1554480"/>
            <a:ext cx="2240280" cy="1188720"/>
          </a:xfrm>
          <a:prstGeom prst="roundRect">
            <a:avLst>
              <a:gd name="adj" fmla="val 6154"/>
            </a:avLst>
          </a:prstGeom>
          <a:solidFill>
            <a:srgbClr val="E6F1F2"/>
          </a:solidFill>
          <a:ln w="9525">
            <a:solidFill>
              <a:srgbClr val="E6F1F2"/>
            </a:solidFill>
            <a:prstDash val="solid"/>
          </a:ln>
        </p:spPr>
      </p:sp>
      <p:sp>
        <p:nvSpPr>
          <p:cNvPr id="7" name="Text 4"/>
          <p:cNvSpPr txBox="1"/>
          <p:nvPr/>
        </p:nvSpPr>
        <p:spPr>
          <a:xfrm>
            <a:off x="7132320" y="1645920"/>
            <a:ext cx="1920240" cy="548640"/>
          </a:xfrm>
          <a:prstGeom prst="rect">
            <a:avLst/>
          </a:prstGeom>
          <a:noFill/>
          <a:ln/>
        </p:spPr>
        <p:txBody>
          <a:bodyPr wrap="square" lIns="0" tIns="0" rIns="0" bIns="0" rtlCol="0" anchor="t"/>
          <a:lstStyle/>
          <a:p>
            <a:pPr indent="0" marL="0">
              <a:buNone/>
            </a:pPr>
            <a:r>
              <a:rPr lang="en-US" sz="2800" b="1" dirty="0">
                <a:solidFill>
                  <a:srgbClr val="1F6F78"/>
                </a:solidFill>
                <a:latin typeface="Cambria" pitchFamily="34" charset="0"/>
                <a:ea typeface="Cambria" pitchFamily="34" charset="-122"/>
                <a:cs typeface="Cambria" pitchFamily="34" charset="-120"/>
              </a:rPr>
              <a:t>NZ$0</a:t>
            </a:r>
            <a:endParaRPr lang="en-US" sz="2800" dirty="0"/>
          </a:p>
        </p:txBody>
      </p:sp>
      <p:sp>
        <p:nvSpPr>
          <p:cNvPr id="8" name="Text 5"/>
          <p:cNvSpPr txBox="1"/>
          <p:nvPr/>
        </p:nvSpPr>
        <p:spPr>
          <a:xfrm>
            <a:off x="7132320" y="2240280"/>
            <a:ext cx="1920240" cy="411480"/>
          </a:xfrm>
          <a:prstGeom prst="rect">
            <a:avLst/>
          </a:prstGeom>
          <a:noFill/>
          <a:ln/>
        </p:spPr>
        <p:txBody>
          <a:bodyPr wrap="square" lIns="0" tIns="0" rIns="0" bIns="0" rtlCol="0" anchor="t"/>
          <a:lstStyle/>
          <a:p>
            <a:pPr indent="0" marL="0">
              <a:buNone/>
            </a:pPr>
            <a:r>
              <a:rPr lang="en-US" sz="1200" dirty="0">
                <a:solidFill>
                  <a:srgbClr val="0E2A3B"/>
                </a:solidFill>
                <a:latin typeface="Calibri" pitchFamily="34" charset="0"/>
                <a:ea typeface="Calibri" pitchFamily="34" charset="-122"/>
                <a:cs typeface="Calibri" pitchFamily="34" charset="-120"/>
              </a:rPr>
              <a:t>Capex: no new platform</a:t>
            </a:r>
            <a:endParaRPr lang="en-US" sz="1200" dirty="0"/>
          </a:p>
        </p:txBody>
      </p:sp>
      <p:sp>
        <p:nvSpPr>
          <p:cNvPr id="9" name="Shape 6"/>
          <p:cNvSpPr/>
          <p:nvPr/>
        </p:nvSpPr>
        <p:spPr>
          <a:xfrm>
            <a:off x="9372600" y="1554480"/>
            <a:ext cx="2240280" cy="1188720"/>
          </a:xfrm>
          <a:prstGeom prst="roundRect">
            <a:avLst>
              <a:gd name="adj" fmla="val 6154"/>
            </a:avLst>
          </a:prstGeom>
          <a:solidFill>
            <a:srgbClr val="FCF1DE"/>
          </a:solidFill>
          <a:ln w="9525">
            <a:solidFill>
              <a:srgbClr val="FCF1DE"/>
            </a:solidFill>
            <a:prstDash val="solid"/>
          </a:ln>
        </p:spPr>
      </p:sp>
      <p:sp>
        <p:nvSpPr>
          <p:cNvPr id="10" name="Text 7"/>
          <p:cNvSpPr txBox="1"/>
          <p:nvPr/>
        </p:nvSpPr>
        <p:spPr>
          <a:xfrm>
            <a:off x="9555480" y="1645920"/>
            <a:ext cx="1920240" cy="548640"/>
          </a:xfrm>
          <a:prstGeom prst="rect">
            <a:avLst/>
          </a:prstGeom>
          <a:noFill/>
          <a:ln/>
        </p:spPr>
        <p:txBody>
          <a:bodyPr wrap="square" lIns="0" tIns="0" rIns="0" bIns="0" rtlCol="0" anchor="t"/>
          <a:lstStyle/>
          <a:p>
            <a:pPr indent="0" marL="0">
              <a:buNone/>
            </a:pPr>
            <a:r>
              <a:rPr lang="en-US" sz="2800" b="1" dirty="0">
                <a:solidFill>
                  <a:srgbClr val="9A6A1E"/>
                </a:solidFill>
                <a:latin typeface="Cambria" pitchFamily="34" charset="0"/>
                <a:ea typeface="Cambria" pitchFamily="34" charset="-122"/>
                <a:cs typeface="Cambria" pitchFamily="34" charset="-120"/>
              </a:rPr>
              <a:t>100%</a:t>
            </a:r>
            <a:endParaRPr lang="en-US" sz="2800" dirty="0"/>
          </a:p>
        </p:txBody>
      </p:sp>
      <p:sp>
        <p:nvSpPr>
          <p:cNvPr id="11" name="Text 8"/>
          <p:cNvSpPr txBox="1"/>
          <p:nvPr/>
        </p:nvSpPr>
        <p:spPr>
          <a:xfrm>
            <a:off x="9555480" y="2240280"/>
            <a:ext cx="1920240" cy="411480"/>
          </a:xfrm>
          <a:prstGeom prst="rect">
            <a:avLst/>
          </a:prstGeom>
          <a:noFill/>
          <a:ln/>
        </p:spPr>
        <p:txBody>
          <a:bodyPr wrap="square" lIns="0" tIns="0" rIns="0" bIns="0" rtlCol="0" anchor="t"/>
          <a:lstStyle/>
          <a:p>
            <a:pPr indent="0" marL="0">
              <a:buNone/>
            </a:pPr>
            <a:r>
              <a:rPr lang="en-US" sz="1200" dirty="0">
                <a:solidFill>
                  <a:srgbClr val="0E2A3B"/>
                </a:solidFill>
                <a:latin typeface="Calibri" pitchFamily="34" charset="0"/>
                <a:ea typeface="Calibri" pitchFamily="34" charset="-122"/>
                <a:cs typeface="Calibri" pitchFamily="34" charset="-120"/>
              </a:rPr>
              <a:t>Opex: services and training</a:t>
            </a:r>
            <a:endParaRPr lang="en-US" sz="1200" dirty="0"/>
          </a:p>
        </p:txBody>
      </p:sp>
      <p:sp>
        <p:nvSpPr>
          <p:cNvPr id="12" name="Text 9"/>
          <p:cNvSpPr txBox="1"/>
          <p:nvPr/>
        </p:nvSpPr>
        <p:spPr>
          <a:xfrm>
            <a:off x="6949440" y="2971800"/>
            <a:ext cx="4663440" cy="13716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0E2A3B"/>
                </a:solidFill>
                <a:latin typeface="Calibri" pitchFamily="34" charset="0"/>
                <a:ea typeface="Calibri" pitchFamily="34" charset="-122"/>
                <a:cs typeface="Calibri" pitchFamily="34" charset="-120"/>
              </a:rPr>
              <a:t>Invoice at each phase acceptance, 20 business days</a:t>
            </a:r>
            <a:endParaRPr lang="en-US" sz="1300" dirty="0"/>
          </a:p>
          <a:p>
            <a:pPr marL="342900" indent="-342900">
              <a:spcAft>
                <a:spcPts val="500"/>
              </a:spcAft>
              <a:buSzPct val="100000"/>
              <a:buChar char="•"/>
            </a:pPr>
            <a:r>
              <a:rPr lang="en-US" sz="1300" dirty="0">
                <a:solidFill>
                  <a:srgbClr val="0E2A3B"/>
                </a:solidFill>
                <a:latin typeface="Calibri" pitchFamily="34" charset="0"/>
                <a:ea typeface="Calibri" pitchFamily="34" charset="-122"/>
                <a:cs typeface="Calibri" pitchFamily="34" charset="-120"/>
              </a:rPr>
              <a:t>Scope changes approved before work starts</a:t>
            </a:r>
            <a:endParaRPr lang="en-US" sz="1300" dirty="0"/>
          </a:p>
          <a:p>
            <a:pPr marL="342900" indent="-342900">
              <a:spcAft>
                <a:spcPts val="500"/>
              </a:spcAft>
              <a:buSzPct val="100000"/>
              <a:buChar char="•"/>
            </a:pPr>
            <a:r>
              <a:rPr lang="en-US" sz="1300" dirty="0">
                <a:solidFill>
                  <a:srgbClr val="0E2A3B"/>
                </a:solidFill>
                <a:latin typeface="Calibri" pitchFamily="34" charset="0"/>
                <a:ea typeface="Calibri" pitchFamily="34" charset="-122"/>
                <a:cs typeface="Calibri" pitchFamily="34" charset="-120"/>
              </a:rPr>
              <a:t>Spark owns all workflow, templates and reports</a:t>
            </a:r>
            <a:endParaRPr lang="en-US" sz="1300" dirty="0"/>
          </a:p>
        </p:txBody>
      </p:sp>
      <p:sp>
        <p:nvSpPr>
          <p:cNvPr id="13" name="Text 10"/>
          <p:cNvSpPr txBox="1"/>
          <p:nvPr/>
        </p:nvSpPr>
        <p:spPr>
          <a:xfrm>
            <a:off x="548640" y="6400800"/>
            <a:ext cx="6035040" cy="274320"/>
          </a:xfrm>
          <a:prstGeom prst="rect">
            <a:avLst/>
          </a:prstGeom>
          <a:noFill/>
          <a:ln/>
        </p:spPr>
        <p:txBody>
          <a:bodyPr wrap="square" lIns="0" tIns="0" rIns="0" bIns="0" rtlCol="0" anchor="ctr"/>
          <a:lstStyle/>
          <a:p>
            <a:pPr indent="0" marL="0">
              <a:buNone/>
            </a:pPr>
            <a:r>
              <a:rPr lang="en-US" sz="900" dirty="0">
                <a:solidFill>
                  <a:srgbClr val="5B6B75"/>
                </a:solidFill>
                <a:latin typeface="Calibri" pitchFamily="34" charset="0"/>
                <a:ea typeface="Calibri" pitchFamily="34" charset="-122"/>
                <a:cs typeface="Calibri" pitchFamily="34" charset="-120"/>
              </a:rPr>
              <a:t>Excludes new software licences, travel and major integration. Contingency used only with steering committee approval.</a:t>
            </a:r>
            <a:endParaRPr lang="en-US" sz="900" dirty="0"/>
          </a:p>
        </p:txBody>
      </p:sp>
    </p:spTree>
  </p:cSld>
  <p:clrMapOvr>
    <a:masterClrMapping/>
  </p:clrMapOvr>
  <p:transition spd="med" advTm="20000">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2A3B"/>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NEXT STEPS</a:t>
            </a:r>
            <a:endParaRPr lang="en-US" sz="1200" dirty="0"/>
          </a:p>
        </p:txBody>
      </p:sp>
      <p:sp>
        <p:nvSpPr>
          <p:cNvPr id="3" name="Text 1"/>
          <p:cNvSpPr txBox="1"/>
          <p:nvPr/>
        </p:nvSpPr>
        <p:spPr>
          <a:xfrm>
            <a:off x="10241280" y="320040"/>
            <a:ext cx="1371600" cy="274320"/>
          </a:xfrm>
          <a:prstGeom prst="rect">
            <a:avLst/>
          </a:prstGeom>
          <a:noFill/>
          <a:ln/>
        </p:spPr>
        <p:txBody>
          <a:bodyPr wrap="square" lIns="0" tIns="0" rIns="0" bIns="0" rtlCol="0" anchor="ctr"/>
          <a:lstStyle/>
          <a:p>
            <a:pPr algn="r" indent="0" marL="0">
              <a:buNone/>
            </a:pPr>
            <a:r>
              <a:rPr lang="en-US" sz="1100" dirty="0">
                <a:solidFill>
                  <a:srgbClr val="9FB3BF"/>
                </a:solidFill>
                <a:latin typeface="Calibri" pitchFamily="34" charset="0"/>
                <a:ea typeface="Calibri" pitchFamily="34" charset="-122"/>
                <a:cs typeface="Calibri" pitchFamily="34" charset="-120"/>
              </a:rPr>
              <a:t>20 / 20</a:t>
            </a:r>
            <a:endParaRPr lang="en-US" sz="1100" dirty="0"/>
          </a:p>
        </p:txBody>
      </p:sp>
      <p:sp>
        <p:nvSpPr>
          <p:cNvPr id="4" name="Text 2"/>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Approve Phase 0 today</a:t>
            </a:r>
            <a:endParaRPr lang="en-US" sz="3000" dirty="0"/>
          </a:p>
        </p:txBody>
      </p:sp>
      <p:sp>
        <p:nvSpPr>
          <p:cNvPr id="5" name="Shape 3"/>
          <p:cNvSpPr/>
          <p:nvPr/>
        </p:nvSpPr>
        <p:spPr>
          <a:xfrm>
            <a:off x="548640" y="1600200"/>
            <a:ext cx="502920" cy="502920"/>
          </a:xfrm>
          <a:prstGeom prst="ellipse">
            <a:avLst/>
          </a:prstGeom>
          <a:solidFill>
            <a:srgbClr val="1F6F78"/>
          </a:solidFill>
          <a:ln w="12700">
            <a:solidFill>
              <a:srgbClr val="1F6F78"/>
            </a:solidFill>
            <a:prstDash val="solid"/>
          </a:ln>
        </p:spPr>
      </p:sp>
      <p:sp>
        <p:nvSpPr>
          <p:cNvPr id="6" name="Text 4"/>
          <p:cNvSpPr txBox="1"/>
          <p:nvPr/>
        </p:nvSpPr>
        <p:spPr>
          <a:xfrm>
            <a:off x="548640" y="1600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280160" y="1673352"/>
            <a:ext cx="6766560" cy="4572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Confirm sponsor, process owner, Finance lead and divisional reps</a:t>
            </a:r>
            <a:endParaRPr lang="en-US" sz="1600" dirty="0"/>
          </a:p>
        </p:txBody>
      </p:sp>
      <p:sp>
        <p:nvSpPr>
          <p:cNvPr id="8" name="Shape 6"/>
          <p:cNvSpPr/>
          <p:nvPr/>
        </p:nvSpPr>
        <p:spPr>
          <a:xfrm>
            <a:off x="548640" y="2377440"/>
            <a:ext cx="502920" cy="502920"/>
          </a:xfrm>
          <a:prstGeom prst="ellipse">
            <a:avLst/>
          </a:prstGeom>
          <a:solidFill>
            <a:srgbClr val="1F6F78"/>
          </a:solidFill>
          <a:ln w="12700">
            <a:solidFill>
              <a:srgbClr val="1F6F78"/>
            </a:solidFill>
            <a:prstDash val="solid"/>
          </a:ln>
        </p:spPr>
      </p:sp>
      <p:sp>
        <p:nvSpPr>
          <p:cNvPr id="9" name="Text 7"/>
          <p:cNvSpPr txBox="1"/>
          <p:nvPr/>
        </p:nvSpPr>
        <p:spPr>
          <a:xfrm>
            <a:off x="548640" y="23774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280160" y="2450592"/>
            <a:ext cx="6766560" cy="4572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Approve the Phase 0 data access and pseudonymisation protocol</a:t>
            </a:r>
            <a:endParaRPr lang="en-US" sz="1600" dirty="0"/>
          </a:p>
        </p:txBody>
      </p:sp>
      <p:sp>
        <p:nvSpPr>
          <p:cNvPr id="11" name="Shape 9"/>
          <p:cNvSpPr/>
          <p:nvPr/>
        </p:nvSpPr>
        <p:spPr>
          <a:xfrm>
            <a:off x="548640" y="3154680"/>
            <a:ext cx="502920" cy="502920"/>
          </a:xfrm>
          <a:prstGeom prst="ellipse">
            <a:avLst/>
          </a:prstGeom>
          <a:solidFill>
            <a:srgbClr val="1F6F78"/>
          </a:solidFill>
          <a:ln w="12700">
            <a:solidFill>
              <a:srgbClr val="1F6F78"/>
            </a:solidFill>
            <a:prstDash val="solid"/>
          </a:ln>
        </p:spPr>
      </p:sp>
      <p:sp>
        <p:nvSpPr>
          <p:cNvPr id="12" name="Text 10"/>
          <p:cNvSpPr txBox="1"/>
          <p:nvPr/>
        </p:nvSpPr>
        <p:spPr>
          <a:xfrm>
            <a:off x="548640" y="31546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3" name="Text 11"/>
          <p:cNvSpPr txBox="1"/>
          <p:nvPr/>
        </p:nvSpPr>
        <p:spPr>
          <a:xfrm>
            <a:off x="1280160" y="3227832"/>
            <a:ext cx="6766560" cy="4572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Schedule the 90-minute kick-off workshop</a:t>
            </a:r>
            <a:endParaRPr lang="en-US" sz="1600" dirty="0"/>
          </a:p>
        </p:txBody>
      </p:sp>
      <p:sp>
        <p:nvSpPr>
          <p:cNvPr id="14" name="Shape 12"/>
          <p:cNvSpPr/>
          <p:nvPr/>
        </p:nvSpPr>
        <p:spPr>
          <a:xfrm>
            <a:off x="548640" y="3931920"/>
            <a:ext cx="502920" cy="502920"/>
          </a:xfrm>
          <a:prstGeom prst="ellipse">
            <a:avLst/>
          </a:prstGeom>
          <a:solidFill>
            <a:srgbClr val="1F6F78"/>
          </a:solidFill>
          <a:ln w="12700">
            <a:solidFill>
              <a:srgbClr val="1F6F78"/>
            </a:solidFill>
            <a:prstDash val="solid"/>
          </a:ln>
        </p:spPr>
      </p:sp>
      <p:sp>
        <p:nvSpPr>
          <p:cNvPr id="15" name="Text 13"/>
          <p:cNvSpPr txBox="1"/>
          <p:nvPr/>
        </p:nvSpPr>
        <p:spPr>
          <a:xfrm>
            <a:off x="548640" y="393192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6" name="Text 14"/>
          <p:cNvSpPr txBox="1"/>
          <p:nvPr/>
        </p:nvSpPr>
        <p:spPr>
          <a:xfrm>
            <a:off x="1280160" y="4005072"/>
            <a:ext cx="6766560" cy="4572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Release HRIS, entitlement, ITSM and finance extracts</a:t>
            </a:r>
            <a:endParaRPr lang="en-US" sz="1600" dirty="0"/>
          </a:p>
        </p:txBody>
      </p:sp>
      <p:sp>
        <p:nvSpPr>
          <p:cNvPr id="17" name="Shape 15"/>
          <p:cNvSpPr/>
          <p:nvPr/>
        </p:nvSpPr>
        <p:spPr>
          <a:xfrm>
            <a:off x="548640" y="4709160"/>
            <a:ext cx="502920" cy="502920"/>
          </a:xfrm>
          <a:prstGeom prst="ellipse">
            <a:avLst/>
          </a:prstGeom>
          <a:solidFill>
            <a:srgbClr val="E8A33D"/>
          </a:solidFill>
          <a:ln w="12700">
            <a:solidFill>
              <a:srgbClr val="E8A33D"/>
            </a:solidFill>
            <a:prstDash val="solid"/>
          </a:ln>
        </p:spPr>
      </p:sp>
      <p:sp>
        <p:nvSpPr>
          <p:cNvPr id="18" name="Text 16"/>
          <p:cNvSpPr txBox="1"/>
          <p:nvPr/>
        </p:nvSpPr>
        <p:spPr>
          <a:xfrm>
            <a:off x="548640" y="4709160"/>
            <a:ext cx="502920" cy="502920"/>
          </a:xfrm>
          <a:prstGeom prst="rect">
            <a:avLst/>
          </a:prstGeom>
          <a:noFill/>
          <a:ln/>
        </p:spPr>
        <p:txBody>
          <a:bodyPr wrap="square" lIns="0" tIns="0" rIns="0" bIns="0" rtlCol="0" anchor="ctr"/>
          <a:lstStyle/>
          <a:p>
            <a:pPr algn="ctr" indent="0" marL="0">
              <a:buNone/>
            </a:pPr>
            <a:r>
              <a:rPr lang="en-US" sz="1500" b="1" dirty="0">
                <a:solidFill>
                  <a:srgbClr val="0E2A3B"/>
                </a:solidFill>
                <a:latin typeface="Calibri" pitchFamily="34" charset="0"/>
                <a:ea typeface="Calibri" pitchFamily="34" charset="-122"/>
                <a:cs typeface="Calibri" pitchFamily="34" charset="-120"/>
              </a:rPr>
              <a:t>5</a:t>
            </a:r>
            <a:endParaRPr lang="en-US" sz="1500" dirty="0"/>
          </a:p>
        </p:txBody>
      </p:sp>
      <p:sp>
        <p:nvSpPr>
          <p:cNvPr id="19" name="Text 17"/>
          <p:cNvSpPr txBox="1"/>
          <p:nvPr/>
        </p:nvSpPr>
        <p:spPr>
          <a:xfrm>
            <a:off x="1280160" y="4782312"/>
            <a:ext cx="6766560" cy="4572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Week 4 gate: confirm baseline, pilot scope and authority to configure</a:t>
            </a:r>
            <a:endParaRPr lang="en-US" sz="1600" dirty="0"/>
          </a:p>
        </p:txBody>
      </p:sp>
      <p:sp>
        <p:nvSpPr>
          <p:cNvPr id="20" name="Shape 18"/>
          <p:cNvSpPr/>
          <p:nvPr/>
        </p:nvSpPr>
        <p:spPr>
          <a:xfrm>
            <a:off x="8412480" y="1554480"/>
            <a:ext cx="3200400" cy="2651760"/>
          </a:xfrm>
          <a:prstGeom prst="roundRect">
            <a:avLst>
              <a:gd name="adj" fmla="val 2759"/>
            </a:avLst>
          </a:prstGeom>
          <a:solidFill>
            <a:srgbClr val="E8A33D"/>
          </a:solidFill>
          <a:ln w="9525">
            <a:solidFill>
              <a:srgbClr val="E8A33D"/>
            </a:solidFill>
            <a:prstDash val="solid"/>
          </a:ln>
        </p:spPr>
      </p:sp>
      <p:sp>
        <p:nvSpPr>
          <p:cNvPr id="21" name="Text 19"/>
          <p:cNvSpPr txBox="1"/>
          <p:nvPr/>
        </p:nvSpPr>
        <p:spPr>
          <a:xfrm>
            <a:off x="8641080" y="1691640"/>
            <a:ext cx="2743200" cy="320040"/>
          </a:xfrm>
          <a:prstGeom prst="rect">
            <a:avLst/>
          </a:prstGeom>
          <a:noFill/>
          <a:ln/>
        </p:spPr>
        <p:txBody>
          <a:bodyPr wrap="square" lIns="0" tIns="0" rIns="0" bIns="0" rtlCol="0" anchor="t"/>
          <a:lstStyle/>
          <a:p>
            <a:pPr indent="0" marL="0">
              <a:buNone/>
            </a:pPr>
            <a:r>
              <a:rPr lang="en-US" sz="1300" b="1" spc="100" kern="0" dirty="0">
                <a:solidFill>
                  <a:srgbClr val="0E2A3B"/>
                </a:solidFill>
                <a:latin typeface="Calibri" pitchFamily="34" charset="0"/>
                <a:ea typeface="Calibri" pitchFamily="34" charset="-122"/>
                <a:cs typeface="Calibri" pitchFamily="34" charset="-120"/>
              </a:rPr>
              <a:t>The ask</a:t>
            </a:r>
            <a:endParaRPr lang="en-US" sz="1300" dirty="0"/>
          </a:p>
        </p:txBody>
      </p:sp>
      <p:sp>
        <p:nvSpPr>
          <p:cNvPr id="22" name="Text 20"/>
          <p:cNvSpPr txBox="1"/>
          <p:nvPr/>
        </p:nvSpPr>
        <p:spPr>
          <a:xfrm>
            <a:off x="8641080" y="2011680"/>
            <a:ext cx="2834640" cy="731520"/>
          </a:xfrm>
          <a:prstGeom prst="rect">
            <a:avLst/>
          </a:prstGeom>
          <a:noFill/>
          <a:ln/>
        </p:spPr>
        <p:txBody>
          <a:bodyPr wrap="square" lIns="0" tIns="0" rIns="0" bIns="0" rtlCol="0" anchor="t"/>
          <a:lstStyle/>
          <a:p>
            <a:pPr indent="0" marL="0">
              <a:buNone/>
            </a:pPr>
            <a:r>
              <a:rPr lang="en-US" sz="3600" b="1" dirty="0">
                <a:solidFill>
                  <a:srgbClr val="0E2A3B"/>
                </a:solidFill>
                <a:latin typeface="Cambria" pitchFamily="34" charset="0"/>
                <a:ea typeface="Cambria" pitchFamily="34" charset="-122"/>
                <a:cs typeface="Cambria" pitchFamily="34" charset="-120"/>
              </a:rPr>
              <a:t>NZ$22,500</a:t>
            </a:r>
            <a:endParaRPr lang="en-US" sz="3600" dirty="0"/>
          </a:p>
        </p:txBody>
      </p:sp>
      <p:sp>
        <p:nvSpPr>
          <p:cNvPr id="23" name="Text 21"/>
          <p:cNvSpPr txBox="1"/>
          <p:nvPr/>
        </p:nvSpPr>
        <p:spPr>
          <a:xfrm>
            <a:off x="8641080" y="2788920"/>
            <a:ext cx="2743200" cy="1280160"/>
          </a:xfrm>
          <a:prstGeom prst="rect">
            <a:avLst/>
          </a:prstGeom>
          <a:noFill/>
          <a:ln/>
        </p:spPr>
        <p:txBody>
          <a:bodyPr wrap="square" lIns="0" tIns="0" rIns="0" bIns="0" rtlCol="0" anchor="t"/>
          <a:lstStyle/>
          <a:p>
            <a:pPr indent="0" marL="0">
              <a:buNone/>
            </a:pPr>
            <a:r>
              <a:rPr lang="en-US" sz="1500" dirty="0">
                <a:solidFill>
                  <a:srgbClr val="0E2A3B"/>
                </a:solidFill>
                <a:latin typeface="Calibri" pitchFamily="34" charset="0"/>
                <a:ea typeface="Calibri" pitchFamily="34" charset="-122"/>
                <a:cs typeface="Calibri" pitchFamily="34" charset="-120"/>
              </a:rPr>
              <a:t>Phase 0 validation</a:t>
            </a:r>
            <a:endParaRPr lang="en-US" sz="1500" dirty="0"/>
          </a:p>
          <a:p>
            <a:pPr indent="0" marL="0">
              <a:buNone/>
            </a:pPr>
            <a:r>
              <a:rPr lang="en-US" sz="1500" dirty="0">
                <a:solidFill>
                  <a:srgbClr val="0E2A3B"/>
                </a:solidFill>
                <a:latin typeface="Calibri" pitchFamily="34" charset="0"/>
                <a:ea typeface="Calibri" pitchFamily="34" charset="-122"/>
                <a:cs typeface="Calibri" pitchFamily="34" charset="-120"/>
              </a:rPr>
              <a:t>Kick-off within one</a:t>
            </a:r>
            <a:endParaRPr lang="en-US" sz="1500" dirty="0"/>
          </a:p>
          <a:p>
            <a:pPr indent="0" marL="0">
              <a:buNone/>
            </a:pPr>
            <a:r>
              <a:rPr lang="en-US" sz="1500" dirty="0">
                <a:solidFill>
                  <a:srgbClr val="0E2A3B"/>
                </a:solidFill>
                <a:latin typeface="Calibri" pitchFamily="34" charset="0"/>
                <a:ea typeface="Calibri" pitchFamily="34" charset="-122"/>
                <a:cs typeface="Calibri" pitchFamily="34" charset="-120"/>
              </a:rPr>
              <a:t>week of approval</a:t>
            </a:r>
            <a:endParaRPr lang="en-US" sz="1500" dirty="0"/>
          </a:p>
        </p:txBody>
      </p:sp>
      <p:sp>
        <p:nvSpPr>
          <p:cNvPr id="24" name="Text 22"/>
          <p:cNvSpPr txBox="1"/>
          <p:nvPr/>
        </p:nvSpPr>
        <p:spPr>
          <a:xfrm>
            <a:off x="548640" y="5715000"/>
            <a:ext cx="8046720" cy="457200"/>
          </a:xfrm>
          <a:prstGeom prst="rect">
            <a:avLst/>
          </a:prstGeom>
          <a:noFill/>
          <a:ln/>
        </p:spPr>
        <p:txBody>
          <a:bodyPr wrap="square" lIns="0" tIns="0" rIns="0" bIns="0" rtlCol="0" anchor="t"/>
          <a:lstStyle/>
          <a:p>
            <a:pPr indent="0" marL="0">
              <a:buNone/>
            </a:pPr>
            <a:r>
              <a:rPr lang="en-US" sz="2000" i="1" dirty="0">
                <a:solidFill>
                  <a:srgbClr val="E8A33D"/>
                </a:solidFill>
                <a:latin typeface="Cambria" pitchFamily="34" charset="0"/>
                <a:ea typeface="Cambria" pitchFamily="34" charset="-122"/>
                <a:cs typeface="Cambria" pitchFamily="34" charset="-120"/>
              </a:rPr>
              <a:t>Make Spark's savings last. Thank you.</a:t>
            </a:r>
            <a:endParaRPr lang="en-US" sz="2000" dirty="0"/>
          </a:p>
        </p:txBody>
      </p:sp>
    </p:spTree>
  </p:cSld>
  <p:clrMapOvr>
    <a:masterClrMapping/>
  </p:clrMapOvr>
  <p:transition spd="med" advTm="200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Spark Gated Knowledge Handover - Business Case</dc:title>
  <dc:subject>PptxGenJS Presentation</dc:subject>
  <dc:creator>Xuan Zeng</dc:creator>
  <cp:lastModifiedBy>Xuan Zeng</cp:lastModifiedBy>
  <cp:revision>1</cp:revision>
  <dcterms:created xsi:type="dcterms:W3CDTF">2026-09-24T20:09:58Z</dcterms:created>
  <dcterms:modified xsi:type="dcterms:W3CDTF">2026-09-24T20:09:58Z</dcterms:modified>
</cp:coreProperties>
</file>