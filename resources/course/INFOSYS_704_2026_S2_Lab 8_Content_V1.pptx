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Inter" panose="020B0604020202020204" charset="0"/>
      <p:regular r:id="rId15"/>
    </p:embeddedFont>
    <p:embeddedFont>
      <p:font typeface="Times New Roman Bold" panose="02020803070505020304" pitchFamily="18" charset="0"/>
      <p:regular r:id="rId16"/>
      <p:bold r:id="rId17"/>
    </p:embeddedFont>
    <p:embeddedFont>
      <p:font typeface="Times New Roman Italics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81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anvas.auckland.ac.nz/courses/121031/assignments/472998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cs.google.com/spreadsheets/d/19GJ2KXOu68FExg4xdHG2pX-P_hZPeWU-YR9MR2ESUH8/edit?gid=0#gid=0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anvas.auckland.ac.nz/courses/143335/assignments/510629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3174283" y="3546857"/>
            <a:ext cx="11939435" cy="322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5"/>
              </a:lnSpc>
            </a:pPr>
            <a:r>
              <a:rPr lang="en-US" sz="5783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INFOSYS 704</a:t>
            </a:r>
          </a:p>
          <a:p>
            <a:pPr algn="ctr">
              <a:lnSpc>
                <a:spcPts val="6245"/>
              </a:lnSpc>
            </a:pPr>
            <a:r>
              <a:rPr lang="en-US" sz="5783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IT CONSULTANCY</a:t>
            </a:r>
          </a:p>
          <a:p>
            <a:pPr algn="ctr">
              <a:lnSpc>
                <a:spcPts val="6245"/>
              </a:lnSpc>
            </a:pPr>
            <a:r>
              <a:rPr lang="en-US" sz="5783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Labs Content</a:t>
            </a:r>
          </a:p>
          <a:p>
            <a:pPr algn="ctr">
              <a:lnSpc>
                <a:spcPts val="6245"/>
              </a:lnSpc>
            </a:pPr>
            <a:r>
              <a:rPr lang="en-US" sz="5783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Lab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4202846" y="1716011"/>
            <a:ext cx="9882308" cy="7851834"/>
          </a:xfrm>
          <a:custGeom>
            <a:avLst/>
            <a:gdLst/>
            <a:ahLst/>
            <a:cxnLst/>
            <a:rect l="l" t="t" r="r" b="b"/>
            <a:pathLst>
              <a:path w="9882308" h="7851834">
                <a:moveTo>
                  <a:pt x="0" y="0"/>
                </a:moveTo>
                <a:lnTo>
                  <a:pt x="9882308" y="0"/>
                </a:lnTo>
                <a:lnTo>
                  <a:pt x="9882308" y="7851834"/>
                </a:lnTo>
                <a:lnTo>
                  <a:pt x="0" y="7851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4583948" y="3726273"/>
            <a:ext cx="8991323" cy="314696"/>
          </a:xfrm>
          <a:custGeom>
            <a:avLst/>
            <a:gdLst/>
            <a:ahLst/>
            <a:cxnLst/>
            <a:rect l="l" t="t" r="r" b="b"/>
            <a:pathLst>
              <a:path w="8991323" h="314696">
                <a:moveTo>
                  <a:pt x="0" y="0"/>
                </a:moveTo>
                <a:lnTo>
                  <a:pt x="8991323" y="0"/>
                </a:lnTo>
                <a:lnTo>
                  <a:pt x="8991323" y="314697"/>
                </a:lnTo>
                <a:lnTo>
                  <a:pt x="0" y="314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823895" y="829655"/>
            <a:ext cx="16990542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Assignments</a:t>
            </a:r>
          </a:p>
        </p:txBody>
      </p:sp>
      <p:sp>
        <p:nvSpPr>
          <p:cNvPr id="9" name="Freeform 9"/>
          <p:cNvSpPr/>
          <p:nvPr/>
        </p:nvSpPr>
        <p:spPr>
          <a:xfrm>
            <a:off x="4583948" y="4828804"/>
            <a:ext cx="8991323" cy="314696"/>
          </a:xfrm>
          <a:custGeom>
            <a:avLst/>
            <a:gdLst/>
            <a:ahLst/>
            <a:cxnLst/>
            <a:rect l="l" t="t" r="r" b="b"/>
            <a:pathLst>
              <a:path w="8991323" h="314696">
                <a:moveTo>
                  <a:pt x="0" y="0"/>
                </a:moveTo>
                <a:lnTo>
                  <a:pt x="8991323" y="0"/>
                </a:lnTo>
                <a:lnTo>
                  <a:pt x="8991323" y="314696"/>
                </a:lnTo>
                <a:lnTo>
                  <a:pt x="0" y="3146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648338" y="5934075"/>
            <a:ext cx="8991323" cy="314696"/>
          </a:xfrm>
          <a:custGeom>
            <a:avLst/>
            <a:gdLst/>
            <a:ahLst/>
            <a:cxnLst/>
            <a:rect l="l" t="t" r="r" b="b"/>
            <a:pathLst>
              <a:path w="8991323" h="314696">
                <a:moveTo>
                  <a:pt x="0" y="0"/>
                </a:moveTo>
                <a:lnTo>
                  <a:pt x="8991324" y="0"/>
                </a:lnTo>
                <a:lnTo>
                  <a:pt x="8991324" y="314696"/>
                </a:lnTo>
                <a:lnTo>
                  <a:pt x="0" y="3146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2963973" y="2079964"/>
            <a:ext cx="12360054" cy="7272187"/>
          </a:xfrm>
          <a:custGeom>
            <a:avLst/>
            <a:gdLst/>
            <a:ahLst/>
            <a:cxnLst/>
            <a:rect l="l" t="t" r="r" b="b"/>
            <a:pathLst>
              <a:path w="12360054" h="7272187">
                <a:moveTo>
                  <a:pt x="0" y="0"/>
                </a:moveTo>
                <a:lnTo>
                  <a:pt x="12360054" y="0"/>
                </a:lnTo>
                <a:lnTo>
                  <a:pt x="12360054" y="7272188"/>
                </a:lnTo>
                <a:lnTo>
                  <a:pt x="0" y="72721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47105" y="952205"/>
            <a:ext cx="17993791" cy="112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A1| </a:t>
            </a:r>
            <a:r>
              <a:rPr lang="en-US" sz="3999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A1-D1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Identifying Business Needs and Framing the Problem |</a:t>
            </a:r>
          </a:p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3999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A1-D2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Designing the Analysis, Gathering the Data, Analysing, and Interpreting Results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896044" y="6292742"/>
            <a:ext cx="5087155" cy="11673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85189" lvl="1" indent="-442594" algn="l">
              <a:lnSpc>
                <a:spcPts val="4427"/>
              </a:lnSpc>
              <a:buFont typeface="Arial"/>
              <a:buChar char="•"/>
            </a:pPr>
            <a:r>
              <a:rPr lang="en-US" sz="40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+ 20% = 30%</a:t>
            </a:r>
          </a:p>
          <a:p>
            <a:pPr marL="885189" lvl="1" indent="-442594" algn="l">
              <a:lnSpc>
                <a:spcPts val="4427"/>
              </a:lnSpc>
              <a:buFont typeface="Arial"/>
              <a:buChar char="•"/>
            </a:pPr>
            <a:r>
              <a:rPr lang="en-US" sz="40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1 - 4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3661556" y="1836611"/>
            <a:ext cx="10964888" cy="7421689"/>
          </a:xfrm>
          <a:custGeom>
            <a:avLst/>
            <a:gdLst/>
            <a:ahLst/>
            <a:cxnLst/>
            <a:rect l="l" t="t" r="r" b="b"/>
            <a:pathLst>
              <a:path w="10964888" h="7421689">
                <a:moveTo>
                  <a:pt x="0" y="0"/>
                </a:moveTo>
                <a:lnTo>
                  <a:pt x="10964888" y="0"/>
                </a:lnTo>
                <a:lnTo>
                  <a:pt x="10964888" y="7421689"/>
                </a:lnTo>
                <a:lnTo>
                  <a:pt x="0" y="74216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47105" y="952205"/>
            <a:ext cx="17993791" cy="584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A2 | </a:t>
            </a:r>
            <a:r>
              <a:rPr lang="en-US" sz="3999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A2-D1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Consulting Proposal | </a:t>
            </a:r>
            <a:r>
              <a:rPr lang="en-US" sz="3999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A2-D2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Presenting Business Case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981381" y="5260800"/>
            <a:ext cx="3586907" cy="915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3455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12% + 8% = 20%</a:t>
            </a:r>
          </a:p>
          <a:p>
            <a:pPr marL="690879" lvl="1" indent="-345439" algn="l">
              <a:lnSpc>
                <a:spcPts val="3455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5 - 8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04675" y="6781666"/>
            <a:ext cx="1128564" cy="915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3199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A2-D1</a:t>
            </a:r>
          </a:p>
          <a:p>
            <a:pPr algn="l">
              <a:lnSpc>
                <a:spcPts val="3455"/>
              </a:lnSpc>
            </a:pPr>
            <a:r>
              <a:rPr lang="en-US" sz="3199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A2-D2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48729" y="882108"/>
            <a:ext cx="16990542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A2-D2: Business Case Presentation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8093" y="4394835"/>
            <a:ext cx="16731813" cy="157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47" lvl="1" indent="-485773" algn="l">
              <a:lnSpc>
                <a:spcPts val="6254"/>
              </a:lnSpc>
              <a:buFont typeface="Arial"/>
              <a:buChar char="•"/>
            </a:pPr>
            <a:r>
              <a:rPr lang="en-US" sz="4499" u="sng">
                <a:solidFill>
                  <a:srgbClr val="1E29C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https://canvas.auckland.ac.nz/courses/121031/assignments/467270</a:t>
            </a:r>
          </a:p>
          <a:p>
            <a:pPr marL="971547" lvl="1" indent="-485773" algn="l">
              <a:lnSpc>
                <a:spcPts val="6254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 to Lab Slides Week 5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3882333" y="1750170"/>
            <a:ext cx="10523333" cy="7835969"/>
          </a:xfrm>
          <a:custGeom>
            <a:avLst/>
            <a:gdLst/>
            <a:ahLst/>
            <a:cxnLst/>
            <a:rect l="l" t="t" r="r" b="b"/>
            <a:pathLst>
              <a:path w="10523333" h="7835969">
                <a:moveTo>
                  <a:pt x="0" y="0"/>
                </a:moveTo>
                <a:lnTo>
                  <a:pt x="10523334" y="0"/>
                </a:lnTo>
                <a:lnTo>
                  <a:pt x="10523334" y="7835970"/>
                </a:lnTo>
                <a:lnTo>
                  <a:pt x="0" y="7835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648729" y="882108"/>
            <a:ext cx="16990542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A3: Build App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10560" y="4909566"/>
            <a:ext cx="1924840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9" lvl="1" indent="-345439" algn="l">
              <a:lnSpc>
                <a:spcPts val="3455"/>
              </a:lnSpc>
              <a:buFont typeface="Arial"/>
              <a:buChar char="•"/>
            </a:pPr>
            <a:r>
              <a:rPr lang="en-US" sz="3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48729" y="882108"/>
            <a:ext cx="16990542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A3: Build App. - Specifications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8093" y="3136475"/>
            <a:ext cx="16731813" cy="157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47" lvl="1" indent="-485773" algn="l">
              <a:lnSpc>
                <a:spcPts val="6254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Specification Document</a:t>
            </a:r>
          </a:p>
          <a:p>
            <a:pPr marL="971547" lvl="1" indent="-485773" algn="l">
              <a:lnSpc>
                <a:spcPts val="6254"/>
              </a:lnSpc>
              <a:buFont typeface="Arial"/>
              <a:buChar char="•"/>
            </a:pPr>
            <a:r>
              <a:rPr lang="en-US" sz="4499" u="sng">
                <a:solidFill>
                  <a:srgbClr val="1E29CA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tooltip="https://canvas.auckland.ac.nz/courses/121031/assignments/472998"/>
              </a:rPr>
              <a:t>https://canvas.auckland.ac.nz/courses/121031/assignments/472998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8093" y="5632571"/>
            <a:ext cx="16731813" cy="157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47" lvl="1" indent="-485773" algn="l">
              <a:lnSpc>
                <a:spcPts val="6254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Groupwork Disclaimer Slide</a:t>
            </a:r>
          </a:p>
          <a:p>
            <a:pPr marL="971547" lvl="1" indent="-485773" algn="l">
              <a:lnSpc>
                <a:spcPts val="6254"/>
              </a:lnSpc>
              <a:buFont typeface="Arial"/>
              <a:buChar char="•"/>
            </a:pPr>
            <a:r>
              <a:rPr lang="en-US" sz="4499" u="sng">
                <a:solidFill>
                  <a:srgbClr val="1E29CA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tooltip="https://canvas.auckland.ac.nz/courses/121031/assignments/472998"/>
              </a:rPr>
              <a:t>https://canvas.auckland.ac.nz/courses/121031/assignments/472998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48729" y="882108"/>
            <a:ext cx="16990542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A3: Build App. - Group Assignment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60303" y="2172018"/>
            <a:ext cx="15167395" cy="577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4" lvl="1" indent="-377827" algn="l">
              <a:lnSpc>
                <a:spcPts val="57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 in Groups Together on Wednesday in Associated Lab Streams (</a:t>
            </a:r>
            <a:r>
              <a:rPr lang="en-US" sz="3500" u="sng">
                <a:solidFill>
                  <a:srgbClr val="1E29CA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tooltip="https://docs.google.com/spreadsheets/d/19GJ2KXOu68FExg4xdHG2pX-P_hZPeWU-YR9MR2ESUH8/edit?gid=0#gid=0"/>
              </a:rPr>
              <a:t>Link</a:t>
            </a: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marL="755654" lvl="1" indent="-377827" algn="l">
              <a:lnSpc>
                <a:spcPts val="57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 and Select One Solution to be Implemented</a:t>
            </a:r>
          </a:p>
          <a:p>
            <a:pPr marL="755654" lvl="1" indent="-377827" algn="l">
              <a:lnSpc>
                <a:spcPts val="57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8 - SAP Introduction and SAP build Environment (AppGyver)</a:t>
            </a:r>
          </a:p>
          <a:p>
            <a:pPr marL="755654" lvl="1" indent="-377827" algn="l">
              <a:lnSpc>
                <a:spcPts val="57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9 - Design Thinking and Build App.</a:t>
            </a:r>
          </a:p>
          <a:p>
            <a:pPr marL="755654" lvl="1" indent="-377827" algn="l">
              <a:lnSpc>
                <a:spcPts val="57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10 - Build App</a:t>
            </a:r>
          </a:p>
          <a:p>
            <a:pPr marL="755654" lvl="1" indent="-377827" algn="l">
              <a:lnSpc>
                <a:spcPts val="57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11 - SAP Walkaround to help complete Build App. and Introduction to A4: Overall Project Document</a:t>
            </a:r>
          </a:p>
          <a:p>
            <a:pPr marL="755654" lvl="1" indent="-377827" algn="l">
              <a:lnSpc>
                <a:spcPts val="57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12 - Presentations (5 Minutes)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3822051" y="1772886"/>
            <a:ext cx="10643898" cy="7790538"/>
          </a:xfrm>
          <a:custGeom>
            <a:avLst/>
            <a:gdLst/>
            <a:ahLst/>
            <a:cxnLst/>
            <a:rect l="l" t="t" r="r" b="b"/>
            <a:pathLst>
              <a:path w="10643898" h="7790538">
                <a:moveTo>
                  <a:pt x="0" y="0"/>
                </a:moveTo>
                <a:lnTo>
                  <a:pt x="10643898" y="0"/>
                </a:lnTo>
                <a:lnTo>
                  <a:pt x="10643898" y="7790538"/>
                </a:lnTo>
                <a:lnTo>
                  <a:pt x="0" y="77905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648729" y="882108"/>
            <a:ext cx="16990542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A4: Complete Project Documentation - Individual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10560" y="4909566"/>
            <a:ext cx="1848640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9" lvl="1" indent="-345439" algn="l">
              <a:lnSpc>
                <a:spcPts val="3455"/>
              </a:lnSpc>
              <a:buFont typeface="Arial"/>
              <a:buChar char="•"/>
            </a:pPr>
            <a:r>
              <a:rPr lang="en-US" sz="3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1023" y="3032861"/>
            <a:ext cx="1073777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3199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48729" y="897838"/>
            <a:ext cx="16990542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A4: Complete Project Documentation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8093" y="4302442"/>
            <a:ext cx="16731813" cy="157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47" lvl="1" indent="-485773" algn="l">
              <a:lnSpc>
                <a:spcPts val="6254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 Document</a:t>
            </a:r>
          </a:p>
          <a:p>
            <a:pPr marL="971547" lvl="1" indent="-485773" algn="l">
              <a:lnSpc>
                <a:spcPts val="6254"/>
              </a:lnSpc>
              <a:buFont typeface="Arial"/>
              <a:buChar char="•"/>
            </a:pPr>
            <a:r>
              <a:rPr lang="en-US" sz="4499" u="sng">
                <a:solidFill>
                  <a:srgbClr val="1E29CA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tooltip="https://canvas.auckland.ac.nz/courses/143335/assignments/510629"/>
              </a:rPr>
              <a:t>https://canvas.auckland.ac.nz/courses/143335/assignments/510629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4779309" y="1028700"/>
            <a:ext cx="8729382" cy="8571162"/>
          </a:xfrm>
          <a:custGeom>
            <a:avLst/>
            <a:gdLst/>
            <a:ahLst/>
            <a:cxnLst/>
            <a:rect l="l" t="t" r="r" b="b"/>
            <a:pathLst>
              <a:path w="8729382" h="8571162">
                <a:moveTo>
                  <a:pt x="0" y="0"/>
                </a:moveTo>
                <a:lnTo>
                  <a:pt x="8729382" y="0"/>
                </a:lnTo>
                <a:lnTo>
                  <a:pt x="8729382" y="8571162"/>
                </a:lnTo>
                <a:lnTo>
                  <a:pt x="0" y="8571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8700" y="745808"/>
            <a:ext cx="10080629" cy="584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Complete Project Documentation: Plan Draft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24786" y="1057275"/>
            <a:ext cx="16990542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NEXT LAB (WK 9) (LAB 8)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8024" y="3723245"/>
            <a:ext cx="17959976" cy="76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57" lvl="1" indent="-474979" algn="l">
              <a:lnSpc>
                <a:spcPts val="6027"/>
              </a:lnSpc>
              <a:buFont typeface="Arial"/>
              <a:buChar char="•"/>
            </a:pPr>
            <a:r>
              <a:rPr lang="en-US" sz="4399" i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Continue working on your solution.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5651896" y="1905553"/>
            <a:ext cx="7378303" cy="1243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  <a:spcBef>
                <a:spcPct val="0"/>
              </a:spcBef>
            </a:pPr>
            <a:r>
              <a:rPr lang="en-US" sz="9000" i="1" dirty="0">
                <a:solidFill>
                  <a:srgbClr val="FFFFFF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Thanks Guys :)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3575271" y="9804597"/>
            <a:ext cx="4627512" cy="482403"/>
            <a:chOff x="0" y="0"/>
            <a:chExt cx="6170016" cy="6432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170020" cy="643200"/>
            </a:xfrm>
            <a:custGeom>
              <a:avLst/>
              <a:gdLst/>
              <a:ahLst/>
              <a:cxnLst/>
              <a:rect l="l" t="t" r="r" b="b"/>
              <a:pathLst>
                <a:path w="6170020" h="643200">
                  <a:moveTo>
                    <a:pt x="0" y="0"/>
                  </a:moveTo>
                  <a:lnTo>
                    <a:pt x="6170020" y="0"/>
                  </a:lnTo>
                  <a:lnTo>
                    <a:pt x="6170020" y="643200"/>
                  </a:lnTo>
                  <a:lnTo>
                    <a:pt x="0" y="6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13" b="-136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6170016" cy="643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Waipapa Taumata Rau, University of Auckland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75eb9d1-7479-4f8a-9240-cc5b19dbbc64}" enabled="1" method="Standard" siteId="{d1b36e95-0d50-42e9-958f-b63fa906bea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</Words>
  <Application>Microsoft Office PowerPoint</Application>
  <PresentationFormat>Custom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Times New Roman</vt:lpstr>
      <vt:lpstr>Arial</vt:lpstr>
      <vt:lpstr>Times New Roman Bold</vt:lpstr>
      <vt:lpstr>Calibri</vt:lpstr>
      <vt:lpstr>Inter</vt:lpstr>
      <vt:lpstr>Times New Roman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CONSULTANCY.pptx</dc:title>
  <cp:lastModifiedBy>Umesh Nayak</cp:lastModifiedBy>
  <cp:revision>6</cp:revision>
  <dcterms:created xsi:type="dcterms:W3CDTF">2006-08-16T00:00:00Z</dcterms:created>
  <dcterms:modified xsi:type="dcterms:W3CDTF">2026-09-22T09:12:07Z</dcterms:modified>
  <dc:identifier>DAHPcWJATkA</dc:identifier>
</cp:coreProperties>
</file>