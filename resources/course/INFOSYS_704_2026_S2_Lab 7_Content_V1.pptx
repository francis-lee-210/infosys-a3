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8288000" cy="10287000"/>
  <p:notesSz cx="6858000" cy="9144000"/>
  <p:embeddedFontLst>
    <p:embeddedFont>
      <p:font typeface="Inter" panose="020B0604020202020204" charset="0"/>
      <p:regular r:id="rId17"/>
    </p:embeddedFont>
    <p:embeddedFont>
      <p:font typeface="Times New Roman Bold" panose="02020803070505020304" pitchFamily="18" charset="0"/>
      <p:regular r:id="rId18"/>
      <p:bold r:id="rId19"/>
    </p:embeddedFont>
    <p:embeddedFont>
      <p:font typeface="Times New Roman Italics" panose="020B0604020202020204" charset="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8" d="100"/>
          <a:sy n="68" d="100"/>
        </p:scale>
        <p:origin x="816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canvas.auckland.ac.nz/courses/121031/assignments/467269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canvas.auckland.ac.nz/courses/121031/assignments/472998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docs.google.com/spreadsheets/d/19GJ2KXOu68FExg4xdHG2pX-P_hZPeWU-YR9MR2ESUH8/edit?gid=0#gid=0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ODr-xd8LsDI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jpeg"/><Relationship Id="rId5" Type="http://schemas.openxmlformats.org/officeDocument/2006/relationships/hyperlink" Target="https://www.google.com/search?q=impact+value+matrix+to+prioritise+solution+implementation&amp;sca_esv=348adf5b6927ae42&amp;rlz=1C1GCEJ_enNZ1029NZ1029&amp;ei=Nc3JaN3MA8bh2roPjqGmUQ&amp;ved=2ahUKEwik7KCZlN6PAxUIRmwGHXUFL74Q0NsOegQIXRAA&amp;uact=5&amp;sclient=gws-wiz-serp&amp;udm=50&amp;fbs=AIIjpHxU7SXXniUZfeShr2fp4giZ1Y6MJ25_tmWITc7uy4KIeoJTKjrFjVxydQWqI2NcOha3O1YqG67F0QIhAOFN_ob1yXos5K_Qo9Tq-0cVPzex8akBC0YDCZ6Kdb3tXvKc6RFFaJZ5G23Reu3aSyxvn2qD41n-47oj-b-f0NcRPP5lz0IcnVzj2DIj_DMpoDz5XbfZAMcEl5-58jjbkgCC_7e4L5AEDQ&amp;aep=10&amp;ntc=1&amp;mstk=AUtExfB0RqAApRm5QoOvW3bms0Gl_vJ4-20mKhR2SmHPmWP-dDxFtKfzk1d-app_1MVEk22h8k83akccci6zQt-HKrD6nYfyowa4xc8wTcheemGDFGpkaHpt8cmw2CY1HlFSoAG5-VPBiod9GM5zOiMJ8u85FmW0NSwr6qZ1JbZWVP1CsSRKDz5_ngLQo4eTBWzrx0GfMZkkDA5l9c8amJyl4L0ZK1H_ATJgl79vQ6fH5L-jbq1IKzcxE_XY0Q&amp;csuir=1" TargetMode="External"/><Relationship Id="rId4" Type="http://schemas.openxmlformats.org/officeDocument/2006/relationships/hyperlink" Target="https://asq.org/quality-resources/impact-effort-matrix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3"/>
          <p:cNvSpPr txBox="1"/>
          <p:nvPr/>
        </p:nvSpPr>
        <p:spPr>
          <a:xfrm>
            <a:off x="3174283" y="3546857"/>
            <a:ext cx="11939435" cy="3221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45"/>
              </a:lnSpc>
            </a:pPr>
            <a:r>
              <a:rPr lang="en-US" sz="5783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INFOSYS 704</a:t>
            </a:r>
          </a:p>
          <a:p>
            <a:pPr algn="ctr">
              <a:lnSpc>
                <a:spcPts val="6245"/>
              </a:lnSpc>
            </a:pPr>
            <a:r>
              <a:rPr lang="en-US" sz="5783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IT CONSULTANCY</a:t>
            </a:r>
          </a:p>
          <a:p>
            <a:pPr algn="ctr">
              <a:lnSpc>
                <a:spcPts val="6245"/>
              </a:lnSpc>
            </a:pPr>
            <a:r>
              <a:rPr lang="en-US" sz="5783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Labs Content</a:t>
            </a:r>
          </a:p>
          <a:p>
            <a:pPr algn="ctr">
              <a:lnSpc>
                <a:spcPts val="6245"/>
              </a:lnSpc>
            </a:pPr>
            <a:r>
              <a:rPr lang="en-US" sz="5783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Lab 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13575271" y="9804597"/>
            <a:ext cx="4627512" cy="482403"/>
            <a:chOff x="0" y="0"/>
            <a:chExt cx="6170016" cy="64320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170020" cy="643200"/>
            </a:xfrm>
            <a:custGeom>
              <a:avLst/>
              <a:gdLst/>
              <a:ahLst/>
              <a:cxnLst/>
              <a:rect l="l" t="t" r="r" b="b"/>
              <a:pathLst>
                <a:path w="6170020" h="643200">
                  <a:moveTo>
                    <a:pt x="0" y="0"/>
                  </a:moveTo>
                  <a:lnTo>
                    <a:pt x="6170020" y="0"/>
                  </a:lnTo>
                  <a:lnTo>
                    <a:pt x="6170020" y="643200"/>
                  </a:lnTo>
                  <a:lnTo>
                    <a:pt x="0" y="643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6913" b="-136914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0"/>
              <a:ext cx="6170016" cy="64320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080"/>
                </a:lnSpc>
              </a:pPr>
              <a:r>
                <a:rPr lang="en-US" sz="9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Waipapa Taumata Rau, University of Auckland</a:t>
              </a:r>
            </a:p>
          </p:txBody>
        </p:sp>
      </p:grpSp>
      <p:sp>
        <p:nvSpPr>
          <p:cNvPr id="6" name="Freeform 6"/>
          <p:cNvSpPr/>
          <p:nvPr/>
        </p:nvSpPr>
        <p:spPr>
          <a:xfrm>
            <a:off x="4202846" y="1716011"/>
            <a:ext cx="9882308" cy="7851834"/>
          </a:xfrm>
          <a:custGeom>
            <a:avLst/>
            <a:gdLst/>
            <a:ahLst/>
            <a:cxnLst/>
            <a:rect l="l" t="t" r="r" b="b"/>
            <a:pathLst>
              <a:path w="9882308" h="7851834">
                <a:moveTo>
                  <a:pt x="0" y="0"/>
                </a:moveTo>
                <a:lnTo>
                  <a:pt x="9882308" y="0"/>
                </a:lnTo>
                <a:lnTo>
                  <a:pt x="9882308" y="7851834"/>
                </a:lnTo>
                <a:lnTo>
                  <a:pt x="0" y="78518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Freeform 7"/>
          <p:cNvSpPr/>
          <p:nvPr/>
        </p:nvSpPr>
        <p:spPr>
          <a:xfrm>
            <a:off x="4583948" y="3726273"/>
            <a:ext cx="8991323" cy="314696"/>
          </a:xfrm>
          <a:custGeom>
            <a:avLst/>
            <a:gdLst/>
            <a:ahLst/>
            <a:cxnLst/>
            <a:rect l="l" t="t" r="r" b="b"/>
            <a:pathLst>
              <a:path w="8991323" h="314696">
                <a:moveTo>
                  <a:pt x="0" y="0"/>
                </a:moveTo>
                <a:lnTo>
                  <a:pt x="8991323" y="0"/>
                </a:lnTo>
                <a:lnTo>
                  <a:pt x="8991323" y="314697"/>
                </a:lnTo>
                <a:lnTo>
                  <a:pt x="0" y="31469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TextBox 8"/>
          <p:cNvSpPr txBox="1"/>
          <p:nvPr/>
        </p:nvSpPr>
        <p:spPr>
          <a:xfrm>
            <a:off x="823895" y="829655"/>
            <a:ext cx="16990542" cy="649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59"/>
              </a:lnSpc>
              <a:spcBef>
                <a:spcPct val="0"/>
              </a:spcBef>
            </a:pPr>
            <a:r>
              <a:rPr lang="en-US" sz="44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Assignments</a:t>
            </a:r>
          </a:p>
        </p:txBody>
      </p:sp>
      <p:sp>
        <p:nvSpPr>
          <p:cNvPr id="9" name="Freeform 9"/>
          <p:cNvSpPr/>
          <p:nvPr/>
        </p:nvSpPr>
        <p:spPr>
          <a:xfrm>
            <a:off x="4583948" y="4828804"/>
            <a:ext cx="8991323" cy="314696"/>
          </a:xfrm>
          <a:custGeom>
            <a:avLst/>
            <a:gdLst/>
            <a:ahLst/>
            <a:cxnLst/>
            <a:rect l="l" t="t" r="r" b="b"/>
            <a:pathLst>
              <a:path w="8991323" h="314696">
                <a:moveTo>
                  <a:pt x="0" y="0"/>
                </a:moveTo>
                <a:lnTo>
                  <a:pt x="8991323" y="0"/>
                </a:lnTo>
                <a:lnTo>
                  <a:pt x="8991323" y="314696"/>
                </a:lnTo>
                <a:lnTo>
                  <a:pt x="0" y="31469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13575271" y="9804597"/>
            <a:ext cx="4627512" cy="482403"/>
            <a:chOff x="0" y="0"/>
            <a:chExt cx="6170016" cy="64320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170020" cy="643200"/>
            </a:xfrm>
            <a:custGeom>
              <a:avLst/>
              <a:gdLst/>
              <a:ahLst/>
              <a:cxnLst/>
              <a:rect l="l" t="t" r="r" b="b"/>
              <a:pathLst>
                <a:path w="6170020" h="643200">
                  <a:moveTo>
                    <a:pt x="0" y="0"/>
                  </a:moveTo>
                  <a:lnTo>
                    <a:pt x="6170020" y="0"/>
                  </a:lnTo>
                  <a:lnTo>
                    <a:pt x="6170020" y="643200"/>
                  </a:lnTo>
                  <a:lnTo>
                    <a:pt x="0" y="643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6913" b="-136914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0"/>
              <a:ext cx="6170016" cy="64320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080"/>
                </a:lnSpc>
              </a:pPr>
              <a:r>
                <a:rPr lang="en-US" sz="9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Waipapa Taumata Rau, University of Auckland</a:t>
              </a:r>
            </a:p>
          </p:txBody>
        </p:sp>
      </p:grpSp>
      <p:sp>
        <p:nvSpPr>
          <p:cNvPr id="6" name="Freeform 6"/>
          <p:cNvSpPr/>
          <p:nvPr/>
        </p:nvSpPr>
        <p:spPr>
          <a:xfrm>
            <a:off x="2963973" y="2079964"/>
            <a:ext cx="12360054" cy="7272187"/>
          </a:xfrm>
          <a:custGeom>
            <a:avLst/>
            <a:gdLst/>
            <a:ahLst/>
            <a:cxnLst/>
            <a:rect l="l" t="t" r="r" b="b"/>
            <a:pathLst>
              <a:path w="12360054" h="7272187">
                <a:moveTo>
                  <a:pt x="0" y="0"/>
                </a:moveTo>
                <a:lnTo>
                  <a:pt x="12360054" y="0"/>
                </a:lnTo>
                <a:lnTo>
                  <a:pt x="12360054" y="7272188"/>
                </a:lnTo>
                <a:lnTo>
                  <a:pt x="0" y="72721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TextBox 7"/>
          <p:cNvSpPr txBox="1"/>
          <p:nvPr/>
        </p:nvSpPr>
        <p:spPr>
          <a:xfrm>
            <a:off x="147105" y="952205"/>
            <a:ext cx="17993791" cy="1127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1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A1| </a:t>
            </a:r>
            <a:r>
              <a:rPr lang="en-US" sz="3999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A1-D1</a:t>
            </a: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Identifying Business Needs and Framing the Problem |</a:t>
            </a:r>
          </a:p>
          <a:p>
            <a:pPr algn="ctr">
              <a:lnSpc>
                <a:spcPts val="4319"/>
              </a:lnSpc>
              <a:spcBef>
                <a:spcPct val="0"/>
              </a:spcBef>
            </a:pPr>
            <a:r>
              <a:rPr lang="en-US" sz="3999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A1-D2</a:t>
            </a: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Designing the Analysis, Gathering the Data, Analysing, and Interpreting Results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896044" y="6292742"/>
            <a:ext cx="5010955" cy="11673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885189" lvl="1" indent="-442594" algn="l">
              <a:lnSpc>
                <a:spcPts val="4427"/>
              </a:lnSpc>
              <a:buFont typeface="Arial"/>
              <a:buChar char="•"/>
            </a:pPr>
            <a:r>
              <a:rPr lang="en-US" sz="40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10% + 20% = 30%</a:t>
            </a:r>
          </a:p>
          <a:p>
            <a:pPr marL="885189" lvl="1" indent="-442594" algn="l">
              <a:lnSpc>
                <a:spcPts val="4427"/>
              </a:lnSpc>
              <a:buFont typeface="Arial"/>
              <a:buChar char="•"/>
            </a:pPr>
            <a:r>
              <a:rPr lang="en-US" sz="40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1 - 4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13575271" y="9804597"/>
            <a:ext cx="4627512" cy="482403"/>
            <a:chOff x="0" y="0"/>
            <a:chExt cx="6170016" cy="64320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170020" cy="643200"/>
            </a:xfrm>
            <a:custGeom>
              <a:avLst/>
              <a:gdLst/>
              <a:ahLst/>
              <a:cxnLst/>
              <a:rect l="l" t="t" r="r" b="b"/>
              <a:pathLst>
                <a:path w="6170020" h="643200">
                  <a:moveTo>
                    <a:pt x="0" y="0"/>
                  </a:moveTo>
                  <a:lnTo>
                    <a:pt x="6170020" y="0"/>
                  </a:lnTo>
                  <a:lnTo>
                    <a:pt x="6170020" y="643200"/>
                  </a:lnTo>
                  <a:lnTo>
                    <a:pt x="0" y="643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6913" b="-136914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0"/>
              <a:ext cx="6170016" cy="64320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080"/>
                </a:lnSpc>
              </a:pPr>
              <a:r>
                <a:rPr lang="en-US" sz="9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Waipapa Taumata Rau, University of Auckland</a:t>
              </a:r>
            </a:p>
          </p:txBody>
        </p:sp>
      </p:grpSp>
      <p:sp>
        <p:nvSpPr>
          <p:cNvPr id="6" name="Freeform 6"/>
          <p:cNvSpPr/>
          <p:nvPr/>
        </p:nvSpPr>
        <p:spPr>
          <a:xfrm>
            <a:off x="3661556" y="1836611"/>
            <a:ext cx="10964888" cy="7421689"/>
          </a:xfrm>
          <a:custGeom>
            <a:avLst/>
            <a:gdLst/>
            <a:ahLst/>
            <a:cxnLst/>
            <a:rect l="l" t="t" r="r" b="b"/>
            <a:pathLst>
              <a:path w="10964888" h="7421689">
                <a:moveTo>
                  <a:pt x="0" y="0"/>
                </a:moveTo>
                <a:lnTo>
                  <a:pt x="10964888" y="0"/>
                </a:lnTo>
                <a:lnTo>
                  <a:pt x="10964888" y="7421689"/>
                </a:lnTo>
                <a:lnTo>
                  <a:pt x="0" y="74216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TextBox 7"/>
          <p:cNvSpPr txBox="1"/>
          <p:nvPr/>
        </p:nvSpPr>
        <p:spPr>
          <a:xfrm>
            <a:off x="147105" y="952205"/>
            <a:ext cx="17993791" cy="584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1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A2 | </a:t>
            </a:r>
            <a:r>
              <a:rPr lang="en-US" sz="3999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A2-D1</a:t>
            </a: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Consulting Proposal | </a:t>
            </a:r>
            <a:r>
              <a:rPr lang="en-US" sz="3999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A2-D2</a:t>
            </a: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Presenting Business Case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981381" y="5260800"/>
            <a:ext cx="3586907" cy="9155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79" lvl="1" indent="-345439" algn="l">
              <a:lnSpc>
                <a:spcPts val="3455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12% + 8% = 20%</a:t>
            </a:r>
          </a:p>
          <a:p>
            <a:pPr marL="690879" lvl="1" indent="-345439" algn="l">
              <a:lnSpc>
                <a:spcPts val="3455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5 - 8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104675" y="6781666"/>
            <a:ext cx="1128564" cy="9155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55"/>
              </a:lnSpc>
            </a:pPr>
            <a:r>
              <a:rPr lang="en-US" sz="3199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A2-D1</a:t>
            </a:r>
          </a:p>
          <a:p>
            <a:pPr algn="l">
              <a:lnSpc>
                <a:spcPts val="3455"/>
              </a:lnSpc>
            </a:pPr>
            <a:r>
              <a:rPr lang="en-US" sz="3199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A2-D2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13575271" y="9804597"/>
            <a:ext cx="4627512" cy="482403"/>
            <a:chOff x="0" y="0"/>
            <a:chExt cx="6170016" cy="64320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170020" cy="643200"/>
            </a:xfrm>
            <a:custGeom>
              <a:avLst/>
              <a:gdLst/>
              <a:ahLst/>
              <a:cxnLst/>
              <a:rect l="l" t="t" r="r" b="b"/>
              <a:pathLst>
                <a:path w="6170020" h="643200">
                  <a:moveTo>
                    <a:pt x="0" y="0"/>
                  </a:moveTo>
                  <a:lnTo>
                    <a:pt x="6170020" y="0"/>
                  </a:lnTo>
                  <a:lnTo>
                    <a:pt x="6170020" y="643200"/>
                  </a:lnTo>
                  <a:lnTo>
                    <a:pt x="0" y="643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6913" b="-136914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0"/>
              <a:ext cx="6170016" cy="64320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080"/>
                </a:lnSpc>
              </a:pPr>
              <a:r>
                <a:rPr lang="en-US" sz="9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Waipapa Taumata Rau, University of Auckland</a:t>
              </a:r>
            </a:p>
          </p:txBody>
        </p:sp>
      </p:grpSp>
      <p:sp>
        <p:nvSpPr>
          <p:cNvPr id="6" name="Freeform 6"/>
          <p:cNvSpPr/>
          <p:nvPr/>
        </p:nvSpPr>
        <p:spPr>
          <a:xfrm>
            <a:off x="2601885" y="1028700"/>
            <a:ext cx="13084230" cy="3900736"/>
          </a:xfrm>
          <a:custGeom>
            <a:avLst/>
            <a:gdLst/>
            <a:ahLst/>
            <a:cxnLst/>
            <a:rect l="l" t="t" r="r" b="b"/>
            <a:pathLst>
              <a:path w="13084230" h="3900736">
                <a:moveTo>
                  <a:pt x="0" y="0"/>
                </a:moveTo>
                <a:lnTo>
                  <a:pt x="13084230" y="0"/>
                </a:lnTo>
                <a:lnTo>
                  <a:pt x="13084230" y="3900736"/>
                </a:lnTo>
                <a:lnTo>
                  <a:pt x="0" y="39007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Freeform 7"/>
          <p:cNvSpPr/>
          <p:nvPr/>
        </p:nvSpPr>
        <p:spPr>
          <a:xfrm>
            <a:off x="2507508" y="5143500"/>
            <a:ext cx="13084230" cy="4587658"/>
          </a:xfrm>
          <a:custGeom>
            <a:avLst/>
            <a:gdLst/>
            <a:ahLst/>
            <a:cxnLst/>
            <a:rect l="l" t="t" r="r" b="b"/>
            <a:pathLst>
              <a:path w="13084230" h="4587658">
                <a:moveTo>
                  <a:pt x="0" y="0"/>
                </a:moveTo>
                <a:lnTo>
                  <a:pt x="13084230" y="0"/>
                </a:lnTo>
                <a:lnTo>
                  <a:pt x="13084230" y="4587658"/>
                </a:lnTo>
                <a:lnTo>
                  <a:pt x="0" y="45876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TextBox 8"/>
          <p:cNvSpPr txBox="1"/>
          <p:nvPr/>
        </p:nvSpPr>
        <p:spPr>
          <a:xfrm>
            <a:off x="2262476" y="1197509"/>
            <a:ext cx="2467552" cy="584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19"/>
              </a:lnSpc>
              <a:spcBef>
                <a:spcPct val="0"/>
              </a:spcBef>
            </a:pPr>
            <a:r>
              <a:rPr lang="en-US" sz="39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Week 5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262476" y="5572256"/>
            <a:ext cx="2467552" cy="584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19"/>
              </a:lnSpc>
              <a:spcBef>
                <a:spcPct val="0"/>
              </a:spcBef>
            </a:pPr>
            <a:r>
              <a:rPr lang="en-US" sz="39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Week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13575271" y="9804597"/>
            <a:ext cx="4627512" cy="482403"/>
            <a:chOff x="0" y="0"/>
            <a:chExt cx="6170016" cy="64320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170020" cy="643200"/>
            </a:xfrm>
            <a:custGeom>
              <a:avLst/>
              <a:gdLst/>
              <a:ahLst/>
              <a:cxnLst/>
              <a:rect l="l" t="t" r="r" b="b"/>
              <a:pathLst>
                <a:path w="6170020" h="643200">
                  <a:moveTo>
                    <a:pt x="0" y="0"/>
                  </a:moveTo>
                  <a:lnTo>
                    <a:pt x="6170020" y="0"/>
                  </a:lnTo>
                  <a:lnTo>
                    <a:pt x="6170020" y="643200"/>
                  </a:lnTo>
                  <a:lnTo>
                    <a:pt x="0" y="643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6913" b="-136914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0"/>
              <a:ext cx="6170016" cy="64320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080"/>
                </a:lnSpc>
              </a:pPr>
              <a:r>
                <a:rPr lang="en-US" sz="9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Waipapa Taumata Rau, University of Auckland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648729" y="882108"/>
            <a:ext cx="16990542" cy="649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59"/>
              </a:lnSpc>
              <a:spcBef>
                <a:spcPct val="0"/>
              </a:spcBef>
            </a:pPr>
            <a:r>
              <a:rPr lang="en-US" sz="44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A2-D1: Consulting Proposal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78093" y="4394835"/>
            <a:ext cx="16731813" cy="1577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71547" lvl="1" indent="-485773" algn="l">
              <a:lnSpc>
                <a:spcPts val="6254"/>
              </a:lnSpc>
              <a:buFont typeface="Arial"/>
              <a:buChar char="•"/>
            </a:pPr>
            <a:r>
              <a:rPr lang="en-US" sz="4499" u="sng">
                <a:solidFill>
                  <a:srgbClr val="1E29CA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 tooltip="https://canvas.auckland.ac.nz/courses/121031/assignments/467269"/>
              </a:rPr>
              <a:t>https://canvas.auckland.ac.nz/courses/121031/assignments/467269</a:t>
            </a:r>
            <a:r>
              <a:rPr lang="en-US" sz="4499">
                <a:solidFill>
                  <a:srgbClr val="1E29C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  <a:p>
            <a:pPr marL="971547" lvl="1" indent="-485773" algn="l">
              <a:lnSpc>
                <a:spcPts val="6254"/>
              </a:lnSpc>
              <a:buFont typeface="Arial"/>
              <a:buChar char="•"/>
            </a:pPr>
            <a:r>
              <a:rPr lang="en-US" sz="4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 to Lab Slides Week 5 and 6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13575271" y="9804597"/>
            <a:ext cx="4627512" cy="482403"/>
            <a:chOff x="0" y="0"/>
            <a:chExt cx="6170016" cy="64320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170020" cy="643200"/>
            </a:xfrm>
            <a:custGeom>
              <a:avLst/>
              <a:gdLst/>
              <a:ahLst/>
              <a:cxnLst/>
              <a:rect l="l" t="t" r="r" b="b"/>
              <a:pathLst>
                <a:path w="6170020" h="643200">
                  <a:moveTo>
                    <a:pt x="0" y="0"/>
                  </a:moveTo>
                  <a:lnTo>
                    <a:pt x="6170020" y="0"/>
                  </a:lnTo>
                  <a:lnTo>
                    <a:pt x="6170020" y="643200"/>
                  </a:lnTo>
                  <a:lnTo>
                    <a:pt x="0" y="643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6913" b="-136914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0"/>
              <a:ext cx="6170016" cy="64320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080"/>
                </a:lnSpc>
              </a:pPr>
              <a:r>
                <a:rPr lang="en-US" sz="9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Waipapa Taumata Rau, University of Auckland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648729" y="882108"/>
            <a:ext cx="16990542" cy="649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59"/>
              </a:lnSpc>
              <a:spcBef>
                <a:spcPct val="0"/>
              </a:spcBef>
            </a:pPr>
            <a:r>
              <a:rPr lang="en-US" sz="44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A2-D2: Business Case Presentation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78093" y="4394835"/>
            <a:ext cx="16731813" cy="1577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71547" lvl="1" indent="-485773" algn="l">
              <a:lnSpc>
                <a:spcPts val="6254"/>
              </a:lnSpc>
              <a:buFont typeface="Arial"/>
              <a:buChar char="•"/>
            </a:pPr>
            <a:r>
              <a:rPr lang="en-US" sz="4499" u="sng">
                <a:solidFill>
                  <a:srgbClr val="1E29C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https://canvas.auckland.ac.nz/courses/121031/assignments/467270</a:t>
            </a:r>
          </a:p>
          <a:p>
            <a:pPr marL="971547" lvl="1" indent="-485773" algn="l">
              <a:lnSpc>
                <a:spcPts val="6254"/>
              </a:lnSpc>
              <a:buFont typeface="Arial"/>
              <a:buChar char="•"/>
            </a:pPr>
            <a:r>
              <a:rPr lang="en-US" sz="4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 to Lab Slides Week 5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13575271" y="9804597"/>
            <a:ext cx="4627512" cy="482403"/>
            <a:chOff x="0" y="0"/>
            <a:chExt cx="6170016" cy="64320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170020" cy="643200"/>
            </a:xfrm>
            <a:custGeom>
              <a:avLst/>
              <a:gdLst/>
              <a:ahLst/>
              <a:cxnLst/>
              <a:rect l="l" t="t" r="r" b="b"/>
              <a:pathLst>
                <a:path w="6170020" h="643200">
                  <a:moveTo>
                    <a:pt x="0" y="0"/>
                  </a:moveTo>
                  <a:lnTo>
                    <a:pt x="6170020" y="0"/>
                  </a:lnTo>
                  <a:lnTo>
                    <a:pt x="6170020" y="643200"/>
                  </a:lnTo>
                  <a:lnTo>
                    <a:pt x="0" y="643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6913" b="-136914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0"/>
              <a:ext cx="6170016" cy="64320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080"/>
                </a:lnSpc>
              </a:pPr>
              <a:r>
                <a:rPr lang="en-US" sz="9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Waipapa Taumata Rau, University of Auckland</a:t>
              </a:r>
            </a:p>
          </p:txBody>
        </p:sp>
      </p:grpSp>
      <p:sp>
        <p:nvSpPr>
          <p:cNvPr id="6" name="Freeform 6"/>
          <p:cNvSpPr/>
          <p:nvPr/>
        </p:nvSpPr>
        <p:spPr>
          <a:xfrm>
            <a:off x="3882333" y="1750170"/>
            <a:ext cx="10523333" cy="7835969"/>
          </a:xfrm>
          <a:custGeom>
            <a:avLst/>
            <a:gdLst/>
            <a:ahLst/>
            <a:cxnLst/>
            <a:rect l="l" t="t" r="r" b="b"/>
            <a:pathLst>
              <a:path w="10523333" h="7835969">
                <a:moveTo>
                  <a:pt x="0" y="0"/>
                </a:moveTo>
                <a:lnTo>
                  <a:pt x="10523334" y="0"/>
                </a:lnTo>
                <a:lnTo>
                  <a:pt x="10523334" y="7835970"/>
                </a:lnTo>
                <a:lnTo>
                  <a:pt x="0" y="783597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TextBox 7"/>
          <p:cNvSpPr txBox="1"/>
          <p:nvPr/>
        </p:nvSpPr>
        <p:spPr>
          <a:xfrm>
            <a:off x="648729" y="882108"/>
            <a:ext cx="16990542" cy="649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59"/>
              </a:lnSpc>
              <a:spcBef>
                <a:spcPct val="0"/>
              </a:spcBef>
            </a:pPr>
            <a:r>
              <a:rPr lang="en-US" sz="44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A3: Build App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4610560" y="4909566"/>
            <a:ext cx="1848640" cy="4488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90879" lvl="1" indent="-345439" algn="l">
              <a:lnSpc>
                <a:spcPts val="3455"/>
              </a:lnSpc>
              <a:buFont typeface="Arial"/>
              <a:buChar char="•"/>
            </a:pPr>
            <a:r>
              <a:rPr lang="en-US" sz="31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13575271" y="9804597"/>
            <a:ext cx="4627512" cy="482403"/>
            <a:chOff x="0" y="0"/>
            <a:chExt cx="6170016" cy="64320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170020" cy="643200"/>
            </a:xfrm>
            <a:custGeom>
              <a:avLst/>
              <a:gdLst/>
              <a:ahLst/>
              <a:cxnLst/>
              <a:rect l="l" t="t" r="r" b="b"/>
              <a:pathLst>
                <a:path w="6170020" h="643200">
                  <a:moveTo>
                    <a:pt x="0" y="0"/>
                  </a:moveTo>
                  <a:lnTo>
                    <a:pt x="6170020" y="0"/>
                  </a:lnTo>
                  <a:lnTo>
                    <a:pt x="6170020" y="643200"/>
                  </a:lnTo>
                  <a:lnTo>
                    <a:pt x="0" y="643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6913" b="-136914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0"/>
              <a:ext cx="6170016" cy="64320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080"/>
                </a:lnSpc>
              </a:pPr>
              <a:r>
                <a:rPr lang="en-US" sz="9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Waipapa Taumata Rau, University of Auckland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648729" y="882108"/>
            <a:ext cx="16990542" cy="649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59"/>
              </a:lnSpc>
              <a:spcBef>
                <a:spcPct val="0"/>
              </a:spcBef>
            </a:pPr>
            <a:r>
              <a:rPr lang="en-US" sz="44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A3: Build App. - Specifications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78093" y="3073557"/>
            <a:ext cx="16731813" cy="1577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71547" lvl="1" indent="-485773" algn="l">
              <a:lnSpc>
                <a:spcPts val="6254"/>
              </a:lnSpc>
              <a:buFont typeface="Arial"/>
              <a:buChar char="•"/>
            </a:pPr>
            <a:r>
              <a:rPr lang="en-US" sz="4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Specification Document</a:t>
            </a:r>
          </a:p>
          <a:p>
            <a:pPr marL="971547" lvl="1" indent="-485773" algn="l">
              <a:lnSpc>
                <a:spcPts val="6254"/>
              </a:lnSpc>
              <a:buFont typeface="Arial"/>
              <a:buChar char="•"/>
            </a:pPr>
            <a:r>
              <a:rPr lang="en-US" sz="4499" u="sng">
                <a:solidFill>
                  <a:srgbClr val="1E29CA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 tooltip="https://canvas.auckland.ac.nz/courses/121031/assignments/472998"/>
              </a:rPr>
              <a:t>https://canvas.auckland.ac.nz/courses/121031/assignments/472998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5365169"/>
            <a:ext cx="16731813" cy="1577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71547" lvl="1" indent="-485773" algn="l">
              <a:lnSpc>
                <a:spcPts val="6254"/>
              </a:lnSpc>
              <a:buFont typeface="Arial"/>
              <a:buChar char="•"/>
            </a:pPr>
            <a:r>
              <a:rPr lang="en-US" sz="4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Groupwork Disclaimer Slide</a:t>
            </a:r>
          </a:p>
          <a:p>
            <a:pPr marL="971547" lvl="1" indent="-485773" algn="l">
              <a:lnSpc>
                <a:spcPts val="6254"/>
              </a:lnSpc>
              <a:buFont typeface="Arial"/>
              <a:buChar char="•"/>
            </a:pPr>
            <a:r>
              <a:rPr lang="en-US" sz="4499" u="sng">
                <a:solidFill>
                  <a:srgbClr val="1E29CA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 tooltip="https://canvas.auckland.ac.nz/courses/121031/assignments/472998"/>
              </a:rPr>
              <a:t>https://canvas.auckland.ac.nz/courses/121031/assignments/472998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13575271" y="9804597"/>
            <a:ext cx="4627512" cy="482403"/>
            <a:chOff x="0" y="0"/>
            <a:chExt cx="6170016" cy="64320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170020" cy="643200"/>
            </a:xfrm>
            <a:custGeom>
              <a:avLst/>
              <a:gdLst/>
              <a:ahLst/>
              <a:cxnLst/>
              <a:rect l="l" t="t" r="r" b="b"/>
              <a:pathLst>
                <a:path w="6170020" h="643200">
                  <a:moveTo>
                    <a:pt x="0" y="0"/>
                  </a:moveTo>
                  <a:lnTo>
                    <a:pt x="6170020" y="0"/>
                  </a:lnTo>
                  <a:lnTo>
                    <a:pt x="6170020" y="643200"/>
                  </a:lnTo>
                  <a:lnTo>
                    <a:pt x="0" y="643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6913" b="-136914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0"/>
              <a:ext cx="6170016" cy="64320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080"/>
                </a:lnSpc>
              </a:pPr>
              <a:r>
                <a:rPr lang="en-US" sz="9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Waipapa Taumata Rau, University of Auckland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648729" y="882108"/>
            <a:ext cx="16990542" cy="649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59"/>
              </a:lnSpc>
              <a:spcBef>
                <a:spcPct val="0"/>
              </a:spcBef>
            </a:pPr>
            <a:r>
              <a:rPr lang="en-US" sz="44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A3: Build App. - Group Assignment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560303" y="2172018"/>
            <a:ext cx="15167395" cy="57715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54" lvl="1" indent="-377827" algn="l">
              <a:lnSpc>
                <a:spcPts val="5705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Sit in Groups Together on Tuesdays in Associated Lab Streams (</a:t>
            </a:r>
            <a:r>
              <a:rPr lang="en-US" sz="3500" u="sng">
                <a:solidFill>
                  <a:srgbClr val="1E29CA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 tooltip="https://docs.google.com/spreadsheets/d/19GJ2KXOu68FExg4xdHG2pX-P_hZPeWU-YR9MR2ESUH8/edit?gid=0#gid=0"/>
              </a:rPr>
              <a:t>Link</a:t>
            </a:r>
            <a:r>
              <a:rPr lang="en-US" sz="3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</a:p>
          <a:p>
            <a:pPr marL="755654" lvl="1" indent="-377827" algn="l">
              <a:lnSpc>
                <a:spcPts val="5705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Discuss and Select One Solution to be Implemented</a:t>
            </a:r>
          </a:p>
          <a:p>
            <a:pPr marL="755654" lvl="1" indent="-377827" algn="l">
              <a:lnSpc>
                <a:spcPts val="5705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Week 8 - SAP Introduction and SAP build Environment (AppGyver)</a:t>
            </a:r>
          </a:p>
          <a:p>
            <a:pPr marL="755654" lvl="1" indent="-377827" algn="l">
              <a:lnSpc>
                <a:spcPts val="5705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Week 9 - Design Thinking and Build App.</a:t>
            </a:r>
          </a:p>
          <a:p>
            <a:pPr marL="755654" lvl="1" indent="-377827" algn="l">
              <a:lnSpc>
                <a:spcPts val="5705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Week 10 - Build App</a:t>
            </a:r>
          </a:p>
          <a:p>
            <a:pPr marL="755654" lvl="1" indent="-377827" algn="l">
              <a:lnSpc>
                <a:spcPts val="5705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Week 11 - SAP Walkaround to help complete Build App. and Introduction to A4: Overall Project Document</a:t>
            </a:r>
          </a:p>
          <a:p>
            <a:pPr marL="755654" lvl="1" indent="-377827" algn="l">
              <a:lnSpc>
                <a:spcPts val="5705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Week 12 - Presentations (5 Minutes)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13575271" y="9804597"/>
            <a:ext cx="4627512" cy="482403"/>
            <a:chOff x="0" y="0"/>
            <a:chExt cx="6170016" cy="64320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170020" cy="643200"/>
            </a:xfrm>
            <a:custGeom>
              <a:avLst/>
              <a:gdLst/>
              <a:ahLst/>
              <a:cxnLst/>
              <a:rect l="l" t="t" r="r" b="b"/>
              <a:pathLst>
                <a:path w="6170020" h="643200">
                  <a:moveTo>
                    <a:pt x="0" y="0"/>
                  </a:moveTo>
                  <a:lnTo>
                    <a:pt x="6170020" y="0"/>
                  </a:lnTo>
                  <a:lnTo>
                    <a:pt x="6170020" y="643200"/>
                  </a:lnTo>
                  <a:lnTo>
                    <a:pt x="0" y="643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6913" b="-136914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0"/>
              <a:ext cx="6170016" cy="64320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080"/>
                </a:lnSpc>
              </a:pPr>
              <a:r>
                <a:rPr lang="en-US" sz="9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Waipapa Taumata Rau, University of Auckland</a:t>
              </a:r>
            </a:p>
          </p:txBody>
        </p:sp>
      </p:grpSp>
      <p:sp>
        <p:nvSpPr>
          <p:cNvPr id="6" name="Freeform 6"/>
          <p:cNvSpPr/>
          <p:nvPr/>
        </p:nvSpPr>
        <p:spPr>
          <a:xfrm>
            <a:off x="3822051" y="1772886"/>
            <a:ext cx="10643898" cy="7790538"/>
          </a:xfrm>
          <a:custGeom>
            <a:avLst/>
            <a:gdLst/>
            <a:ahLst/>
            <a:cxnLst/>
            <a:rect l="l" t="t" r="r" b="b"/>
            <a:pathLst>
              <a:path w="10643898" h="7790538">
                <a:moveTo>
                  <a:pt x="0" y="0"/>
                </a:moveTo>
                <a:lnTo>
                  <a:pt x="10643898" y="0"/>
                </a:lnTo>
                <a:lnTo>
                  <a:pt x="10643898" y="7790538"/>
                </a:lnTo>
                <a:lnTo>
                  <a:pt x="0" y="77905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TextBox 7"/>
          <p:cNvSpPr txBox="1"/>
          <p:nvPr/>
        </p:nvSpPr>
        <p:spPr>
          <a:xfrm>
            <a:off x="648729" y="882108"/>
            <a:ext cx="16990542" cy="649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59"/>
              </a:lnSpc>
              <a:spcBef>
                <a:spcPct val="0"/>
              </a:spcBef>
            </a:pPr>
            <a:r>
              <a:rPr lang="en-US" sz="44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A4: Complete Project Documentation - Individual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4610560" y="4909566"/>
            <a:ext cx="1696240" cy="4488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90879" lvl="1" indent="-345439" algn="l">
              <a:lnSpc>
                <a:spcPts val="3455"/>
              </a:lnSpc>
              <a:buFont typeface="Arial"/>
              <a:buChar char="•"/>
            </a:pPr>
            <a:r>
              <a:rPr lang="en-US" sz="31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10%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851023" y="3032861"/>
            <a:ext cx="768977" cy="4488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55"/>
              </a:lnSpc>
            </a:pPr>
            <a:r>
              <a:rPr lang="en-US" sz="3199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13575271" y="9804597"/>
            <a:ext cx="4627512" cy="482403"/>
            <a:chOff x="0" y="0"/>
            <a:chExt cx="6170016" cy="64320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170020" cy="643200"/>
            </a:xfrm>
            <a:custGeom>
              <a:avLst/>
              <a:gdLst/>
              <a:ahLst/>
              <a:cxnLst/>
              <a:rect l="l" t="t" r="r" b="b"/>
              <a:pathLst>
                <a:path w="6170020" h="643200">
                  <a:moveTo>
                    <a:pt x="0" y="0"/>
                  </a:moveTo>
                  <a:lnTo>
                    <a:pt x="6170020" y="0"/>
                  </a:lnTo>
                  <a:lnTo>
                    <a:pt x="6170020" y="643200"/>
                  </a:lnTo>
                  <a:lnTo>
                    <a:pt x="0" y="643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6913" b="-136914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0"/>
              <a:ext cx="6170016" cy="64320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080"/>
                </a:lnSpc>
              </a:pPr>
              <a:r>
                <a:rPr lang="en-US" sz="9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Waipapa Taumata Rau, University of Auckland</a:t>
              </a:r>
            </a:p>
          </p:txBody>
        </p:sp>
      </p:grpSp>
      <p:sp>
        <p:nvSpPr>
          <p:cNvPr id="6" name="Freeform 6"/>
          <p:cNvSpPr/>
          <p:nvPr/>
        </p:nvSpPr>
        <p:spPr>
          <a:xfrm>
            <a:off x="4779309" y="1028700"/>
            <a:ext cx="8729382" cy="8571162"/>
          </a:xfrm>
          <a:custGeom>
            <a:avLst/>
            <a:gdLst/>
            <a:ahLst/>
            <a:cxnLst/>
            <a:rect l="l" t="t" r="r" b="b"/>
            <a:pathLst>
              <a:path w="8729382" h="8571162">
                <a:moveTo>
                  <a:pt x="0" y="0"/>
                </a:moveTo>
                <a:lnTo>
                  <a:pt x="8729382" y="0"/>
                </a:lnTo>
                <a:lnTo>
                  <a:pt x="8729382" y="8571162"/>
                </a:lnTo>
                <a:lnTo>
                  <a:pt x="0" y="85711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TextBox 7"/>
          <p:cNvSpPr txBox="1"/>
          <p:nvPr/>
        </p:nvSpPr>
        <p:spPr>
          <a:xfrm>
            <a:off x="1028700" y="745808"/>
            <a:ext cx="10080629" cy="584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19"/>
              </a:lnSpc>
              <a:spcBef>
                <a:spcPct val="0"/>
              </a:spcBef>
            </a:pPr>
            <a:r>
              <a:rPr lang="en-US" sz="39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Complete Project Documentation: Plan Draft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3"/>
          <p:cNvSpPr txBox="1"/>
          <p:nvPr/>
        </p:nvSpPr>
        <p:spPr>
          <a:xfrm>
            <a:off x="724786" y="1057275"/>
            <a:ext cx="16990542" cy="649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59"/>
              </a:lnSpc>
              <a:spcBef>
                <a:spcPct val="0"/>
              </a:spcBef>
            </a:pPr>
            <a:r>
              <a:rPr lang="en-US" sz="44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2 X 2 Matrix for Solution Selection / Prioritisation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40069" y="2809748"/>
            <a:ext cx="17959976" cy="45722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49957" lvl="1" indent="-474979" algn="l">
              <a:lnSpc>
                <a:spcPts val="6027"/>
              </a:lnSpc>
              <a:buFont typeface="Arial"/>
              <a:buChar char="•"/>
            </a:pPr>
            <a:r>
              <a:rPr lang="en-US" sz="4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YouTube</a:t>
            </a:r>
          </a:p>
          <a:p>
            <a:pPr marL="1899915" lvl="2" indent="-633305" algn="l">
              <a:lnSpc>
                <a:spcPts val="6027"/>
              </a:lnSpc>
              <a:buFont typeface="Arial"/>
              <a:buChar char="⚬"/>
            </a:pPr>
            <a:r>
              <a:rPr lang="en-US" sz="4399" u="sng">
                <a:solidFill>
                  <a:srgbClr val="1E29CA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 tooltip="https://www.youtube.com/watch?v=ODr-xd8LsDI"/>
              </a:rPr>
              <a:t>https://www.youtube.com/watch?v=ODr-xd8LsDI </a:t>
            </a:r>
          </a:p>
          <a:p>
            <a:pPr marL="949957" lvl="1" indent="-474979" algn="l">
              <a:lnSpc>
                <a:spcPts val="6027"/>
              </a:lnSpc>
              <a:buFont typeface="Arial"/>
              <a:buChar char="•"/>
            </a:pPr>
            <a:r>
              <a:rPr lang="en-US" sz="4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ASQ</a:t>
            </a:r>
          </a:p>
          <a:p>
            <a:pPr marL="1899915" lvl="2" indent="-633305" algn="l">
              <a:lnSpc>
                <a:spcPts val="6027"/>
              </a:lnSpc>
              <a:buFont typeface="Arial"/>
              <a:buChar char="⚬"/>
            </a:pPr>
            <a:r>
              <a:rPr lang="en-US" sz="4399" u="sng">
                <a:solidFill>
                  <a:srgbClr val="1E29CA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 tooltip="https://asq.org/quality-resources/impact-effort-matrix"/>
              </a:rPr>
              <a:t>Impact Effort Matrix</a:t>
            </a:r>
          </a:p>
          <a:p>
            <a:pPr marL="949957" lvl="1" indent="-474979" algn="l">
              <a:lnSpc>
                <a:spcPts val="6027"/>
              </a:lnSpc>
              <a:buFont typeface="Arial"/>
              <a:buChar char="•"/>
            </a:pPr>
            <a:r>
              <a:rPr lang="en-US" sz="4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GAI</a:t>
            </a:r>
          </a:p>
          <a:p>
            <a:pPr marL="1899915" lvl="2" indent="-633305" algn="l">
              <a:lnSpc>
                <a:spcPts val="6027"/>
              </a:lnSpc>
              <a:buFont typeface="Arial"/>
              <a:buChar char="⚬"/>
            </a:pPr>
            <a:r>
              <a:rPr lang="en-US" sz="4399" u="sng">
                <a:solidFill>
                  <a:srgbClr val="1E29CA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5" tooltip="https://www.google.com/search?q=impact+value+matrix+to+prioritise+solution+implementation&amp;sca_esv=348adf5b6927ae42&amp;rlz=1C1GCEJ_enNZ1029NZ1029&amp;ei=Nc3JaN3MA8bh2roPjqGmUQ&amp;ved=2ahUKEwik7KCZlN6PAxUIRmwGHXUFL74Q0NsOegQIXRAA&amp;uact=5&amp;sclient=gws-wiz-serp&amp;udm=50&amp;fbs=AIIjpHxU7SXXniUZfeShr2fp4giZ1Y6MJ25_tmWITc7uy4KIeoJTKjrFjVxydQWqI2NcOha3O1YqG67F0QIhAOFN_ob1yXos5K_Qo9Tq-0cVPzex8akBC0YDCZ6Kdb3tXvKc6RFFaJZ5G23Reu3aSyxvn2qD41n-47oj-b-f0NcRPP5lz0IcnVzj2DIj_DMpoDz5XbfZAMcEl5-58jjbkgCC_7e4L5AEDQ&amp;aep=10&amp;ntc=1&amp;mstk=AUtExfB0RqAApRm5QoOvW3bms0Gl_vJ4-20mKhR2SmHPmWP-dDxFtKfzk1d-app_1MVEk22h8k83akccci6zQt-HKrD6nYfyowa4xc8wTcheemGDFGpkaHpt8cmw2CY1HlFSoAG5-VPBiod9GM5zOiMJ8u85FmW0NSwr6qZ1JbZWVP1CsSRKDz5_ngLQo4eTBWzrx0GfMZkkDA5l9c8amJyl4L0ZK1H_ATJgl79vQ6fH5L-jbq1IKzcxE_XY0Q&amp;csuir=1"/>
              </a:rPr>
              <a:t>Gemini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3575271" y="9804597"/>
            <a:ext cx="4627512" cy="482403"/>
            <a:chOff x="0" y="0"/>
            <a:chExt cx="6170016" cy="64320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170020" cy="643200"/>
            </a:xfrm>
            <a:custGeom>
              <a:avLst/>
              <a:gdLst/>
              <a:ahLst/>
              <a:cxnLst/>
              <a:rect l="l" t="t" r="r" b="b"/>
              <a:pathLst>
                <a:path w="6170020" h="643200">
                  <a:moveTo>
                    <a:pt x="0" y="0"/>
                  </a:moveTo>
                  <a:lnTo>
                    <a:pt x="6170020" y="0"/>
                  </a:lnTo>
                  <a:lnTo>
                    <a:pt x="6170020" y="643200"/>
                  </a:lnTo>
                  <a:lnTo>
                    <a:pt x="0" y="64320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136913" b="-136914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0"/>
              <a:ext cx="6170016" cy="64320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080"/>
                </a:lnSpc>
              </a:pPr>
              <a:r>
                <a:rPr lang="en-US" sz="9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Waipapa Taumata Rau, University of Auckland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3"/>
          <p:cNvSpPr txBox="1"/>
          <p:nvPr/>
        </p:nvSpPr>
        <p:spPr>
          <a:xfrm>
            <a:off x="724786" y="1057275"/>
            <a:ext cx="16990542" cy="649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59"/>
              </a:lnSpc>
              <a:spcBef>
                <a:spcPct val="0"/>
              </a:spcBef>
            </a:pPr>
            <a:r>
              <a:rPr lang="en-US" sz="44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NEXT LAB (WK 6) (LAB 6)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28024" y="3723245"/>
            <a:ext cx="17959976" cy="7622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49957" lvl="1" indent="-474979" algn="l">
              <a:lnSpc>
                <a:spcPts val="6027"/>
              </a:lnSpc>
              <a:buFont typeface="Arial"/>
              <a:buChar char="•"/>
            </a:pPr>
            <a:r>
              <a:rPr lang="en-US" sz="4399" i="1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Continue working on A2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3575271" y="9804597"/>
            <a:ext cx="4627512" cy="482403"/>
            <a:chOff x="0" y="0"/>
            <a:chExt cx="6170016" cy="64320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170020" cy="643200"/>
            </a:xfrm>
            <a:custGeom>
              <a:avLst/>
              <a:gdLst/>
              <a:ahLst/>
              <a:cxnLst/>
              <a:rect l="l" t="t" r="r" b="b"/>
              <a:pathLst>
                <a:path w="6170020" h="643200">
                  <a:moveTo>
                    <a:pt x="0" y="0"/>
                  </a:moveTo>
                  <a:lnTo>
                    <a:pt x="6170020" y="0"/>
                  </a:lnTo>
                  <a:lnTo>
                    <a:pt x="6170020" y="643200"/>
                  </a:lnTo>
                  <a:lnTo>
                    <a:pt x="0" y="643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6913" b="-136914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0"/>
              <a:ext cx="6170016" cy="64320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080"/>
                </a:lnSpc>
              </a:pPr>
              <a:r>
                <a:rPr lang="en-US" sz="9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Waipapa Taumata Rau, University of Auckland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3"/>
          <p:cNvSpPr txBox="1"/>
          <p:nvPr/>
        </p:nvSpPr>
        <p:spPr>
          <a:xfrm>
            <a:off x="5651896" y="1905553"/>
            <a:ext cx="7302103" cy="12439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720"/>
              </a:lnSpc>
              <a:spcBef>
                <a:spcPct val="0"/>
              </a:spcBef>
            </a:pPr>
            <a:r>
              <a:rPr lang="en-US" sz="9000" i="1" dirty="0">
                <a:solidFill>
                  <a:srgbClr val="FFFFFF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Thanks Guys :)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3575271" y="9804597"/>
            <a:ext cx="4627512" cy="482403"/>
            <a:chOff x="0" y="0"/>
            <a:chExt cx="6170016" cy="64320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170020" cy="643200"/>
            </a:xfrm>
            <a:custGeom>
              <a:avLst/>
              <a:gdLst/>
              <a:ahLst/>
              <a:cxnLst/>
              <a:rect l="l" t="t" r="r" b="b"/>
              <a:pathLst>
                <a:path w="6170020" h="643200">
                  <a:moveTo>
                    <a:pt x="0" y="0"/>
                  </a:moveTo>
                  <a:lnTo>
                    <a:pt x="6170020" y="0"/>
                  </a:lnTo>
                  <a:lnTo>
                    <a:pt x="6170020" y="643200"/>
                  </a:lnTo>
                  <a:lnTo>
                    <a:pt x="0" y="643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6913" b="-136914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0"/>
              <a:ext cx="6170016" cy="64320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080"/>
                </a:lnSpc>
              </a:pPr>
              <a:r>
                <a:rPr lang="en-US" sz="9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Waipapa Taumata Rau, University of Auckland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b75eb9d1-7479-4f8a-9240-cc5b19dbbc64}" enabled="1" method="Standard" siteId="{d1b36e95-0d50-42e9-958f-b63fa906beaa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429</Words>
  <Application>Microsoft Office PowerPoint</Application>
  <PresentationFormat>Custom</PresentationFormat>
  <Paragraphs>65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Inter</vt:lpstr>
      <vt:lpstr>Arial</vt:lpstr>
      <vt:lpstr>Times New Roman</vt:lpstr>
      <vt:lpstr>Times New Roman Bold</vt:lpstr>
      <vt:lpstr>Times New Roman Italics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 CONSULTANCY.pptx</dc:title>
  <cp:lastModifiedBy>Umesh Nayak</cp:lastModifiedBy>
  <cp:revision>2</cp:revision>
  <dcterms:created xsi:type="dcterms:W3CDTF">2006-08-16T00:00:00Z</dcterms:created>
  <dcterms:modified xsi:type="dcterms:W3CDTF">2026-09-14T10:30:37Z</dcterms:modified>
  <dc:identifier>DAHPcWJATkA</dc:identifier>
</cp:coreProperties>
</file>